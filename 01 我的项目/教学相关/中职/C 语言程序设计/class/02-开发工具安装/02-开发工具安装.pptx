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7"/>
  </p:notesMasterIdLst>
  <p:handoutMasterIdLst>
    <p:handoutMasterId r:id="rId16"/>
  </p:handoutMasterIdLst>
  <p:sldIdLst>
    <p:sldId id="3705" r:id="rId3"/>
    <p:sldId id="3706" r:id="rId4"/>
    <p:sldId id="3701" r:id="rId5"/>
    <p:sldId id="3646" r:id="rId6"/>
    <p:sldId id="3708" r:id="rId8"/>
    <p:sldId id="3760" r:id="rId9"/>
    <p:sldId id="3755" r:id="rId10"/>
    <p:sldId id="3756" r:id="rId11"/>
    <p:sldId id="3757" r:id="rId12"/>
    <p:sldId id="3758" r:id="rId13"/>
    <p:sldId id="3759" r:id="rId14"/>
    <p:sldId id="3712" r:id="rId15"/>
  </p:sldIdLst>
  <p:sldSz cx="12858750" cy="7232650"/>
  <p:notesSz cx="6858000" cy="9144000"/>
  <p:custDataLst>
    <p:tags r:id="rId21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" userDrawn="1">
          <p15:clr>
            <a:srgbClr val="A4A3A4"/>
          </p15:clr>
        </p15:guide>
        <p15:guide id="2" orient="horz" pos="4152" userDrawn="1">
          <p15:clr>
            <a:srgbClr val="A4A3A4"/>
          </p15:clr>
        </p15:guide>
        <p15:guide id="3" pos="4075" userDrawn="1">
          <p15:clr>
            <a:srgbClr val="A4A3A4"/>
          </p15:clr>
        </p15:guide>
        <p15:guide id="4" pos="557" userDrawn="1">
          <p15:clr>
            <a:srgbClr val="A4A3A4"/>
          </p15:clr>
        </p15:guide>
        <p15:guide id="5" pos="7544" userDrawn="1">
          <p15:clr>
            <a:srgbClr val="A4A3A4"/>
          </p15:clr>
        </p15:guide>
        <p15:guide id="6" pos="685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1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C000"/>
    <a:srgbClr val="FFFFFF"/>
    <a:srgbClr val="FFBF00"/>
    <a:srgbClr val="066197"/>
    <a:srgbClr val="1542FF"/>
    <a:srgbClr val="0C6AC7"/>
    <a:srgbClr val="262626"/>
    <a:srgbClr val="0767A3"/>
    <a:srgbClr val="535353"/>
    <a:srgbClr val="0218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41" autoAdjust="0"/>
    <p:restoredTop sz="96327" autoAdjust="0"/>
  </p:normalViewPr>
  <p:slideViewPr>
    <p:cSldViewPr showGuides="1">
      <p:cViewPr varScale="1">
        <p:scale>
          <a:sx n="91" d="100"/>
          <a:sy n="91" d="100"/>
        </p:scale>
        <p:origin x="518" y="53"/>
      </p:cViewPr>
      <p:guideLst>
        <p:guide orient="horz" pos="218"/>
        <p:guide orient="horz" pos="4152"/>
        <p:guide pos="4075"/>
        <p:guide pos="557"/>
        <p:guide pos="7544"/>
        <p:guide pos="6858"/>
      </p:guideLst>
    </p:cSldViewPr>
  </p:slideViewPr>
  <p:outlineViewPr>
    <p:cViewPr>
      <p:scale>
        <a:sx n="100" d="100"/>
        <a:sy n="100" d="100"/>
      </p:scale>
      <p:origin x="0" y="-99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gs" Target="tags/tag1.xml"/><Relationship Id="rId20" Type="http://schemas.openxmlformats.org/officeDocument/2006/relationships/commentAuthors" Target="comment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" y="635"/>
            <a:ext cx="12849225" cy="72320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0"/>
            <a:ext cx="12858750" cy="72313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4984477"/>
            <a:ext cx="3161905" cy="6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5119" y="4804672"/>
            <a:ext cx="3161905" cy="6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7207" y="5282442"/>
            <a:ext cx="3161905" cy="6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4804672"/>
            <a:ext cx="3161905" cy="6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1338" y="5337044"/>
            <a:ext cx="3161905" cy="6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91155" y="4781605"/>
            <a:ext cx="3161905" cy="6190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0821" y="5346680"/>
            <a:ext cx="3161905" cy="6190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2692" y="4781605"/>
            <a:ext cx="3161905" cy="61904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1366761"/>
            <a:ext cx="3161905" cy="6190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5773" y="1359987"/>
            <a:ext cx="3161905" cy="61904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039" y="1359987"/>
            <a:ext cx="1580953" cy="61904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3501" y="4781605"/>
            <a:ext cx="764270" cy="61904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59461" y="1262924"/>
            <a:ext cx="860873" cy="619048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60390" y="1354452"/>
            <a:ext cx="356817" cy="6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7"/>
            <a:ext cx="12858750" cy="7285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1528093"/>
            <a:ext cx="2857143" cy="1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7047" y="1518648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9175" y="1528093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1600101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751" y="4624437"/>
            <a:ext cx="2857143" cy="14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69135" y="4407232"/>
            <a:ext cx="2857143" cy="14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6947" y="4416677"/>
            <a:ext cx="2857143" cy="14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7687" y="4474217"/>
            <a:ext cx="2857143" cy="14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箭头: V 形 3"/>
          <p:cNvSpPr/>
          <p:nvPr userDrawn="1"/>
        </p:nvSpPr>
        <p:spPr>
          <a:xfrm>
            <a:off x="435610" y="224155"/>
            <a:ext cx="405130" cy="405130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等腰三角形 75"/>
          <p:cNvSpPr/>
          <p:nvPr userDrawn="1"/>
        </p:nvSpPr>
        <p:spPr>
          <a:xfrm rot="5400000">
            <a:off x="-146685" y="156845"/>
            <a:ext cx="852805" cy="540385"/>
          </a:xfrm>
          <a:prstGeom prst="triangle">
            <a:avLst/>
          </a:prstGeom>
          <a:solidFill>
            <a:srgbClr val="076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656" y="5177155"/>
            <a:ext cx="752744" cy="2098793"/>
            <a:chOff x="13891297" y="2075351"/>
            <a:chExt cx="1066248" cy="2972900"/>
          </a:xfrm>
        </p:grpSpPr>
        <p:sp>
          <p:nvSpPr>
            <p:cNvPr id="14" name="椭圆 13"/>
            <p:cNvSpPr/>
            <p:nvPr/>
          </p:nvSpPr>
          <p:spPr>
            <a:xfrm>
              <a:off x="13891297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4142396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4393495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4644594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895693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3891297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4142396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4393495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644594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4895693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3891297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4142396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4393495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4644594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4895693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3891297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14142396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4393495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4644594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4895693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3891297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4142396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4393495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4644594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4895693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3891297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4142396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14393495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4644594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14895693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13891297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4142396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4393495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4644594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4895693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13891297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4142396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14393495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14644594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14895693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3891297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4142396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4393495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14644594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14895693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3891297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4142396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14393495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14644594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14895693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13891297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14142396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14393495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4644594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4895693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3891297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14142396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14393495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14644594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4895693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3891297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4142396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4393495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4644594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14895693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5" name="矩形 134"/>
          <p:cNvSpPr/>
          <p:nvPr userDrawn="1"/>
        </p:nvSpPr>
        <p:spPr>
          <a:xfrm>
            <a:off x="635" y="7160260"/>
            <a:ext cx="12858750" cy="87630"/>
          </a:xfrm>
          <a:prstGeom prst="rect">
            <a:avLst/>
          </a:prstGeom>
          <a:solidFill>
            <a:srgbClr val="0767A3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475" y="1461770"/>
            <a:ext cx="1497330" cy="1257935"/>
          </a:xfrm>
          <a:prstGeom prst="rect">
            <a:avLst/>
          </a:prstGeom>
        </p:spPr>
      </p:pic>
      <p:pic>
        <p:nvPicPr>
          <p:cNvPr id="77" name="图片 7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73215" y="1393190"/>
            <a:ext cx="1497330" cy="1257935"/>
          </a:xfrm>
          <a:prstGeom prst="rect">
            <a:avLst/>
          </a:prstGeom>
        </p:spPr>
      </p:pic>
      <p:pic>
        <p:nvPicPr>
          <p:cNvPr id="78" name="图片 77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1461770"/>
            <a:ext cx="1497330" cy="1257935"/>
          </a:xfrm>
          <a:prstGeom prst="rect">
            <a:avLst/>
          </a:prstGeom>
        </p:spPr>
      </p:pic>
      <p:pic>
        <p:nvPicPr>
          <p:cNvPr id="79" name="图片 78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1290955"/>
            <a:ext cx="1497330" cy="1257935"/>
          </a:xfrm>
          <a:prstGeom prst="rect">
            <a:avLst/>
          </a:prstGeom>
        </p:spPr>
      </p:pic>
      <p:pic>
        <p:nvPicPr>
          <p:cNvPr id="80" name="图片 79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4476750"/>
            <a:ext cx="1497330" cy="1257935"/>
          </a:xfrm>
          <a:prstGeom prst="rect">
            <a:avLst/>
          </a:prstGeom>
        </p:spPr>
      </p:pic>
      <p:pic>
        <p:nvPicPr>
          <p:cNvPr id="85" name="图片 84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80" y="4305300"/>
            <a:ext cx="1497330" cy="1257935"/>
          </a:xfrm>
          <a:prstGeom prst="rect">
            <a:avLst/>
          </a:prstGeom>
        </p:spPr>
      </p:pic>
      <p:pic>
        <p:nvPicPr>
          <p:cNvPr id="86" name="图片 85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4305300"/>
            <a:ext cx="1497330" cy="1257935"/>
          </a:xfrm>
          <a:prstGeom prst="rect">
            <a:avLst/>
          </a:prstGeom>
        </p:spPr>
      </p:pic>
      <p:pic>
        <p:nvPicPr>
          <p:cNvPr id="87" name="图片 8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4305300"/>
            <a:ext cx="1497330" cy="1257935"/>
          </a:xfrm>
          <a:prstGeom prst="rect">
            <a:avLst/>
          </a:prstGeom>
        </p:spPr>
      </p:pic>
      <p:sp>
        <p:nvSpPr>
          <p:cNvPr id="4" name="任意多边形: 形状 50"/>
          <p:cNvSpPr/>
          <p:nvPr userDrawn="1"/>
        </p:nvSpPr>
        <p:spPr>
          <a:xfrm rot="18932100">
            <a:off x="9102985" y="1473268"/>
            <a:ext cx="1159449" cy="1159449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767A3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51"/>
          <p:cNvSpPr/>
          <p:nvPr userDrawn="1"/>
        </p:nvSpPr>
        <p:spPr>
          <a:xfrm rot="18958199">
            <a:off x="10136715" y="3266146"/>
            <a:ext cx="462942" cy="462942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FFC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1"/>
          <p:cNvSpPr txBox="1"/>
          <p:nvPr userDrawn="1"/>
        </p:nvSpPr>
        <p:spPr>
          <a:xfrm>
            <a:off x="3907790" y="2265045"/>
            <a:ext cx="5037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0661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  <a:endParaRPr lang="en-US" altLang="zh-CN" sz="7200" b="1" dirty="0">
              <a:solidFill>
                <a:srgbClr val="0661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9" name="直接连接符 88"/>
          <p:cNvCxnSpPr/>
          <p:nvPr userDrawn="1"/>
        </p:nvCxnSpPr>
        <p:spPr>
          <a:xfrm>
            <a:off x="3900805" y="3392170"/>
            <a:ext cx="5051425" cy="0"/>
          </a:xfrm>
          <a:prstGeom prst="line">
            <a:avLst/>
          </a:prstGeom>
          <a:ln>
            <a:solidFill>
              <a:srgbClr val="5353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文本框 6"/>
          <p:cNvSpPr txBox="1"/>
          <p:nvPr userDrawn="1"/>
        </p:nvSpPr>
        <p:spPr>
          <a:xfrm>
            <a:off x="4038600" y="3468370"/>
            <a:ext cx="47758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45" algn="dist" eaLnBrk="1" latinLnBrk="0" hangingPunct="1"/>
            <a:r>
              <a:rPr lang="zh-CN" altLang="en-US" sz="3200">
                <a:solidFill>
                  <a:schemeClr val="accent4">
                    <a:lumMod val="50000"/>
                  </a:schemeClr>
                </a:solidFill>
                <a:latin typeface="字魂73号-江南手书" panose="00000500000000000000" charset="-122"/>
                <a:ea typeface="字魂73号-江南手书" panose="00000500000000000000" charset="-122"/>
                <a:cs typeface="字魂73号-江南手书" panose="00000500000000000000" charset="-122"/>
              </a:rPr>
              <a:t>力学笃行  志存高远</a:t>
            </a:r>
            <a:endParaRPr lang="zh-CN" altLang="en-US" sz="3200">
              <a:solidFill>
                <a:schemeClr val="accent4">
                  <a:lumMod val="50000"/>
                </a:schemeClr>
              </a:solidFill>
              <a:latin typeface="字魂73号-江南手书" panose="00000500000000000000" charset="-122"/>
              <a:ea typeface="字魂73号-江南手书" panose="00000500000000000000" charset="-122"/>
              <a:cs typeface="字魂73号-江南手书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729" y="4375800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6072" y="4410145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92013" y="4278768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4238224"/>
            <a:ext cx="2857143" cy="1419048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2" y="1013956"/>
            <a:ext cx="2857143" cy="1419048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069" y="1173658"/>
            <a:ext cx="2857143" cy="1419048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77818" y="1024383"/>
            <a:ext cx="2857143" cy="1419048"/>
          </a:xfrm>
          <a:prstGeom prst="rect">
            <a:avLst/>
          </a:prstGeom>
        </p:spPr>
      </p:pic>
      <p:pic>
        <p:nvPicPr>
          <p:cNvPr id="130" name="图片 1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7292" y="995663"/>
            <a:ext cx="2857143" cy="14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印品黑体" panose="00000500000000000000" pitchFamily="2" charset="-122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20204" pitchFamily="34" charset="0"/>
        <a:buChar char="•"/>
        <a:defRPr sz="2955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3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1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2.jpe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4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5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7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84959" y="1498476"/>
            <a:ext cx="7606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安装开发工具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4125119" y="3400926"/>
            <a:ext cx="4968552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周磊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1103" y="5272509"/>
            <a:ext cx="5582514" cy="108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4870" y="159734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>
                <a:solidFill>
                  <a:srgbClr val="FFC000"/>
                </a:solidFill>
              </a:rPr>
              <a:t>C</a:t>
            </a:r>
            <a:r>
              <a:rPr kumimoji="1" lang="zh-CN" altLang="en-US" dirty="0">
                <a:solidFill>
                  <a:srgbClr val="FFC000"/>
                </a:solidFill>
              </a:rPr>
              <a:t>语言</a:t>
            </a:r>
            <a:endParaRPr kumimoji="1" lang="zh-CN" altLang="en-US" dirty="0">
              <a:solidFill>
                <a:srgbClr val="FFC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sz="2000" b="1" dirty="0">
                <a:solidFill>
                  <a:srgbClr val="FFFFFF"/>
                </a:solidFill>
              </a:rPr>
              <a:t>知识回顾 </a:t>
            </a:r>
            <a:r>
              <a:rPr lang="zh-CN" altLang="en-US" b="1" dirty="0"/>
              <a:t>新课导入  目标及重难点  新授 总结与合作探究  作业  限时检测</a:t>
            </a:r>
            <a:endParaRPr lang="zh-CN" altLang="en-US" b="1" dirty="0"/>
          </a:p>
        </p:txBody>
      </p:sp>
      <p:sp>
        <p:nvSpPr>
          <p:cNvPr id="6" name="箭头: 上 5"/>
          <p:cNvSpPr/>
          <p:nvPr/>
        </p:nvSpPr>
        <p:spPr>
          <a:xfrm>
            <a:off x="45271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765079" y="2149697"/>
            <a:ext cx="597666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b="1" dirty="0"/>
              <a:t>C</a:t>
            </a:r>
            <a:r>
              <a:rPr lang="zh-CN" altLang="en-US" sz="8800" b="1" dirty="0"/>
              <a:t>语言概述</a:t>
            </a:r>
            <a:endParaRPr lang="en-US" altLang="zh-CN" sz="88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</a:t>
            </a:r>
            <a:r>
              <a:rPr lang="zh-CN" altLang="en-US" sz="2000" b="1" dirty="0">
                <a:solidFill>
                  <a:schemeClr val="bg1"/>
                </a:solidFill>
              </a:rPr>
              <a:t>新课导入</a:t>
            </a:r>
            <a:r>
              <a:rPr lang="zh-CN" altLang="en-US" sz="2000" b="1" dirty="0"/>
              <a:t>  </a:t>
            </a:r>
            <a:r>
              <a:rPr lang="zh-CN" altLang="en-US" b="1" dirty="0"/>
              <a:t>目标及重难点  新授 总结与合作探究  作业  限时检测</a:t>
            </a:r>
            <a:endParaRPr lang="zh-CN" altLang="en-US" b="1" dirty="0"/>
          </a:p>
        </p:txBody>
      </p:sp>
      <p:sp>
        <p:nvSpPr>
          <p:cNvPr id="2" name="箭头: 上 1"/>
          <p:cNvSpPr/>
          <p:nvPr/>
        </p:nvSpPr>
        <p:spPr>
          <a:xfrm>
            <a:off x="1460823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433" y="726743"/>
            <a:ext cx="9077325" cy="21050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9455" y="2864963"/>
            <a:ext cx="3905702" cy="39057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0" y="2225952"/>
            <a:ext cx="10749598" cy="3882240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</a:t>
            </a:r>
            <a:r>
              <a:rPr lang="zh-CN" altLang="en-US" sz="2000" b="1" dirty="0">
                <a:solidFill>
                  <a:schemeClr val="bg1"/>
                </a:solidFill>
              </a:rPr>
              <a:t>目标及重难点  </a:t>
            </a:r>
            <a:r>
              <a:rPr lang="zh-CN" altLang="en-US" b="1" dirty="0"/>
              <a:t>新授 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275696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标题 3"/>
          <p:cNvSpPr>
            <a:spLocks noGrp="1"/>
          </p:cNvSpPr>
          <p:nvPr/>
        </p:nvSpPr>
        <p:spPr>
          <a:xfrm>
            <a:off x="2026555" y="2968253"/>
            <a:ext cx="2160240" cy="81407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lang="zh-CN" altLang="en-US" sz="4800" dirty="0"/>
              <a:t>目标：</a:t>
            </a:r>
            <a:endParaRPr lang="en-US" altLang="zh-CN" sz="4800" dirty="0"/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3837087" y="1327269"/>
            <a:ext cx="6875106" cy="3946246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4800" dirty="0"/>
              <a:t>Dev-C++</a:t>
            </a:r>
            <a:r>
              <a:rPr lang="zh-CN" altLang="en-US" sz="4800" dirty="0"/>
              <a:t>安装（重点）</a:t>
            </a:r>
            <a:endParaRPr lang="en-US" altLang="zh-CN" sz="48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/>
              <a:t>调整字体样式</a:t>
            </a:r>
            <a:endParaRPr lang="en-US" altLang="zh-CN" sz="4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dirty="0"/>
              <a:t>安装</a:t>
            </a:r>
            <a:endParaRPr lang="zh-CN" altLang="zh-CN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791" y="1741531"/>
            <a:ext cx="10822392" cy="5786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244799" y="2896245"/>
            <a:ext cx="107121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/>
              <a:t>双击打开，一直点击下一步</a:t>
            </a:r>
            <a:endParaRPr lang="zh-CN" altLang="en-US" sz="44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dirty="0"/>
              <a:t>安装</a:t>
            </a:r>
            <a:endParaRPr lang="zh-CN" altLang="zh-CN" sz="2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8975" y="953926"/>
            <a:ext cx="6909998" cy="5182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743" y="731472"/>
            <a:ext cx="11041306" cy="59922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719" y="935138"/>
            <a:ext cx="11643693" cy="47525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2380" y="719400"/>
            <a:ext cx="7853989" cy="53683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015" y="528257"/>
            <a:ext cx="5848350" cy="62007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7" y="423878"/>
            <a:ext cx="5781675" cy="6172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总结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</a:t>
            </a:r>
            <a:r>
              <a:rPr lang="zh-CN" altLang="en-US" sz="2000" b="1" dirty="0">
                <a:solidFill>
                  <a:schemeClr val="bg1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484519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文本占位符 3"/>
          <p:cNvSpPr>
            <a:spLocks noGrp="1"/>
          </p:cNvSpPr>
          <p:nvPr/>
        </p:nvSpPr>
        <p:spPr>
          <a:xfrm>
            <a:off x="850730" y="695080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3477047" y="2104157"/>
            <a:ext cx="46085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/>
              <a:t>安装</a:t>
            </a:r>
            <a:endParaRPr lang="en-US" altLang="zh-CN" sz="5400" dirty="0"/>
          </a:p>
          <a:p>
            <a:r>
              <a:rPr lang="zh-CN" altLang="en-US" sz="5400" dirty="0"/>
              <a:t>调整字体大小</a:t>
            </a:r>
            <a:endParaRPr lang="zh-CN" altLang="en-US" sz="5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tags/tag1.xml><?xml version="1.0" encoding="utf-8"?>
<p:tagLst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UUID" val="{C1A8F295-47DC-48FB-81BD-666766343352}"/>
  <p:tag name="ISPRING_RESOURCE_FOLDER" val="E:\素材\正版图-卖\PPT\0变色龙\0包图网\bt369\ppt\bt369\"/>
  <p:tag name="ISPRING_PRESENTATION_PATH" val="E:\素材\正版图-卖\PPT\0变色龙\0包图网\bt369\ppt\bt369.pptx"/>
  <p:tag name="ISPRING_PROJECT_FOLDER_UPDATED" val="1"/>
  <p:tag name="ISPRING_SCREEN_RECS_UPDATED" val="E:\素材\正版图-卖\PPT\0变色龙\0包图网\bt369\ppt\bt36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730"/>
</p:tagLst>
</file>

<file path=ppt/theme/theme1.xml><?xml version="1.0" encoding="utf-8"?>
<a:theme xmlns:a="http://schemas.openxmlformats.org/drawingml/2006/main" name="Office Theme">
  <a:themeElements>
    <a:clrScheme name="自定义 447">
      <a:dk1>
        <a:sysClr val="windowText" lastClr="000000"/>
      </a:dk1>
      <a:lt1>
        <a:sysClr val="window" lastClr="FFFFFF"/>
      </a:lt1>
      <a:dk2>
        <a:srgbClr val="006E67"/>
      </a:dk2>
      <a:lt2>
        <a:srgbClr val="E7E6E6"/>
      </a:lt2>
      <a:accent1>
        <a:srgbClr val="006E67"/>
      </a:accent1>
      <a:accent2>
        <a:srgbClr val="A5A5A5"/>
      </a:accent2>
      <a:accent3>
        <a:srgbClr val="006E67"/>
      </a:accent3>
      <a:accent4>
        <a:srgbClr val="A5A5A5"/>
      </a:accent4>
      <a:accent5>
        <a:srgbClr val="006E67"/>
      </a:accent5>
      <a:accent6>
        <a:srgbClr val="A5A5A5"/>
      </a:accent6>
      <a:hlink>
        <a:srgbClr val="006E67"/>
      </a:hlink>
      <a:folHlink>
        <a:srgbClr val="A5A5A5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525</Words>
  <Application>WPS 演示</Application>
  <PresentationFormat>自定义</PresentationFormat>
  <Paragraphs>66</Paragraphs>
  <Slides>12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宋体</vt:lpstr>
      <vt:lpstr>Wingdings</vt:lpstr>
      <vt:lpstr>Calibri</vt:lpstr>
      <vt:lpstr>印品黑体</vt:lpstr>
      <vt:lpstr>黑体</vt:lpstr>
      <vt:lpstr>微软雅黑</vt:lpstr>
      <vt:lpstr>字魂73号-江南手书</vt:lpstr>
      <vt:lpstr>Alibaba PuHuiTi R</vt:lpstr>
      <vt:lpstr>Alibaba PuHuiTi B</vt:lpstr>
      <vt:lpstr>阿里巴巴普惠体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bt730</dc:title>
  <dc:creator/>
  <cp:lastModifiedBy>周磊</cp:lastModifiedBy>
  <cp:revision>654</cp:revision>
  <dcterms:created xsi:type="dcterms:W3CDTF">2024-04-10T13:53:00Z</dcterms:created>
  <dcterms:modified xsi:type="dcterms:W3CDTF">2025-08-31T22:54:04Z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FCA88555D3D44735BAA1F56722F3B997</vt:lpwstr>
  </property>
</Properties>
</file>