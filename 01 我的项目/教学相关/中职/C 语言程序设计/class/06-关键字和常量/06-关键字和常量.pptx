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0"/>
  </p:handoutMasterIdLst>
  <p:sldIdLst>
    <p:sldId id="3705" r:id="rId3"/>
    <p:sldId id="3706" r:id="rId4"/>
    <p:sldId id="3756" r:id="rId5"/>
    <p:sldId id="3646" r:id="rId6"/>
    <p:sldId id="3708" r:id="rId8"/>
    <p:sldId id="3759" r:id="rId9"/>
    <p:sldId id="3755" r:id="rId10"/>
    <p:sldId id="3758" r:id="rId11"/>
    <p:sldId id="3751" r:id="rId12"/>
    <p:sldId id="3760" r:id="rId13"/>
    <p:sldId id="3761" r:id="rId14"/>
    <p:sldId id="3762" r:id="rId15"/>
    <p:sldId id="3763" r:id="rId16"/>
    <p:sldId id="3712" r:id="rId17"/>
    <p:sldId id="3700" r:id="rId18"/>
    <p:sldId id="3702" r:id="rId19"/>
  </p:sldIdLst>
  <p:sldSz cx="12858750" cy="723265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FFC000"/>
    <a:srgbClr val="FFFFFF"/>
    <a:srgbClr val="FFBF00"/>
    <a:srgbClr val="066197"/>
    <a:srgbClr val="0C6AC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1" d="100"/>
          <a:sy n="91" d="100"/>
        </p:scale>
        <p:origin x="518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26539" y="148958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关键字和常量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03285" y="1372816"/>
            <a:ext cx="6912768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00" dirty="0"/>
              <a:t>注释</a:t>
            </a:r>
            <a:endParaRPr lang="zh-CN" altLang="en-US" sz="23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1" y="950084"/>
            <a:ext cx="10744200" cy="13620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77" y="2570835"/>
            <a:ext cx="10762842" cy="14145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23" y="4107048"/>
            <a:ext cx="8593986" cy="2235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275072"/>
            <a:ext cx="3845587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关键字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常量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关键字</a:t>
            </a:r>
            <a:endParaRPr lang="zh-CN" altLang="zh-CN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280803" y="1705999"/>
            <a:ext cx="10712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rgbClr val="FF0000"/>
                </a:solidFill>
              </a:rPr>
              <a:t>关键字</a:t>
            </a:r>
            <a:r>
              <a:rPr lang="zh-CN" altLang="en-US" sz="4000" dirty="0"/>
              <a:t>：被</a:t>
            </a:r>
            <a:r>
              <a:rPr lang="en-US" altLang="zh-CN" sz="4000" dirty="0"/>
              <a:t>C</a:t>
            </a:r>
            <a:r>
              <a:rPr lang="zh-CN" altLang="en-US" sz="4000" dirty="0"/>
              <a:t>语言赋予了</a:t>
            </a:r>
            <a:r>
              <a:rPr lang="zh-CN" altLang="en-US" sz="4000" b="1" dirty="0">
                <a:solidFill>
                  <a:srgbClr val="FF0000"/>
                </a:solidFill>
              </a:rPr>
              <a:t>特定含义的英文单词</a:t>
            </a:r>
            <a:endParaRPr lang="en-US" altLang="zh-CN" sz="40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887" y="2376218"/>
            <a:ext cx="7190953" cy="3902506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2396927" y="3616325"/>
            <a:ext cx="576064" cy="36004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951111" y="4729866"/>
            <a:ext cx="1029991" cy="36004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1532831" y="3832349"/>
            <a:ext cx="7920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1532831" y="4912469"/>
            <a:ext cx="13231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68735" y="3616325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整数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6986" y="4594194"/>
            <a:ext cx="1392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程序结束了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11" grpId="0" animBg="1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19" y="893006"/>
            <a:ext cx="12008020" cy="58384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关键字的特点</a:t>
            </a:r>
            <a:endParaRPr lang="zh-CN" altLang="zh-CN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100783" y="1702419"/>
            <a:ext cx="102971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600" dirty="0"/>
              <a:t>关键字的字母全部小写</a:t>
            </a:r>
            <a:endParaRPr lang="en-US" altLang="zh-CN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600" dirty="0"/>
              <a:t>常用的代码编辑器，针对关键字有特殊的颜色标记（比如在</a:t>
            </a:r>
            <a:r>
              <a:rPr lang="en-US" altLang="zh-CN" sz="3600" dirty="0"/>
              <a:t>Dev-C++</a:t>
            </a:r>
            <a:r>
              <a:rPr lang="zh-CN" altLang="en-US" sz="3600" dirty="0"/>
              <a:t>里，关键字</a:t>
            </a:r>
            <a:r>
              <a:rPr lang="zh-CN" altLang="en-US" sz="3600" b="1" dirty="0">
                <a:solidFill>
                  <a:srgbClr val="FF0000"/>
                </a:solidFill>
              </a:rPr>
              <a:t>黑色加粗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6938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关键字的特点</a:t>
            </a:r>
            <a:endParaRPr lang="zh-CN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31" y="1410501"/>
            <a:ext cx="6528395" cy="51221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591" y="1888133"/>
            <a:ext cx="3762375" cy="1514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小结</a:t>
            </a:r>
            <a:endParaRPr lang="zh-CN" altLang="zh-CN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604839" y="1960141"/>
            <a:ext cx="910735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3200" dirty="0"/>
              <a:t>什么是关键字？</a:t>
            </a:r>
            <a:endParaRPr lang="en-US" altLang="zh-CN" sz="3200" dirty="0"/>
          </a:p>
          <a:p>
            <a:pPr marL="982980" lvl="1" indent="-342900">
              <a:buFont typeface="+mj-lt"/>
              <a:buAutoNum type="arabicPeriod"/>
            </a:pPr>
            <a:r>
              <a:rPr lang="zh-CN" altLang="en-US" sz="3200" dirty="0"/>
              <a:t>被</a:t>
            </a:r>
            <a:r>
              <a:rPr lang="en-US" altLang="zh-CN" sz="3200" dirty="0"/>
              <a:t>C</a:t>
            </a:r>
            <a:r>
              <a:rPr lang="zh-CN" altLang="en-US" sz="3200" dirty="0"/>
              <a:t>语言赋予了</a:t>
            </a:r>
            <a:r>
              <a:rPr lang="zh-CN" altLang="en-US" sz="3200" b="1" dirty="0">
                <a:solidFill>
                  <a:srgbClr val="FF0000"/>
                </a:solidFill>
              </a:rPr>
              <a:t>特定含义的英文单词</a:t>
            </a:r>
            <a:endParaRPr lang="en-US" altLang="zh-CN" sz="32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dirty="0"/>
              <a:t>关键字的特点？</a:t>
            </a:r>
            <a:endParaRPr lang="en-US" altLang="zh-CN" sz="3200" dirty="0"/>
          </a:p>
          <a:p>
            <a:pPr marL="982980" lvl="1" indent="-342900">
              <a:buFont typeface="+mj-lt"/>
              <a:buAutoNum type="arabicPeriod"/>
            </a:pPr>
            <a:r>
              <a:rPr lang="zh-CN" altLang="en-US" sz="3200" dirty="0"/>
              <a:t>字母全部小写</a:t>
            </a:r>
            <a:endParaRPr lang="en-US" altLang="zh-CN" sz="3200" dirty="0"/>
          </a:p>
          <a:p>
            <a:pPr marL="982980" lvl="1" indent="-342900">
              <a:buFont typeface="+mj-lt"/>
              <a:buAutoNum type="arabicPeriod"/>
            </a:pPr>
            <a:r>
              <a:rPr lang="zh-CN" altLang="en-US" sz="3200" dirty="0"/>
              <a:t>有特殊的颜色标记（比如在</a:t>
            </a:r>
            <a:r>
              <a:rPr lang="en-US" altLang="zh-CN" sz="3200" dirty="0"/>
              <a:t>Dev-C++</a:t>
            </a:r>
            <a:r>
              <a:rPr lang="zh-CN" altLang="en-US" sz="3200" dirty="0"/>
              <a:t>里，关键字</a:t>
            </a:r>
            <a:r>
              <a:rPr lang="zh-CN" altLang="en-US" sz="3200" b="1" dirty="0">
                <a:solidFill>
                  <a:srgbClr val="FF0000"/>
                </a:solidFill>
              </a:rPr>
              <a:t>黑色加粗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marL="982980" lvl="1" indent="-342900">
              <a:buFont typeface="+mj-lt"/>
              <a:buAutoNum type="arabicPeriod"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dirty="0"/>
              <a:t>常量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100783" y="1772858"/>
            <a:ext cx="10441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常量</a:t>
            </a:r>
            <a:r>
              <a:rPr lang="zh-CN" altLang="en-US" sz="3200" dirty="0"/>
              <a:t>：在程序执行过程中，其值不能发生改变的数据。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4870042" y="3184277"/>
            <a:ext cx="9721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solidFill>
                  <a:srgbClr val="FF0000"/>
                </a:solidFill>
              </a:rPr>
              <a:t>π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dirty="0"/>
              <a:t>常量的分类</a:t>
            </a:r>
            <a:endParaRPr lang="zh-CN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81" y="1463524"/>
            <a:ext cx="12570718" cy="462982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85359" y="2896245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整数、负数、</a:t>
            </a:r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5934370" y="352358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所有带小数点的数字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015449" y="4157460"/>
            <a:ext cx="460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单引号</a:t>
            </a:r>
            <a:r>
              <a:rPr lang="zh-CN" altLang="en-US" b="1" dirty="0"/>
              <a:t>引起来的单个</a:t>
            </a:r>
            <a:r>
              <a:rPr lang="zh-CN" altLang="en-US" b="1" dirty="0">
                <a:solidFill>
                  <a:srgbClr val="FF0000"/>
                </a:solidFill>
              </a:rPr>
              <a:t>字母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数字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英文符号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13351" y="4840461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双引号引起来</a:t>
            </a:r>
            <a:endParaRPr lang="zh-CN" altLang="en-US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76" y="4028119"/>
            <a:ext cx="1170434" cy="48344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090" y="4100127"/>
            <a:ext cx="1230575" cy="4834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7947" y="4062763"/>
            <a:ext cx="1122037" cy="49140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219" y="4781401"/>
            <a:ext cx="3253804" cy="4191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8715" y="4809976"/>
            <a:ext cx="1752600" cy="39052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173" y="4690208"/>
            <a:ext cx="4133850" cy="504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dirty="0"/>
              <a:t>常量的分类</a:t>
            </a:r>
            <a:endParaRPr lang="zh-CN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03" y="1424883"/>
            <a:ext cx="12364742" cy="45832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621" y="2680221"/>
            <a:ext cx="2496256" cy="25964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896" y="2769293"/>
            <a:ext cx="10153128" cy="2747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六</a:t>
            </a:r>
            <a:r>
              <a:rPr lang="zh-CN" altLang="zh-CN" sz="2400" dirty="0"/>
              <a:t>、</a:t>
            </a:r>
            <a:r>
              <a:rPr lang="zh-CN" altLang="en-US" sz="2400" dirty="0"/>
              <a:t>小结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100782" y="1507885"/>
            <a:ext cx="103691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dirty="0"/>
              <a:t>什么是常量？</a:t>
            </a:r>
            <a:endParaRPr lang="en-US" altLang="zh-CN" sz="2800" dirty="0"/>
          </a:p>
          <a:p>
            <a:pPr marL="925830" lvl="1" indent="-285750">
              <a:buFont typeface="Wingdings" panose="05000000000000000000" pitchFamily="2" charset="2"/>
              <a:buChar char="Ø"/>
            </a:pPr>
            <a:r>
              <a:rPr lang="zh-CN" altLang="en-US" sz="2800" dirty="0"/>
              <a:t>在程序的执行过程中，其值不能发生改变的数据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dirty="0"/>
              <a:t>常量的分类？每种常量的书写格式？</a:t>
            </a:r>
            <a:endParaRPr lang="en-US" altLang="zh-CN" sz="2800" dirty="0"/>
          </a:p>
          <a:p>
            <a:pPr marL="925830" lvl="1" indent="-285750"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1" y="2812473"/>
            <a:ext cx="11109895" cy="3978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28775" y="1312069"/>
            <a:ext cx="107121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1</a:t>
            </a:r>
            <a:r>
              <a:rPr lang="zh-CN" altLang="en-US" sz="4800" b="1" dirty="0"/>
              <a:t>、什么是常量？</a:t>
            </a:r>
            <a:endParaRPr lang="en-US" altLang="zh-CN" sz="4800" b="1" dirty="0"/>
          </a:p>
          <a:p>
            <a:r>
              <a:rPr lang="en-US" altLang="zh-CN" sz="4800" b="1" dirty="0"/>
              <a:t>2</a:t>
            </a:r>
            <a:r>
              <a:rPr lang="zh-CN" altLang="en-US" sz="4800" b="1" dirty="0"/>
              <a:t>、常量的分类？每种常量的书写格式？</a:t>
            </a:r>
            <a:endParaRPr lang="en-US" altLang="zh-CN" sz="4800" b="1" dirty="0"/>
          </a:p>
          <a:p>
            <a:r>
              <a:rPr lang="en-US" altLang="zh-CN" sz="4800" b="1" dirty="0"/>
              <a:t>3</a:t>
            </a:r>
            <a:r>
              <a:rPr lang="zh-CN" altLang="en-US" sz="4800" b="1" dirty="0"/>
              <a:t>、什么是关键字？</a:t>
            </a:r>
            <a:endParaRPr lang="en-US" altLang="zh-CN" sz="4800" b="1" dirty="0"/>
          </a:p>
          <a:p>
            <a:r>
              <a:rPr lang="en-US" altLang="zh-CN" sz="4800" b="1" dirty="0"/>
              <a:t>4</a:t>
            </a:r>
            <a:r>
              <a:rPr lang="zh-CN" altLang="en-US" sz="4800" b="1" dirty="0"/>
              <a:t>、关键字的特点？</a:t>
            </a:r>
            <a:endParaRPr lang="zh-CN" altLang="en-US" sz="4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04839" y="1430366"/>
            <a:ext cx="103691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抄写</a:t>
            </a:r>
            <a:r>
              <a:rPr lang="en-US" altLang="zh-CN" sz="4400" dirty="0"/>
              <a:t>10</a:t>
            </a:r>
            <a:r>
              <a:rPr lang="zh-CN" altLang="en-US" sz="4400" dirty="0"/>
              <a:t>遍并背诵</a:t>
            </a:r>
            <a:endParaRPr lang="en-US" altLang="zh-CN" sz="4400" dirty="0"/>
          </a:p>
          <a:p>
            <a:r>
              <a:rPr lang="en-US" altLang="zh-CN" sz="4400" dirty="0"/>
              <a:t>1</a:t>
            </a:r>
            <a:r>
              <a:rPr lang="zh-CN" altLang="en-US" sz="4400" dirty="0"/>
              <a:t>、常量的概念</a:t>
            </a:r>
            <a:endParaRPr lang="en-US" altLang="zh-CN" sz="4400" dirty="0"/>
          </a:p>
          <a:p>
            <a:r>
              <a:rPr lang="en-US" altLang="zh-CN" sz="4400" dirty="0"/>
              <a:t>2</a:t>
            </a:r>
            <a:r>
              <a:rPr lang="zh-CN" altLang="en-US" sz="4400" dirty="0"/>
              <a:t>、常量的分类？每种常量的书写格式？</a:t>
            </a:r>
            <a:endParaRPr lang="en-US" altLang="zh-CN" sz="4400" dirty="0"/>
          </a:p>
          <a:p>
            <a:r>
              <a:rPr lang="en-US" altLang="zh-CN" sz="4400" dirty="0"/>
              <a:t>3</a:t>
            </a:r>
            <a:r>
              <a:rPr lang="zh-CN" altLang="en-US" sz="4400" dirty="0"/>
              <a:t>、关键字的概念</a:t>
            </a:r>
            <a:endParaRPr lang="en-US" altLang="zh-CN" sz="4400" dirty="0"/>
          </a:p>
          <a:p>
            <a:r>
              <a:rPr lang="en-US" altLang="zh-CN" sz="4400" dirty="0"/>
              <a:t>4</a:t>
            </a:r>
            <a:r>
              <a:rPr lang="zh-CN" altLang="en-US" sz="4400" dirty="0"/>
              <a:t>、关键字的特点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53232" y="2655456"/>
            <a:ext cx="806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整型常量和实型常量区别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1053</Words>
  <Application>WPS 演示</Application>
  <PresentationFormat>自定义</PresentationFormat>
  <Paragraphs>135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655</cp:revision>
  <dcterms:created xsi:type="dcterms:W3CDTF">2024-04-10T13:53:00Z</dcterms:created>
  <dcterms:modified xsi:type="dcterms:W3CDTF">2025-08-31T23:21:46Z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