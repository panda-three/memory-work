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7"/>
  </p:notesMasterIdLst>
  <p:handoutMasterIdLst>
    <p:handoutMasterId r:id="rId21"/>
  </p:handoutMasterIdLst>
  <p:sldIdLst>
    <p:sldId id="3705" r:id="rId3"/>
    <p:sldId id="3706" r:id="rId4"/>
    <p:sldId id="3756" r:id="rId5"/>
    <p:sldId id="3646" r:id="rId6"/>
    <p:sldId id="3708" r:id="rId8"/>
    <p:sldId id="3755" r:id="rId9"/>
    <p:sldId id="3758" r:id="rId10"/>
    <p:sldId id="3751" r:id="rId11"/>
    <p:sldId id="3760" r:id="rId12"/>
    <p:sldId id="3761" r:id="rId13"/>
    <p:sldId id="3762" r:id="rId14"/>
    <p:sldId id="3766" r:id="rId15"/>
    <p:sldId id="3763" r:id="rId16"/>
    <p:sldId id="3712" r:id="rId17"/>
    <p:sldId id="3700" r:id="rId18"/>
    <p:sldId id="3765" r:id="rId19"/>
    <p:sldId id="3702" r:id="rId20"/>
  </p:sldIdLst>
  <p:sldSz cx="12858750" cy="7232650"/>
  <p:notesSz cx="6858000" cy="9144000"/>
  <p:custDataLst>
    <p:tags r:id="rId2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38" userDrawn="1">
          <p15:clr>
            <a:srgbClr val="A4A3A4"/>
          </p15:clr>
        </p15:guide>
        <p15:guide id="3" pos="4095" userDrawn="1">
          <p15:clr>
            <a:srgbClr val="A4A3A4"/>
          </p15:clr>
        </p15:guide>
        <p15:guide id="4" pos="556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FFBF00"/>
    <a:srgbClr val="0C6AC7"/>
    <a:srgbClr val="1542FF"/>
    <a:srgbClr val="FFC000"/>
    <a:srgbClr val="066197"/>
    <a:srgbClr val="262626"/>
    <a:srgbClr val="0767A3"/>
    <a:srgbClr val="535353"/>
    <a:srgbClr val="0218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6327" autoAdjust="0"/>
  </p:normalViewPr>
  <p:slideViewPr>
    <p:cSldViewPr showGuides="1">
      <p:cViewPr varScale="1">
        <p:scale>
          <a:sx n="56" d="100"/>
          <a:sy n="56" d="100"/>
        </p:scale>
        <p:origin x="62" y="763"/>
      </p:cViewPr>
      <p:guideLst>
        <p:guide orient="horz" pos="218"/>
        <p:guide orient="horz" pos="4138"/>
        <p:guide pos="4095"/>
        <p:guide pos="556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gs" Target="tags/tag1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3.xml"/><Relationship Id="rId13" Type="http://schemas.openxmlformats.org/officeDocument/2006/relationships/image" Target="../media/image28.png"/><Relationship Id="rId12" Type="http://schemas.openxmlformats.org/officeDocument/2006/relationships/image" Target="../media/image27.png"/><Relationship Id="rId11" Type="http://schemas.openxmlformats.org/officeDocument/2006/relationships/image" Target="../media/image26.png"/><Relationship Id="rId10" Type="http://schemas.openxmlformats.org/officeDocument/2006/relationships/image" Target="../media/image25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37.png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8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9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0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实型常量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输出常量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926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  <a:endParaRPr lang="zh-CN" altLang="en-US" b="1" dirty="0"/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629296" y="2032149"/>
            <a:ext cx="69127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/>
              <a:t>关键字</a:t>
            </a:r>
            <a:endParaRPr lang="en-US" altLang="zh-CN" sz="7200" dirty="0"/>
          </a:p>
          <a:p>
            <a:r>
              <a:rPr lang="zh-CN" altLang="en-US" sz="7200" dirty="0"/>
              <a:t>常量有哪些类型</a:t>
            </a:r>
            <a:endParaRPr lang="zh-CN" altLang="en-US" sz="7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  <a:endParaRPr lang="zh-CN" altLang="en-US" b="1" dirty="0"/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52911" y="1240061"/>
            <a:ext cx="81369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C00000"/>
                </a:solidFill>
              </a:rPr>
              <a:t>怎么对常量输出打印呢？</a:t>
            </a:r>
            <a:endParaRPr lang="zh-CN" altLang="en-US" sz="5400" dirty="0">
              <a:solidFill>
                <a:srgbClr val="C00000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015" y="2052124"/>
            <a:ext cx="5125566" cy="412807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031" y="2115660"/>
            <a:ext cx="4886870" cy="3867807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3071" y="3328293"/>
            <a:ext cx="3473558" cy="19968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765079" y="2275072"/>
            <a:ext cx="3845587" cy="2289056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实型常量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输出常量</a:t>
            </a:r>
            <a:endParaRPr lang="en-US" altLang="zh-CN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dirty="0"/>
              <a:t>实型常量</a:t>
            </a:r>
            <a:endParaRPr lang="zh-CN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4989215" y="3930521"/>
            <a:ext cx="3545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00B050"/>
                </a:solidFill>
              </a:rPr>
              <a:t>1.2340000  * 10</a:t>
            </a:r>
            <a:r>
              <a:rPr lang="en-US" altLang="zh-CN" sz="3600" b="1" baseline="30000" dirty="0">
                <a:solidFill>
                  <a:srgbClr val="00B050"/>
                </a:solidFill>
              </a:rPr>
              <a:t>7</a:t>
            </a:r>
            <a:endParaRPr lang="en-US" altLang="zh-CN" sz="3600" b="1" baseline="30000" dirty="0">
              <a:solidFill>
                <a:srgbClr val="00B05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789415" y="1379253"/>
            <a:ext cx="1440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00B050"/>
                </a:solidFill>
              </a:rPr>
              <a:t>0.96</a:t>
            </a:r>
            <a:endParaRPr lang="zh-CN" altLang="en-US" sz="3600" dirty="0"/>
          </a:p>
        </p:txBody>
      </p:sp>
      <p:sp>
        <p:nvSpPr>
          <p:cNvPr id="16" name="文本框 15"/>
          <p:cNvSpPr txBox="1"/>
          <p:nvPr/>
        </p:nvSpPr>
        <p:spPr>
          <a:xfrm>
            <a:off x="3987944" y="1397363"/>
            <a:ext cx="2736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00B050"/>
                </a:solidFill>
              </a:rPr>
              <a:t>.96</a:t>
            </a:r>
            <a:r>
              <a:rPr lang="zh-CN" altLang="en-US" sz="3600" b="1" dirty="0">
                <a:solidFill>
                  <a:srgbClr val="00B050"/>
                </a:solidFill>
              </a:rPr>
              <a:t>     </a:t>
            </a:r>
            <a:r>
              <a:rPr lang="zh-CN" altLang="en-US" sz="3600" dirty="0"/>
              <a:t>等同于</a:t>
            </a:r>
            <a:endParaRPr lang="zh-CN" altLang="en-US" sz="3600" dirty="0"/>
          </a:p>
        </p:txBody>
      </p:sp>
      <p:sp>
        <p:nvSpPr>
          <p:cNvPr id="19" name="文本框 18"/>
          <p:cNvSpPr txBox="1"/>
          <p:nvPr/>
        </p:nvSpPr>
        <p:spPr>
          <a:xfrm>
            <a:off x="4031256" y="2170965"/>
            <a:ext cx="957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00B050"/>
                </a:solidFill>
              </a:rPr>
              <a:t>15.</a:t>
            </a:r>
            <a:endParaRPr lang="zh-CN" altLang="en-US" sz="3600" dirty="0"/>
          </a:p>
        </p:txBody>
      </p:sp>
      <p:sp>
        <p:nvSpPr>
          <p:cNvPr id="20" name="文本框 19"/>
          <p:cNvSpPr txBox="1"/>
          <p:nvPr/>
        </p:nvSpPr>
        <p:spPr>
          <a:xfrm>
            <a:off x="5061223" y="2128003"/>
            <a:ext cx="2736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等同于   </a:t>
            </a:r>
            <a:r>
              <a:rPr lang="en-US" altLang="zh-CN" sz="3600" b="1" dirty="0">
                <a:solidFill>
                  <a:srgbClr val="00B050"/>
                </a:solidFill>
              </a:rPr>
              <a:t>15.0</a:t>
            </a:r>
            <a:endParaRPr lang="zh-CN" altLang="en-US" sz="3600" b="1" dirty="0">
              <a:solidFill>
                <a:srgbClr val="00B05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005102" y="3221623"/>
            <a:ext cx="2559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00B050"/>
                </a:solidFill>
              </a:rPr>
              <a:t>12340000</a:t>
            </a:r>
            <a:endParaRPr lang="zh-CN" altLang="en-US" sz="3600" b="1" dirty="0">
              <a:solidFill>
                <a:srgbClr val="00B05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479915" y="3225718"/>
            <a:ext cx="2053916" cy="646331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整型常量</a:t>
            </a:r>
            <a:endParaRPr lang="zh-CN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989215" y="4700975"/>
            <a:ext cx="2736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00B050"/>
                </a:solidFill>
              </a:rPr>
              <a:t>1.2340000</a:t>
            </a:r>
            <a:r>
              <a:rPr lang="en-US" altLang="zh-CN" sz="3600" b="1" dirty="0">
                <a:solidFill>
                  <a:srgbClr val="FF0000"/>
                </a:solidFill>
              </a:rPr>
              <a:t>E</a:t>
            </a:r>
            <a:r>
              <a:rPr lang="en-US" altLang="zh-CN" sz="3600" b="1" dirty="0">
                <a:solidFill>
                  <a:srgbClr val="00B050"/>
                </a:solidFill>
              </a:rPr>
              <a:t>7</a:t>
            </a:r>
            <a:endParaRPr lang="en-US" altLang="zh-CN" sz="3600" b="1" dirty="0">
              <a:solidFill>
                <a:srgbClr val="00B050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324919" y="3207674"/>
            <a:ext cx="2088232" cy="646331"/>
          </a:xfrm>
          <a:prstGeom prst="rect">
            <a:avLst/>
          </a:prstGeom>
          <a:solidFill>
            <a:srgbClr val="0C6AC7"/>
          </a:solidFill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整型常量</a:t>
            </a:r>
            <a:endParaRPr lang="zh-CN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307965" y="4680733"/>
            <a:ext cx="2088232" cy="646331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实型常量</a:t>
            </a:r>
            <a:endParaRPr lang="zh-CN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390434" y="4048373"/>
            <a:ext cx="3782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不是任何常量，是一个计算过程。</a:t>
            </a:r>
            <a:endParaRPr lang="zh-CN" altLang="en-US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  <p:bldP spid="19" grpId="0"/>
      <p:bldP spid="20" grpId="0"/>
      <p:bldP spid="21" grpId="0"/>
      <p:bldP spid="22" grpId="0" animBg="1"/>
      <p:bldP spid="22" grpId="1" animBg="1"/>
      <p:bldP spid="24" grpId="0"/>
      <p:bldP spid="25" grpId="0" animBg="1"/>
      <p:bldP spid="26" grpId="0" animBg="1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dirty="0"/>
              <a:t>小结</a:t>
            </a:r>
            <a:endParaRPr lang="zh-CN" altLang="zh-CN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487" y="1683631"/>
            <a:ext cx="11541943" cy="36063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746938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dirty="0"/>
              <a:t>课堂练习</a:t>
            </a:r>
            <a:endParaRPr lang="zh-CN" altLang="zh-CN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799" y="1393097"/>
            <a:ext cx="8855918" cy="489205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3631" y="3976365"/>
            <a:ext cx="1028700" cy="40005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4227" y="5783967"/>
            <a:ext cx="1724025" cy="42862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9135" y="2189113"/>
            <a:ext cx="857250" cy="419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62407" y="93725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zh-CN" altLang="en-US" sz="2400" dirty="0"/>
              <a:t>输出常量</a:t>
            </a:r>
            <a:endParaRPr lang="zh-CN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2849708" y="2385646"/>
            <a:ext cx="3276364" cy="64633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glow>
              <a:schemeClr val="accent1">
                <a:alpha val="40000"/>
              </a:schemeClr>
            </a:glow>
            <a:outerShdw blurRad="241300" dist="50800" dir="5400000" algn="ctr" rotWithShape="0">
              <a:srgbClr val="000000">
                <a:alpha val="43137"/>
              </a:srgbClr>
            </a:outerShdw>
            <a:softEdge rad="0"/>
          </a:effectLst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FFFFFF"/>
                </a:solidFill>
              </a:rPr>
              <a:t>printf(                 ) </a:t>
            </a:r>
            <a:endParaRPr lang="zh-CN" altLang="en-US" sz="3600" dirty="0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288534" y="2385645"/>
            <a:ext cx="3456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输出语句</a:t>
            </a:r>
            <a:endParaRPr lang="zh-CN" altLang="en-US" sz="36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4071251" y="2501502"/>
            <a:ext cx="1872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FFFF"/>
                </a:solidFill>
              </a:rPr>
              <a:t> 输出的内容 </a:t>
            </a:r>
            <a:endParaRPr lang="zh-CN" altLang="en-US" sz="2400" b="1" dirty="0">
              <a:solidFill>
                <a:srgbClr val="FFFFFF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94957" y="2516255"/>
            <a:ext cx="2124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FFFF"/>
                </a:solidFill>
              </a:rPr>
              <a:t>参数</a:t>
            </a:r>
            <a:r>
              <a:rPr lang="en-US" altLang="zh-CN" sz="2400" b="1" dirty="0">
                <a:solidFill>
                  <a:srgbClr val="FFFFFF"/>
                </a:solidFill>
              </a:rPr>
              <a:t>1,</a:t>
            </a:r>
            <a:r>
              <a:rPr lang="zh-CN" altLang="en-US" sz="2400" b="1" dirty="0">
                <a:solidFill>
                  <a:srgbClr val="FFFFFF"/>
                </a:solidFill>
              </a:rPr>
              <a:t>参数</a:t>
            </a:r>
            <a:r>
              <a:rPr lang="en-US" altLang="zh-CN" sz="2400" b="1" dirty="0">
                <a:solidFill>
                  <a:srgbClr val="FFFFFF"/>
                </a:solidFill>
              </a:rPr>
              <a:t>2</a:t>
            </a:r>
            <a:endParaRPr lang="zh-CN" altLang="en-US" sz="2400" b="1" dirty="0">
              <a:solidFill>
                <a:srgbClr val="FFFFFF"/>
              </a:solidFill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3389768" y="2963167"/>
            <a:ext cx="936104" cy="1166881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638605" y="4254412"/>
            <a:ext cx="3960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必填</a:t>
            </a:r>
            <a:r>
              <a:rPr lang="zh-CN" altLang="en-US" sz="2000" b="1" dirty="0"/>
              <a:t>：输出内容的最终形式</a:t>
            </a:r>
            <a:endParaRPr lang="en-US" altLang="zh-CN" sz="2000" b="1" dirty="0"/>
          </a:p>
          <a:p>
            <a:r>
              <a:rPr lang="en-US" altLang="zh-CN" sz="2000" b="1" dirty="0"/>
              <a:t>             </a:t>
            </a:r>
            <a:r>
              <a:rPr lang="zh-CN" altLang="en-US" sz="2000" b="1" dirty="0"/>
              <a:t>以字符串的形式体现</a:t>
            </a:r>
            <a:endParaRPr lang="zh-CN" altLang="en-US" sz="2000" b="1" dirty="0"/>
          </a:p>
        </p:txBody>
      </p:sp>
      <p:cxnSp>
        <p:nvCxnSpPr>
          <p:cNvPr id="16" name="直接箭头连接符 15"/>
          <p:cNvCxnSpPr/>
          <p:nvPr/>
        </p:nvCxnSpPr>
        <p:spPr>
          <a:xfrm>
            <a:off x="5547415" y="2955417"/>
            <a:ext cx="1030850" cy="1099437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5925223" y="4208245"/>
            <a:ext cx="2441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选填：</a:t>
            </a:r>
            <a:r>
              <a:rPr lang="zh-CN" altLang="en-US" sz="2000" b="1" dirty="0"/>
              <a:t>填补的内容</a:t>
            </a:r>
            <a:endParaRPr lang="zh-CN" altLang="en-US" sz="2000" b="1" dirty="0"/>
          </a:p>
        </p:txBody>
      </p:sp>
      <p:sp>
        <p:nvSpPr>
          <p:cNvPr id="20" name="文本框 19"/>
          <p:cNvSpPr txBox="1"/>
          <p:nvPr/>
        </p:nvSpPr>
        <p:spPr>
          <a:xfrm>
            <a:off x="3333031" y="1528093"/>
            <a:ext cx="35956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printf(</a:t>
            </a:r>
            <a:r>
              <a:rPr lang="en-US" altLang="zh-CN" sz="2800" dirty="0">
                <a:solidFill>
                  <a:srgbClr val="FF0000"/>
                </a:solidFill>
              </a:rPr>
              <a:t>“HelloWorld!”</a:t>
            </a:r>
            <a:r>
              <a:rPr lang="en-US" altLang="zh-CN" sz="2800" dirty="0"/>
              <a:t>)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14" grpId="0"/>
      <p:bldP spid="18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zh-CN" altLang="en-US" sz="2400" dirty="0"/>
              <a:t>输出常量</a:t>
            </a:r>
            <a:endParaRPr lang="zh-CN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3303868" y="1464052"/>
            <a:ext cx="4104456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FFFFF"/>
                </a:solidFill>
              </a:rPr>
              <a:t>如果输出一个整数呢？</a:t>
            </a:r>
            <a:endParaRPr lang="zh-CN" altLang="en-US" sz="3200" dirty="0">
              <a:solidFill>
                <a:srgbClr val="FFFFFF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935" y="2087255"/>
            <a:ext cx="6524680" cy="43016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983" y="4747438"/>
            <a:ext cx="3744416" cy="1330729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6150" y="4532363"/>
            <a:ext cx="3687241" cy="1571077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9956" y="3406561"/>
            <a:ext cx="4323589" cy="321654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3225" y="3517918"/>
            <a:ext cx="5623461" cy="3125073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1795" y="3229780"/>
            <a:ext cx="5551452" cy="344805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1375" y="5014831"/>
            <a:ext cx="3048000" cy="46672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7287" y="5041327"/>
            <a:ext cx="409575" cy="37147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81375" y="4924186"/>
            <a:ext cx="3133725" cy="46672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06109" y="3589724"/>
            <a:ext cx="5326848" cy="3018044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90950" y="5767915"/>
            <a:ext cx="2724150" cy="695325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47848" y="3697517"/>
            <a:ext cx="1590675" cy="428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zh-CN" altLang="en-US" sz="2400" dirty="0"/>
              <a:t>输出常量</a:t>
            </a:r>
            <a:endParaRPr lang="zh-CN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1532831" y="1455649"/>
            <a:ext cx="934708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1</a:t>
            </a:r>
            <a:r>
              <a:rPr lang="zh-CN" altLang="en-US" sz="4400" dirty="0"/>
              <a:t>、输出常数</a:t>
            </a:r>
            <a:endParaRPr lang="en-US" altLang="zh-CN" sz="4400" dirty="0"/>
          </a:p>
          <a:p>
            <a:r>
              <a:rPr lang="en-US" altLang="zh-CN" sz="4400" dirty="0"/>
              <a:t>2</a:t>
            </a:r>
            <a:r>
              <a:rPr lang="zh-CN" altLang="en-US" sz="4400" dirty="0"/>
              <a:t>、输出小数</a:t>
            </a:r>
            <a:endParaRPr lang="en-US" altLang="zh-CN" sz="4400" dirty="0"/>
          </a:p>
          <a:p>
            <a:r>
              <a:rPr lang="en-US" altLang="zh-CN" sz="4400" dirty="0"/>
              <a:t>3</a:t>
            </a:r>
            <a:r>
              <a:rPr lang="zh-CN" altLang="en-US" sz="4400" dirty="0"/>
              <a:t>、输出字符</a:t>
            </a:r>
            <a:endParaRPr lang="en-US" altLang="zh-CN" sz="4400" dirty="0"/>
          </a:p>
          <a:p>
            <a:r>
              <a:rPr lang="en-US" altLang="zh-CN" sz="4400" dirty="0"/>
              <a:t>4</a:t>
            </a:r>
            <a:r>
              <a:rPr lang="zh-CN" altLang="en-US" sz="4400" dirty="0"/>
              <a:t>、输出字符串 （两种方式）</a:t>
            </a:r>
            <a:endParaRPr lang="en-US" altLang="zh-CN" sz="4400" dirty="0"/>
          </a:p>
          <a:p>
            <a:r>
              <a:rPr lang="en-US" altLang="zh-CN" sz="4400" dirty="0"/>
              <a:t>5</a:t>
            </a:r>
            <a:r>
              <a:rPr lang="zh-CN" altLang="en-US" sz="4400" dirty="0"/>
              <a:t>、将</a:t>
            </a:r>
            <a:r>
              <a:rPr lang="en-US" altLang="zh-CN" sz="4400" dirty="0"/>
              <a:t>18+18</a:t>
            </a:r>
            <a:r>
              <a:rPr lang="zh-CN" altLang="en-US" sz="4400" dirty="0"/>
              <a:t>的值通过</a:t>
            </a:r>
            <a:r>
              <a:rPr lang="en-US" altLang="zh-CN" sz="4400" dirty="0"/>
              <a:t>printf</a:t>
            </a:r>
            <a:r>
              <a:rPr lang="zh-CN" altLang="en-US" sz="4400" dirty="0"/>
              <a:t>输出出来</a:t>
            </a:r>
            <a:endParaRPr lang="zh-CN" altLang="en-US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五</a:t>
            </a:r>
            <a:r>
              <a:rPr lang="zh-CN" altLang="zh-CN" sz="2400" dirty="0"/>
              <a:t>、</a:t>
            </a:r>
            <a:r>
              <a:rPr lang="zh-CN" altLang="en-US" sz="2400" dirty="0"/>
              <a:t>输出多个常量</a:t>
            </a:r>
            <a:endParaRPr lang="zh-CN" altLang="zh-CN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073" y="1550741"/>
            <a:ext cx="10053092" cy="15095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799" y="3240936"/>
            <a:ext cx="10418483" cy="297902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997" y="3670200"/>
            <a:ext cx="9643243" cy="2271925"/>
          </a:xfrm>
          <a:prstGeom prst="rect">
            <a:avLst/>
          </a:prstGeom>
        </p:spPr>
      </p:pic>
      <p:sp>
        <p:nvSpPr>
          <p:cNvPr id="2" name="矩形: 圆角 1"/>
          <p:cNvSpPr/>
          <p:nvPr/>
        </p:nvSpPr>
        <p:spPr>
          <a:xfrm>
            <a:off x="4269135" y="2062351"/>
            <a:ext cx="864096" cy="46029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5925319" y="2069087"/>
            <a:ext cx="504056" cy="46029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/>
        </p:nvSpPr>
        <p:spPr>
          <a:xfrm>
            <a:off x="7261263" y="2077533"/>
            <a:ext cx="432048" cy="46029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/>
          <p:cNvSpPr/>
          <p:nvPr/>
        </p:nvSpPr>
        <p:spPr>
          <a:xfrm>
            <a:off x="8943215" y="2062351"/>
            <a:ext cx="726519" cy="46029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/>
          <p:cNvSpPr/>
          <p:nvPr/>
        </p:nvSpPr>
        <p:spPr>
          <a:xfrm>
            <a:off x="10605839" y="2045630"/>
            <a:ext cx="510495" cy="46029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下 15"/>
          <p:cNvSpPr/>
          <p:nvPr/>
        </p:nvSpPr>
        <p:spPr>
          <a:xfrm rot="13266846">
            <a:off x="9498661" y="1403882"/>
            <a:ext cx="246180" cy="68680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9472244" y="953926"/>
            <a:ext cx="936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1.82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dirty="0"/>
              <a:t>思考</a:t>
            </a:r>
            <a:endParaRPr kumimoji="1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文本占位符 3"/>
          <p:cNvSpPr>
            <a:spLocks noGrp="1"/>
          </p:cNvSpPr>
          <p:nvPr/>
        </p:nvSpPr>
        <p:spPr>
          <a:xfrm>
            <a:off x="850730" y="695080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2324919" y="1485289"/>
            <a:ext cx="8064896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输入呢？</a:t>
            </a:r>
            <a:endParaRPr lang="zh-CN" altLang="en-US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六</a:t>
            </a:r>
            <a:r>
              <a:rPr lang="zh-CN" altLang="zh-CN" sz="2400" dirty="0"/>
              <a:t>、</a:t>
            </a:r>
            <a:r>
              <a:rPr lang="zh-CN" altLang="en-US" sz="2400" dirty="0"/>
              <a:t>输出并换行</a:t>
            </a:r>
            <a:endParaRPr lang="zh-CN" altLang="zh-CN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604" y="1683631"/>
            <a:ext cx="5235103" cy="400777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8045" y="794385"/>
            <a:ext cx="4467225" cy="14382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420" y="707156"/>
            <a:ext cx="4514850" cy="157162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2745" y="2881527"/>
            <a:ext cx="4648200" cy="280987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8855" y="3687516"/>
            <a:ext cx="3810000" cy="4572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9885" y="3641742"/>
            <a:ext cx="3747940" cy="466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文本占位符 3"/>
          <p:cNvSpPr>
            <a:spLocks noGrp="1"/>
          </p:cNvSpPr>
          <p:nvPr/>
        </p:nvSpPr>
        <p:spPr>
          <a:xfrm>
            <a:off x="850730" y="695080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2324919" y="1485289"/>
            <a:ext cx="806489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实型常量中</a:t>
            </a:r>
            <a:r>
              <a:rPr lang="en-US" altLang="zh-CN" sz="4400" dirty="0"/>
              <a:t>0</a:t>
            </a:r>
            <a:r>
              <a:rPr lang="zh-CN" altLang="en-US" sz="4400" dirty="0"/>
              <a:t>的位置</a:t>
            </a:r>
            <a:endParaRPr lang="en-US" altLang="zh-CN" sz="4400" dirty="0"/>
          </a:p>
          <a:p>
            <a:r>
              <a:rPr lang="zh-CN" altLang="en-US" sz="4400" dirty="0"/>
              <a:t>实型常量中科学计数法表示方式</a:t>
            </a:r>
            <a:endParaRPr lang="en-US" altLang="zh-CN" sz="4400" dirty="0"/>
          </a:p>
          <a:p>
            <a:r>
              <a:rPr lang="zh-CN" altLang="en-US" sz="4400" dirty="0"/>
              <a:t>输出常量的规则</a:t>
            </a:r>
            <a:endParaRPr lang="en-US" altLang="zh-CN" sz="4400" dirty="0"/>
          </a:p>
          <a:p>
            <a:r>
              <a:rPr lang="zh-CN" altLang="en-US" sz="4400" dirty="0"/>
              <a:t>输出多个常量</a:t>
            </a:r>
            <a:endParaRPr lang="en-US" altLang="zh-CN" sz="4400" dirty="0"/>
          </a:p>
          <a:p>
            <a:r>
              <a:rPr lang="zh-CN" altLang="en-US" sz="4400" dirty="0"/>
              <a:t>换行</a:t>
            </a:r>
            <a:endParaRPr lang="zh-CN" altLang="en-US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570" y="735965"/>
            <a:ext cx="9003665" cy="58172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270" y="735965"/>
            <a:ext cx="7044690" cy="53168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822" y="2094044"/>
            <a:ext cx="11373791" cy="15222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1069</Words>
  <Application>WPS 演示</Application>
  <PresentationFormat>自定义</PresentationFormat>
  <Paragraphs>154</Paragraphs>
  <Slides>17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R</vt:lpstr>
      <vt:lpstr>Alibaba PuHuiTi B</vt:lpstr>
      <vt:lpstr>阿里巴巴普惠体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660</cp:revision>
  <dcterms:created xsi:type="dcterms:W3CDTF">2024-04-10T13:53:00Z</dcterms:created>
  <dcterms:modified xsi:type="dcterms:W3CDTF">2025-09-08T07:13:06Z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FCA88555D3D44735BAA1F56722F3B997</vt:lpwstr>
  </property>
</Properties>
</file>