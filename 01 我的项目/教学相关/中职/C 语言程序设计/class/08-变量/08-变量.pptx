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21"/>
  </p:handoutMasterIdLst>
  <p:sldIdLst>
    <p:sldId id="3705" r:id="rId3"/>
    <p:sldId id="3706" r:id="rId4"/>
    <p:sldId id="3756" r:id="rId5"/>
    <p:sldId id="3646" r:id="rId6"/>
    <p:sldId id="3708" r:id="rId8"/>
    <p:sldId id="3765" r:id="rId9"/>
    <p:sldId id="3766" r:id="rId10"/>
    <p:sldId id="3767" r:id="rId11"/>
    <p:sldId id="3768" r:id="rId12"/>
    <p:sldId id="3772" r:id="rId13"/>
    <p:sldId id="3769" r:id="rId14"/>
    <p:sldId id="3773" r:id="rId15"/>
    <p:sldId id="3774" r:id="rId16"/>
    <p:sldId id="3775" r:id="rId17"/>
    <p:sldId id="3712" r:id="rId18"/>
    <p:sldId id="3700" r:id="rId19"/>
    <p:sldId id="3702" r:id="rId20"/>
  </p:sldIdLst>
  <p:sldSz cx="12858750" cy="7232650"/>
  <p:notesSz cx="6858000" cy="9144000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BF00"/>
    <a:srgbClr val="0C6AC7"/>
    <a:srgbClr val="1542FF"/>
    <a:srgbClr val="FFC000"/>
    <a:srgbClr val="066197"/>
    <a:srgbClr val="262626"/>
    <a:srgbClr val="0767A3"/>
    <a:srgbClr val="535353"/>
    <a:srgbClr val="0218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4681524" y="1960141"/>
            <a:ext cx="2808312" cy="228905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实型常量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输出常量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895" y="718967"/>
            <a:ext cx="7733109" cy="5736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765079" y="2704661"/>
            <a:ext cx="3845587" cy="1341253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变量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变量</a:t>
            </a:r>
            <a:endParaRPr lang="zh-CN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31" y="1702419"/>
            <a:ext cx="8743950" cy="191452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8373591" y="2248173"/>
            <a:ext cx="1095490" cy="5760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变量</a:t>
            </a:r>
            <a:endParaRPr lang="zh-CN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094" y="504056"/>
            <a:ext cx="4400089" cy="606459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983" y="543080"/>
            <a:ext cx="7590787" cy="6064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变量</a:t>
            </a:r>
            <a:endParaRPr lang="zh-CN" altLang="zh-CN" sz="24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15" y="1745882"/>
            <a:ext cx="7884876" cy="407427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885759" y="2604147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变量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9237687" y="3040261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经常需要改变的数据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9252409" y="3004257"/>
            <a:ext cx="3009613" cy="51719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dirty="0"/>
              <a:t>变量的定义格式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820863" y="2032149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数据类型             变量名 </a:t>
            </a:r>
            <a:r>
              <a:rPr lang="en-US" altLang="zh-CN" sz="2400" b="1" dirty="0"/>
              <a:t>;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829764" y="2731317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int       a   ;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8322237" y="1862085"/>
            <a:ext cx="2304256" cy="107978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7705277" y="1418236"/>
            <a:ext cx="3583898" cy="196748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957166" y="2194690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整数</a:t>
            </a:r>
            <a:endParaRPr lang="zh-CN" altLang="en-US" sz="32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8957166" y="2153867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小数</a:t>
            </a:r>
            <a:endParaRPr lang="zh-CN" altLang="en-US" sz="32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6615043" y="643484"/>
            <a:ext cx="208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数据类型</a:t>
            </a:r>
            <a:endParaRPr lang="zh-CN" altLang="en-US" sz="3600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1100783" y="3831304"/>
            <a:ext cx="11593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数据类型：为盒子中存储的数据，加入类型</a:t>
            </a:r>
            <a:r>
              <a:rPr lang="en-US" altLang="zh-CN" sz="2800" b="1" dirty="0"/>
              <a:t>【</a:t>
            </a:r>
            <a:r>
              <a:rPr lang="zh-CN" altLang="en-US" sz="2800" b="1" dirty="0">
                <a:solidFill>
                  <a:srgbClr val="FF0000"/>
                </a:solidFill>
              </a:rPr>
              <a:t>限制</a:t>
            </a:r>
            <a:r>
              <a:rPr lang="en-US" altLang="zh-CN" sz="2800" b="1" dirty="0"/>
              <a:t>】</a:t>
            </a:r>
            <a:r>
              <a:rPr lang="zh-CN" altLang="en-US" sz="2800" b="1" dirty="0"/>
              <a:t>，整数？小数？</a:t>
            </a:r>
            <a:r>
              <a:rPr lang="en-US" altLang="zh-CN" sz="2800" b="1" dirty="0"/>
              <a:t>……</a:t>
            </a:r>
            <a:endParaRPr lang="zh-CN" altLang="en-US" sz="2800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7077447" y="544945"/>
            <a:ext cx="9361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/>
              <a:t>int</a:t>
            </a:r>
            <a:endParaRPr lang="en-US" altLang="zh-CN" sz="44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9224372" y="2170437"/>
            <a:ext cx="545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</a:t>
            </a:r>
            <a:endParaRPr lang="zh-CN" altLang="en-US" sz="32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9246121" y="2133936"/>
            <a:ext cx="545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8</a:t>
            </a:r>
            <a:endParaRPr lang="zh-CN" altLang="en-US" sz="32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10093495" y="643961"/>
            <a:ext cx="545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a</a:t>
            </a:r>
            <a:endParaRPr lang="zh-CN" altLang="en-US" sz="3200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1100783" y="4545191"/>
            <a:ext cx="4371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变量名：为盒子起的名字</a:t>
            </a:r>
            <a:endParaRPr lang="zh-CN" altLang="en-US" sz="2800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1101865" y="5295312"/>
            <a:ext cx="4371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分号：表示语句的结束</a:t>
            </a:r>
            <a:endParaRPr lang="zh-CN" altLang="en-US" sz="2800" b="1" dirty="0"/>
          </a:p>
        </p:txBody>
      </p:sp>
      <p:sp>
        <p:nvSpPr>
          <p:cNvPr id="7" name="矩形: 圆角 6"/>
          <p:cNvSpPr/>
          <p:nvPr/>
        </p:nvSpPr>
        <p:spPr>
          <a:xfrm>
            <a:off x="8922397" y="2166715"/>
            <a:ext cx="1149658" cy="59137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/>
          <p:nvPr/>
        </p:nvSpPr>
        <p:spPr>
          <a:xfrm>
            <a:off x="8322237" y="1860445"/>
            <a:ext cx="2316966" cy="1111453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6" grpId="1" animBg="1"/>
      <p:bldP spid="6" grpId="2" animBg="1"/>
      <p:bldP spid="11" grpId="0" animBg="1"/>
      <p:bldP spid="11" grpId="1" animBg="1"/>
      <p:bldP spid="12" grpId="0"/>
      <p:bldP spid="12" grpId="1"/>
      <p:bldP spid="14" grpId="0"/>
      <p:bldP spid="14" grpId="1"/>
      <p:bldP spid="15" grpId="0"/>
      <p:bldP spid="15" grpId="1"/>
      <p:bldP spid="16" grpId="0"/>
      <p:bldP spid="17" grpId="0"/>
      <p:bldP spid="18" grpId="0"/>
      <p:bldP spid="18" grpId="1"/>
      <p:bldP spid="19" grpId="0"/>
      <p:bldP spid="19" grpId="1"/>
      <p:bldP spid="20" grpId="0"/>
      <p:bldP spid="20" grpId="1"/>
      <p:bldP spid="21" grpId="0"/>
      <p:bldP spid="22" grpId="0"/>
      <p:bldP spid="7" grpId="0" animBg="1"/>
      <p:bldP spid="7" grpId="1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dirty="0"/>
              <a:t>变量的使用</a:t>
            </a:r>
            <a:endParaRPr lang="zh-CN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367" y="383821"/>
            <a:ext cx="2184264" cy="151874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657339" y="2492814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   =    10 ;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21463" y="1027606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10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57339" y="2991566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   =    20 ;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27336" y="1009787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20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29247" y="1476413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1</a:t>
            </a:r>
            <a:r>
              <a:rPr lang="zh-CN" altLang="en-US" sz="3200" dirty="0"/>
              <a:t>、赋值</a:t>
            </a:r>
            <a:r>
              <a:rPr lang="en-US" altLang="zh-CN" sz="3200" dirty="0"/>
              <a:t>/</a:t>
            </a:r>
            <a:r>
              <a:rPr lang="zh-CN" altLang="en-US" sz="3200" dirty="0"/>
              <a:t>修改值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  <p:bldP spid="4" grpId="1"/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dirty="0"/>
              <a:t>变量的使用</a:t>
            </a:r>
            <a:endParaRPr lang="zh-CN" altLang="zh-CN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706711" y="1469351"/>
            <a:ext cx="4960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2</a:t>
            </a:r>
            <a:r>
              <a:rPr lang="zh-CN" altLang="en-US" sz="3200" dirty="0"/>
              <a:t>、使用变量中记录的值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911" y="2054126"/>
            <a:ext cx="7268337" cy="40240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dirty="0"/>
              <a:t>练习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244799" y="1672109"/>
            <a:ext cx="104411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用一个变量表示微信的余额。</a:t>
            </a:r>
            <a:endParaRPr lang="en-US" altLang="zh-CN" sz="3200" b="1" dirty="0"/>
          </a:p>
          <a:p>
            <a:r>
              <a:rPr lang="zh-CN" altLang="en-US" sz="3200" b="1" dirty="0"/>
              <a:t>需求：一开始微信的余额为</a:t>
            </a:r>
            <a:r>
              <a:rPr lang="en-US" altLang="zh-CN" sz="3200" b="1" dirty="0"/>
              <a:t>100</a:t>
            </a:r>
            <a:r>
              <a:rPr lang="zh-CN" altLang="en-US" sz="3200" b="1" dirty="0"/>
              <a:t>元，收到一个</a:t>
            </a:r>
            <a:r>
              <a:rPr lang="en-US" altLang="zh-CN" sz="3200" b="1" dirty="0"/>
              <a:t>2</a:t>
            </a:r>
            <a:r>
              <a:rPr lang="zh-CN" altLang="en-US" sz="3200" b="1" dirty="0"/>
              <a:t>元的红包</a:t>
            </a:r>
            <a:endParaRPr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4629175" y="2854429"/>
            <a:ext cx="7737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</a:rPr>
              <a:t>提示：经常改变的数据：我们可以用变量来表示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五</a:t>
            </a:r>
            <a:r>
              <a:rPr lang="zh-CN" altLang="zh-CN" sz="2400" dirty="0"/>
              <a:t>、</a:t>
            </a:r>
            <a:r>
              <a:rPr lang="zh-CN" altLang="en-US" sz="2400" dirty="0"/>
              <a:t>注意事项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244799" y="1672109"/>
            <a:ext cx="5184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</a:t>
            </a:r>
            <a:r>
              <a:rPr lang="zh-CN" altLang="en-US" sz="3200" b="1" dirty="0"/>
              <a:t>、只能存一个值</a:t>
            </a:r>
            <a:endParaRPr lang="zh-CN" altLang="en-US" sz="32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244799" y="2328892"/>
            <a:ext cx="5184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2</a:t>
            </a:r>
            <a:r>
              <a:rPr lang="zh-CN" altLang="en-US" sz="3200" b="1" dirty="0"/>
              <a:t>、变量名不能重复定义</a:t>
            </a:r>
            <a:endParaRPr lang="zh-CN" altLang="en-US" sz="32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261402" y="2985090"/>
            <a:ext cx="65167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3</a:t>
            </a:r>
            <a:r>
              <a:rPr lang="zh-CN" altLang="en-US" sz="3200" b="1" dirty="0"/>
              <a:t>、一条语句可以定义多个变量</a:t>
            </a:r>
            <a:endParaRPr lang="zh-CN" altLang="en-US" sz="32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261401" y="3592894"/>
            <a:ext cx="7832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4</a:t>
            </a:r>
            <a:r>
              <a:rPr lang="zh-CN" altLang="en-US" sz="3200" b="1" dirty="0"/>
              <a:t>、变量在使用之前一定要进行赋值</a:t>
            </a:r>
            <a:endParaRPr lang="zh-CN" altLang="en-US" sz="32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1261401" y="4189862"/>
            <a:ext cx="7832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5</a:t>
            </a:r>
            <a:r>
              <a:rPr lang="zh-CN" altLang="en-US" sz="3200" b="1" dirty="0"/>
              <a:t>、变量的作用范围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六</a:t>
            </a:r>
            <a:r>
              <a:rPr lang="zh-CN" altLang="zh-CN" sz="2400" dirty="0"/>
              <a:t>、</a:t>
            </a:r>
            <a:r>
              <a:rPr lang="en-US" altLang="zh-CN" sz="2400" dirty="0"/>
              <a:t>static</a:t>
            </a:r>
            <a:endParaRPr lang="zh-CN" altLang="zh-CN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1460823" y="1497632"/>
            <a:ext cx="8160928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变量前面加</a:t>
            </a:r>
            <a:r>
              <a:rPr lang="en-US" altLang="zh-CN" sz="3200" b="1" dirty="0">
                <a:solidFill>
                  <a:srgbClr val="FF0000"/>
                </a:solidFill>
              </a:rPr>
              <a:t>static</a:t>
            </a:r>
            <a:r>
              <a:rPr lang="zh-CN" altLang="en-US" sz="3200" b="1" dirty="0"/>
              <a:t>，叫</a:t>
            </a:r>
            <a:r>
              <a:rPr lang="zh-CN" altLang="en-US" sz="3200" b="1" dirty="0">
                <a:solidFill>
                  <a:srgbClr val="00B0F0"/>
                </a:solidFill>
              </a:rPr>
              <a:t>静态变量</a:t>
            </a:r>
            <a:r>
              <a:rPr lang="zh-CN" altLang="en-US" sz="3200" b="1" dirty="0"/>
              <a:t>。</a:t>
            </a:r>
            <a:endParaRPr lang="en-US" altLang="zh-CN" sz="3200" b="1" dirty="0"/>
          </a:p>
          <a:p>
            <a:r>
              <a:rPr lang="zh-CN" altLang="en-US" sz="3200" b="1" dirty="0"/>
              <a:t>特点：</a:t>
            </a:r>
            <a:endParaRPr lang="en-US" altLang="zh-CN" sz="3200" b="1" dirty="0"/>
          </a:p>
          <a:p>
            <a:r>
              <a:rPr lang="en-US" altLang="zh-CN" sz="3200" b="1" dirty="0"/>
              <a:t>    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、一旦定义赋值，值始终存在。</a:t>
            </a:r>
            <a:endParaRPr lang="en-US" altLang="zh-CN" sz="2400" b="1" dirty="0"/>
          </a:p>
          <a:p>
            <a:r>
              <a:rPr lang="en-US" altLang="zh-CN" sz="2400" b="1" dirty="0"/>
              <a:t>     2</a:t>
            </a:r>
            <a:r>
              <a:rPr lang="zh-CN" altLang="en-US" sz="2400" b="1" dirty="0"/>
              <a:t>、</a:t>
            </a:r>
            <a:r>
              <a:rPr lang="zh-CN" altLang="en-US" sz="2400" dirty="0"/>
              <a:t>静态变量只初始化一次。如果没有显式初始化，对于基本数据类型（如</a:t>
            </a:r>
            <a:r>
              <a:rPr lang="en-US" altLang="zh-CN" sz="2400" dirty="0"/>
              <a:t>int</a:t>
            </a:r>
            <a:r>
              <a:rPr lang="zh-CN" altLang="en-US" sz="2400" dirty="0"/>
              <a:t>、</a:t>
            </a:r>
            <a:r>
              <a:rPr lang="en-US" altLang="zh-CN" sz="2400" dirty="0"/>
              <a:t>char</a:t>
            </a:r>
            <a:r>
              <a:rPr lang="zh-CN" altLang="en-US" sz="2400" dirty="0"/>
              <a:t>等），它会被自动初始化为 </a:t>
            </a:r>
            <a:r>
              <a:rPr lang="en-US" altLang="zh-CN" sz="2400" dirty="0"/>
              <a:t>0</a:t>
            </a:r>
            <a:r>
              <a:rPr lang="zh-CN" altLang="en-US" sz="2400" dirty="0"/>
              <a:t>（对于指针类型会初始化为</a:t>
            </a:r>
            <a:r>
              <a:rPr lang="en-US" altLang="zh-CN" sz="2400" dirty="0"/>
              <a:t>NULL</a:t>
            </a:r>
            <a:r>
              <a:rPr lang="zh-CN" altLang="en-US" sz="2400" dirty="0"/>
              <a:t>）。</a:t>
            </a:r>
            <a:endParaRPr lang="en-US" altLang="zh-CN" sz="2400" dirty="0"/>
          </a:p>
          <a:p>
            <a:r>
              <a:rPr lang="en-US" altLang="zh-CN" sz="2400" b="1" dirty="0"/>
              <a:t>     3</a:t>
            </a:r>
            <a:r>
              <a:rPr lang="zh-CN" altLang="en-US" sz="2400" b="1" dirty="0"/>
              <a:t>、</a:t>
            </a:r>
            <a:r>
              <a:rPr lang="zh-CN" altLang="en-US" sz="2400" dirty="0"/>
              <a:t>静态局部变量的作用域是它所在的函数内部。这意味着它只能在定义它的函数中访问。</a:t>
            </a:r>
            <a:endParaRPr lang="en-US" altLang="zh-CN" sz="2400" b="1" dirty="0"/>
          </a:p>
          <a:p>
            <a:endParaRPr lang="zh-CN" altLang="en-US" sz="3200" b="1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12" y="15925"/>
            <a:ext cx="5476875" cy="2038350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/>
        </p:nvCxnSpPr>
        <p:spPr>
          <a:xfrm flipV="1">
            <a:off x="7725519" y="1888133"/>
            <a:ext cx="1008112" cy="100811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1597022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六</a:t>
            </a:r>
            <a:r>
              <a:rPr lang="zh-CN" altLang="zh-CN" sz="2400" dirty="0"/>
              <a:t>、</a:t>
            </a:r>
            <a:r>
              <a:rPr lang="zh-CN" altLang="en-US" sz="2400" dirty="0"/>
              <a:t>练习</a:t>
            </a:r>
            <a:endParaRPr lang="zh-CN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216" y="374197"/>
            <a:ext cx="5010150" cy="6467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927" y="677131"/>
            <a:ext cx="6912768" cy="55718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023" y="1084787"/>
            <a:ext cx="5013536" cy="6572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015" y="2538281"/>
            <a:ext cx="5013536" cy="8620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983" y="4264397"/>
            <a:ext cx="6624736" cy="79208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055" y="5744106"/>
            <a:ext cx="5013536" cy="657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00783" y="1600101"/>
            <a:ext cx="104411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用一个变量表示微信的余额。</a:t>
            </a:r>
            <a:endParaRPr lang="en-US" altLang="zh-CN" sz="3200" b="1" dirty="0"/>
          </a:p>
          <a:p>
            <a:r>
              <a:rPr lang="zh-CN" altLang="en-US" sz="3200" b="1" dirty="0"/>
              <a:t>需求：一开始微信的余额为</a:t>
            </a:r>
            <a:r>
              <a:rPr lang="en-US" altLang="zh-CN" sz="3200" b="1" dirty="0"/>
              <a:t>100</a:t>
            </a:r>
            <a:r>
              <a:rPr lang="zh-CN" altLang="en-US" sz="3200" b="1" dirty="0"/>
              <a:t>元，收到一个</a:t>
            </a:r>
            <a:r>
              <a:rPr lang="en-US" altLang="zh-CN" sz="3200" b="1" dirty="0"/>
              <a:t>2</a:t>
            </a:r>
            <a:r>
              <a:rPr lang="zh-CN" altLang="en-US" sz="3200" b="1" dirty="0"/>
              <a:t>元的红包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92871" y="1960141"/>
            <a:ext cx="9289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一次可以定义多个变量（    ）</a:t>
            </a:r>
            <a:endParaRPr lang="zh-CN" alt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1248</Words>
  <Application>WPS 演示</Application>
  <PresentationFormat>自定义</PresentationFormat>
  <Paragraphs>164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656</cp:revision>
  <dcterms:created xsi:type="dcterms:W3CDTF">2024-04-10T13:53:00Z</dcterms:created>
  <dcterms:modified xsi:type="dcterms:W3CDTF">2025-09-05T01:05:37Z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FCA88555D3D44735BAA1F56722F3B997</vt:lpwstr>
  </property>
</Properties>
</file>