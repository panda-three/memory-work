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"/>
  </p:notesMasterIdLst>
  <p:handoutMasterIdLst>
    <p:handoutMasterId r:id="rId16"/>
  </p:handoutMasterIdLst>
  <p:sldIdLst>
    <p:sldId id="3705" r:id="rId3"/>
    <p:sldId id="3706" r:id="rId4"/>
    <p:sldId id="3756" r:id="rId5"/>
    <p:sldId id="3646" r:id="rId6"/>
    <p:sldId id="3708" r:id="rId8"/>
    <p:sldId id="3774" r:id="rId9"/>
    <p:sldId id="3775" r:id="rId10"/>
    <p:sldId id="3765" r:id="rId11"/>
    <p:sldId id="3781" r:id="rId12"/>
    <p:sldId id="3712" r:id="rId13"/>
    <p:sldId id="3700" r:id="rId14"/>
    <p:sldId id="3702" r:id="rId15"/>
  </p:sldIdLst>
  <p:sldSz cx="12858750" cy="7232650"/>
  <p:notesSz cx="6858000" cy="9144000"/>
  <p:custDataLst>
    <p:tags r:id="rId2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BF00"/>
    <a:srgbClr val="1542FF"/>
    <a:srgbClr val="FFFFFF"/>
    <a:srgbClr val="0C6AC7"/>
    <a:srgbClr val="FFC000"/>
    <a:srgbClr val="066197"/>
    <a:srgbClr val="262626"/>
    <a:srgbClr val="0767A3"/>
    <a:srgbClr val="535353"/>
    <a:srgbClr val="0218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88" d="100"/>
          <a:sy n="88" d="100"/>
        </p:scale>
        <p:origin x="653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jpe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实型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（小数类型）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3211346" y="2183854"/>
            <a:ext cx="6096645" cy="1728192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11500" dirty="0"/>
              <a:t>整数类型</a:t>
            </a:r>
            <a:endParaRPr lang="en-US" altLang="zh-CN" sz="1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823" y="748992"/>
            <a:ext cx="10976179" cy="3918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765079" y="2197977"/>
            <a:ext cx="6120680" cy="2289056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>
                <a:solidFill>
                  <a:schemeClr val="tx1"/>
                </a:solidFill>
              </a:rPr>
              <a:t>分类</a:t>
            </a:r>
            <a:endParaRPr lang="en-US" altLang="zh-CN" sz="48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>
                <a:solidFill>
                  <a:schemeClr val="tx1"/>
                </a:solidFill>
              </a:rPr>
              <a:t>使用</a:t>
            </a:r>
            <a:endParaRPr lang="en-US" altLang="zh-CN" sz="4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小数概述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3477047" y="805054"/>
            <a:ext cx="56839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小数</a:t>
            </a:r>
            <a:r>
              <a:rPr lang="en-US" altLang="zh-CN" sz="4400" dirty="0"/>
              <a:t>=</a:t>
            </a:r>
            <a:r>
              <a:rPr lang="zh-CN" altLang="en-US" sz="4400" dirty="0"/>
              <a:t>实数</a:t>
            </a:r>
            <a:r>
              <a:rPr lang="en-US" altLang="zh-CN" sz="4400" dirty="0"/>
              <a:t>=</a:t>
            </a:r>
            <a:r>
              <a:rPr lang="zh-CN" altLang="en-US" sz="4400" dirty="0"/>
              <a:t>浮点数</a:t>
            </a:r>
            <a:endParaRPr lang="zh-CN" altLang="en-US" sz="44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244799" y="1667288"/>
          <a:ext cx="10369152" cy="1981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/>
                <a:gridCol w="7344816"/>
                <a:gridCol w="1368152"/>
              </a:tblGrid>
              <a:tr h="6173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小数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取值范围（</a:t>
                      </a:r>
                      <a:r>
                        <a:rPr lang="en-US" altLang="zh-CN" sz="2800" dirty="0"/>
                        <a:t>32</a:t>
                      </a:r>
                      <a:r>
                        <a:rPr lang="zh-CN" altLang="en-US" sz="2800" dirty="0"/>
                        <a:t>位</a:t>
                      </a:r>
                      <a:r>
                        <a:rPr lang="en-US" altLang="zh-CN" sz="2800" dirty="0"/>
                        <a:t>/64</a:t>
                      </a:r>
                      <a:r>
                        <a:rPr lang="zh-CN" altLang="en-US" sz="2800" dirty="0"/>
                        <a:t>位）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内存</a:t>
                      </a:r>
                      <a:endParaRPr lang="zh-CN" altLang="en-US" sz="2800" dirty="0"/>
                    </a:p>
                  </a:txBody>
                  <a:tcPr anchor="ctr"/>
                </a:tc>
              </a:tr>
              <a:tr h="6634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/>
                        <a:t>float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-1.17549435E-38 ~3.40282347E+38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/>
                        <a:t>4</a:t>
                      </a:r>
                      <a:endParaRPr lang="zh-CN" altLang="en-US" sz="3600" dirty="0"/>
                    </a:p>
                  </a:txBody>
                  <a:tcPr anchor="ctr"/>
                </a:tc>
              </a:tr>
              <a:tr h="6634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/>
                        <a:t>double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-2.2250738585072014E-308~1.7976931348623157E+308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dirty="0"/>
                        <a:t>8</a:t>
                      </a:r>
                      <a:endParaRPr lang="zh-CN" altLang="en-US" sz="4000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799" y="3774640"/>
            <a:ext cx="10501908" cy="2753342"/>
          </a:xfrm>
          <a:prstGeom prst="rect">
            <a:avLst/>
          </a:prstGeom>
        </p:spPr>
      </p:pic>
      <p:sp>
        <p:nvSpPr>
          <p:cNvPr id="11" name="矩形: 圆角 10"/>
          <p:cNvSpPr/>
          <p:nvPr/>
        </p:nvSpPr>
        <p:spPr>
          <a:xfrm>
            <a:off x="8229575" y="2384632"/>
            <a:ext cx="372634" cy="36004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/>
        </p:nvSpPr>
        <p:spPr>
          <a:xfrm>
            <a:off x="9309695" y="3115922"/>
            <a:ext cx="432048" cy="36004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/>
          <p:cNvSpPr/>
          <p:nvPr/>
        </p:nvSpPr>
        <p:spPr>
          <a:xfrm>
            <a:off x="8157567" y="6067556"/>
            <a:ext cx="864096" cy="36004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燕尾形 14"/>
          <p:cNvSpPr/>
          <p:nvPr/>
        </p:nvSpPr>
        <p:spPr>
          <a:xfrm rot="7753674">
            <a:off x="9416163" y="2543354"/>
            <a:ext cx="1080120" cy="229697"/>
          </a:xfrm>
          <a:prstGeom prst="notched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燕尾形 15"/>
          <p:cNvSpPr/>
          <p:nvPr/>
        </p:nvSpPr>
        <p:spPr>
          <a:xfrm rot="7753674">
            <a:off x="8435963" y="1898279"/>
            <a:ext cx="1080120" cy="229697"/>
          </a:xfrm>
          <a:prstGeom prst="notched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燕尾形 17"/>
          <p:cNvSpPr/>
          <p:nvPr/>
        </p:nvSpPr>
        <p:spPr>
          <a:xfrm rot="7753674">
            <a:off x="8555156" y="5480124"/>
            <a:ext cx="1080120" cy="229697"/>
          </a:xfrm>
          <a:prstGeom prst="notched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dirty="0"/>
              <a:t>定义小数类型</a:t>
            </a:r>
            <a:r>
              <a:rPr lang="en-US" altLang="zh-CN" sz="2400" dirty="0"/>
              <a:t>-</a:t>
            </a:r>
            <a:r>
              <a:rPr lang="en-US" altLang="zh-CN" sz="2400" dirty="0">
                <a:solidFill>
                  <a:srgbClr val="FF0000"/>
                </a:solidFill>
              </a:rPr>
              <a:t>float</a:t>
            </a:r>
            <a:endParaRPr lang="zh-CN" altLang="zh-CN" sz="2400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28775" y="1528093"/>
            <a:ext cx="1152128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float</a:t>
            </a:r>
            <a:r>
              <a:rPr lang="zh-CN" altLang="en-US" sz="3200" dirty="0"/>
              <a:t>单精度小数（精确度小数点后</a:t>
            </a:r>
            <a:r>
              <a:rPr lang="en-US" altLang="zh-CN" sz="3200" dirty="0"/>
              <a:t>6</a:t>
            </a:r>
            <a:r>
              <a:rPr lang="zh-CN" altLang="en-US" sz="3200" dirty="0"/>
              <a:t>位）</a:t>
            </a:r>
            <a:endParaRPr lang="en-US" altLang="zh-CN" sz="3200" dirty="0"/>
          </a:p>
          <a:p>
            <a:r>
              <a:rPr lang="en-US" altLang="zh-CN" sz="3200" dirty="0"/>
              <a:t>win</a:t>
            </a:r>
            <a:r>
              <a:rPr lang="zh-CN" altLang="en-US" sz="3200" dirty="0"/>
              <a:t>占</a:t>
            </a:r>
            <a:r>
              <a:rPr lang="en-US" altLang="zh-CN" sz="3200" dirty="0"/>
              <a:t>4</a:t>
            </a:r>
            <a:r>
              <a:rPr lang="zh-CN" altLang="en-US" sz="3200" dirty="0"/>
              <a:t>字节（</a:t>
            </a:r>
            <a:r>
              <a:rPr lang="en-US" altLang="zh-CN" sz="3200" dirty="0"/>
              <a:t>32</a:t>
            </a:r>
            <a:r>
              <a:rPr lang="zh-CN" altLang="en-US" sz="3200" dirty="0"/>
              <a:t>位）</a:t>
            </a:r>
            <a:endParaRPr lang="en-US" altLang="zh-CN" sz="3200" dirty="0"/>
          </a:p>
          <a:p>
            <a:r>
              <a:rPr lang="en-US" altLang="zh-CN" sz="4400" dirty="0">
                <a:solidFill>
                  <a:srgbClr val="FFC000"/>
                </a:solidFill>
              </a:rPr>
              <a:t>float  a =  3.14F    </a:t>
            </a:r>
            <a:r>
              <a:rPr lang="zh-CN" altLang="en-US" sz="4400" dirty="0">
                <a:solidFill>
                  <a:srgbClr val="FFC000"/>
                </a:solidFill>
              </a:rPr>
              <a:t>或者 </a:t>
            </a:r>
            <a:r>
              <a:rPr lang="en-US" altLang="zh-CN" sz="4400" dirty="0">
                <a:solidFill>
                  <a:srgbClr val="FFC000"/>
                </a:solidFill>
              </a:rPr>
              <a:t>float  a =  3.14f</a:t>
            </a:r>
            <a:endParaRPr lang="en-US" altLang="zh-CN" sz="4400" dirty="0">
              <a:solidFill>
                <a:srgbClr val="FFC000"/>
              </a:solidFill>
            </a:endParaRPr>
          </a:p>
          <a:p>
            <a:r>
              <a:rPr lang="en-US" altLang="zh-CN" sz="4400" dirty="0" err="1">
                <a:solidFill>
                  <a:srgbClr val="00B0F0"/>
                </a:solidFill>
              </a:rPr>
              <a:t>printf</a:t>
            </a:r>
            <a:r>
              <a:rPr lang="en-US" altLang="zh-CN" sz="4400" dirty="0">
                <a:solidFill>
                  <a:srgbClr val="00B0F0"/>
                </a:solidFill>
              </a:rPr>
              <a:t>(“%f\</a:t>
            </a:r>
            <a:r>
              <a:rPr lang="en-US" altLang="zh-CN" sz="4400" dirty="0" err="1">
                <a:solidFill>
                  <a:srgbClr val="00B0F0"/>
                </a:solidFill>
              </a:rPr>
              <a:t>n”,a</a:t>
            </a:r>
            <a:r>
              <a:rPr lang="en-US" altLang="zh-CN" sz="4400" dirty="0">
                <a:solidFill>
                  <a:srgbClr val="00B0F0"/>
                </a:solidFill>
              </a:rPr>
              <a:t>)   </a:t>
            </a:r>
            <a:r>
              <a:rPr lang="en-US" altLang="zh-CN" sz="4400" dirty="0">
                <a:solidFill>
                  <a:srgbClr val="FF0000"/>
                </a:solidFill>
                <a:sym typeface="Wingdings" panose="05000000000000000000" pitchFamily="2" charset="2"/>
              </a:rPr>
              <a:t> 3.140000</a:t>
            </a:r>
            <a:endParaRPr lang="en-US" altLang="zh-CN" sz="44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zh-CN" altLang="en-US" sz="4400" dirty="0">
                <a:solidFill>
                  <a:srgbClr val="FF0000"/>
                </a:solidFill>
                <a:sym typeface="Wingdings" panose="05000000000000000000" pitchFamily="2" charset="2"/>
              </a:rPr>
              <a:t>如果只想保留两位？</a:t>
            </a:r>
            <a:r>
              <a:rPr lang="en-US" altLang="zh-CN" sz="4400" dirty="0">
                <a:solidFill>
                  <a:srgbClr val="FF0000"/>
                </a:solidFill>
                <a:sym typeface="Wingdings" panose="05000000000000000000" pitchFamily="2" charset="2"/>
              </a:rPr>
              <a:t> </a:t>
            </a:r>
            <a:r>
              <a:rPr lang="en-US" altLang="zh-CN" sz="4400" dirty="0">
                <a:solidFill>
                  <a:srgbClr val="00B0F0"/>
                </a:solidFill>
              </a:rPr>
              <a:t> </a:t>
            </a:r>
            <a:r>
              <a:rPr lang="en-US" altLang="zh-CN" sz="4400" dirty="0" err="1">
                <a:solidFill>
                  <a:srgbClr val="00B0F0"/>
                </a:solidFill>
              </a:rPr>
              <a:t>printf</a:t>
            </a:r>
            <a:r>
              <a:rPr lang="en-US" altLang="zh-CN" sz="4400" dirty="0">
                <a:solidFill>
                  <a:srgbClr val="00B0F0"/>
                </a:solidFill>
              </a:rPr>
              <a:t>(“%.2f\</a:t>
            </a:r>
            <a:r>
              <a:rPr lang="en-US" altLang="zh-CN" sz="4400" dirty="0" err="1">
                <a:solidFill>
                  <a:srgbClr val="00B0F0"/>
                </a:solidFill>
              </a:rPr>
              <a:t>n”,a</a:t>
            </a:r>
            <a:r>
              <a:rPr lang="en-US" altLang="zh-CN" sz="4400" dirty="0">
                <a:solidFill>
                  <a:srgbClr val="00B0F0"/>
                </a:solidFill>
              </a:rPr>
              <a:t>) </a:t>
            </a:r>
            <a:endParaRPr lang="en-US" altLang="zh-CN" sz="4400" dirty="0">
              <a:solidFill>
                <a:srgbClr val="00B0F0"/>
              </a:solidFill>
            </a:endParaRPr>
          </a:p>
          <a:p>
            <a:r>
              <a:rPr lang="zh-CN" altLang="en-US" sz="4400" dirty="0">
                <a:solidFill>
                  <a:srgbClr val="00B0F0"/>
                </a:solidFill>
              </a:rPr>
              <a:t>如果想保留</a:t>
            </a:r>
            <a:r>
              <a:rPr lang="en-US" altLang="zh-CN" sz="4400" dirty="0">
                <a:solidFill>
                  <a:srgbClr val="00B0F0"/>
                </a:solidFill>
              </a:rPr>
              <a:t>4</a:t>
            </a:r>
            <a:r>
              <a:rPr lang="zh-CN" altLang="en-US" sz="4400" dirty="0">
                <a:solidFill>
                  <a:srgbClr val="00B0F0"/>
                </a:solidFill>
              </a:rPr>
              <a:t>位呢？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dirty="0"/>
              <a:t>定义小数类型</a:t>
            </a:r>
            <a:r>
              <a:rPr lang="en-US" altLang="zh-CN" sz="2400" dirty="0"/>
              <a:t>-</a:t>
            </a:r>
            <a:r>
              <a:rPr lang="en-US" altLang="zh-CN" sz="2400" dirty="0">
                <a:solidFill>
                  <a:srgbClr val="FF0000"/>
                </a:solidFill>
              </a:rPr>
              <a:t>double</a:t>
            </a:r>
            <a:endParaRPr lang="zh-CN" altLang="zh-CN" sz="2400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28775" y="1528093"/>
            <a:ext cx="1152128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double</a:t>
            </a:r>
            <a:r>
              <a:rPr lang="zh-CN" altLang="en-US" sz="3200" dirty="0"/>
              <a:t>双精度小数（精确到小数点后</a:t>
            </a:r>
            <a:r>
              <a:rPr lang="en-US" altLang="zh-CN" sz="3200" dirty="0"/>
              <a:t>15</a:t>
            </a:r>
            <a:r>
              <a:rPr lang="zh-CN" altLang="en-US" sz="3200" dirty="0"/>
              <a:t>位）</a:t>
            </a:r>
            <a:endParaRPr lang="en-US" altLang="zh-CN" sz="3200" dirty="0"/>
          </a:p>
          <a:p>
            <a:r>
              <a:rPr lang="en-US" altLang="zh-CN" sz="3200" dirty="0"/>
              <a:t>win</a:t>
            </a:r>
            <a:r>
              <a:rPr lang="zh-CN" altLang="en-US" sz="3200" dirty="0"/>
              <a:t>占</a:t>
            </a:r>
            <a:r>
              <a:rPr lang="en-US" altLang="zh-CN" sz="3200" dirty="0"/>
              <a:t>8</a:t>
            </a:r>
            <a:r>
              <a:rPr lang="zh-CN" altLang="en-US" sz="3200" dirty="0"/>
              <a:t>字节（</a:t>
            </a:r>
            <a:r>
              <a:rPr lang="en-US" altLang="zh-CN" sz="3200" dirty="0"/>
              <a:t>308</a:t>
            </a:r>
            <a:r>
              <a:rPr lang="zh-CN" altLang="en-US" sz="3200" dirty="0"/>
              <a:t>位）</a:t>
            </a:r>
            <a:endParaRPr lang="en-US" altLang="zh-CN" sz="3200" dirty="0"/>
          </a:p>
          <a:p>
            <a:r>
              <a:rPr lang="en-US" altLang="zh-CN" sz="4400" dirty="0">
                <a:solidFill>
                  <a:srgbClr val="FFC000"/>
                </a:solidFill>
              </a:rPr>
              <a:t>double  b =  3.78</a:t>
            </a:r>
            <a:r>
              <a:rPr lang="en-US" altLang="zh-CN" sz="4000" dirty="0">
                <a:solidFill>
                  <a:srgbClr val="FFC000"/>
                </a:solidFill>
              </a:rPr>
              <a:t>; </a:t>
            </a:r>
            <a:r>
              <a:rPr lang="zh-CN" altLang="en-US" sz="3600" dirty="0">
                <a:solidFill>
                  <a:srgbClr val="FFC000"/>
                </a:solidFill>
              </a:rPr>
              <a:t>后面不需要加</a:t>
            </a:r>
            <a:r>
              <a:rPr lang="en-US" altLang="zh-CN" sz="3600" dirty="0">
                <a:solidFill>
                  <a:srgbClr val="FFC000"/>
                </a:solidFill>
              </a:rPr>
              <a:t>F</a:t>
            </a:r>
            <a:r>
              <a:rPr lang="zh-CN" altLang="en-US" sz="3600" dirty="0">
                <a:solidFill>
                  <a:srgbClr val="FFC000"/>
                </a:solidFill>
              </a:rPr>
              <a:t>因为默认是此类型</a:t>
            </a:r>
            <a:endParaRPr lang="en-US" altLang="zh-CN" sz="3600" dirty="0">
              <a:solidFill>
                <a:srgbClr val="FFC000"/>
              </a:solidFill>
            </a:endParaRPr>
          </a:p>
          <a:p>
            <a:r>
              <a:rPr lang="zh-CN" altLang="en-US" sz="3600" dirty="0">
                <a:solidFill>
                  <a:srgbClr val="FFC000"/>
                </a:solidFill>
              </a:rPr>
              <a:t>打印的时候不能直接</a:t>
            </a:r>
            <a:r>
              <a:rPr lang="en-US" altLang="zh-CN" sz="4400" dirty="0" err="1">
                <a:solidFill>
                  <a:srgbClr val="00B0F0"/>
                </a:solidFill>
              </a:rPr>
              <a:t>printf</a:t>
            </a:r>
            <a:r>
              <a:rPr lang="en-US" altLang="zh-CN" sz="4400" dirty="0">
                <a:solidFill>
                  <a:srgbClr val="00B0F0"/>
                </a:solidFill>
              </a:rPr>
              <a:t>(“%f\</a:t>
            </a:r>
            <a:r>
              <a:rPr lang="en-US" altLang="zh-CN" sz="4400" dirty="0" err="1">
                <a:solidFill>
                  <a:srgbClr val="00B0F0"/>
                </a:solidFill>
              </a:rPr>
              <a:t>n”,b</a:t>
            </a:r>
            <a:r>
              <a:rPr lang="en-US" altLang="zh-CN" sz="4400" dirty="0">
                <a:solidFill>
                  <a:srgbClr val="00B0F0"/>
                </a:solidFill>
              </a:rPr>
              <a:t>) </a:t>
            </a:r>
            <a:r>
              <a:rPr lang="zh-CN" altLang="en-US" sz="4400" dirty="0">
                <a:solidFill>
                  <a:srgbClr val="00B0F0"/>
                </a:solidFill>
              </a:rPr>
              <a:t>❌</a:t>
            </a:r>
            <a:r>
              <a:rPr lang="en-US" altLang="zh-CN" sz="4400" dirty="0">
                <a:solidFill>
                  <a:srgbClr val="00B0F0"/>
                </a:solidFill>
              </a:rPr>
              <a:t> </a:t>
            </a:r>
            <a:r>
              <a:rPr lang="zh-CN" altLang="en-US" sz="2000" dirty="0">
                <a:solidFill>
                  <a:srgbClr val="00B0F0"/>
                </a:solidFill>
              </a:rPr>
              <a:t>因为</a:t>
            </a:r>
            <a:r>
              <a:rPr lang="en-US" altLang="zh-CN" sz="2000" dirty="0">
                <a:solidFill>
                  <a:srgbClr val="00B0F0"/>
                </a:solidFill>
              </a:rPr>
              <a:t>f</a:t>
            </a:r>
            <a:r>
              <a:rPr lang="zh-CN" altLang="en-US" sz="2000" dirty="0">
                <a:solidFill>
                  <a:srgbClr val="00B0F0"/>
                </a:solidFill>
              </a:rPr>
              <a:t>表示</a:t>
            </a:r>
            <a:r>
              <a:rPr lang="en-US" altLang="zh-CN" sz="2000" dirty="0">
                <a:solidFill>
                  <a:srgbClr val="00B0F0"/>
                </a:solidFill>
              </a:rPr>
              <a:t>float</a:t>
            </a:r>
            <a:r>
              <a:rPr lang="zh-CN" altLang="en-US" sz="2000" dirty="0">
                <a:solidFill>
                  <a:srgbClr val="00B0F0"/>
                </a:solidFill>
              </a:rPr>
              <a:t>这个小数</a:t>
            </a:r>
            <a:endParaRPr lang="en-US" altLang="zh-CN" sz="4400" dirty="0">
              <a:solidFill>
                <a:srgbClr val="FFC000"/>
              </a:solidFill>
            </a:endParaRPr>
          </a:p>
          <a:p>
            <a:r>
              <a:rPr lang="en-US" altLang="zh-CN" sz="4400" dirty="0" err="1">
                <a:solidFill>
                  <a:srgbClr val="00B0F0"/>
                </a:solidFill>
              </a:rPr>
              <a:t>printf</a:t>
            </a:r>
            <a:r>
              <a:rPr lang="en-US" altLang="zh-CN" sz="4400" dirty="0">
                <a:solidFill>
                  <a:srgbClr val="00B0F0"/>
                </a:solidFill>
              </a:rPr>
              <a:t>(“%</a:t>
            </a:r>
            <a:r>
              <a:rPr lang="en-US" altLang="zh-CN" sz="4400" dirty="0" err="1">
                <a:solidFill>
                  <a:srgbClr val="00B0F0"/>
                </a:solidFill>
              </a:rPr>
              <a:t>lf</a:t>
            </a:r>
            <a:r>
              <a:rPr lang="en-US" altLang="zh-CN" sz="4400" dirty="0">
                <a:solidFill>
                  <a:srgbClr val="00B0F0"/>
                </a:solidFill>
              </a:rPr>
              <a:t>\</a:t>
            </a:r>
            <a:r>
              <a:rPr lang="en-US" altLang="zh-CN" sz="4400" dirty="0" err="1">
                <a:solidFill>
                  <a:srgbClr val="00B0F0"/>
                </a:solidFill>
              </a:rPr>
              <a:t>n”,b</a:t>
            </a:r>
            <a:r>
              <a:rPr lang="en-US" altLang="zh-CN" sz="4400" dirty="0">
                <a:solidFill>
                  <a:srgbClr val="00B0F0"/>
                </a:solidFill>
              </a:rPr>
              <a:t>)   </a:t>
            </a:r>
            <a:r>
              <a:rPr lang="en-US" altLang="zh-CN" sz="4400" dirty="0">
                <a:solidFill>
                  <a:srgbClr val="FF0000"/>
                </a:solidFill>
                <a:sym typeface="Wingdings" panose="05000000000000000000" pitchFamily="2" charset="2"/>
              </a:rPr>
              <a:t> 3.780000</a:t>
            </a:r>
            <a:endParaRPr lang="en-US" altLang="zh-CN" sz="44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zh-CN" altLang="en-US" sz="4400" dirty="0">
                <a:solidFill>
                  <a:srgbClr val="FF0000"/>
                </a:solidFill>
                <a:sym typeface="Wingdings" panose="05000000000000000000" pitchFamily="2" charset="2"/>
              </a:rPr>
              <a:t>如果只想保留两位？</a:t>
            </a:r>
            <a:r>
              <a:rPr lang="en-US" altLang="zh-CN" sz="4400" dirty="0">
                <a:solidFill>
                  <a:srgbClr val="FF0000"/>
                </a:solidFill>
                <a:sym typeface="Wingdings" panose="05000000000000000000" pitchFamily="2" charset="2"/>
              </a:rPr>
              <a:t> </a:t>
            </a:r>
            <a:r>
              <a:rPr lang="en-US" altLang="zh-CN" sz="4400" dirty="0">
                <a:solidFill>
                  <a:srgbClr val="00B0F0"/>
                </a:solidFill>
              </a:rPr>
              <a:t> </a:t>
            </a:r>
            <a:r>
              <a:rPr lang="en-US" altLang="zh-CN" sz="4400" dirty="0" err="1">
                <a:solidFill>
                  <a:srgbClr val="00B0F0"/>
                </a:solidFill>
              </a:rPr>
              <a:t>printf</a:t>
            </a:r>
            <a:r>
              <a:rPr lang="en-US" altLang="zh-CN" sz="4400" dirty="0">
                <a:solidFill>
                  <a:srgbClr val="00B0F0"/>
                </a:solidFill>
              </a:rPr>
              <a:t>(“%.2lf\</a:t>
            </a:r>
            <a:r>
              <a:rPr lang="en-US" altLang="zh-CN" sz="4400" dirty="0" err="1">
                <a:solidFill>
                  <a:srgbClr val="00B0F0"/>
                </a:solidFill>
              </a:rPr>
              <a:t>n”,b</a:t>
            </a:r>
            <a:r>
              <a:rPr lang="en-US" altLang="zh-CN" sz="4400" dirty="0">
                <a:solidFill>
                  <a:srgbClr val="00B0F0"/>
                </a:solidFill>
              </a:rPr>
              <a:t>) </a:t>
            </a:r>
            <a:endParaRPr lang="en-US" altLang="zh-CN" sz="4400" dirty="0">
              <a:solidFill>
                <a:srgbClr val="00B0F0"/>
              </a:solidFill>
            </a:endParaRPr>
          </a:p>
          <a:p>
            <a:r>
              <a:rPr lang="zh-CN" altLang="en-US" sz="4400" dirty="0">
                <a:solidFill>
                  <a:srgbClr val="00B0F0"/>
                </a:solidFill>
              </a:rPr>
              <a:t>如果想保留</a:t>
            </a:r>
            <a:r>
              <a:rPr lang="en-US" altLang="zh-CN" sz="4400" dirty="0">
                <a:solidFill>
                  <a:srgbClr val="00B0F0"/>
                </a:solidFill>
              </a:rPr>
              <a:t>4</a:t>
            </a:r>
            <a:r>
              <a:rPr lang="zh-CN" altLang="en-US" sz="4400" dirty="0">
                <a:solidFill>
                  <a:srgbClr val="00B0F0"/>
                </a:solidFill>
              </a:rPr>
              <a:t>位呢？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dirty="0"/>
              <a:t>测量小数类型占用字节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1028775" y="1446632"/>
            <a:ext cx="1152128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 err="1">
                <a:solidFill>
                  <a:srgbClr val="00B0F0"/>
                </a:solidFill>
              </a:rPr>
              <a:t>printf</a:t>
            </a:r>
            <a:r>
              <a:rPr lang="en-US" altLang="zh-CN" sz="4400" dirty="0">
                <a:solidFill>
                  <a:srgbClr val="00B0F0"/>
                </a:solidFill>
              </a:rPr>
              <a:t>(“%</a:t>
            </a:r>
            <a:r>
              <a:rPr lang="en-US" altLang="zh-CN" sz="4400" dirty="0">
                <a:solidFill>
                  <a:srgbClr val="00B0F0"/>
                </a:solidFill>
              </a:rPr>
              <a:t>d\n”,</a:t>
            </a:r>
            <a:r>
              <a:rPr lang="en-US" altLang="zh-CN" sz="4400" dirty="0" err="1">
                <a:solidFill>
                  <a:srgbClr val="00B0F0"/>
                </a:solidFill>
              </a:rPr>
              <a:t>sizeof</a:t>
            </a:r>
            <a:r>
              <a:rPr lang="en-US" altLang="zh-CN" sz="4400" dirty="0">
                <a:solidFill>
                  <a:srgbClr val="00B0F0"/>
                </a:solidFill>
              </a:rPr>
              <a:t>(float))</a:t>
            </a:r>
            <a:r>
              <a:rPr lang="zh-CN" altLang="en-US" sz="4400" dirty="0">
                <a:solidFill>
                  <a:srgbClr val="FF0000"/>
                </a:solidFill>
              </a:rPr>
              <a:t>或者</a:t>
            </a:r>
            <a:endParaRPr lang="en-US" altLang="zh-CN" sz="4400" dirty="0">
              <a:solidFill>
                <a:srgbClr val="FF0000"/>
              </a:solidFill>
            </a:endParaRPr>
          </a:p>
          <a:p>
            <a:r>
              <a:rPr lang="en-US" altLang="zh-CN" sz="4400" dirty="0" err="1">
                <a:solidFill>
                  <a:srgbClr val="00B0F0"/>
                </a:solidFill>
              </a:rPr>
              <a:t>printf</a:t>
            </a:r>
            <a:r>
              <a:rPr lang="en-US" altLang="zh-CN" sz="4400" dirty="0">
                <a:solidFill>
                  <a:srgbClr val="00B0F0"/>
                </a:solidFill>
              </a:rPr>
              <a:t>(“%d\n”,</a:t>
            </a:r>
            <a:r>
              <a:rPr lang="en-US" altLang="zh-CN" sz="4400" dirty="0" err="1">
                <a:solidFill>
                  <a:srgbClr val="00B0F0"/>
                </a:solidFill>
              </a:rPr>
              <a:t>sizeof</a:t>
            </a:r>
            <a:r>
              <a:rPr lang="en-US" altLang="zh-CN" sz="4400" dirty="0">
                <a:solidFill>
                  <a:srgbClr val="00B0F0"/>
                </a:solidFill>
              </a:rPr>
              <a:t>(a))    </a:t>
            </a:r>
            <a:r>
              <a:rPr lang="en-US" altLang="zh-CN" sz="4400" dirty="0">
                <a:solidFill>
                  <a:srgbClr val="FF0000"/>
                </a:solidFill>
                <a:sym typeface="Wingdings" panose="05000000000000000000" pitchFamily="2" charset="2"/>
              </a:rPr>
              <a:t>   4 </a:t>
            </a:r>
            <a:endParaRPr lang="en-US" altLang="zh-CN" sz="44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en-US" altLang="zh-CN" sz="4400" dirty="0" err="1">
                <a:solidFill>
                  <a:srgbClr val="00B0F0"/>
                </a:solidFill>
              </a:rPr>
              <a:t>printf</a:t>
            </a:r>
            <a:r>
              <a:rPr lang="en-US" altLang="zh-CN" sz="4400" dirty="0">
                <a:solidFill>
                  <a:srgbClr val="00B0F0"/>
                </a:solidFill>
              </a:rPr>
              <a:t>(“%</a:t>
            </a:r>
            <a:r>
              <a:rPr lang="en-US" altLang="zh-CN" sz="4400" dirty="0">
                <a:solidFill>
                  <a:srgbClr val="00B0F0"/>
                </a:solidFill>
              </a:rPr>
              <a:t>d\n”,</a:t>
            </a:r>
            <a:r>
              <a:rPr lang="en-US" altLang="zh-CN" sz="4400" dirty="0" err="1">
                <a:solidFill>
                  <a:srgbClr val="00B0F0"/>
                </a:solidFill>
              </a:rPr>
              <a:t>sizeof</a:t>
            </a:r>
            <a:r>
              <a:rPr lang="en-US" altLang="zh-CN" sz="4400" dirty="0">
                <a:solidFill>
                  <a:srgbClr val="00B0F0"/>
                </a:solidFill>
              </a:rPr>
              <a:t>(double))</a:t>
            </a:r>
            <a:r>
              <a:rPr lang="zh-CN" altLang="en-US" sz="4400" dirty="0">
                <a:solidFill>
                  <a:srgbClr val="FF0000"/>
                </a:solidFill>
              </a:rPr>
              <a:t>或者</a:t>
            </a:r>
            <a:endParaRPr lang="en-US" altLang="zh-CN" sz="4400" dirty="0">
              <a:solidFill>
                <a:srgbClr val="FF0000"/>
              </a:solidFill>
            </a:endParaRPr>
          </a:p>
          <a:p>
            <a:r>
              <a:rPr lang="en-US" altLang="zh-CN" sz="4400" dirty="0" err="1">
                <a:solidFill>
                  <a:srgbClr val="00B0F0"/>
                </a:solidFill>
              </a:rPr>
              <a:t>printf</a:t>
            </a:r>
            <a:r>
              <a:rPr lang="en-US" altLang="zh-CN" sz="4400" dirty="0">
                <a:solidFill>
                  <a:srgbClr val="00B0F0"/>
                </a:solidFill>
              </a:rPr>
              <a:t>(“%d\n”,</a:t>
            </a:r>
            <a:r>
              <a:rPr lang="en-US" altLang="zh-CN" sz="4400" dirty="0" err="1">
                <a:solidFill>
                  <a:srgbClr val="00B0F0"/>
                </a:solidFill>
              </a:rPr>
              <a:t>sizeof</a:t>
            </a:r>
            <a:r>
              <a:rPr lang="en-US" altLang="zh-CN" sz="4400" dirty="0">
                <a:solidFill>
                  <a:srgbClr val="00B0F0"/>
                </a:solidFill>
              </a:rPr>
              <a:t>(b))    </a:t>
            </a:r>
            <a:r>
              <a:rPr lang="en-US" altLang="zh-CN" sz="4400" dirty="0">
                <a:solidFill>
                  <a:srgbClr val="FF0000"/>
                </a:solidFill>
                <a:sym typeface="Wingdings" panose="05000000000000000000" pitchFamily="2" charset="2"/>
              </a:rPr>
              <a:t>   8 </a:t>
            </a:r>
            <a:endParaRPr lang="en-US" altLang="zh-CN" sz="44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zh-CN" sz="4400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dirty="0"/>
              <a:t>注意点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1028775" y="1528093"/>
            <a:ext cx="11521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rgbClr val="FFBF00"/>
                </a:solidFill>
                <a:sym typeface="Wingdings" panose="05000000000000000000" pitchFamily="2" charset="2"/>
              </a:rPr>
              <a:t>小数的数据类型无法跟</a:t>
            </a:r>
            <a:r>
              <a:rPr lang="en-US" altLang="zh-CN" sz="4400" dirty="0">
                <a:solidFill>
                  <a:srgbClr val="FFBF00"/>
                </a:solidFill>
                <a:sym typeface="Wingdings" panose="05000000000000000000" pitchFamily="2" charset="2"/>
              </a:rPr>
              <a:t>unsigned</a:t>
            </a:r>
            <a:r>
              <a:rPr lang="zh-CN" altLang="en-US" sz="4400" dirty="0">
                <a:solidFill>
                  <a:srgbClr val="FFBF00"/>
                </a:solidFill>
                <a:sym typeface="Wingdings" panose="05000000000000000000" pitchFamily="2" charset="2"/>
              </a:rPr>
              <a:t>组合使用</a:t>
            </a:r>
            <a:endParaRPr lang="en-US" altLang="zh-CN" sz="4400" dirty="0">
              <a:solidFill>
                <a:srgbClr val="FFBF00"/>
              </a:solidFill>
              <a:sym typeface="Wingdings" panose="05000000000000000000" pitchFamily="2" charset="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72791" y="2690066"/>
            <a:ext cx="86409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dirty="0"/>
              <a:t>unsigned  double  d =  3.78</a:t>
            </a:r>
            <a:r>
              <a:rPr lang="en-US" altLang="zh-CN" sz="3600" dirty="0"/>
              <a:t>;  </a:t>
            </a:r>
            <a:r>
              <a:rPr lang="zh-CN" altLang="en-US" sz="3600" dirty="0"/>
              <a:t>❌</a:t>
            </a:r>
            <a:endParaRPr lang="en-US" altLang="zh-CN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44799" y="1168053"/>
            <a:ext cx="1044116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定义小数类型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不同类型所占内存和表示范围不一样，有编译器决定，可以用</a:t>
            </a:r>
            <a:r>
              <a:rPr lang="en-US" altLang="zh-CN" sz="2800" dirty="0" err="1"/>
              <a:t>sizeof</a:t>
            </a:r>
            <a:r>
              <a:rPr lang="zh-CN" altLang="en-US" sz="2800" dirty="0"/>
              <a:t>来确定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小数的取值范围比整数大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/>
              <a:t>C</a:t>
            </a:r>
            <a:r>
              <a:rPr lang="zh-CN" altLang="en-US" sz="2800" dirty="0"/>
              <a:t>语言中的小数默认是</a:t>
            </a:r>
            <a:r>
              <a:rPr lang="en-US" altLang="zh-CN" sz="2800" dirty="0"/>
              <a:t>double</a:t>
            </a:r>
            <a:r>
              <a:rPr lang="zh-CN" altLang="en-US" sz="2800" dirty="0"/>
              <a:t>类型</a:t>
            </a:r>
            <a:endParaRPr lang="en-US" altLang="zh-CN" sz="2800" dirty="0"/>
          </a:p>
          <a:p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44799" y="1240061"/>
            <a:ext cx="10225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每一种小数类型的定义和打印在自己电脑上写</a:t>
            </a:r>
            <a:r>
              <a:rPr lang="en-US" altLang="zh-CN" sz="3600" dirty="0"/>
              <a:t>10</a:t>
            </a:r>
            <a:r>
              <a:rPr lang="zh-CN" altLang="en-US" sz="3600" dirty="0"/>
              <a:t>遍，变量名和值自定。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00783" y="1744117"/>
            <a:ext cx="1074959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/>
              <a:t>小数的默认类型是</a:t>
            </a:r>
            <a:r>
              <a:rPr lang="en-US" altLang="zh-CN" sz="6600" dirty="0"/>
              <a:t>float</a:t>
            </a:r>
            <a:r>
              <a:rPr lang="zh-CN" altLang="en-US" sz="6600" dirty="0"/>
              <a:t>。</a:t>
            </a:r>
            <a:r>
              <a:rPr lang="en-US" altLang="zh-CN" sz="6600" dirty="0"/>
              <a:t>(     )</a:t>
            </a:r>
            <a:endParaRPr lang="zh-CN" altLang="en-US" sz="6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1284</Words>
  <Application>WPS 演示</Application>
  <PresentationFormat>自定义</PresentationFormat>
  <Paragraphs>124</Paragraphs>
  <Slides>12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R</vt:lpstr>
      <vt:lpstr>Alibaba PuHuiTi B</vt:lpstr>
      <vt:lpstr>阿里巴巴普惠体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658</cp:revision>
  <dcterms:created xsi:type="dcterms:W3CDTF">2024-04-10T13:53:00Z</dcterms:created>
  <dcterms:modified xsi:type="dcterms:W3CDTF">2025-09-08T08:10:47Z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FCA88555D3D44735BAA1F56722F3B997</vt:lpwstr>
  </property>
</Properties>
</file>