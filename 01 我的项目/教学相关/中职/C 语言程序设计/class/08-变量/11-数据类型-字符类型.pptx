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14"/>
  </p:handoutMasterIdLst>
  <p:sldIdLst>
    <p:sldId id="3705" r:id="rId3"/>
    <p:sldId id="3706" r:id="rId4"/>
    <p:sldId id="3756" r:id="rId5"/>
    <p:sldId id="3646" r:id="rId6"/>
    <p:sldId id="3708" r:id="rId8"/>
    <p:sldId id="3774" r:id="rId9"/>
    <p:sldId id="3775" r:id="rId10"/>
    <p:sldId id="3712" r:id="rId11"/>
    <p:sldId id="3700" r:id="rId12"/>
    <p:sldId id="3702" r:id="rId13"/>
  </p:sldIdLst>
  <p:sldSz cx="12858750" cy="7232650"/>
  <p:notesSz cx="6858000" cy="9144000"/>
  <p:custDataLst>
    <p:tags r:id="rId1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BF00"/>
    <a:srgbClr val="1542FF"/>
    <a:srgbClr val="FFFFFF"/>
    <a:srgbClr val="0C6AC7"/>
    <a:srgbClr val="FFC000"/>
    <a:srgbClr val="066197"/>
    <a:srgbClr val="262626"/>
    <a:srgbClr val="0767A3"/>
    <a:srgbClr val="535353"/>
    <a:srgbClr val="0218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1" d="100"/>
          <a:sy n="91" d="100"/>
        </p:scale>
        <p:origin x="518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数据类型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字符类型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120507" y="2248173"/>
            <a:ext cx="6278323" cy="1728192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1500" dirty="0"/>
              <a:t>小数类型</a:t>
            </a:r>
            <a:endParaRPr lang="en-US" altLang="zh-CN" sz="1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79" y="1252403"/>
            <a:ext cx="12487600" cy="45778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765079" y="2197977"/>
            <a:ext cx="6120680" cy="2289056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概述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rgbClr val="FF0000"/>
                </a:solidFill>
              </a:rPr>
              <a:t>定义</a:t>
            </a:r>
            <a:endParaRPr lang="en-US" altLang="zh-CN" sz="4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概述</a:t>
            </a:r>
            <a:endParaRPr lang="zh-CN" altLang="zh-CN" sz="2400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00783" y="1600101"/>
          <a:ext cx="10369152" cy="194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331"/>
                <a:gridCol w="6987907"/>
                <a:gridCol w="1577914"/>
              </a:tblGrid>
              <a:tr h="97210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/>
                        <a:t>字符</a:t>
                      </a:r>
                      <a:endParaRPr lang="zh-CN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/>
                        <a:t>取值范围</a:t>
                      </a:r>
                      <a:endParaRPr lang="zh-CN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/>
                        <a:t>内存</a:t>
                      </a:r>
                      <a:endParaRPr lang="zh-CN" altLang="en-US" sz="3200" dirty="0"/>
                    </a:p>
                  </a:txBody>
                  <a:tcPr anchor="ctr"/>
                </a:tc>
              </a:tr>
              <a:tr h="9721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char</a:t>
                      </a:r>
                      <a:endParaRPr lang="zh-CN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ASCII</a:t>
                      </a:r>
                      <a:r>
                        <a:rPr lang="zh-CN" altLang="en-US" sz="3200" dirty="0"/>
                        <a:t>码表中的字母、数字、英文符号</a:t>
                      </a:r>
                      <a:endParaRPr lang="zh-CN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1</a:t>
                      </a:r>
                      <a:endParaRPr lang="zh-CN" altLang="en-US" sz="32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dirty="0"/>
              <a:t>定义</a:t>
            </a:r>
            <a:r>
              <a:rPr lang="en-US" altLang="zh-CN" sz="2400" dirty="0"/>
              <a:t>char</a:t>
            </a:r>
            <a:r>
              <a:rPr lang="zh-CN" altLang="en-US" sz="2400" dirty="0"/>
              <a:t>类型的变量</a:t>
            </a:r>
            <a:endParaRPr lang="zh-CN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1054514" y="1432345"/>
            <a:ext cx="10873208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说明：</a:t>
            </a:r>
            <a:r>
              <a:rPr lang="en-US" altLang="zh-CN" sz="2800" dirty="0"/>
              <a:t>char </a:t>
            </a:r>
            <a:r>
              <a:rPr lang="zh-CN" altLang="en-US" sz="2800" dirty="0"/>
              <a:t>字符取值范围</a:t>
            </a:r>
            <a:r>
              <a:rPr lang="en-US" altLang="zh-CN" sz="2800" dirty="0"/>
              <a:t>ASCII</a:t>
            </a:r>
            <a:r>
              <a:rPr lang="zh-CN" altLang="en-US" sz="2800" dirty="0"/>
              <a:t>码表中所有的内容 </a:t>
            </a:r>
            <a:r>
              <a:rPr lang="en-US" altLang="zh-CN" sz="2800" dirty="0"/>
              <a:t>Windows1</a:t>
            </a:r>
            <a:r>
              <a:rPr lang="zh-CN" altLang="en-US" sz="2800" dirty="0"/>
              <a:t>个字节</a:t>
            </a:r>
            <a:endParaRPr lang="en-US" altLang="zh-CN" sz="2800" dirty="0"/>
          </a:p>
          <a:p>
            <a:endParaRPr lang="en-US" altLang="zh-CN" dirty="0"/>
          </a:p>
          <a:p>
            <a:r>
              <a:rPr lang="zh-CN" altLang="en-US" sz="2800" dirty="0">
                <a:solidFill>
                  <a:srgbClr val="FF0000"/>
                </a:solidFill>
              </a:rPr>
              <a:t>定义：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dirty="0"/>
              <a:t>	</a:t>
            </a:r>
            <a:r>
              <a:rPr lang="en-US" altLang="zh-CN" sz="3200" dirty="0"/>
              <a:t>char c1 = ‘a’;  </a:t>
            </a:r>
            <a:endParaRPr lang="en-US" altLang="zh-CN" sz="3200" dirty="0"/>
          </a:p>
          <a:p>
            <a:r>
              <a:rPr lang="en-US" altLang="zh-CN" sz="3200" dirty="0"/>
              <a:t>	</a:t>
            </a:r>
            <a:r>
              <a:rPr lang="en-US" altLang="zh-CN" sz="3200" dirty="0" err="1"/>
              <a:t>printf</a:t>
            </a:r>
            <a:r>
              <a:rPr lang="en-US" altLang="zh-CN" sz="3200" dirty="0"/>
              <a:t>(“%c\n”,c1);</a:t>
            </a:r>
            <a:endParaRPr lang="en-US" altLang="zh-CN" sz="3200" dirty="0"/>
          </a:p>
          <a:p>
            <a:r>
              <a:rPr lang="en-US" altLang="zh-CN" sz="3200" dirty="0"/>
              <a:t>	char c2 = ‘1’;  </a:t>
            </a:r>
            <a:endParaRPr lang="en-US" altLang="zh-CN" sz="3200" dirty="0"/>
          </a:p>
          <a:p>
            <a:r>
              <a:rPr lang="en-US" altLang="zh-CN" sz="3200" dirty="0"/>
              <a:t>	</a:t>
            </a:r>
            <a:r>
              <a:rPr lang="en-US" altLang="zh-CN" sz="3200" dirty="0" err="1"/>
              <a:t>printf</a:t>
            </a:r>
            <a:r>
              <a:rPr lang="en-US" altLang="zh-CN" sz="3200" dirty="0"/>
              <a:t>(“%c\n”,c2);</a:t>
            </a:r>
            <a:endParaRPr lang="zh-CN" altLang="en-US" sz="3200" dirty="0"/>
          </a:p>
          <a:p>
            <a:r>
              <a:rPr lang="en-US" altLang="zh-CN" sz="3200" dirty="0"/>
              <a:t>	char c3 = ‘A’;  </a:t>
            </a:r>
            <a:endParaRPr lang="en-US" altLang="zh-CN" sz="3200" dirty="0"/>
          </a:p>
          <a:p>
            <a:r>
              <a:rPr lang="en-US" altLang="zh-CN" sz="3200" dirty="0"/>
              <a:t>	</a:t>
            </a:r>
            <a:r>
              <a:rPr lang="en-US" altLang="zh-CN" sz="3200" dirty="0" err="1"/>
              <a:t>printf</a:t>
            </a:r>
            <a:r>
              <a:rPr lang="en-US" altLang="zh-CN" sz="3200" dirty="0"/>
              <a:t>(“%c\n”,c3);</a:t>
            </a:r>
            <a:endParaRPr lang="zh-CN" altLang="en-US" sz="3200" dirty="0"/>
          </a:p>
          <a:p>
            <a:r>
              <a:rPr lang="en-US" altLang="zh-CN" sz="3200" dirty="0"/>
              <a:t>	char c4 = ‘.’;  </a:t>
            </a:r>
            <a:endParaRPr lang="en-US" altLang="zh-CN" sz="3200" dirty="0"/>
          </a:p>
          <a:p>
            <a:r>
              <a:rPr lang="en-US" altLang="zh-CN" sz="3200" dirty="0"/>
              <a:t>	</a:t>
            </a:r>
            <a:r>
              <a:rPr lang="en-US" altLang="zh-CN" sz="3200" dirty="0" err="1"/>
              <a:t>printf</a:t>
            </a:r>
            <a:r>
              <a:rPr lang="en-US" altLang="zh-CN" sz="3200" dirty="0"/>
              <a:t>(“%c\n”,c4);</a:t>
            </a:r>
            <a:endParaRPr lang="zh-CN" altLang="en-US" sz="3200" dirty="0"/>
          </a:p>
          <a:p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510707" y="3760341"/>
            <a:ext cx="48965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/>
              <a:t>char c5 = ‘</a:t>
            </a:r>
            <a:r>
              <a:rPr lang="zh-CN" altLang="en-US" sz="3600" dirty="0"/>
              <a:t>好</a:t>
            </a:r>
            <a:r>
              <a:rPr lang="en-US" altLang="zh-CN" sz="3600" dirty="0"/>
              <a:t>’;  </a:t>
            </a:r>
            <a:endParaRPr lang="en-US" altLang="zh-CN" sz="3600" dirty="0"/>
          </a:p>
          <a:p>
            <a:r>
              <a:rPr lang="en-US" altLang="zh-CN" sz="3600" dirty="0" err="1"/>
              <a:t>printf</a:t>
            </a:r>
            <a:r>
              <a:rPr lang="en-US" altLang="zh-CN" sz="3600" dirty="0"/>
              <a:t>(“%c\n”,c4);</a:t>
            </a:r>
            <a:r>
              <a:rPr lang="zh-CN" altLang="en-US" sz="3600" dirty="0"/>
              <a:t>❌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dirty="0"/>
              <a:t>占用位数</a:t>
            </a:r>
            <a:endParaRPr lang="zh-CN" altLang="zh-CN" sz="2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1460823" y="1766737"/>
            <a:ext cx="684076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 err="1"/>
              <a:t>printf</a:t>
            </a:r>
            <a:r>
              <a:rPr lang="en-US" altLang="zh-CN" sz="4000" dirty="0"/>
              <a:t>(“%d\n”,</a:t>
            </a:r>
            <a:r>
              <a:rPr lang="en-US" altLang="zh-CN" sz="4000" dirty="0" err="1"/>
              <a:t>sizeof</a:t>
            </a:r>
            <a:r>
              <a:rPr lang="en-US" altLang="zh-CN" sz="4000" dirty="0"/>
              <a:t>(char));</a:t>
            </a:r>
            <a:r>
              <a:rPr lang="zh-CN" altLang="en-US" sz="4000" dirty="0"/>
              <a:t>或</a:t>
            </a:r>
            <a:endParaRPr lang="en-US" altLang="zh-CN" sz="4000" dirty="0"/>
          </a:p>
          <a:p>
            <a:r>
              <a:rPr lang="en-US" altLang="zh-CN" sz="4000" dirty="0" err="1"/>
              <a:t>printf</a:t>
            </a:r>
            <a:r>
              <a:rPr lang="en-US" altLang="zh-CN" sz="4000" dirty="0"/>
              <a:t>(“%d\n”,</a:t>
            </a:r>
            <a:r>
              <a:rPr lang="en-US" altLang="zh-CN" sz="4000" dirty="0" err="1"/>
              <a:t>sizeof</a:t>
            </a:r>
            <a:r>
              <a:rPr lang="en-US" altLang="zh-CN" sz="4000" dirty="0"/>
              <a:t>(c1));</a:t>
            </a:r>
            <a:endParaRPr lang="zh-CN" alt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661" y="950150"/>
            <a:ext cx="9001000" cy="49088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88815" y="1456085"/>
            <a:ext cx="10081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自己电脑上将整数、小数、字符类型各定义</a:t>
            </a:r>
            <a:r>
              <a:rPr lang="en-US" altLang="zh-CN" sz="4000" dirty="0"/>
              <a:t>10</a:t>
            </a:r>
            <a:r>
              <a:rPr lang="zh-CN" altLang="en-US" sz="4000" dirty="0"/>
              <a:t>遍</a:t>
            </a:r>
            <a:endParaRPr lang="zh-CN" alt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00783" y="1744117"/>
            <a:ext cx="103596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/>
              <a:t>Char</a:t>
            </a:r>
            <a:r>
              <a:rPr lang="zh-CN" altLang="en-US" sz="5400" dirty="0"/>
              <a:t>数据类型可以定义中文（    ）</a:t>
            </a:r>
            <a:endParaRPr lang="zh-CN" alt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772</Words>
  <Application>WPS 演示</Application>
  <PresentationFormat>自定义</PresentationFormat>
  <Paragraphs>88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655</cp:revision>
  <dcterms:created xsi:type="dcterms:W3CDTF">2024-04-10T13:53:00Z</dcterms:created>
  <dcterms:modified xsi:type="dcterms:W3CDTF">2025-09-08T07:22:24Z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FCA88555D3D44735BAA1F56722F3B997</vt:lpwstr>
  </property>
</Properties>
</file>