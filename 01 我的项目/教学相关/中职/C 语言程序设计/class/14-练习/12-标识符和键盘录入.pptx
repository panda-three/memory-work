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7"/>
  </p:notesMasterIdLst>
  <p:handoutMasterIdLst>
    <p:handoutMasterId r:id="rId22"/>
  </p:handoutMasterIdLst>
  <p:sldIdLst>
    <p:sldId id="3705" r:id="rId3"/>
    <p:sldId id="3706" r:id="rId4"/>
    <p:sldId id="3756" r:id="rId5"/>
    <p:sldId id="3646" r:id="rId6"/>
    <p:sldId id="3708" r:id="rId8"/>
    <p:sldId id="3774" r:id="rId9"/>
    <p:sldId id="3766" r:id="rId10"/>
    <p:sldId id="3765" r:id="rId11"/>
    <p:sldId id="3775" r:id="rId12"/>
    <p:sldId id="3777" r:id="rId13"/>
    <p:sldId id="3778" r:id="rId14"/>
    <p:sldId id="3779" r:id="rId15"/>
    <p:sldId id="3757" r:id="rId16"/>
    <p:sldId id="3758" r:id="rId17"/>
    <p:sldId id="3759" r:id="rId18"/>
    <p:sldId id="3712" r:id="rId19"/>
    <p:sldId id="3700" r:id="rId20"/>
    <p:sldId id="3702" r:id="rId21"/>
  </p:sldIdLst>
  <p:sldSz cx="12858750" cy="7232650"/>
  <p:notesSz cx="6858000" cy="9144000"/>
  <p:custDataLst>
    <p:tags r:id="rId27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1pPr>
    <a:lvl2pPr marL="640080" indent="-18288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2pPr>
    <a:lvl3pPr marL="1282700" indent="-3683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3pPr>
    <a:lvl4pPr marL="1925955" indent="-55435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4pPr>
    <a:lvl5pPr marL="2568575" indent="-739775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" userDrawn="1">
          <p15:clr>
            <a:srgbClr val="A4A3A4"/>
          </p15:clr>
        </p15:guide>
        <p15:guide id="2" orient="horz" pos="4138" userDrawn="1">
          <p15:clr>
            <a:srgbClr val="A4A3A4"/>
          </p15:clr>
        </p15:guide>
        <p15:guide id="3" pos="4075" userDrawn="1">
          <p15:clr>
            <a:srgbClr val="A4A3A4"/>
          </p15:clr>
        </p15:guide>
        <p15:guide id="4" pos="560" userDrawn="1">
          <p15:clr>
            <a:srgbClr val="A4A3A4"/>
          </p15:clr>
        </p15:guide>
        <p15:guide id="5" pos="7544" userDrawn="1">
          <p15:clr>
            <a:srgbClr val="A4A3A4"/>
          </p15:clr>
        </p15:guide>
        <p15:guide id="6" pos="685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11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BF00"/>
    <a:srgbClr val="1542FF"/>
    <a:srgbClr val="FFFFFF"/>
    <a:srgbClr val="0C6AC7"/>
    <a:srgbClr val="FFC000"/>
    <a:srgbClr val="066197"/>
    <a:srgbClr val="262626"/>
    <a:srgbClr val="0767A3"/>
    <a:srgbClr val="535353"/>
    <a:srgbClr val="02184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541" autoAdjust="0"/>
    <p:restoredTop sz="96327" autoAdjust="0"/>
  </p:normalViewPr>
  <p:slideViewPr>
    <p:cSldViewPr showGuides="1">
      <p:cViewPr varScale="1">
        <p:scale>
          <a:sx n="88" d="100"/>
          <a:sy n="88" d="100"/>
        </p:scale>
        <p:origin x="653" y="53"/>
      </p:cViewPr>
      <p:guideLst>
        <p:guide orient="horz" pos="218"/>
        <p:guide orient="horz" pos="4138"/>
        <p:guide pos="4075"/>
        <p:guide pos="560"/>
        <p:guide pos="7544"/>
        <p:guide pos="6858"/>
      </p:guideLst>
    </p:cSldViewPr>
  </p:slideViewPr>
  <p:outlineViewPr>
    <p:cViewPr>
      <p:scale>
        <a:sx n="100" d="100"/>
        <a:sy n="100" d="100"/>
      </p:scale>
      <p:origin x="0" y="-9972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33" d="100"/>
        <a:sy n="33" d="100"/>
      </p:scale>
      <p:origin x="0" y="0"/>
    </p:cViewPr>
  </p:sorterViewPr>
  <p:notesViewPr>
    <p:cSldViewPr>
      <p:cViewPr varScale="1">
        <p:scale>
          <a:sx n="87" d="100"/>
          <a:sy n="87" d="100"/>
        </p:scale>
        <p:origin x="3840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7" Type="http://schemas.openxmlformats.org/officeDocument/2006/relationships/tags" Target="tags/tag1.xml"/><Relationship Id="rId26" Type="http://schemas.openxmlformats.org/officeDocument/2006/relationships/commentAuthors" Target="commentAuthors.xml"/><Relationship Id="rId25" Type="http://schemas.openxmlformats.org/officeDocument/2006/relationships/tableStyles" Target="tableStyles.xml"/><Relationship Id="rId24" Type="http://schemas.openxmlformats.org/officeDocument/2006/relationships/viewProps" Target="viewProps.xml"/><Relationship Id="rId23" Type="http://schemas.openxmlformats.org/officeDocument/2006/relationships/presProps" Target="presProps.xml"/><Relationship Id="rId22" Type="http://schemas.openxmlformats.org/officeDocument/2006/relationships/handoutMaster" Target="handoutMasters/handoutMaster1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630DBF-D010-4114-9DE3-41E342A27C18}" type="datetimeFigureOut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 dirty="0">
              <a:latin typeface="印品黑体" panose="00000500000000000000" pitchFamily="2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D1D107-4CC9-43CA-8CA8-36E1DF70D5F2}" type="slidenum">
              <a:rPr lang="zh-CN" altLang="en-US" smtClean="0">
                <a:latin typeface="印品黑体" panose="00000500000000000000" pitchFamily="2" charset="-122"/>
              </a:rPr>
            </a:fld>
            <a:endParaRPr lang="zh-CN" altLang="en-US" dirty="0">
              <a:latin typeface="印品黑体" panose="00000500000000000000" pitchFamily="2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fld id="{06024D97-E667-405D-B634-E583E2108D71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 dirty="0"/>
              <a:t>单击此处编辑母版文本样式</a:t>
            </a:r>
            <a:endParaRPr lang="zh-CN" altLang="en-US" noProof="0" dirty="0"/>
          </a:p>
          <a:p>
            <a:pPr lvl="1"/>
            <a:r>
              <a:rPr lang="zh-CN" altLang="en-US" noProof="0" dirty="0"/>
              <a:t>第二级</a:t>
            </a:r>
            <a:endParaRPr lang="zh-CN" altLang="en-US" noProof="0" dirty="0"/>
          </a:p>
          <a:p>
            <a:pPr lvl="2"/>
            <a:r>
              <a:rPr lang="zh-CN" altLang="en-US" noProof="0" dirty="0"/>
              <a:t>第三级</a:t>
            </a:r>
            <a:endParaRPr lang="zh-CN" altLang="en-US" noProof="0" dirty="0"/>
          </a:p>
          <a:p>
            <a:pPr lvl="3"/>
            <a:r>
              <a:rPr lang="zh-CN" altLang="en-US" noProof="0" dirty="0"/>
              <a:t>第四级</a:t>
            </a:r>
            <a:endParaRPr lang="zh-CN" altLang="en-US" noProof="0" dirty="0"/>
          </a:p>
          <a:p>
            <a:pPr lvl="4"/>
            <a:r>
              <a:rPr lang="zh-CN" altLang="en-US" noProof="0" dirty="0"/>
              <a:t>第五级</a:t>
            </a:r>
            <a:endParaRPr lang="zh-CN" altLang="en-US" noProof="0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印品黑体" panose="00000500000000000000" pitchFamily="2" charset="-122"/>
              </a:defRPr>
            </a:lvl1pPr>
          </a:lstStyle>
          <a:p>
            <a:pPr>
              <a:defRPr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印品黑体" panose="00000500000000000000" pitchFamily="2" charset="-122"/>
              </a:defRPr>
            </a:lvl1pPr>
          </a:lstStyle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1pPr>
    <a:lvl2pPr marL="4559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2pPr>
    <a:lvl3pPr marL="9131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3pPr>
    <a:lvl4pPr marL="13703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4pPr>
    <a:lvl5pPr marL="1827530" algn="l" rtl="0" eaLnBrk="0" fontAlgn="base" hangingPunct="0">
      <a:spcBef>
        <a:spcPct val="30000"/>
      </a:spcBef>
      <a:spcAft>
        <a:spcPct val="0"/>
      </a:spcAft>
      <a:defRPr sz="1300" kern="1200">
        <a:solidFill>
          <a:schemeClr val="tx1"/>
        </a:solidFill>
        <a:latin typeface="印品黑体" panose="00000500000000000000" pitchFamily="2" charset="-122"/>
        <a:ea typeface="+mn-ea"/>
        <a:cs typeface="+mn-cs"/>
      </a:defRPr>
    </a:lvl5pPr>
    <a:lvl6pPr marL="22853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7425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1997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656965" algn="l" defTabSz="914400" rtl="0" eaLnBrk="1" latinLnBrk="0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/>
          </a:p>
        </p:txBody>
      </p:sp>
      <p:pic>
        <p:nvPicPr>
          <p:cNvPr id="9" name="图片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525" y="635"/>
            <a:ext cx="12849225" cy="723201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270"/>
            <a:ext cx="12858750" cy="723138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4984477"/>
            <a:ext cx="3161905" cy="6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25119" y="4804672"/>
            <a:ext cx="3161905" cy="6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917207" y="5282442"/>
            <a:ext cx="3161905" cy="6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4804672"/>
            <a:ext cx="3161905" cy="6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621338" y="5337044"/>
            <a:ext cx="3161905" cy="6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991155" y="4781605"/>
            <a:ext cx="3161905" cy="619048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20821" y="5346680"/>
            <a:ext cx="3161905" cy="619048"/>
          </a:xfrm>
          <a:prstGeom prst="rect">
            <a:avLst/>
          </a:prstGeom>
        </p:spPr>
      </p:pic>
      <p:pic>
        <p:nvPicPr>
          <p:cNvPr id="22" name="图片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612692" y="4781605"/>
            <a:ext cx="3161905" cy="61904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88582" y="1366761"/>
            <a:ext cx="3161905" cy="619048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75773" y="1359987"/>
            <a:ext cx="3161905" cy="619048"/>
          </a:xfrm>
          <a:prstGeom prst="rect">
            <a:avLst/>
          </a:prstGeom>
        </p:spPr>
      </p:pic>
      <p:pic>
        <p:nvPicPr>
          <p:cNvPr id="28" name="图片 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84039" y="1359987"/>
            <a:ext cx="1580953" cy="619048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43501" y="4781605"/>
            <a:ext cx="764270" cy="619048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59461" y="1262924"/>
            <a:ext cx="860873" cy="619048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560390" y="1354452"/>
            <a:ext cx="356817" cy="6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017"/>
            <a:ext cx="12858750" cy="7285355"/>
          </a:xfrm>
          <a:prstGeom prst="rect">
            <a:avLst/>
          </a:prstGeom>
        </p:spPr>
      </p:pic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72791" y="1528093"/>
            <a:ext cx="2857143" cy="141904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477047" y="1518648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509175" y="1528093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1600101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12751" y="4624437"/>
            <a:ext cx="2857143" cy="1419048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269135" y="4407232"/>
            <a:ext cx="2857143" cy="1419048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6296947" y="4416677"/>
            <a:ext cx="2857143" cy="1419048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237687" y="4474217"/>
            <a:ext cx="2857143" cy="141904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箭头: V 形 3"/>
          <p:cNvSpPr/>
          <p:nvPr userDrawn="1"/>
        </p:nvSpPr>
        <p:spPr>
          <a:xfrm>
            <a:off x="435610" y="224155"/>
            <a:ext cx="405130" cy="405130"/>
          </a:xfrm>
          <a:prstGeom prst="chevron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6" name="等腰三角形 75"/>
          <p:cNvSpPr/>
          <p:nvPr userDrawn="1"/>
        </p:nvSpPr>
        <p:spPr>
          <a:xfrm rot="5400000">
            <a:off x="-146685" y="156845"/>
            <a:ext cx="852805" cy="540385"/>
          </a:xfrm>
          <a:prstGeom prst="triangle">
            <a:avLst/>
          </a:prstGeom>
          <a:solidFill>
            <a:srgbClr val="0767A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13" name="组合 12"/>
          <p:cNvGrpSpPr/>
          <p:nvPr userDrawn="1"/>
        </p:nvGrpSpPr>
        <p:grpSpPr>
          <a:xfrm>
            <a:off x="16656" y="5177155"/>
            <a:ext cx="752744" cy="2098793"/>
            <a:chOff x="13891297" y="2075351"/>
            <a:chExt cx="1066248" cy="2972900"/>
          </a:xfrm>
        </p:grpSpPr>
        <p:sp>
          <p:nvSpPr>
            <p:cNvPr id="14" name="椭圆 13"/>
            <p:cNvSpPr/>
            <p:nvPr/>
          </p:nvSpPr>
          <p:spPr>
            <a:xfrm>
              <a:off x="13891297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椭圆 14"/>
            <p:cNvSpPr/>
            <p:nvPr/>
          </p:nvSpPr>
          <p:spPr>
            <a:xfrm>
              <a:off x="14142396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椭圆 15"/>
            <p:cNvSpPr/>
            <p:nvPr/>
          </p:nvSpPr>
          <p:spPr>
            <a:xfrm>
              <a:off x="14393495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/>
          </p:nvSpPr>
          <p:spPr>
            <a:xfrm>
              <a:off x="14644594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/>
            <p:cNvSpPr/>
            <p:nvPr/>
          </p:nvSpPr>
          <p:spPr>
            <a:xfrm>
              <a:off x="14895693" y="207535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/>
          </p:nvSpPr>
          <p:spPr>
            <a:xfrm>
              <a:off x="13891297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0" name="椭圆 19"/>
            <p:cNvSpPr/>
            <p:nvPr/>
          </p:nvSpPr>
          <p:spPr>
            <a:xfrm>
              <a:off x="14142396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椭圆 20"/>
            <p:cNvSpPr/>
            <p:nvPr/>
          </p:nvSpPr>
          <p:spPr>
            <a:xfrm>
              <a:off x="14393495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2" name="椭圆 21"/>
            <p:cNvSpPr/>
            <p:nvPr/>
          </p:nvSpPr>
          <p:spPr>
            <a:xfrm>
              <a:off x="14644594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椭圆 22"/>
            <p:cNvSpPr/>
            <p:nvPr/>
          </p:nvSpPr>
          <p:spPr>
            <a:xfrm>
              <a:off x="14895693" y="231793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椭圆 23"/>
            <p:cNvSpPr/>
            <p:nvPr/>
          </p:nvSpPr>
          <p:spPr>
            <a:xfrm>
              <a:off x="13891297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椭圆 24"/>
            <p:cNvSpPr/>
            <p:nvPr/>
          </p:nvSpPr>
          <p:spPr>
            <a:xfrm>
              <a:off x="14142396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椭圆 25"/>
            <p:cNvSpPr/>
            <p:nvPr/>
          </p:nvSpPr>
          <p:spPr>
            <a:xfrm>
              <a:off x="14393495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椭圆 26"/>
            <p:cNvSpPr/>
            <p:nvPr/>
          </p:nvSpPr>
          <p:spPr>
            <a:xfrm>
              <a:off x="14644594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椭圆 27"/>
            <p:cNvSpPr/>
            <p:nvPr/>
          </p:nvSpPr>
          <p:spPr>
            <a:xfrm>
              <a:off x="14895693" y="2560526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椭圆 28"/>
            <p:cNvSpPr/>
            <p:nvPr/>
          </p:nvSpPr>
          <p:spPr>
            <a:xfrm>
              <a:off x="13891297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椭圆 29"/>
            <p:cNvSpPr/>
            <p:nvPr/>
          </p:nvSpPr>
          <p:spPr>
            <a:xfrm>
              <a:off x="14142396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椭圆 30"/>
            <p:cNvSpPr/>
            <p:nvPr/>
          </p:nvSpPr>
          <p:spPr>
            <a:xfrm>
              <a:off x="14393495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椭圆 31"/>
            <p:cNvSpPr/>
            <p:nvPr/>
          </p:nvSpPr>
          <p:spPr>
            <a:xfrm>
              <a:off x="14644594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3" name="椭圆 32"/>
            <p:cNvSpPr/>
            <p:nvPr/>
          </p:nvSpPr>
          <p:spPr>
            <a:xfrm>
              <a:off x="14895693" y="2803113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椭圆 33"/>
            <p:cNvSpPr/>
            <p:nvPr/>
          </p:nvSpPr>
          <p:spPr>
            <a:xfrm>
              <a:off x="13891297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5" name="椭圆 34"/>
            <p:cNvSpPr/>
            <p:nvPr/>
          </p:nvSpPr>
          <p:spPr>
            <a:xfrm>
              <a:off x="14142396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椭圆 35"/>
            <p:cNvSpPr/>
            <p:nvPr/>
          </p:nvSpPr>
          <p:spPr>
            <a:xfrm>
              <a:off x="14393495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椭圆 36"/>
            <p:cNvSpPr/>
            <p:nvPr/>
          </p:nvSpPr>
          <p:spPr>
            <a:xfrm>
              <a:off x="14644594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8" name="椭圆 37"/>
            <p:cNvSpPr/>
            <p:nvPr/>
          </p:nvSpPr>
          <p:spPr>
            <a:xfrm>
              <a:off x="14895693" y="304570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椭圆 38"/>
            <p:cNvSpPr/>
            <p:nvPr/>
          </p:nvSpPr>
          <p:spPr>
            <a:xfrm>
              <a:off x="13891297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椭圆 39"/>
            <p:cNvSpPr/>
            <p:nvPr/>
          </p:nvSpPr>
          <p:spPr>
            <a:xfrm>
              <a:off x="14142396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椭圆 40"/>
            <p:cNvSpPr/>
            <p:nvPr/>
          </p:nvSpPr>
          <p:spPr>
            <a:xfrm>
              <a:off x="14393495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椭圆 41"/>
            <p:cNvSpPr/>
            <p:nvPr/>
          </p:nvSpPr>
          <p:spPr>
            <a:xfrm>
              <a:off x="14644594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3" name="椭圆 42"/>
            <p:cNvSpPr/>
            <p:nvPr/>
          </p:nvSpPr>
          <p:spPr>
            <a:xfrm>
              <a:off x="14895693" y="3288288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4" name="椭圆 43"/>
            <p:cNvSpPr/>
            <p:nvPr/>
          </p:nvSpPr>
          <p:spPr>
            <a:xfrm>
              <a:off x="13891297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椭圆 44"/>
            <p:cNvSpPr/>
            <p:nvPr/>
          </p:nvSpPr>
          <p:spPr>
            <a:xfrm>
              <a:off x="14142396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6" name="椭圆 45"/>
            <p:cNvSpPr/>
            <p:nvPr/>
          </p:nvSpPr>
          <p:spPr>
            <a:xfrm>
              <a:off x="14393495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7" name="椭圆 46"/>
            <p:cNvSpPr/>
            <p:nvPr/>
          </p:nvSpPr>
          <p:spPr>
            <a:xfrm>
              <a:off x="14644594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椭圆 47"/>
            <p:cNvSpPr/>
            <p:nvPr/>
          </p:nvSpPr>
          <p:spPr>
            <a:xfrm>
              <a:off x="14895693" y="3530875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椭圆 48"/>
            <p:cNvSpPr/>
            <p:nvPr/>
          </p:nvSpPr>
          <p:spPr>
            <a:xfrm>
              <a:off x="13891297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椭圆 49"/>
            <p:cNvSpPr/>
            <p:nvPr/>
          </p:nvSpPr>
          <p:spPr>
            <a:xfrm>
              <a:off x="14142396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椭圆 50"/>
            <p:cNvSpPr/>
            <p:nvPr/>
          </p:nvSpPr>
          <p:spPr>
            <a:xfrm>
              <a:off x="14393495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2" name="椭圆 51"/>
            <p:cNvSpPr/>
            <p:nvPr/>
          </p:nvSpPr>
          <p:spPr>
            <a:xfrm>
              <a:off x="14644594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3" name="椭圆 52"/>
            <p:cNvSpPr/>
            <p:nvPr/>
          </p:nvSpPr>
          <p:spPr>
            <a:xfrm>
              <a:off x="14895693" y="3773462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椭圆 53"/>
            <p:cNvSpPr/>
            <p:nvPr/>
          </p:nvSpPr>
          <p:spPr>
            <a:xfrm>
              <a:off x="13891297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5" name="椭圆 54"/>
            <p:cNvSpPr/>
            <p:nvPr/>
          </p:nvSpPr>
          <p:spPr>
            <a:xfrm>
              <a:off x="14142396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6" name="椭圆 55"/>
            <p:cNvSpPr/>
            <p:nvPr/>
          </p:nvSpPr>
          <p:spPr>
            <a:xfrm>
              <a:off x="14393495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7" name="椭圆 56"/>
            <p:cNvSpPr/>
            <p:nvPr/>
          </p:nvSpPr>
          <p:spPr>
            <a:xfrm>
              <a:off x="14644594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8" name="椭圆 57"/>
            <p:cNvSpPr/>
            <p:nvPr/>
          </p:nvSpPr>
          <p:spPr>
            <a:xfrm>
              <a:off x="14895693" y="4016050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/>
            <p:cNvSpPr/>
            <p:nvPr/>
          </p:nvSpPr>
          <p:spPr>
            <a:xfrm>
              <a:off x="13891297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0" name="椭圆 59"/>
            <p:cNvSpPr/>
            <p:nvPr/>
          </p:nvSpPr>
          <p:spPr>
            <a:xfrm>
              <a:off x="14142396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椭圆 60"/>
            <p:cNvSpPr/>
            <p:nvPr/>
          </p:nvSpPr>
          <p:spPr>
            <a:xfrm>
              <a:off x="14393495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2" name="椭圆 61"/>
            <p:cNvSpPr/>
            <p:nvPr/>
          </p:nvSpPr>
          <p:spPr>
            <a:xfrm>
              <a:off x="14644594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3" name="椭圆 62"/>
            <p:cNvSpPr/>
            <p:nvPr/>
          </p:nvSpPr>
          <p:spPr>
            <a:xfrm>
              <a:off x="14895693" y="4258637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/>
            <p:cNvSpPr/>
            <p:nvPr/>
          </p:nvSpPr>
          <p:spPr>
            <a:xfrm>
              <a:off x="13891297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椭圆 64"/>
            <p:cNvSpPr/>
            <p:nvPr/>
          </p:nvSpPr>
          <p:spPr>
            <a:xfrm>
              <a:off x="14142396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椭圆 65"/>
            <p:cNvSpPr/>
            <p:nvPr/>
          </p:nvSpPr>
          <p:spPr>
            <a:xfrm>
              <a:off x="14393495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/>
            <p:cNvSpPr/>
            <p:nvPr/>
          </p:nvSpPr>
          <p:spPr>
            <a:xfrm>
              <a:off x="14644594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/>
            <p:cNvSpPr/>
            <p:nvPr/>
          </p:nvSpPr>
          <p:spPr>
            <a:xfrm>
              <a:off x="14895693" y="4501224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/>
            <p:cNvSpPr/>
            <p:nvPr/>
          </p:nvSpPr>
          <p:spPr>
            <a:xfrm>
              <a:off x="13891297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椭圆 69"/>
            <p:cNvSpPr/>
            <p:nvPr/>
          </p:nvSpPr>
          <p:spPr>
            <a:xfrm>
              <a:off x="14142396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1" name="椭圆 70"/>
            <p:cNvSpPr/>
            <p:nvPr/>
          </p:nvSpPr>
          <p:spPr>
            <a:xfrm>
              <a:off x="14393495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2" name="椭圆 71"/>
            <p:cNvSpPr/>
            <p:nvPr/>
          </p:nvSpPr>
          <p:spPr>
            <a:xfrm>
              <a:off x="14644594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椭圆 72"/>
            <p:cNvSpPr/>
            <p:nvPr/>
          </p:nvSpPr>
          <p:spPr>
            <a:xfrm>
              <a:off x="14895693" y="4743811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椭圆 73"/>
            <p:cNvSpPr/>
            <p:nvPr/>
          </p:nvSpPr>
          <p:spPr>
            <a:xfrm>
              <a:off x="13891297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/>
            <p:cNvSpPr/>
            <p:nvPr/>
          </p:nvSpPr>
          <p:spPr>
            <a:xfrm>
              <a:off x="14142396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/>
            <p:cNvSpPr/>
            <p:nvPr/>
          </p:nvSpPr>
          <p:spPr>
            <a:xfrm>
              <a:off x="14393495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3" name="椭圆 82"/>
            <p:cNvSpPr/>
            <p:nvPr/>
          </p:nvSpPr>
          <p:spPr>
            <a:xfrm>
              <a:off x="14644594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4" name="椭圆 83"/>
            <p:cNvSpPr/>
            <p:nvPr/>
          </p:nvSpPr>
          <p:spPr>
            <a:xfrm>
              <a:off x="14895693" y="4986399"/>
              <a:ext cx="61852" cy="61852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35" name="矩形 134"/>
          <p:cNvSpPr/>
          <p:nvPr userDrawn="1"/>
        </p:nvSpPr>
        <p:spPr>
          <a:xfrm>
            <a:off x="635" y="7160260"/>
            <a:ext cx="12858750" cy="87630"/>
          </a:xfrm>
          <a:prstGeom prst="rect">
            <a:avLst/>
          </a:prstGeom>
          <a:solidFill>
            <a:srgbClr val="0767A3"/>
          </a:solidFill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33475" y="1461770"/>
            <a:ext cx="1497330" cy="1257935"/>
          </a:xfrm>
          <a:prstGeom prst="rect">
            <a:avLst/>
          </a:prstGeom>
        </p:spPr>
      </p:pic>
      <p:pic>
        <p:nvPicPr>
          <p:cNvPr id="77" name="图片 7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673215" y="1393190"/>
            <a:ext cx="1497330" cy="1257935"/>
          </a:xfrm>
          <a:prstGeom prst="rect">
            <a:avLst/>
          </a:prstGeom>
        </p:spPr>
      </p:pic>
      <p:pic>
        <p:nvPicPr>
          <p:cNvPr id="78" name="图片 77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1461770"/>
            <a:ext cx="1497330" cy="1257935"/>
          </a:xfrm>
          <a:prstGeom prst="rect">
            <a:avLst/>
          </a:prstGeom>
        </p:spPr>
      </p:pic>
      <p:pic>
        <p:nvPicPr>
          <p:cNvPr id="79" name="图片 78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1290955"/>
            <a:ext cx="1497330" cy="1257935"/>
          </a:xfrm>
          <a:prstGeom prst="rect">
            <a:avLst/>
          </a:prstGeom>
        </p:spPr>
      </p:pic>
      <p:pic>
        <p:nvPicPr>
          <p:cNvPr id="80" name="图片 79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371600" y="4476750"/>
            <a:ext cx="1497330" cy="1257935"/>
          </a:xfrm>
          <a:prstGeom prst="rect">
            <a:avLst/>
          </a:prstGeom>
        </p:spPr>
      </p:pic>
      <p:pic>
        <p:nvPicPr>
          <p:cNvPr id="85" name="图片 84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812280" y="4305300"/>
            <a:ext cx="1497330" cy="1257935"/>
          </a:xfrm>
          <a:prstGeom prst="rect">
            <a:avLst/>
          </a:prstGeom>
        </p:spPr>
      </p:pic>
      <p:pic>
        <p:nvPicPr>
          <p:cNvPr id="86" name="图片 85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966845" y="4305300"/>
            <a:ext cx="1497330" cy="1257935"/>
          </a:xfrm>
          <a:prstGeom prst="rect">
            <a:avLst/>
          </a:prstGeom>
        </p:spPr>
      </p:pic>
      <p:pic>
        <p:nvPicPr>
          <p:cNvPr id="87" name="图片 86" descr="图片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66020" y="4305300"/>
            <a:ext cx="1497330" cy="1257935"/>
          </a:xfrm>
          <a:prstGeom prst="rect">
            <a:avLst/>
          </a:prstGeom>
        </p:spPr>
      </p:pic>
      <p:sp>
        <p:nvSpPr>
          <p:cNvPr id="4" name="任意多边形: 形状 50"/>
          <p:cNvSpPr/>
          <p:nvPr userDrawn="1"/>
        </p:nvSpPr>
        <p:spPr>
          <a:xfrm rot="18932100">
            <a:off x="9102985" y="1473268"/>
            <a:ext cx="1159449" cy="1159449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0767A3">
              <a:alpha val="6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任意多边形: 形状 51"/>
          <p:cNvSpPr/>
          <p:nvPr userDrawn="1"/>
        </p:nvSpPr>
        <p:spPr>
          <a:xfrm rot="18958199">
            <a:off x="10136715" y="3266146"/>
            <a:ext cx="462942" cy="462942"/>
          </a:xfrm>
          <a:custGeom>
            <a:avLst/>
            <a:gdLst>
              <a:gd name="connsiteX0" fmla="*/ 638672 w 2160240"/>
              <a:gd name="connsiteY0" fmla="*/ 411048 h 2160240"/>
              <a:gd name="connsiteX1" fmla="*/ 417942 w 2160240"/>
              <a:gd name="connsiteY1" fmla="*/ 631778 h 2160240"/>
              <a:gd name="connsiteX2" fmla="*/ 417942 w 2160240"/>
              <a:gd name="connsiteY2" fmla="*/ 1514674 h 2160240"/>
              <a:gd name="connsiteX3" fmla="*/ 638672 w 2160240"/>
              <a:gd name="connsiteY3" fmla="*/ 1735404 h 2160240"/>
              <a:gd name="connsiteX4" fmla="*/ 1521568 w 2160240"/>
              <a:gd name="connsiteY4" fmla="*/ 1735404 h 2160240"/>
              <a:gd name="connsiteX5" fmla="*/ 1742298 w 2160240"/>
              <a:gd name="connsiteY5" fmla="*/ 1514674 h 2160240"/>
              <a:gd name="connsiteX6" fmla="*/ 1742298 w 2160240"/>
              <a:gd name="connsiteY6" fmla="*/ 631778 h 2160240"/>
              <a:gd name="connsiteX7" fmla="*/ 1521568 w 2160240"/>
              <a:gd name="connsiteY7" fmla="*/ 411048 h 2160240"/>
              <a:gd name="connsiteX8" fmla="*/ 360047 w 2160240"/>
              <a:gd name="connsiteY8" fmla="*/ 0 h 2160240"/>
              <a:gd name="connsiteX9" fmla="*/ 1800193 w 2160240"/>
              <a:gd name="connsiteY9" fmla="*/ 0 h 2160240"/>
              <a:gd name="connsiteX10" fmla="*/ 2160240 w 2160240"/>
              <a:gd name="connsiteY10" fmla="*/ 360047 h 2160240"/>
              <a:gd name="connsiteX11" fmla="*/ 2160240 w 2160240"/>
              <a:gd name="connsiteY11" fmla="*/ 1800193 h 2160240"/>
              <a:gd name="connsiteX12" fmla="*/ 1800193 w 2160240"/>
              <a:gd name="connsiteY12" fmla="*/ 2160240 h 2160240"/>
              <a:gd name="connsiteX13" fmla="*/ 360047 w 2160240"/>
              <a:gd name="connsiteY13" fmla="*/ 2160240 h 2160240"/>
              <a:gd name="connsiteX14" fmla="*/ 0 w 2160240"/>
              <a:gd name="connsiteY14" fmla="*/ 1800193 h 2160240"/>
              <a:gd name="connsiteX15" fmla="*/ 0 w 2160240"/>
              <a:gd name="connsiteY15" fmla="*/ 360047 h 2160240"/>
              <a:gd name="connsiteX16" fmla="*/ 360047 w 2160240"/>
              <a:gd name="connsiteY16" fmla="*/ 0 h 21602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2160240" h="2160240">
                <a:moveTo>
                  <a:pt x="638672" y="411048"/>
                </a:moveTo>
                <a:cubicBezTo>
                  <a:pt x="516766" y="411048"/>
                  <a:pt x="417942" y="509872"/>
                  <a:pt x="417942" y="631778"/>
                </a:cubicBezTo>
                <a:lnTo>
                  <a:pt x="417942" y="1514674"/>
                </a:lnTo>
                <a:cubicBezTo>
                  <a:pt x="417942" y="1636580"/>
                  <a:pt x="516766" y="1735404"/>
                  <a:pt x="638672" y="1735404"/>
                </a:cubicBezTo>
                <a:lnTo>
                  <a:pt x="1521568" y="1735404"/>
                </a:lnTo>
                <a:cubicBezTo>
                  <a:pt x="1643474" y="1735404"/>
                  <a:pt x="1742298" y="1636580"/>
                  <a:pt x="1742298" y="1514674"/>
                </a:cubicBezTo>
                <a:lnTo>
                  <a:pt x="1742298" y="631778"/>
                </a:lnTo>
                <a:cubicBezTo>
                  <a:pt x="1742298" y="509872"/>
                  <a:pt x="1643474" y="411048"/>
                  <a:pt x="1521568" y="411048"/>
                </a:cubicBezTo>
                <a:close/>
                <a:moveTo>
                  <a:pt x="360047" y="0"/>
                </a:moveTo>
                <a:lnTo>
                  <a:pt x="1800193" y="0"/>
                </a:lnTo>
                <a:cubicBezTo>
                  <a:pt x="1999041" y="0"/>
                  <a:pt x="2160240" y="161199"/>
                  <a:pt x="2160240" y="360047"/>
                </a:cubicBezTo>
                <a:lnTo>
                  <a:pt x="2160240" y="1800193"/>
                </a:lnTo>
                <a:cubicBezTo>
                  <a:pt x="2160240" y="1999041"/>
                  <a:pt x="1999041" y="2160240"/>
                  <a:pt x="1800193" y="2160240"/>
                </a:cubicBezTo>
                <a:lnTo>
                  <a:pt x="360047" y="2160240"/>
                </a:lnTo>
                <a:cubicBezTo>
                  <a:pt x="161199" y="2160240"/>
                  <a:pt x="0" y="1999041"/>
                  <a:pt x="0" y="1800193"/>
                </a:cubicBezTo>
                <a:lnTo>
                  <a:pt x="0" y="360047"/>
                </a:lnTo>
                <a:cubicBezTo>
                  <a:pt x="0" y="161199"/>
                  <a:pt x="161199" y="0"/>
                  <a:pt x="360047" y="0"/>
                </a:cubicBezTo>
                <a:close/>
              </a:path>
            </a:pathLst>
          </a:custGeom>
          <a:solidFill>
            <a:srgbClr val="FFC000">
              <a:alpha val="1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8" name="文本框 1"/>
          <p:cNvSpPr txBox="1"/>
          <p:nvPr userDrawn="1"/>
        </p:nvSpPr>
        <p:spPr>
          <a:xfrm>
            <a:off x="3907790" y="2265045"/>
            <a:ext cx="5037455" cy="1198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7200" b="1" dirty="0">
                <a:solidFill>
                  <a:srgbClr val="066197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Thank You!</a:t>
            </a:r>
            <a:endParaRPr lang="en-US" altLang="zh-CN" sz="7200" b="1" dirty="0">
              <a:solidFill>
                <a:srgbClr val="066197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89" name="直接连接符 88"/>
          <p:cNvCxnSpPr/>
          <p:nvPr userDrawn="1"/>
        </p:nvCxnSpPr>
        <p:spPr>
          <a:xfrm>
            <a:off x="3900805" y="3392170"/>
            <a:ext cx="5051425" cy="0"/>
          </a:xfrm>
          <a:prstGeom prst="line">
            <a:avLst/>
          </a:prstGeom>
          <a:ln>
            <a:solidFill>
              <a:srgbClr val="535353"/>
            </a:solidFill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90" name="文本框 6"/>
          <p:cNvSpPr txBox="1"/>
          <p:nvPr userDrawn="1"/>
        </p:nvSpPr>
        <p:spPr>
          <a:xfrm>
            <a:off x="4038600" y="3468370"/>
            <a:ext cx="47758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60045" algn="dist" eaLnBrk="1" latinLnBrk="0" hangingPunct="1"/>
            <a:r>
              <a:rPr lang="zh-CN" altLang="en-US" sz="3200">
                <a:solidFill>
                  <a:schemeClr val="accent4">
                    <a:lumMod val="50000"/>
                  </a:schemeClr>
                </a:solidFill>
                <a:latin typeface="字魂73号-江南手书" panose="00000500000000000000" charset="-122"/>
                <a:ea typeface="字魂73号-江南手书" panose="00000500000000000000" charset="-122"/>
                <a:cs typeface="字魂73号-江南手书" panose="00000500000000000000" charset="-122"/>
              </a:rPr>
              <a:t>力学笃行  志存高远</a:t>
            </a:r>
            <a:endParaRPr lang="zh-CN" altLang="en-US" sz="3200">
              <a:solidFill>
                <a:schemeClr val="accent4">
                  <a:lumMod val="50000"/>
                </a:schemeClr>
              </a:solidFill>
              <a:latin typeface="字魂73号-江南手书" panose="00000500000000000000" charset="-122"/>
              <a:ea typeface="字魂73号-江南手书" panose="00000500000000000000" charset="-122"/>
              <a:cs typeface="字魂73号-江南手书" panose="00000500000000000000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33729" y="4375800"/>
            <a:ext cx="2857143" cy="141904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816072" y="4410145"/>
            <a:ext cx="2857143" cy="1419048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792013" y="4278768"/>
            <a:ext cx="2857143" cy="1419048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165679" y="4238224"/>
            <a:ext cx="2857143" cy="1419048"/>
          </a:xfrm>
          <a:prstGeom prst="rect">
            <a:avLst/>
          </a:prstGeom>
        </p:spPr>
      </p:pic>
      <p:pic>
        <p:nvPicPr>
          <p:cNvPr id="92" name="图片 9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766302" y="1013956"/>
            <a:ext cx="2857143" cy="1419048"/>
          </a:xfrm>
          <a:prstGeom prst="rect">
            <a:avLst/>
          </a:prstGeom>
        </p:spPr>
      </p:pic>
      <p:pic>
        <p:nvPicPr>
          <p:cNvPr id="94" name="图片 9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069" y="1173658"/>
            <a:ext cx="2857143" cy="1419048"/>
          </a:xfrm>
          <a:prstGeom prst="rect">
            <a:avLst/>
          </a:prstGeom>
        </p:spPr>
      </p:pic>
      <p:pic>
        <p:nvPicPr>
          <p:cNvPr id="128" name="图片 127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77818" y="1024383"/>
            <a:ext cx="2857143" cy="1419048"/>
          </a:xfrm>
          <a:prstGeom prst="rect">
            <a:avLst/>
          </a:prstGeom>
        </p:spPr>
      </p:pic>
      <p:pic>
        <p:nvPicPr>
          <p:cNvPr id="130" name="图片 129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957292" y="995663"/>
            <a:ext cx="2857143" cy="141904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4039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2BF82D2-7A68-459D-A996-9BDDA2518FA4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59461" y="6703595"/>
            <a:ext cx="4339828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81492" y="6703595"/>
            <a:ext cx="2893219" cy="38507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5">
                <a:solidFill>
                  <a:schemeClr val="tx1">
                    <a:tint val="75000"/>
                  </a:schemeClr>
                </a:solidFill>
                <a:latin typeface="印品黑体" panose="00000500000000000000" pitchFamily="2" charset="-122"/>
              </a:defRPr>
            </a:lvl1pPr>
          </a:lstStyle>
          <a:p>
            <a:fld id="{3E01EE5D-26FB-46D5-A381-ECFB35BF1D34}" type="slidenum">
              <a:rPr lang="zh-CN" altLang="en-US" smtClean="0"/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64565" rtl="0" eaLnBrk="1" latinLnBrk="0" hangingPunct="1">
        <a:lnSpc>
          <a:spcPct val="90000"/>
        </a:lnSpc>
        <a:spcBef>
          <a:spcPct val="0"/>
        </a:spcBef>
        <a:buNone/>
        <a:defRPr sz="4640" kern="1200">
          <a:solidFill>
            <a:schemeClr val="tx1"/>
          </a:solidFill>
          <a:latin typeface="印品黑体" panose="00000500000000000000" pitchFamily="2" charset="-122"/>
          <a:ea typeface="+mj-ea"/>
          <a:cs typeface="+mj-cs"/>
        </a:defRPr>
      </a:lvl1pPr>
    </p:titleStyle>
    <p:bodyStyle>
      <a:lvl1pPr marL="241300" indent="-241300" algn="l" defTabSz="964565" rtl="0" eaLnBrk="1" latinLnBrk="0" hangingPunct="1">
        <a:lnSpc>
          <a:spcPct val="90000"/>
        </a:lnSpc>
        <a:spcBef>
          <a:spcPts val="1055"/>
        </a:spcBef>
        <a:buFont typeface="Arial" panose="020B0604020202020204" pitchFamily="34" charset="0"/>
        <a:buChar char="•"/>
        <a:defRPr sz="2955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1pPr>
      <a:lvl2pPr marL="72326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3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2pPr>
      <a:lvl3pPr marL="12052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1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3pPr>
      <a:lvl4pPr marL="168783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4pPr>
      <a:lvl5pPr marL="216979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印品黑体" panose="00000500000000000000" pitchFamily="2" charset="-122"/>
          <a:ea typeface="+mn-ea"/>
          <a:cs typeface="+mn-cs"/>
        </a:defRPr>
      </a:lvl5pPr>
      <a:lvl6pPr marL="26517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313436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616325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4098290" indent="-241300" algn="l" defTabSz="964565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1pPr>
      <a:lvl2pPr marL="4819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2pPr>
      <a:lvl3pPr marL="96456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3pPr>
      <a:lvl4pPr marL="144653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9284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241109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6pPr>
      <a:lvl7pPr marL="289306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7pPr>
      <a:lvl8pPr marL="3375025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8pPr>
      <a:lvl9pPr marL="3856990" algn="l" defTabSz="964565" rtl="0" eaLnBrk="1" latinLnBrk="0" hangingPunct="1">
        <a:defRPr sz="1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16.png"/><Relationship Id="rId7" Type="http://schemas.openxmlformats.org/officeDocument/2006/relationships/image" Target="../media/image15.png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0" Type="http://schemas.openxmlformats.org/officeDocument/2006/relationships/notesSlide" Target="../notesSlides/notesSlide3.xml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5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6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3.xml"/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25.png"/><Relationship Id="rId1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3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0.png"/><Relationship Id="rId1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3.xml"/><Relationship Id="rId2" Type="http://schemas.openxmlformats.org/officeDocument/2006/relationships/image" Target="../media/image31.png"/><Relationship Id="rId1" Type="http://schemas.openxmlformats.org/officeDocument/2006/relationships/image" Target="../media/image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2684959" y="1498476"/>
            <a:ext cx="760603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4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标识符键盘录入</a:t>
            </a:r>
            <a:endParaRPr lang="en-US" altLang="zh-CN" sz="54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TextBox 7"/>
          <p:cNvSpPr txBox="1"/>
          <p:nvPr/>
        </p:nvSpPr>
        <p:spPr>
          <a:xfrm>
            <a:off x="4125119" y="3400926"/>
            <a:ext cx="4968552" cy="52197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zh-CN" altLang="en-US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周磊</a:t>
            </a:r>
            <a:endParaRPr lang="zh-CN" altLang="en-US" sz="2800" b="1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81103" y="5272509"/>
            <a:ext cx="5582514" cy="1080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4870" y="159734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>
                <a:solidFill>
                  <a:srgbClr val="FFC000"/>
                </a:solidFill>
              </a:rPr>
              <a:t>C</a:t>
            </a:r>
            <a:r>
              <a:rPr kumimoji="1" lang="zh-CN" altLang="en-US" dirty="0">
                <a:solidFill>
                  <a:srgbClr val="FFC000"/>
                </a:solidFill>
              </a:rPr>
              <a:t>语言</a:t>
            </a:r>
            <a:endParaRPr kumimoji="1" lang="zh-CN" altLang="en-US" dirty="0">
              <a:solidFill>
                <a:srgbClr val="FFC000"/>
              </a:solidFill>
            </a:endParaRPr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70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sz="2000" b="1" dirty="0">
                <a:solidFill>
                  <a:srgbClr val="FFFFFF"/>
                </a:solidFill>
              </a:rPr>
              <a:t>知识回顾 </a:t>
            </a:r>
            <a:r>
              <a:rPr lang="zh-CN" altLang="en-US" b="1" dirty="0"/>
              <a:t>新课导入  目标及重难点  新授 总结与合作探究  作业  限时检测</a:t>
            </a:r>
            <a:endParaRPr lang="zh-CN" altLang="en-US" b="1" dirty="0"/>
          </a:p>
        </p:txBody>
      </p:sp>
      <p:sp>
        <p:nvSpPr>
          <p:cNvPr id="6" name="箭头: 上 5"/>
          <p:cNvSpPr/>
          <p:nvPr/>
        </p:nvSpPr>
        <p:spPr>
          <a:xfrm>
            <a:off x="45271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占位符 2"/>
          <p:cNvSpPr>
            <a:spLocks noGrp="1"/>
          </p:cNvSpPr>
          <p:nvPr/>
        </p:nvSpPr>
        <p:spPr>
          <a:xfrm>
            <a:off x="2900983" y="2094662"/>
            <a:ext cx="7056784" cy="1728192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6600" dirty="0"/>
              <a:t>整数、小数、字符</a:t>
            </a:r>
            <a:endParaRPr lang="en-US" altLang="zh-CN" sz="6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</a:t>
            </a:r>
            <a:r>
              <a:rPr lang="zh-CN" altLang="en-US" sz="2000" b="1" dirty="0">
                <a:solidFill>
                  <a:schemeClr val="bg1"/>
                </a:solidFill>
              </a:rPr>
              <a:t>新课导入</a:t>
            </a:r>
            <a:r>
              <a:rPr lang="zh-CN" altLang="en-US" sz="2000" b="1" dirty="0"/>
              <a:t>  </a:t>
            </a:r>
            <a:r>
              <a:rPr lang="zh-CN" altLang="en-US" b="1" dirty="0"/>
              <a:t>目标及重难点  新授 总结与合作探究  作业  限时检测</a:t>
            </a:r>
            <a:endParaRPr lang="zh-CN" altLang="en-US" b="1" dirty="0"/>
          </a:p>
        </p:txBody>
      </p:sp>
      <p:sp>
        <p:nvSpPr>
          <p:cNvPr id="2" name="箭头: 上 1"/>
          <p:cNvSpPr/>
          <p:nvPr/>
        </p:nvSpPr>
        <p:spPr>
          <a:xfrm>
            <a:off x="1460823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pic>
        <p:nvPicPr>
          <p:cNvPr id="10" name="图片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7954" y="413351"/>
            <a:ext cx="6333132" cy="62719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0" y="2225952"/>
            <a:ext cx="10749598" cy="3882240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</a:t>
            </a:r>
            <a:r>
              <a:rPr lang="zh-CN" altLang="en-US" sz="2000" b="1" dirty="0">
                <a:solidFill>
                  <a:schemeClr val="bg1"/>
                </a:solidFill>
              </a:rPr>
              <a:t>目标及重难点  </a:t>
            </a:r>
            <a:r>
              <a:rPr lang="zh-CN" altLang="en-US" b="1" dirty="0"/>
              <a:t>新授 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275696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标题 3"/>
          <p:cNvSpPr>
            <a:spLocks noGrp="1"/>
          </p:cNvSpPr>
          <p:nvPr/>
        </p:nvSpPr>
        <p:spPr>
          <a:xfrm>
            <a:off x="2026555" y="2968253"/>
            <a:ext cx="2160240" cy="81407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lang="zh-CN" altLang="en-US" sz="4800" dirty="0"/>
              <a:t>目标：</a:t>
            </a:r>
            <a:endParaRPr lang="en-US" altLang="zh-CN" sz="4800" dirty="0"/>
          </a:p>
        </p:txBody>
      </p:sp>
      <p:sp>
        <p:nvSpPr>
          <p:cNvPr id="4" name="文本占位符 2"/>
          <p:cNvSpPr>
            <a:spLocks noGrp="1"/>
          </p:cNvSpPr>
          <p:nvPr/>
        </p:nvSpPr>
        <p:spPr>
          <a:xfrm>
            <a:off x="3765079" y="2197977"/>
            <a:ext cx="6120680" cy="2289056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6096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2192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182880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标识符概念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/>
              <a:t>命名规范</a:t>
            </a:r>
            <a:endParaRPr lang="en-US" altLang="zh-CN" sz="4800" dirty="0"/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sz="4800" dirty="0">
                <a:solidFill>
                  <a:srgbClr val="FF0000"/>
                </a:solidFill>
              </a:rPr>
              <a:t>键盘录入</a:t>
            </a:r>
            <a:endParaRPr lang="en-US" altLang="zh-CN" sz="4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概念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460823" y="1744117"/>
            <a:ext cx="842493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标识符：代码中所有我们自己起的名字。</a:t>
            </a:r>
            <a:endParaRPr lang="en-US" altLang="zh-CN" sz="3600" dirty="0"/>
          </a:p>
          <a:p>
            <a:r>
              <a:rPr lang="zh-CN" altLang="en-US" sz="3600" dirty="0"/>
              <a:t>比如变量名、函数名等。</a:t>
            </a:r>
            <a:endParaRPr lang="zh-CN" altLang="en-US" sz="3600" dirty="0"/>
          </a:p>
        </p:txBody>
      </p:sp>
      <p:sp>
        <p:nvSpPr>
          <p:cNvPr id="6" name="双括号 5"/>
          <p:cNvSpPr/>
          <p:nvPr/>
        </p:nvSpPr>
        <p:spPr>
          <a:xfrm>
            <a:off x="1460823" y="1600101"/>
            <a:ext cx="8280920" cy="1584176"/>
          </a:xfrm>
          <a:prstGeom prst="bracketPair">
            <a:avLst/>
          </a:prstGeom>
          <a:ln w="762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3003992" y="3934040"/>
            <a:ext cx="446449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800" dirty="0">
                <a:solidFill>
                  <a:srgbClr val="FF0000"/>
                </a:solidFill>
              </a:rPr>
              <a:t>名字能乱起吗？</a:t>
            </a:r>
            <a:endParaRPr lang="zh-CN" altLang="en-US" sz="4800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概念</a:t>
            </a:r>
            <a:endParaRPr lang="zh-CN" altLang="zh-CN" sz="2400" dirty="0"/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791" y="1553590"/>
            <a:ext cx="10893871" cy="506113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1751" y="1096045"/>
            <a:ext cx="2400300" cy="1647825"/>
          </a:xfrm>
          <a:prstGeom prst="rect">
            <a:avLst/>
          </a:prstGeom>
        </p:spPr>
      </p:pic>
      <p:pic>
        <p:nvPicPr>
          <p:cNvPr id="34" name="图片 3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45800" y="1504317"/>
            <a:ext cx="1296144" cy="815864"/>
          </a:xfrm>
          <a:prstGeom prst="rect">
            <a:avLst/>
          </a:prstGeom>
        </p:spPr>
      </p:pic>
      <p:pic>
        <p:nvPicPr>
          <p:cNvPr id="36" name="图片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87409" y="1896168"/>
            <a:ext cx="1369758" cy="352005"/>
          </a:xfrm>
          <a:prstGeom prst="rect">
            <a:avLst/>
          </a:prstGeom>
        </p:spPr>
      </p:pic>
      <p:pic>
        <p:nvPicPr>
          <p:cNvPr id="38" name="图片 3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57508" y="1600102"/>
            <a:ext cx="1272728" cy="72008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17007" y="1919957"/>
            <a:ext cx="1498377" cy="328216"/>
          </a:xfrm>
          <a:prstGeom prst="rect">
            <a:avLst/>
          </a:prstGeom>
        </p:spPr>
      </p:pic>
      <p:pic>
        <p:nvPicPr>
          <p:cNvPr id="40" name="图片 39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72791" y="1391966"/>
            <a:ext cx="4454325" cy="523674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4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dirty="0"/>
              <a:t>标识符命名的</a:t>
            </a:r>
            <a:endParaRPr lang="zh-CN" altLang="zh-CN" sz="2400" dirty="0">
              <a:solidFill>
                <a:srgbClr val="FF0000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97171" y="2104828"/>
            <a:ext cx="7357610" cy="221599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3800" dirty="0">
                <a:solidFill>
                  <a:srgbClr val="FF0000"/>
                </a:solidFill>
              </a:rPr>
              <a:t>个人建议</a:t>
            </a:r>
            <a:endParaRPr lang="zh-CN" altLang="en-US" sz="138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zh-CN" sz="2400" dirty="0"/>
              <a:t>一、</a:t>
            </a:r>
            <a:r>
              <a:rPr lang="zh-CN" altLang="en-US" sz="2400" dirty="0"/>
              <a:t>数据类型的作用</a:t>
            </a:r>
            <a:endParaRPr lang="zh-CN" altLang="zh-CN" sz="24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169" y="2530963"/>
            <a:ext cx="6293870" cy="2885562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843940" cy="717606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dirty="0"/>
              <a:t>现实生活中的命名规则</a:t>
            </a:r>
            <a:endParaRPr lang="zh-CN" altLang="zh-CN" sz="2400" dirty="0"/>
          </a:p>
        </p:txBody>
      </p:sp>
      <p:sp>
        <p:nvSpPr>
          <p:cNvPr id="11" name="文本框 10"/>
          <p:cNvSpPr txBox="1"/>
          <p:nvPr/>
        </p:nvSpPr>
        <p:spPr>
          <a:xfrm>
            <a:off x="1172791" y="1672109"/>
            <a:ext cx="4824536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4000" dirty="0"/>
              <a:t>都是汉字</a:t>
            </a:r>
            <a:endParaRPr lang="en-US" altLang="zh-CN" sz="4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4000" dirty="0"/>
              <a:t>长度有限制</a:t>
            </a:r>
            <a:endParaRPr lang="en-US" altLang="zh-CN" sz="4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4000" dirty="0"/>
              <a:t>包含特殊的寓意</a:t>
            </a:r>
            <a:endParaRPr lang="zh-CN" altLang="en-US" sz="4000" dirty="0"/>
          </a:p>
        </p:txBody>
      </p:sp>
      <p:sp>
        <p:nvSpPr>
          <p:cNvPr id="14" name="Rectangle 2"/>
          <p:cNvSpPr txBox="1">
            <a:spLocks noChangeArrowheads="1"/>
          </p:cNvSpPr>
          <p:nvPr/>
        </p:nvSpPr>
        <p:spPr>
          <a:xfrm>
            <a:off x="889487" y="949550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</a:rPr>
              <a:t>二</a:t>
            </a:r>
            <a:r>
              <a:rPr lang="zh-CN" altLang="zh-CN" sz="2400" b="1" dirty="0">
                <a:solidFill>
                  <a:srgbClr val="FF0000"/>
                </a:solidFill>
              </a:rPr>
              <a:t>、</a:t>
            </a:r>
            <a:r>
              <a:rPr lang="en-US" altLang="zh-CN" sz="2400" b="1" dirty="0">
                <a:solidFill>
                  <a:srgbClr val="FF0000"/>
                </a:solidFill>
              </a:rPr>
              <a:t>C</a:t>
            </a:r>
            <a:r>
              <a:rPr lang="zh-CN" altLang="en-US" sz="2400" b="1" dirty="0">
                <a:solidFill>
                  <a:srgbClr val="FF0000"/>
                </a:solidFill>
              </a:rPr>
              <a:t>语言的命名规则</a:t>
            </a:r>
            <a:r>
              <a:rPr lang="en-US" altLang="zh-CN" sz="2400" b="1" dirty="0">
                <a:solidFill>
                  <a:srgbClr val="FF0000"/>
                </a:solidFill>
              </a:rPr>
              <a:t>-</a:t>
            </a:r>
            <a:r>
              <a:rPr lang="zh-CN" altLang="en-US" sz="2400" b="1" dirty="0">
                <a:solidFill>
                  <a:srgbClr val="FF0000"/>
                </a:solidFill>
              </a:rPr>
              <a:t>标识符</a:t>
            </a:r>
            <a:endParaRPr lang="zh-CN" altLang="zh-CN" sz="2400" b="1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123003" y="1741454"/>
            <a:ext cx="63144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⭐️由字母、数字、下划线</a:t>
            </a:r>
            <a:r>
              <a:rPr lang="en-US" altLang="zh-CN" sz="3200" b="1" dirty="0"/>
              <a:t>(_)</a:t>
            </a:r>
            <a:r>
              <a:rPr lang="zh-CN" altLang="en-US" sz="3200" b="1" dirty="0"/>
              <a:t>组成</a:t>
            </a:r>
            <a:endParaRPr lang="zh-CN" altLang="en-US" sz="3200" b="1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7475" y="1600101"/>
            <a:ext cx="4968552" cy="3349247"/>
          </a:xfrm>
          <a:prstGeom prst="rect">
            <a:avLst/>
          </a:prstGeom>
        </p:spPr>
      </p:pic>
      <p:sp>
        <p:nvSpPr>
          <p:cNvPr id="18" name="文本框 17"/>
          <p:cNvSpPr txBox="1"/>
          <p:nvPr/>
        </p:nvSpPr>
        <p:spPr>
          <a:xfrm>
            <a:off x="10405330" y="3040261"/>
            <a:ext cx="613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❌</a:t>
            </a:r>
            <a:endParaRPr lang="zh-CN" altLang="en-US" sz="2400" dirty="0"/>
          </a:p>
        </p:txBody>
      </p:sp>
      <p:sp>
        <p:nvSpPr>
          <p:cNvPr id="19" name="文本框 18"/>
          <p:cNvSpPr txBox="1"/>
          <p:nvPr/>
        </p:nvSpPr>
        <p:spPr>
          <a:xfrm>
            <a:off x="1079634" y="3794025"/>
            <a:ext cx="5650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⭐️不能是关键字</a:t>
            </a:r>
            <a:endParaRPr lang="zh-CN" altLang="en-US" sz="3200" b="1" dirty="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7475" y="1552550"/>
            <a:ext cx="5562600" cy="3781425"/>
          </a:xfrm>
          <a:prstGeom prst="rect">
            <a:avLst/>
          </a:prstGeom>
        </p:spPr>
      </p:pic>
      <p:sp>
        <p:nvSpPr>
          <p:cNvPr id="22" name="文本框 21"/>
          <p:cNvSpPr txBox="1"/>
          <p:nvPr/>
        </p:nvSpPr>
        <p:spPr>
          <a:xfrm>
            <a:off x="10768832" y="3318644"/>
            <a:ext cx="61372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dirty="0"/>
              <a:t>❌</a:t>
            </a:r>
            <a:endParaRPr lang="zh-CN" altLang="en-US" sz="2400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41450" y="1668027"/>
            <a:ext cx="5454812" cy="3683911"/>
          </a:xfrm>
          <a:prstGeom prst="rect">
            <a:avLst/>
          </a:prstGeom>
        </p:spPr>
      </p:pic>
      <p:sp>
        <p:nvSpPr>
          <p:cNvPr id="25" name="文本框 24"/>
          <p:cNvSpPr txBox="1"/>
          <p:nvPr/>
        </p:nvSpPr>
        <p:spPr>
          <a:xfrm>
            <a:off x="1083609" y="2792873"/>
            <a:ext cx="5650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⭐️不能以数字开头</a:t>
            </a:r>
            <a:endParaRPr lang="zh-CN" altLang="en-US" sz="3200" b="1" dirty="0"/>
          </a:p>
        </p:txBody>
      </p:sp>
      <p:sp>
        <p:nvSpPr>
          <p:cNvPr id="26" name="文本框 25"/>
          <p:cNvSpPr txBox="1"/>
          <p:nvPr/>
        </p:nvSpPr>
        <p:spPr>
          <a:xfrm>
            <a:off x="10768832" y="3256140"/>
            <a:ext cx="100811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❌</a:t>
            </a:r>
            <a:endParaRPr lang="zh-CN" altLang="en-US" sz="3600" dirty="0"/>
          </a:p>
        </p:txBody>
      </p:sp>
      <p:sp>
        <p:nvSpPr>
          <p:cNvPr id="27" name="文本框 26"/>
          <p:cNvSpPr txBox="1"/>
          <p:nvPr/>
        </p:nvSpPr>
        <p:spPr>
          <a:xfrm>
            <a:off x="1115441" y="4675424"/>
            <a:ext cx="56509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b="1" dirty="0"/>
              <a:t>⭐️区分大小写</a:t>
            </a:r>
            <a:endParaRPr lang="zh-CN" altLang="en-US" sz="3200" b="1" dirty="0"/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3471" y="1623204"/>
            <a:ext cx="5406604" cy="371873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4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500"/>
                                        <p:tgtEl>
                                          <p:spTgt spid="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4" dur="500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6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1" grpId="0"/>
      <p:bldP spid="14" grpId="0"/>
      <p:bldP spid="18" grpId="0"/>
      <p:bldP spid="22" grpId="0"/>
      <p:bldP spid="2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二</a:t>
            </a:r>
            <a:r>
              <a:rPr lang="zh-CN" altLang="zh-CN" sz="2400" dirty="0"/>
              <a:t>、</a:t>
            </a:r>
            <a:r>
              <a:rPr lang="zh-CN" altLang="en-US" sz="2400" dirty="0"/>
              <a:t>标识符命名</a:t>
            </a:r>
            <a:r>
              <a:rPr lang="en-US" altLang="zh-CN" sz="2400" dirty="0"/>
              <a:t>-</a:t>
            </a:r>
            <a:r>
              <a:rPr lang="zh-CN" altLang="en-US" sz="2400" dirty="0">
                <a:solidFill>
                  <a:srgbClr val="FF0000"/>
                </a:solidFill>
              </a:rPr>
              <a:t>个人建议</a:t>
            </a:r>
            <a:endParaRPr lang="zh-CN" altLang="zh-CN" sz="2400" dirty="0">
              <a:solidFill>
                <a:srgbClr val="FF0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70585" y="1660050"/>
            <a:ext cx="877102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使用英文单词，见名知意</a:t>
            </a:r>
            <a:endParaRPr lang="en-US" altLang="zh-CN" sz="4000" dirty="0"/>
          </a:p>
          <a:p>
            <a:r>
              <a:rPr lang="zh-CN" altLang="en-US" sz="4000" dirty="0"/>
              <a:t>变量名：都是小写</a:t>
            </a:r>
            <a:endParaRPr lang="en-US" altLang="zh-CN" sz="40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8762" y="1240061"/>
            <a:ext cx="5085978" cy="3877847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970585" y="2983489"/>
            <a:ext cx="964907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dirty="0"/>
              <a:t>代码文件名：全部小写、单</a:t>
            </a:r>
            <a:endParaRPr lang="en-US" altLang="zh-CN" sz="3600" dirty="0"/>
          </a:p>
          <a:p>
            <a:r>
              <a:rPr lang="zh-CN" altLang="en-US" sz="3600" dirty="0"/>
              <a:t>词之间用下划线隔开、</a:t>
            </a:r>
            <a:endParaRPr lang="en-US" altLang="zh-CN" sz="3600" dirty="0"/>
          </a:p>
          <a:p>
            <a:r>
              <a:rPr lang="zh-CN" altLang="en-US" sz="3600" dirty="0"/>
              <a:t>开头可以用数字</a:t>
            </a:r>
            <a:endParaRPr lang="zh-CN" altLang="en-US" sz="3600" dirty="0"/>
          </a:p>
        </p:txBody>
      </p:sp>
      <p:pic>
        <p:nvPicPr>
          <p:cNvPr id="17" name="图片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50919" y="3170638"/>
            <a:ext cx="4663881" cy="2019278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1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三</a:t>
            </a:r>
            <a:r>
              <a:rPr lang="zh-CN" altLang="zh-CN" sz="2400" dirty="0"/>
              <a:t>、</a:t>
            </a:r>
            <a:r>
              <a:rPr lang="zh-CN" altLang="en-US" sz="2400" dirty="0"/>
              <a:t>练习</a:t>
            </a:r>
            <a:endParaRPr lang="zh-CN" altLang="zh-CN" sz="2400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0823" y="1489312"/>
            <a:ext cx="9537104" cy="5051366"/>
          </a:xfrm>
          <a:prstGeom prst="rect">
            <a:avLst/>
          </a:prstGeom>
        </p:spPr>
      </p:pic>
      <p:sp>
        <p:nvSpPr>
          <p:cNvPr id="11" name="文本框 10"/>
          <p:cNvSpPr txBox="1"/>
          <p:nvPr/>
        </p:nvSpPr>
        <p:spPr>
          <a:xfrm>
            <a:off x="3054093" y="2204964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❌</a:t>
            </a:r>
            <a:endParaRPr lang="zh-CN" altLang="en-US" dirty="0"/>
          </a:p>
        </p:txBody>
      </p:sp>
      <p:sp>
        <p:nvSpPr>
          <p:cNvPr id="12" name="文本框 11"/>
          <p:cNvSpPr txBox="1"/>
          <p:nvPr/>
        </p:nvSpPr>
        <p:spPr>
          <a:xfrm>
            <a:off x="2828975" y="4033261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❌</a:t>
            </a:r>
            <a:endParaRPr lang="zh-CN" altLang="en-US" dirty="0"/>
          </a:p>
        </p:txBody>
      </p:sp>
      <p:sp>
        <p:nvSpPr>
          <p:cNvPr id="15" name="文本框 14"/>
          <p:cNvSpPr txBox="1"/>
          <p:nvPr/>
        </p:nvSpPr>
        <p:spPr>
          <a:xfrm>
            <a:off x="7077447" y="5850229"/>
            <a:ext cx="6480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✅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en-US" altLang="zh-CN" sz="2400" dirty="0"/>
              <a:t>scanf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172791" y="1528093"/>
            <a:ext cx="1116124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dirty="0"/>
              <a:t>scanf</a:t>
            </a:r>
            <a:r>
              <a:rPr lang="zh-CN" altLang="en-US" sz="3200" dirty="0"/>
              <a:t>，是</a:t>
            </a:r>
            <a:r>
              <a:rPr lang="en-US" altLang="zh-CN" sz="3200" dirty="0"/>
              <a:t>scanner  format</a:t>
            </a:r>
            <a:r>
              <a:rPr lang="zh-CN" altLang="en-US" sz="3200" dirty="0"/>
              <a:t>的缩写，是</a:t>
            </a:r>
            <a:r>
              <a:rPr lang="en-US" altLang="zh-CN" sz="3200" dirty="0"/>
              <a:t>C</a:t>
            </a:r>
            <a:r>
              <a:rPr lang="zh-CN" altLang="en-US" sz="3200" dirty="0"/>
              <a:t>语言提供的一个函数。</a:t>
            </a:r>
            <a:endParaRPr lang="zh-CN" altLang="en-US" sz="3200" dirty="0"/>
          </a:p>
        </p:txBody>
      </p:sp>
      <p:sp>
        <p:nvSpPr>
          <p:cNvPr id="4" name="文本框 3"/>
          <p:cNvSpPr txBox="1"/>
          <p:nvPr/>
        </p:nvSpPr>
        <p:spPr>
          <a:xfrm>
            <a:off x="1114477" y="2317499"/>
            <a:ext cx="10712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作用</a:t>
            </a:r>
            <a:r>
              <a:rPr lang="zh-CN" altLang="en-US" sz="3600" dirty="0"/>
              <a:t>：获取用户在键盘上输入的数据，并赋值给变量</a:t>
            </a:r>
            <a:endParaRPr lang="zh-CN" altLang="en-US" sz="3600" dirty="0"/>
          </a:p>
        </p:txBody>
      </p:sp>
      <p:sp>
        <p:nvSpPr>
          <p:cNvPr id="6" name="文本框 5"/>
          <p:cNvSpPr txBox="1"/>
          <p:nvPr/>
        </p:nvSpPr>
        <p:spPr>
          <a:xfrm>
            <a:off x="1114477" y="2948899"/>
            <a:ext cx="107121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600" b="1" dirty="0">
                <a:solidFill>
                  <a:srgbClr val="FF0000"/>
                </a:solidFill>
              </a:rPr>
              <a:t>使用方式</a:t>
            </a:r>
            <a:r>
              <a:rPr lang="zh-CN" altLang="en-US" sz="3600" dirty="0"/>
              <a:t>：</a:t>
            </a:r>
            <a:endParaRPr lang="zh-CN" altLang="en-US" sz="3600" dirty="0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039" y="3148145"/>
            <a:ext cx="4363764" cy="3219056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9135" y="4941580"/>
            <a:ext cx="2840481" cy="37082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9135" y="4932274"/>
            <a:ext cx="876300" cy="352425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09531" y="4924343"/>
            <a:ext cx="1317398" cy="3524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en-US" altLang="zh-CN" sz="2400" dirty="0" err="1"/>
              <a:t>scanf</a:t>
            </a:r>
            <a:endParaRPr lang="zh-CN" altLang="zh-CN" sz="2400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1238" y="1479073"/>
            <a:ext cx="10152673" cy="486723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 </a:t>
            </a:r>
            <a:r>
              <a:rPr lang="zh-CN" altLang="en-US" sz="2400" dirty="0"/>
              <a:t>代码实现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316807" y="1672109"/>
            <a:ext cx="10369152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键盘录入的基本使用</a:t>
            </a:r>
            <a:endParaRPr lang="en-US" altLang="zh-CN" sz="3200" dirty="0"/>
          </a:p>
          <a:p>
            <a:r>
              <a:rPr lang="en-US" altLang="zh-CN" sz="3200" dirty="0"/>
              <a:t>1</a:t>
            </a:r>
            <a:r>
              <a:rPr lang="zh-CN" altLang="en-US" sz="3200" dirty="0"/>
              <a:t>、定义一个变量用户接收数据</a:t>
            </a:r>
            <a:endParaRPr lang="en-US" altLang="zh-CN" sz="3200" dirty="0"/>
          </a:p>
          <a:p>
            <a:r>
              <a:rPr lang="en-US" altLang="zh-CN" sz="3200" dirty="0"/>
              <a:t>int  a</a:t>
            </a:r>
            <a:r>
              <a:rPr lang="zh-CN" altLang="en-US" sz="3200" dirty="0"/>
              <a:t>；</a:t>
            </a:r>
            <a:endParaRPr lang="en-US" altLang="zh-CN" sz="3200" dirty="0"/>
          </a:p>
          <a:p>
            <a:r>
              <a:rPr lang="en-US" altLang="zh-CN" sz="3200" dirty="0"/>
              <a:t>2</a:t>
            </a:r>
            <a:r>
              <a:rPr lang="zh-CN" altLang="en-US" sz="3200" dirty="0"/>
              <a:t>、键盘录入</a:t>
            </a:r>
            <a:endParaRPr lang="en-US" altLang="zh-CN" sz="3200" dirty="0"/>
          </a:p>
          <a:p>
            <a:r>
              <a:rPr lang="en-US" altLang="zh-CN" sz="3200" dirty="0" err="1"/>
              <a:t>scanf</a:t>
            </a:r>
            <a:r>
              <a:rPr lang="en-US" altLang="zh-CN" sz="3200" dirty="0"/>
              <a:t>(“%</a:t>
            </a:r>
            <a:r>
              <a:rPr lang="en-US" altLang="zh-CN" sz="3200" dirty="0" err="1"/>
              <a:t>d”,&amp;a</a:t>
            </a:r>
            <a:r>
              <a:rPr lang="en-US" altLang="zh-CN" sz="3200" dirty="0"/>
              <a:t>);</a:t>
            </a:r>
            <a:endParaRPr lang="en-US" altLang="zh-CN" sz="3200" dirty="0"/>
          </a:p>
          <a:p>
            <a:r>
              <a:rPr lang="en-US" altLang="zh-CN" sz="3200" dirty="0"/>
              <a:t>3</a:t>
            </a:r>
            <a:r>
              <a:rPr lang="zh-CN" altLang="en-US" sz="3200" dirty="0"/>
              <a:t>、打印一下</a:t>
            </a:r>
            <a:endParaRPr lang="en-US" altLang="zh-CN" sz="3200" dirty="0"/>
          </a:p>
          <a:p>
            <a:r>
              <a:rPr lang="en-US" altLang="zh-CN" sz="3200" dirty="0" err="1"/>
              <a:t>printf</a:t>
            </a:r>
            <a:r>
              <a:rPr lang="en-US" altLang="zh-CN" sz="3200" dirty="0"/>
              <a:t>(“%d\</a:t>
            </a:r>
            <a:r>
              <a:rPr lang="en-US" altLang="zh-CN" sz="3200" dirty="0" err="1"/>
              <a:t>n”,a</a:t>
            </a:r>
            <a:r>
              <a:rPr lang="en-US" altLang="zh-CN" sz="3200" dirty="0"/>
              <a:t>)</a:t>
            </a:r>
            <a:endParaRPr lang="zh-CN" altLang="en-US" sz="3200" dirty="0"/>
          </a:p>
        </p:txBody>
      </p:sp>
      <p:sp>
        <p:nvSpPr>
          <p:cNvPr id="6" name="文本框 5"/>
          <p:cNvSpPr txBox="1"/>
          <p:nvPr/>
        </p:nvSpPr>
        <p:spPr>
          <a:xfrm>
            <a:off x="1258225" y="5146380"/>
            <a:ext cx="8373591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zh-CN" altLang="en-US" sz="3600" dirty="0">
              <a:solidFill>
                <a:srgbClr val="FFC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en-US" altLang="zh-CN" dirty="0"/>
              <a:t>C</a:t>
            </a:r>
            <a:r>
              <a:rPr kumimoji="1" lang="zh-CN" altLang="en-US" dirty="0"/>
              <a:t>语言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</a:t>
            </a:r>
            <a:r>
              <a:rPr lang="zh-CN" altLang="en-US" sz="2000" b="1" dirty="0">
                <a:solidFill>
                  <a:schemeClr val="bg1"/>
                </a:solidFill>
              </a:rPr>
              <a:t>新授</a:t>
            </a:r>
            <a:r>
              <a:rPr lang="zh-CN" altLang="en-US" sz="2000" b="1" dirty="0"/>
              <a:t> </a:t>
            </a:r>
            <a:r>
              <a:rPr lang="zh-CN" altLang="en-US" b="1" dirty="0"/>
              <a:t>总结与合作探究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3693071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/>
        </p:nvSpPr>
        <p:spPr>
          <a:xfrm>
            <a:off x="889487" y="953926"/>
            <a:ext cx="6039215" cy="471698"/>
          </a:xfrm>
          <a:prstGeom prst="rect">
            <a:avLst/>
          </a:prstGeom>
        </p:spPr>
        <p:txBody>
          <a:bodyPr/>
          <a:lstStyle>
            <a:lvl1pPr algn="l" defTabSz="964565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640" kern="1200">
                <a:solidFill>
                  <a:schemeClr val="tx1"/>
                </a:solidFill>
                <a:latin typeface="印品黑体" panose="00000500000000000000" pitchFamily="2" charset="-122"/>
                <a:ea typeface="+mj-ea"/>
                <a:cs typeface="+mj-cs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zh-CN" altLang="en-US" sz="2400" dirty="0"/>
              <a:t>四</a:t>
            </a:r>
            <a:r>
              <a:rPr lang="zh-CN" altLang="zh-CN" sz="2400" dirty="0"/>
              <a:t>、</a:t>
            </a:r>
            <a:r>
              <a:rPr lang="en-US" altLang="zh-CN" sz="2400" dirty="0" err="1"/>
              <a:t>scanf</a:t>
            </a:r>
            <a:r>
              <a:rPr lang="en-US" altLang="zh-CN" sz="2400" dirty="0"/>
              <a:t> </a:t>
            </a:r>
            <a:r>
              <a:rPr lang="zh-CN" altLang="en-US" sz="2400" dirty="0"/>
              <a:t>代码实现</a:t>
            </a:r>
            <a:endParaRPr lang="zh-CN" altLang="zh-CN" sz="2400" dirty="0"/>
          </a:p>
        </p:txBody>
      </p:sp>
      <p:sp>
        <p:nvSpPr>
          <p:cNvPr id="2" name="文本框 1"/>
          <p:cNvSpPr txBox="1"/>
          <p:nvPr/>
        </p:nvSpPr>
        <p:spPr>
          <a:xfrm>
            <a:off x="1378826" y="1600388"/>
            <a:ext cx="10369152" cy="4030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3200" dirty="0"/>
              <a:t>键盘录入的基本使用</a:t>
            </a:r>
            <a:endParaRPr lang="en-US" altLang="zh-CN" sz="3200" dirty="0"/>
          </a:p>
          <a:p>
            <a:r>
              <a:rPr lang="en-US" altLang="zh-CN" sz="3200" dirty="0"/>
              <a:t>1</a:t>
            </a:r>
            <a:r>
              <a:rPr lang="zh-CN" altLang="en-US" sz="3200" dirty="0"/>
              <a:t>、定义一个变量用户接收数据</a:t>
            </a:r>
            <a:endParaRPr lang="en-US" altLang="zh-CN" sz="3200" dirty="0"/>
          </a:p>
          <a:p>
            <a:r>
              <a:rPr lang="en-US" altLang="zh-CN" sz="3200" dirty="0"/>
              <a:t>int  a</a:t>
            </a:r>
            <a:r>
              <a:rPr lang="zh-CN" altLang="en-US" sz="3200" dirty="0"/>
              <a:t>；</a:t>
            </a:r>
            <a:endParaRPr lang="en-US" altLang="zh-CN" sz="3200" dirty="0"/>
          </a:p>
          <a:p>
            <a:r>
              <a:rPr lang="en-US" altLang="zh-CN" sz="3200" dirty="0"/>
              <a:t>2</a:t>
            </a:r>
            <a:r>
              <a:rPr lang="zh-CN" altLang="en-US" sz="3200" dirty="0"/>
              <a:t>、键盘录入</a:t>
            </a:r>
            <a:endParaRPr lang="en-US" altLang="zh-CN" sz="3200" dirty="0"/>
          </a:p>
          <a:p>
            <a:r>
              <a:rPr lang="en-US" altLang="zh-CN" sz="3200" dirty="0" err="1"/>
              <a:t>printf</a:t>
            </a:r>
            <a:r>
              <a:rPr lang="en-US" altLang="zh-CN" sz="3200" dirty="0"/>
              <a:t>(“</a:t>
            </a:r>
            <a:r>
              <a:rPr lang="zh-CN" altLang="en-US" sz="3200" dirty="0"/>
              <a:t>请输入一个整数</a:t>
            </a:r>
            <a:r>
              <a:rPr lang="en-US" altLang="zh-CN" sz="3200" dirty="0"/>
              <a:t>”);</a:t>
            </a:r>
            <a:endParaRPr lang="en-US" altLang="zh-CN" sz="3200" dirty="0"/>
          </a:p>
          <a:p>
            <a:r>
              <a:rPr lang="en-US" altLang="zh-CN" sz="3200" dirty="0" err="1"/>
              <a:t>scanf</a:t>
            </a:r>
            <a:r>
              <a:rPr lang="en-US" altLang="zh-CN" sz="3200" dirty="0"/>
              <a:t>(“%</a:t>
            </a:r>
            <a:r>
              <a:rPr lang="en-US" altLang="zh-CN" sz="3200" dirty="0" err="1"/>
              <a:t>d”,&amp;a</a:t>
            </a:r>
            <a:r>
              <a:rPr lang="en-US" altLang="zh-CN" sz="3200" dirty="0"/>
              <a:t>);</a:t>
            </a:r>
            <a:endParaRPr lang="en-US" altLang="zh-CN" sz="3200" dirty="0"/>
          </a:p>
          <a:p>
            <a:r>
              <a:rPr lang="en-US" altLang="zh-CN" sz="3200" dirty="0"/>
              <a:t>3</a:t>
            </a:r>
            <a:r>
              <a:rPr lang="zh-CN" altLang="en-US" sz="3200" dirty="0"/>
              <a:t>、打印一下</a:t>
            </a:r>
            <a:endParaRPr lang="en-US" altLang="zh-CN" sz="3200" dirty="0"/>
          </a:p>
          <a:p>
            <a:r>
              <a:rPr lang="en-US" altLang="zh-CN" sz="3200" dirty="0" err="1"/>
              <a:t>printf</a:t>
            </a:r>
            <a:r>
              <a:rPr lang="en-US" altLang="zh-CN" sz="3200" dirty="0"/>
              <a:t>(“%d\</a:t>
            </a:r>
            <a:r>
              <a:rPr lang="en-US" altLang="zh-CN" sz="3200" dirty="0" err="1"/>
              <a:t>n”,a</a:t>
            </a:r>
            <a:r>
              <a:rPr lang="en-US" altLang="zh-CN" sz="3200" dirty="0"/>
              <a:t>)</a:t>
            </a:r>
            <a:endParaRPr lang="zh-CN" altLang="en-US" sz="32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50730" y="159941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总结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</a:t>
            </a:r>
            <a:r>
              <a:rPr lang="zh-CN" altLang="en-US" sz="2000" b="1" dirty="0">
                <a:solidFill>
                  <a:schemeClr val="bg1"/>
                </a:solidFill>
              </a:rPr>
              <a:t>总结与合作探究</a:t>
            </a:r>
            <a:r>
              <a:rPr lang="zh-CN" altLang="en-US" b="1" dirty="0"/>
              <a:t>  作业  限时检测</a:t>
            </a:r>
            <a:endParaRPr lang="zh-CN" altLang="en-US" b="1" dirty="0"/>
          </a:p>
        </p:txBody>
      </p:sp>
      <p:sp>
        <p:nvSpPr>
          <p:cNvPr id="10" name="箭头: 上 9"/>
          <p:cNvSpPr/>
          <p:nvPr/>
        </p:nvSpPr>
        <p:spPr>
          <a:xfrm>
            <a:off x="4845199" y="6553641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40943" y="1240061"/>
            <a:ext cx="7992888" cy="2831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dirty="0"/>
              <a:t>1</a:t>
            </a:r>
            <a:r>
              <a:rPr lang="zh-CN" altLang="en-US" sz="4000" dirty="0"/>
              <a:t>、什么是标识符</a:t>
            </a:r>
            <a:endParaRPr lang="en-US" altLang="zh-CN" sz="4000" dirty="0"/>
          </a:p>
          <a:p>
            <a:endParaRPr lang="en-US" altLang="zh-CN" sz="4000" dirty="0"/>
          </a:p>
          <a:p>
            <a:r>
              <a:rPr lang="en-US" altLang="zh-CN" sz="4000" dirty="0"/>
              <a:t>2</a:t>
            </a:r>
            <a:r>
              <a:rPr lang="zh-CN" altLang="en-US" sz="4000" dirty="0"/>
              <a:t>、标识符命名规则</a:t>
            </a:r>
            <a:endParaRPr lang="en-US" altLang="zh-CN" sz="4000" dirty="0"/>
          </a:p>
          <a:p>
            <a:endParaRPr lang="en-US" altLang="zh-CN" sz="4000" dirty="0"/>
          </a:p>
          <a:p>
            <a:endParaRPr lang="zh-CN" altLang="en-US" dirty="0"/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05039" y="3300756"/>
            <a:ext cx="4638675" cy="291465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8373591" y="2464197"/>
            <a:ext cx="31683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000" dirty="0"/>
              <a:t>3</a:t>
            </a:r>
            <a:r>
              <a:rPr lang="zh-CN" altLang="en-US" sz="4000" dirty="0"/>
              <a:t>、</a:t>
            </a:r>
            <a:r>
              <a:rPr lang="en-US" altLang="zh-CN" sz="4000" dirty="0" err="1"/>
              <a:t>scanf</a:t>
            </a:r>
            <a:r>
              <a:rPr lang="zh-CN" altLang="en-US" sz="4000" dirty="0"/>
              <a:t>使用</a:t>
            </a:r>
            <a:endParaRPr lang="en-US" altLang="zh-CN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作业</a:t>
            </a:r>
            <a:endParaRPr kumimoji="1"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2" name="矩形 1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0" y="6826660"/>
            <a:ext cx="8373591" cy="4276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</a:t>
            </a:r>
            <a:r>
              <a:rPr lang="zh-CN" altLang="en-US" sz="2000" b="1" dirty="0">
                <a:solidFill>
                  <a:schemeClr val="bg1"/>
                </a:solidFill>
              </a:rPr>
              <a:t>作业</a:t>
            </a:r>
            <a:r>
              <a:rPr lang="zh-CN" altLang="en-US" b="1" dirty="0"/>
              <a:t>  限时检测</a:t>
            </a:r>
            <a:endParaRPr lang="zh-CN" altLang="en-US" b="1" dirty="0"/>
          </a:p>
        </p:txBody>
      </p:sp>
      <p:sp>
        <p:nvSpPr>
          <p:cNvPr id="9" name="箭头: 上 8"/>
          <p:cNvSpPr/>
          <p:nvPr/>
        </p:nvSpPr>
        <p:spPr>
          <a:xfrm>
            <a:off x="5925319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144899" y="2176165"/>
            <a:ext cx="7776864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背诵标识符的含义及命名规则</a:t>
            </a:r>
            <a:endParaRPr lang="zh-CN" altLang="en-US" sz="4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/>
        </p:nvSpPr>
        <p:spPr>
          <a:xfrm>
            <a:off x="710881" y="1646134"/>
            <a:ext cx="10749598" cy="4462058"/>
          </a:xfrm>
          <a:prstGeom prst="rect">
            <a:avLst/>
          </a:prstGeom>
        </p:spPr>
        <p:txBody>
          <a:bodyPr/>
          <a:lstStyle>
            <a:lvl1pPr marL="360045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1pPr>
            <a:lvl2pPr marL="719455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/>
                </a:solidFill>
                <a:latin typeface="Alibaba PuHuiTi R" pitchFamily="18" charset="-122"/>
                <a:ea typeface="Alibaba PuHuiTi R" pitchFamily="18" charset="-122"/>
                <a:cs typeface="Alibaba PuHuiTi R" pitchFamily="18" charset="-122"/>
              </a:defRPr>
            </a:lvl2pPr>
            <a:lvl3pPr marL="1079500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lang="zh-CN" altLang="en-US" sz="1400" b="0" i="0" kern="1200" dirty="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altLang="zh-CN" dirty="0"/>
          </a:p>
        </p:txBody>
      </p:sp>
      <p:sp>
        <p:nvSpPr>
          <p:cNvPr id="3" name="标题 2"/>
          <p:cNvSpPr>
            <a:spLocks noGrp="1"/>
          </p:cNvSpPr>
          <p:nvPr/>
        </p:nvSpPr>
        <p:spPr>
          <a:xfrm>
            <a:off x="883823" y="201777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lang="zh-CN" altLang="en-US" sz="2400" b="1" i="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Alibaba PuHuiTi B" pitchFamily="18" charset="-122"/>
                <a:ea typeface="Alibaba PuHuiTi B" pitchFamily="18" charset="-122"/>
                <a:cs typeface="Alibaba PuHuiTi B" pitchFamily="18" charset="-122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5pPr>
            <a:lvl6pPr marL="6096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6pPr>
            <a:lvl7pPr marL="12192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7pPr>
            <a:lvl8pPr marL="18288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8pPr>
            <a:lvl9pPr marL="2438400" algn="l" rtl="0" fontAlgn="base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</a:defRPr>
            </a:lvl9pPr>
          </a:lstStyle>
          <a:p>
            <a:r>
              <a:rPr kumimoji="1" lang="zh-CN" altLang="en-US" dirty="0"/>
              <a:t>限时检测</a:t>
            </a:r>
            <a:endParaRPr kumimoji="1" lang="zh-CN" altLang="en-US" dirty="0"/>
          </a:p>
        </p:txBody>
      </p:sp>
      <p:sp>
        <p:nvSpPr>
          <p:cNvPr id="4" name="文本占位符 3"/>
          <p:cNvSpPr>
            <a:spLocks noGrp="1"/>
          </p:cNvSpPr>
          <p:nvPr/>
        </p:nvSpPr>
        <p:spPr>
          <a:xfrm>
            <a:off x="884869" y="855626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pitchFamily="18" charset="-122"/>
                <a:ea typeface="阿里巴巴普惠体" panose="00020600040101010101" pitchFamily="18" charset="-122"/>
                <a:cs typeface="阿里巴巴普惠体" panose="00020600040101010101" pitchFamily="18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charset="-122"/>
                <a:ea typeface="黑体" panose="02010609060101010101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kumimoji="1" lang="zh-CN" altLang="en-US" dirty="0">
              <a:solidFill>
                <a:srgbClr val="FF0000"/>
              </a:solidFill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2193" y="6784677"/>
            <a:ext cx="2131747" cy="432048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0" y="6856685"/>
            <a:ext cx="10712193" cy="375965"/>
          </a:xfrm>
          <a:prstGeom prst="rect">
            <a:avLst/>
          </a:prstGeom>
          <a:solidFill>
            <a:srgbClr val="066197"/>
          </a:solidFill>
          <a:ln>
            <a:solidFill>
              <a:srgbClr val="06619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0" y="6826660"/>
            <a:ext cx="8373591" cy="4339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900"/>
              </a:lnSpc>
            </a:pPr>
            <a:r>
              <a:rPr lang="zh-CN" altLang="en-US" b="1" dirty="0"/>
              <a:t>知识回顾 新课导入  目标及重难点  新授 总结与合作探究  作业  </a:t>
            </a:r>
            <a:r>
              <a:rPr lang="zh-CN" altLang="en-US" sz="2000" b="1" dirty="0">
                <a:solidFill>
                  <a:srgbClr val="FFFFFF"/>
                </a:solidFill>
              </a:rPr>
              <a:t>限时检测</a:t>
            </a:r>
            <a:endParaRPr lang="zh-CN" altLang="en-US" sz="2000" b="1" dirty="0">
              <a:solidFill>
                <a:srgbClr val="FFFFFF"/>
              </a:solidFill>
            </a:endParaRPr>
          </a:p>
        </p:txBody>
      </p:sp>
      <p:sp>
        <p:nvSpPr>
          <p:cNvPr id="2" name="箭头: 上 1"/>
          <p:cNvSpPr/>
          <p:nvPr/>
        </p:nvSpPr>
        <p:spPr>
          <a:xfrm>
            <a:off x="6717407" y="6568653"/>
            <a:ext cx="216024" cy="288032"/>
          </a:xfrm>
          <a:prstGeom prst="up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n>
                <a:solidFill>
                  <a:srgbClr val="FFC000"/>
                </a:solidFill>
              </a:ln>
              <a:solidFill>
                <a:srgbClr val="FFC000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892871" y="2248173"/>
            <a:ext cx="881932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000" dirty="0"/>
              <a:t>关键字大写后就不是关键字了。（   ）</a:t>
            </a:r>
            <a:endParaRPr lang="zh-CN" altLang="en-US" sz="40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Click="0" advTm="2000"/>
    </mc:Choice>
    <mc:Fallback>
      <p:transition spd="slow" advClick="0" advTm="2000"/>
    </mc:Fallback>
  </mc:AlternateContent>
</p:sld>
</file>

<file path=ppt/tags/tag1.xml><?xml version="1.0" encoding="utf-8"?>
<p:tagLst xmlns:p="http://schemas.openxmlformats.org/presentationml/2006/main">
  <p:tag name="ISPRING_ULTRA_SCORM_COURSE_ID" val="9E7965BD-BA7C-4284-B303-3DF26FF20985"/>
  <p:tag name="ISPRING_SCORM_RATE_SLIDES" val="1"/>
  <p:tag name="ISPRINGONLINEFOLDERID" val="0"/>
  <p:tag name="ISPRINGONLINEFOLDERPATH" val="Content List"/>
  <p:tag name="ISPRINGCLOUDFOLDERID" val="0"/>
  <p:tag name="ISPRINGCLOUDFOLDERPATH" val="Repository"/>
  <p:tag name="ISPRING_PLAYERS_CUSTOMIZATION" val="UEsDBBQAAgAIAEOUV0cNwDEewAEAANoDAAAPAAAAbm9uZS9wbGF5ZXIueG1spZJPb9QwEMXPW6nfIfK9dpYKUa0cekDKiaJKC4jbyptME1PHDp4Ju/vtmfzZpFuQQOKQaPIy72fPs/X9sXHJT4hog8/EWqYiAV+E0voqE18+5zd34v799ZVunTlBTGyZCR88iKQELKJtiX2PhupMvBAkQ0XCL4+bI9pM1ETtRqnD4SAPtzLESr1J07X69vBxW9TQmBvrkYwvmLvs5VYkbbQhWjpl4l0qrq9WA/ICZ5F7fIXBdf3KKIvQqDYCgieIatz2bN3Q3838NMErOrWAgkdfDbPvTfH8EMrOAfbaSo9tWyDqCYO20rSx6zufYCwyMTbsGkA0FaB0vhJq9Ko/mPWTM1hPHLzA9ty22zuLNYsjfejeLerubBmyVxNHXYJ0M0wwnGLeOZeDoS5CKZIIPzrLVd5jv85HkK7FuJzn7h0+Wy/xULDGVW4KCvH0gR18JFOUco5ejtHLwdTbh+ITF49TnNsFMgezhKBratzbf86j7/6fOEp4Mp0jcV7B+hKOueW/BA2PQsAz9pqk1sl+tTOVd9ftmxdX40Iadzdl8R1FQiZWwNewNGTUos8w9Zqm1fg5JTTHotXv91JPRC5/AVBLAQIAABQAAgAIAEOUV0cNwDEewAEAANoDAAAPAAAAAAAAAAEAAAAAAAAAAABub25lL3BsYXllci54bWxQSwUGAAAAAAEAAQA9AAAA7QEAAAAA"/>
  <p:tag name="ISPRING_OUTPUT_FOLDER" val="C:\Users\Administrator\Desktop"/>
  <p:tag name="ISPRING_UUID" val="{C1A8F295-47DC-48FB-81BD-666766343352}"/>
  <p:tag name="ISPRING_RESOURCE_FOLDER" val="E:\素材\正版图-卖\PPT\0变色龙\0包图网\bt369\ppt\bt369\"/>
  <p:tag name="ISPRING_PRESENTATION_PATH" val="E:\素材\正版图-卖\PPT\0变色龙\0包图网\bt369\ppt\bt369.pptx"/>
  <p:tag name="ISPRING_PROJECT_FOLDER_UPDATED" val="1"/>
  <p:tag name="ISPRING_SCREEN_RECS_UPDATED" val="E:\素材\正版图-卖\PPT\0变色龙\0包图网\bt369\ppt\bt369"/>
  <p:tag name="ISPRING_SCORM_ENDPOINT" val="&lt;endpoint&gt;&lt;enable&gt;0&lt;/enable&gt;&lt;lrs&gt;http://&lt;/lrs&gt;&lt;auth&gt;0&lt;/auth&gt;&lt;login&gt;&lt;/login&gt;&lt;password&gt;&lt;/password&gt;&lt;key&gt;&lt;/key&gt;&lt;name&gt;&lt;/name&gt;&lt;email&gt;&lt;/email&gt;&lt;/endpoint&gt;&#10;"/>
  <p:tag name="ISPRING_PRESENTATION_TITLE" val="bt730"/>
</p:tagLst>
</file>

<file path=ppt/theme/theme1.xml><?xml version="1.0" encoding="utf-8"?>
<a:theme xmlns:a="http://schemas.openxmlformats.org/drawingml/2006/main" name="Office Theme">
  <a:themeElements>
    <a:clrScheme name="自定义 447">
      <a:dk1>
        <a:sysClr val="windowText" lastClr="000000"/>
      </a:dk1>
      <a:lt1>
        <a:sysClr val="window" lastClr="FFFFFF"/>
      </a:lt1>
      <a:dk2>
        <a:srgbClr val="006E67"/>
      </a:dk2>
      <a:lt2>
        <a:srgbClr val="E7E6E6"/>
      </a:lt2>
      <a:accent1>
        <a:srgbClr val="006E67"/>
      </a:accent1>
      <a:accent2>
        <a:srgbClr val="A5A5A5"/>
      </a:accent2>
      <a:accent3>
        <a:srgbClr val="006E67"/>
      </a:accent3>
      <a:accent4>
        <a:srgbClr val="A5A5A5"/>
      </a:accent4>
      <a:accent5>
        <a:srgbClr val="006E67"/>
      </a:accent5>
      <a:accent6>
        <a:srgbClr val="A5A5A5"/>
      </a:accent6>
      <a:hlink>
        <a:srgbClr val="006E67"/>
      </a:hlink>
      <a:folHlink>
        <a:srgbClr val="A5A5A5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1290</Words>
  <Application>WPS 演示</Application>
  <PresentationFormat>自定义</PresentationFormat>
  <Paragraphs>177</Paragraphs>
  <Slides>18</Slides>
  <Notes>13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31" baseType="lpstr">
      <vt:lpstr>Arial</vt:lpstr>
      <vt:lpstr>宋体</vt:lpstr>
      <vt:lpstr>Wingdings</vt:lpstr>
      <vt:lpstr>Calibri</vt:lpstr>
      <vt:lpstr>印品黑体</vt:lpstr>
      <vt:lpstr>黑体</vt:lpstr>
      <vt:lpstr>微软雅黑</vt:lpstr>
      <vt:lpstr>字魂73号-江南手书</vt:lpstr>
      <vt:lpstr>Alibaba PuHuiTi R</vt:lpstr>
      <vt:lpstr>Alibaba PuHuiTi B</vt:lpstr>
      <vt:lpstr>阿里巴巴普惠体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bt730</dc:title>
  <dc:creator/>
  <cp:lastModifiedBy>周磊</cp:lastModifiedBy>
  <cp:revision>658</cp:revision>
  <dcterms:created xsi:type="dcterms:W3CDTF">2024-04-10T13:53:00Z</dcterms:created>
  <dcterms:modified xsi:type="dcterms:W3CDTF">2025-09-10T23:30:02Z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FCA88555D3D44735BAA1F56722F3B997</vt:lpwstr>
  </property>
</Properties>
</file>