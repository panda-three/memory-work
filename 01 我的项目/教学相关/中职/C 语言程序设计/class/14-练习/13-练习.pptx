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9"/>
  </p:handoutMasterIdLst>
  <p:sldIdLst>
    <p:sldId id="3705" r:id="rId3"/>
    <p:sldId id="3706" r:id="rId4"/>
    <p:sldId id="3756" r:id="rId5"/>
    <p:sldId id="3646" r:id="rId6"/>
    <p:sldId id="3760" r:id="rId8"/>
    <p:sldId id="3708" r:id="rId9"/>
    <p:sldId id="3761" r:id="rId10"/>
    <p:sldId id="3758" r:id="rId11"/>
    <p:sldId id="3757" r:id="rId12"/>
    <p:sldId id="3759" r:id="rId13"/>
    <p:sldId id="3762" r:id="rId14"/>
    <p:sldId id="3763" r:id="rId15"/>
    <p:sldId id="3712" r:id="rId16"/>
    <p:sldId id="3700" r:id="rId17"/>
    <p:sldId id="3702" r:id="rId18"/>
  </p:sldIdLst>
  <p:sldSz cx="12858750" cy="723265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BF00"/>
    <a:srgbClr val="1542FF"/>
    <a:srgbClr val="FFFFFF"/>
    <a:srgbClr val="0C6AC7"/>
    <a:srgbClr val="FFC000"/>
    <a:srgbClr val="06619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4615548" y="2337053"/>
            <a:ext cx="3974067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1500" dirty="0" err="1"/>
              <a:t>scanf</a:t>
            </a:r>
            <a:endParaRPr lang="en-US" altLang="zh-CN" sz="1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99" y="548363"/>
            <a:ext cx="6524625" cy="5934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197977"/>
            <a:ext cx="6120680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scanf</a:t>
            </a:r>
            <a:r>
              <a:rPr lang="zh-CN" altLang="en-US" sz="4800" dirty="0"/>
              <a:t>进阶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1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需求</a:t>
            </a:r>
            <a:r>
              <a:rPr lang="en-US" altLang="zh-CN" sz="3600" dirty="0"/>
              <a:t>1</a:t>
            </a:r>
            <a:r>
              <a:rPr lang="zh-CN" altLang="en-US" sz="3600" dirty="0"/>
              <a:t>：键盘录入好朋友的名字，并按照一下格式打印出来</a:t>
            </a:r>
            <a:endParaRPr lang="en-US" altLang="zh-CN" sz="3600" dirty="0"/>
          </a:p>
          <a:p>
            <a:r>
              <a:rPr lang="zh-CN" altLang="en-US" sz="3600" dirty="0"/>
              <a:t>格式：我最好最好朋友的名字为：</a:t>
            </a:r>
            <a:r>
              <a:rPr lang="en-US" altLang="zh-CN" sz="3600" dirty="0"/>
              <a:t>XXX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字符串定义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290291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数据类型  变量名  </a:t>
            </a:r>
            <a:r>
              <a:rPr lang="en-US" altLang="zh-CN" sz="3600" dirty="0"/>
              <a:t>=  </a:t>
            </a:r>
            <a:r>
              <a:rPr lang="zh-CN" altLang="en-US" sz="3600" dirty="0"/>
              <a:t>字符串</a:t>
            </a:r>
            <a:r>
              <a:rPr lang="en-US" altLang="zh-CN" sz="3600" dirty="0"/>
              <a:t>;</a:t>
            </a:r>
            <a:endParaRPr lang="en-US" altLang="zh-CN" sz="3600" dirty="0"/>
          </a:p>
          <a:p>
            <a:r>
              <a:rPr lang="en-US" altLang="zh-CN" sz="3600" dirty="0">
                <a:solidFill>
                  <a:srgbClr val="FF0000"/>
                </a:solidFill>
              </a:rPr>
              <a:t>char             str         =    ‘t’;</a:t>
            </a:r>
            <a:endParaRPr lang="en-US" altLang="zh-CN" sz="3600" dirty="0">
              <a:solidFill>
                <a:srgbClr val="FF0000"/>
              </a:solidFill>
            </a:endParaRPr>
          </a:p>
          <a:p>
            <a:r>
              <a:rPr lang="zh-CN" altLang="en-US" sz="3600" dirty="0">
                <a:solidFill>
                  <a:srgbClr val="FF0000"/>
                </a:solidFill>
              </a:rPr>
              <a:t>如果想输入多个，则</a:t>
            </a:r>
            <a:r>
              <a:rPr lang="en-US" altLang="zh-CN" sz="3600" dirty="0">
                <a:solidFill>
                  <a:srgbClr val="FF0000"/>
                </a:solidFill>
              </a:rPr>
              <a:t>char</a:t>
            </a:r>
            <a:r>
              <a:rPr lang="en-US" altLang="zh-CN" sz="3600" b="1" dirty="0">
                <a:solidFill>
                  <a:srgbClr val="00B050"/>
                </a:solidFill>
              </a:rPr>
              <a:t> </a:t>
            </a:r>
            <a:r>
              <a:rPr lang="en-US" altLang="zh-CN" sz="3600" dirty="0">
                <a:solidFill>
                  <a:srgbClr val="FF0000"/>
                </a:solidFill>
              </a:rPr>
              <a:t>  str</a:t>
            </a:r>
            <a:r>
              <a:rPr lang="en-US" altLang="zh-CN" sz="3600" b="1" dirty="0">
                <a:solidFill>
                  <a:srgbClr val="00B050"/>
                </a:solidFill>
              </a:rPr>
              <a:t> [</a:t>
            </a:r>
            <a:r>
              <a:rPr lang="zh-CN" altLang="en-US" sz="3600" dirty="0">
                <a:solidFill>
                  <a:srgbClr val="FF0000"/>
                </a:solidFill>
              </a:rPr>
              <a:t>内存占用大小</a:t>
            </a:r>
            <a:r>
              <a:rPr lang="en-US" altLang="zh-CN" sz="3600" b="1" dirty="0">
                <a:solidFill>
                  <a:srgbClr val="00B050"/>
                </a:solidFill>
              </a:rPr>
              <a:t>]</a:t>
            </a:r>
            <a:r>
              <a:rPr lang="en-US" altLang="zh-CN" sz="3600" dirty="0">
                <a:solidFill>
                  <a:srgbClr val="FF0000"/>
                </a:solidFill>
              </a:rPr>
              <a:t> =    “</a:t>
            </a:r>
            <a:r>
              <a:rPr lang="en-US" altLang="zh-CN" sz="3600" dirty="0" err="1">
                <a:solidFill>
                  <a:srgbClr val="FF0000"/>
                </a:solidFill>
              </a:rPr>
              <a:t>tttyy</a:t>
            </a:r>
            <a:r>
              <a:rPr lang="en-US" altLang="zh-CN" sz="3600" dirty="0">
                <a:solidFill>
                  <a:srgbClr val="FF0000"/>
                </a:solidFill>
              </a:rPr>
              <a:t>”;</a:t>
            </a:r>
            <a:endParaRPr lang="en-US" altLang="zh-CN" sz="3600" dirty="0">
              <a:solidFill>
                <a:srgbClr val="FF0000"/>
              </a:solidFill>
            </a:endParaRPr>
          </a:p>
          <a:p>
            <a:r>
              <a:rPr lang="zh-CN" altLang="en-US" sz="3600" b="1" dirty="0"/>
              <a:t>内存占用大小的计算方式：</a:t>
            </a:r>
            <a:endParaRPr lang="zh-CN" altLang="en-US" sz="3600" b="1" dirty="0"/>
          </a:p>
          <a:p>
            <a:r>
              <a:rPr lang="zh-CN" altLang="en-US" sz="3600" b="1" dirty="0"/>
              <a:t>		 英文：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个字母占用一个字节 </a:t>
            </a:r>
            <a:r>
              <a:rPr lang="en-US" altLang="zh-CN" sz="3600" b="1" dirty="0"/>
              <a:t>;</a:t>
            </a:r>
            <a:endParaRPr lang="en-US" altLang="zh-CN" sz="3600" b="1" dirty="0"/>
          </a:p>
          <a:p>
            <a:r>
              <a:rPr lang="en-US" altLang="zh-CN" sz="3600" b="1" dirty="0"/>
              <a:t>		 </a:t>
            </a:r>
            <a:r>
              <a:rPr lang="zh-CN" altLang="en-US" sz="3600" b="1" dirty="0"/>
              <a:t>中文：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个中文占用两个字节</a:t>
            </a:r>
            <a:endParaRPr lang="zh-CN" altLang="en-US" sz="3600" b="1" dirty="0"/>
          </a:p>
          <a:p>
            <a:r>
              <a:rPr lang="zh-CN" altLang="en-US" sz="3600" b="1" dirty="0"/>
              <a:t>		 结束标记：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个字节； </a:t>
            </a:r>
            <a:endParaRPr lang="en-US" altLang="zh-CN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1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需求</a:t>
            </a:r>
            <a:r>
              <a:rPr lang="en-US" altLang="zh-CN" sz="3600" dirty="0"/>
              <a:t>1</a:t>
            </a:r>
            <a:r>
              <a:rPr lang="zh-CN" altLang="en-US" sz="3600" dirty="0"/>
              <a:t>：键盘录入好朋友的名字，并按照一下格式打印出来</a:t>
            </a:r>
            <a:endParaRPr lang="en-US" altLang="zh-CN" sz="3600" dirty="0"/>
          </a:p>
          <a:p>
            <a:r>
              <a:rPr lang="zh-CN" altLang="en-US" sz="3600" dirty="0"/>
              <a:t>格式：我最好最好朋友的名字为：</a:t>
            </a:r>
            <a:r>
              <a:rPr lang="en-US" altLang="zh-CN" sz="3600" dirty="0"/>
              <a:t>XXX</a:t>
            </a:r>
            <a:endParaRPr lang="en-US" altLang="zh-CN" sz="3600" dirty="0"/>
          </a:p>
          <a:p>
            <a:endParaRPr lang="en-US" altLang="zh-CN" sz="3600" dirty="0"/>
          </a:p>
          <a:p>
            <a:r>
              <a:rPr lang="zh-CN" altLang="en-US" sz="3600" dirty="0"/>
              <a:t>思路：</a:t>
            </a:r>
            <a:r>
              <a:rPr lang="en-US" altLang="zh-CN" sz="3600" dirty="0"/>
              <a:t>1</a:t>
            </a:r>
            <a:r>
              <a:rPr lang="zh-CN" altLang="en-US" sz="3600" dirty="0"/>
              <a:t>、定义变量记录好朋友的名字</a:t>
            </a:r>
            <a:endParaRPr lang="en-US" altLang="zh-CN" sz="3600" dirty="0"/>
          </a:p>
          <a:p>
            <a:r>
              <a:rPr lang="en-US" altLang="zh-CN" sz="3600" dirty="0"/>
              <a:t>	     2</a:t>
            </a:r>
            <a:r>
              <a:rPr lang="zh-CN" altLang="en-US" sz="3600" dirty="0"/>
              <a:t>、键盘录入好朋友的名字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1-</a:t>
            </a:r>
            <a:r>
              <a:rPr lang="zh-CN" altLang="en-US" sz="2400" dirty="0"/>
              <a:t>代码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char str[100];</a:t>
            </a:r>
            <a:endParaRPr lang="en-US" altLang="zh-CN" sz="3600" dirty="0"/>
          </a:p>
          <a:p>
            <a:r>
              <a:rPr lang="en-US" altLang="zh-CN" sz="3600" dirty="0" err="1"/>
              <a:t>printf</a:t>
            </a:r>
            <a:r>
              <a:rPr lang="en-US" altLang="zh-CN" sz="3600" dirty="0"/>
              <a:t>("</a:t>
            </a:r>
            <a:r>
              <a:rPr lang="zh-CN" altLang="en-US" sz="3600" dirty="0"/>
              <a:t>请输入最好朋友的名字：</a:t>
            </a:r>
            <a:r>
              <a:rPr lang="en-US" altLang="zh-CN" sz="3600" dirty="0"/>
              <a:t>\n"); </a:t>
            </a:r>
            <a:endParaRPr lang="en-US" altLang="zh-CN" sz="3600" dirty="0"/>
          </a:p>
          <a:p>
            <a:r>
              <a:rPr lang="en-US" altLang="zh-CN" sz="3600" dirty="0" err="1"/>
              <a:t>scanf</a:t>
            </a:r>
            <a:r>
              <a:rPr lang="en-US" altLang="zh-CN" sz="3600" dirty="0"/>
              <a:t>("%</a:t>
            </a:r>
            <a:r>
              <a:rPr lang="en-US" altLang="zh-CN" sz="3600" dirty="0" err="1"/>
              <a:t>s",&amp;str</a:t>
            </a:r>
            <a:r>
              <a:rPr lang="en-US" altLang="zh-CN" sz="3600" dirty="0"/>
              <a:t>); </a:t>
            </a:r>
            <a:endParaRPr lang="en-US" altLang="zh-CN" sz="3600" dirty="0"/>
          </a:p>
          <a:p>
            <a:r>
              <a:rPr lang="en-US" altLang="zh-CN" sz="3600" dirty="0" err="1"/>
              <a:t>printf</a:t>
            </a:r>
            <a:r>
              <a:rPr lang="en-US" altLang="zh-CN" sz="3600" dirty="0"/>
              <a:t>("</a:t>
            </a:r>
            <a:r>
              <a:rPr lang="zh-CN" altLang="en-US" sz="3600" dirty="0"/>
              <a:t>我最好最好朋友的名字为：</a:t>
            </a:r>
            <a:r>
              <a:rPr lang="en-US" altLang="zh-CN" sz="3600" dirty="0"/>
              <a:t>%</a:t>
            </a:r>
            <a:r>
              <a:rPr lang="en-US" altLang="zh-CN" sz="3600" dirty="0" err="1"/>
              <a:t>s",str</a:t>
            </a:r>
            <a:r>
              <a:rPr lang="en-US" altLang="zh-CN" sz="3600" dirty="0"/>
              <a:t>);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2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需求</a:t>
            </a:r>
            <a:r>
              <a:rPr lang="en-US" altLang="zh-CN" sz="3600" dirty="0"/>
              <a:t>2</a:t>
            </a:r>
            <a:r>
              <a:rPr lang="zh-CN" altLang="en-US" sz="3600" dirty="0"/>
              <a:t>：键盘录入自己的年龄，并按照以下格式打印出来</a:t>
            </a:r>
            <a:endParaRPr lang="en-US" altLang="zh-CN" sz="3600" dirty="0"/>
          </a:p>
          <a:p>
            <a:r>
              <a:rPr lang="zh-CN" altLang="en-US" sz="3600" dirty="0"/>
              <a:t>格式：我的年龄为：</a:t>
            </a:r>
            <a:r>
              <a:rPr lang="en-US" altLang="zh-CN" sz="3600" dirty="0"/>
              <a:t>XX</a:t>
            </a:r>
            <a:r>
              <a:rPr lang="zh-CN" altLang="en-US" sz="3600" dirty="0"/>
              <a:t>岁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2-</a:t>
            </a:r>
            <a:r>
              <a:rPr lang="zh-CN" altLang="en-US" sz="2400" dirty="0"/>
              <a:t>代码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/>
              <a:t>printf</a:t>
            </a:r>
            <a:r>
              <a:rPr lang="en-US" altLang="zh-CN" sz="5400" dirty="0"/>
              <a:t>("</a:t>
            </a:r>
            <a:r>
              <a:rPr lang="zh-CN" altLang="en-US" sz="5400" dirty="0"/>
              <a:t>请输入年龄：</a:t>
            </a:r>
            <a:r>
              <a:rPr lang="en-US" altLang="zh-CN" sz="5400" dirty="0"/>
              <a:t>\n");</a:t>
            </a:r>
            <a:endParaRPr lang="en-US" altLang="zh-CN" sz="5400" dirty="0"/>
          </a:p>
          <a:p>
            <a:r>
              <a:rPr lang="en-US" altLang="zh-CN" sz="5400" dirty="0"/>
              <a:t>int age;</a:t>
            </a:r>
            <a:endParaRPr lang="en-US" altLang="zh-CN" sz="5400" dirty="0"/>
          </a:p>
          <a:p>
            <a:r>
              <a:rPr lang="en-US" altLang="zh-CN" sz="5400" dirty="0" err="1"/>
              <a:t>scanf</a:t>
            </a:r>
            <a:r>
              <a:rPr lang="en-US" altLang="zh-CN" sz="5400" dirty="0"/>
              <a:t>("%</a:t>
            </a:r>
            <a:r>
              <a:rPr lang="en-US" altLang="zh-CN" sz="5400" dirty="0" err="1"/>
              <a:t>d",&amp;age</a:t>
            </a:r>
            <a:r>
              <a:rPr lang="en-US" altLang="zh-CN" sz="5400" dirty="0"/>
              <a:t>);</a:t>
            </a:r>
            <a:endParaRPr lang="en-US" altLang="zh-CN" sz="5400" dirty="0"/>
          </a:p>
          <a:p>
            <a:r>
              <a:rPr lang="en-US" altLang="zh-CN" sz="5400" dirty="0" err="1"/>
              <a:t>printf</a:t>
            </a:r>
            <a:r>
              <a:rPr lang="en-US" altLang="zh-CN" sz="5400" dirty="0"/>
              <a:t>("</a:t>
            </a:r>
            <a:r>
              <a:rPr lang="zh-CN" altLang="en-US" sz="5400" dirty="0"/>
              <a:t>我的年龄为：</a:t>
            </a:r>
            <a:r>
              <a:rPr lang="en-US" altLang="zh-CN" sz="5400" dirty="0"/>
              <a:t>%</a:t>
            </a:r>
            <a:r>
              <a:rPr lang="en-US" altLang="zh-CN" sz="5400" dirty="0" err="1"/>
              <a:t>d",age</a:t>
            </a:r>
            <a:r>
              <a:rPr lang="en-US" altLang="zh-CN" sz="5400" dirty="0"/>
              <a:t>);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3823" y="886302"/>
            <a:ext cx="105766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定义两个整数类型的变量</a:t>
            </a:r>
            <a:r>
              <a:rPr lang="en-US" altLang="zh-CN" sz="3200" dirty="0"/>
              <a:t>num1</a:t>
            </a:r>
            <a:r>
              <a:rPr lang="zh-CN" altLang="en-US" sz="3200" dirty="0"/>
              <a:t>和</a:t>
            </a:r>
            <a:r>
              <a:rPr lang="en-US" altLang="zh-CN" sz="3200" dirty="0"/>
              <a:t>num2</a:t>
            </a:r>
            <a:r>
              <a:rPr lang="zh-CN" altLang="en-US" sz="3200" dirty="0"/>
              <a:t>，键盘录入数据分别为两个变量赋值。</a:t>
            </a:r>
            <a:endParaRPr lang="en-US" altLang="zh-CN" sz="3200" dirty="0"/>
          </a:p>
          <a:p>
            <a:r>
              <a:rPr lang="zh-CN" altLang="en-US" sz="3200" dirty="0"/>
              <a:t>求两个数的和并进行打印。</a:t>
            </a:r>
            <a:endParaRPr lang="en-US" altLang="zh-CN" sz="3200" dirty="0"/>
          </a:p>
          <a:p>
            <a:r>
              <a:rPr lang="zh-CN" altLang="en-US" sz="3200" dirty="0"/>
              <a:t>（要求：利用已有的知识完成）</a:t>
            </a:r>
            <a:endParaRPr lang="zh-CN" altLang="en-US" sz="3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432" y="2883651"/>
            <a:ext cx="5967989" cy="3814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键盘录入多个数据</a:t>
            </a:r>
            <a:endParaRPr lang="zh-CN" altLang="zh-CN" sz="24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03" y="1422084"/>
            <a:ext cx="8674174" cy="49153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017079" y="2248173"/>
            <a:ext cx="374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%d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%d</a:t>
            </a:r>
            <a:r>
              <a:rPr lang="zh-CN" altLang="en-US" sz="2800" b="1" dirty="0"/>
              <a:t>用空格隔开，</a:t>
            </a:r>
            <a:endParaRPr lang="en-US" altLang="zh-CN" sz="2800" b="1" dirty="0"/>
          </a:p>
          <a:p>
            <a:r>
              <a:rPr lang="zh-CN" altLang="en-US" sz="2800" b="1" dirty="0"/>
              <a:t>还可以用逗号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隔开。</a:t>
            </a:r>
            <a:endParaRPr lang="en-US" altLang="zh-CN" sz="2800" b="1" dirty="0"/>
          </a:p>
          <a:p>
            <a:r>
              <a:rPr lang="zh-CN" altLang="en-US" sz="2800" b="1" dirty="0"/>
              <a:t>⚠️：</a:t>
            </a:r>
            <a:r>
              <a:rPr lang="en-US" altLang="zh-CN" sz="2800" b="1" dirty="0" err="1"/>
              <a:t>scanf</a:t>
            </a:r>
            <a:r>
              <a:rPr lang="zh-CN" altLang="en-US" sz="2800" b="1" dirty="0"/>
              <a:t>的第一个参数里不能写</a:t>
            </a:r>
            <a:r>
              <a:rPr lang="en-US" altLang="zh-CN" sz="2800" b="1" dirty="0"/>
              <a:t>\n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00983" y="1672109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键盘录入多个数据</a:t>
            </a:r>
            <a:r>
              <a:rPr lang="en-US" altLang="zh-CN" sz="3600" dirty="0" err="1"/>
              <a:t>scanf</a:t>
            </a:r>
            <a:r>
              <a:rPr lang="zh-CN" altLang="en-US" sz="3600" dirty="0"/>
              <a:t>如何使用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0741" y="796950"/>
            <a:ext cx="10297144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</a:t>
            </a:r>
            <a:r>
              <a:rPr lang="zh-CN" altLang="en-US" sz="2800" dirty="0"/>
              <a:t>简单计算器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编写一个程序，要求用户输入两个整数，计算并输出它们的和、差、积、商（保留</a:t>
            </a:r>
            <a:r>
              <a:rPr lang="en-US" altLang="zh-CN" sz="2800" dirty="0"/>
              <a:t>2</a:t>
            </a:r>
            <a:r>
              <a:rPr lang="zh-CN" altLang="en-US" sz="2800" dirty="0"/>
              <a:t>位小数）。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示例输出：</a:t>
            </a:r>
            <a:endParaRPr lang="zh-CN" altLang="en-US" sz="2800" dirty="0"/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请输入两个整数：</a:t>
            </a:r>
            <a:r>
              <a:rPr lang="en-US" altLang="zh-CN" sz="2800" dirty="0"/>
              <a:t>10 3</a:t>
            </a:r>
            <a:endParaRPr lang="en-US" altLang="zh-CN" sz="2800" dirty="0"/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和：</a:t>
            </a:r>
            <a:r>
              <a:rPr lang="en-US" altLang="zh-CN" sz="2800" dirty="0"/>
              <a:t>13</a:t>
            </a:r>
            <a:endParaRPr lang="en-US" altLang="zh-CN" sz="2800" dirty="0"/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差：</a:t>
            </a:r>
            <a:r>
              <a:rPr lang="en-US" altLang="zh-CN" sz="2800" dirty="0"/>
              <a:t>7</a:t>
            </a:r>
            <a:endParaRPr lang="en-US" altLang="zh-CN" sz="2800" dirty="0"/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积：</a:t>
            </a:r>
            <a:r>
              <a:rPr lang="en-US" altLang="zh-CN" sz="2800" dirty="0"/>
              <a:t>30</a:t>
            </a:r>
            <a:endParaRPr lang="en-US" altLang="zh-CN" sz="2800" dirty="0"/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商：</a:t>
            </a:r>
            <a:r>
              <a:rPr lang="en-US" altLang="zh-CN" sz="2800" dirty="0"/>
              <a:t>3.33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2831" y="2392189"/>
            <a:ext cx="9927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当使用</a:t>
            </a:r>
            <a:r>
              <a:rPr lang="en-US" altLang="zh-CN" sz="3200" dirty="0" err="1"/>
              <a:t>scanf</a:t>
            </a:r>
            <a:r>
              <a:rPr lang="zh-CN" altLang="en-US" sz="3200" dirty="0"/>
              <a:t>录入多个数据时，必须使用空格隔开（）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1368</Words>
  <Application>WPS 演示</Application>
  <PresentationFormat>自定义</PresentationFormat>
  <Paragraphs>133</Paragraphs>
  <Slides>15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658</cp:revision>
  <dcterms:created xsi:type="dcterms:W3CDTF">2024-04-10T13:53:00Z</dcterms:created>
  <dcterms:modified xsi:type="dcterms:W3CDTF">2025-09-10T23:32:27Z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