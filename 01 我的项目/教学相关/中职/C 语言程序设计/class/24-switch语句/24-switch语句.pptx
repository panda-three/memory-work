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6"/>
  </p:notesMasterIdLst>
  <p:handoutMasterIdLst>
    <p:handoutMasterId r:id="rId23"/>
  </p:handoutMasterIdLst>
  <p:sldIdLst>
    <p:sldId id="3705" r:id="rId3"/>
    <p:sldId id="3706" r:id="rId4"/>
    <p:sldId id="3777" r:id="rId5"/>
    <p:sldId id="3646" r:id="rId7"/>
    <p:sldId id="3708" r:id="rId8"/>
    <p:sldId id="3774" r:id="rId9"/>
    <p:sldId id="3778" r:id="rId10"/>
    <p:sldId id="3779" r:id="rId11"/>
    <p:sldId id="3780" r:id="rId12"/>
    <p:sldId id="3785" r:id="rId13"/>
    <p:sldId id="3781" r:id="rId14"/>
    <p:sldId id="3782" r:id="rId15"/>
    <p:sldId id="3783" r:id="rId16"/>
    <p:sldId id="3784" r:id="rId17"/>
    <p:sldId id="3786" r:id="rId18"/>
    <p:sldId id="3787" r:id="rId19"/>
    <p:sldId id="3712" r:id="rId20"/>
    <p:sldId id="3700" r:id="rId21"/>
    <p:sldId id="3702" r:id="rId22"/>
  </p:sldIdLst>
  <p:sldSz cx="12858750" cy="7232650"/>
  <p:notesSz cx="6858000" cy="9144000"/>
  <p:custDataLst>
    <p:tags r:id="rId2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52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FFBF00"/>
    <a:srgbClr val="1542FF"/>
    <a:srgbClr val="0C6AC7"/>
    <a:srgbClr val="FFC000"/>
    <a:srgbClr val="066197"/>
    <a:srgbClr val="262626"/>
    <a:srgbClr val="0767A3"/>
    <a:srgbClr val="535353"/>
    <a:srgbClr val="0218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88" d="100"/>
          <a:sy n="88" d="100"/>
        </p:scale>
        <p:origin x="653" y="53"/>
      </p:cViewPr>
      <p:guideLst>
        <p:guide orient="horz" pos="218"/>
        <p:guide orient="horz" pos="4152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gs" Target="tags/tag1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8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7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2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Switch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  <a:endParaRPr lang="zh-CN" altLang="en-US" b="1" dirty="0"/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3909095" y="2121309"/>
            <a:ext cx="4831350" cy="1728192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1500" dirty="0"/>
              <a:t>if</a:t>
            </a:r>
            <a:r>
              <a:rPr lang="zh-CN" altLang="en-US" sz="11500" dirty="0"/>
              <a:t>语句</a:t>
            </a:r>
            <a:endParaRPr lang="en-US" altLang="zh-CN" sz="1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8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  </a:t>
            </a:r>
            <a:r>
              <a:rPr lang="zh-CN" altLang="en-US" b="1" dirty="0"/>
              <a:t>目标及重难点  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1460823" y="6548968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导入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分支结构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分类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1388815" y="1888133"/>
            <a:ext cx="2448272" cy="792088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411232" y="1991041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</a:rPr>
              <a:t>if</a:t>
            </a:r>
            <a:r>
              <a:rPr lang="zh-CN" altLang="en-US" sz="3200" b="1" dirty="0">
                <a:solidFill>
                  <a:schemeClr val="bg1"/>
                </a:solidFill>
              </a:rPr>
              <a:t>语句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1382439" y="3506519"/>
            <a:ext cx="2448272" cy="792088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676847" y="3640953"/>
            <a:ext cx="237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Switch</a:t>
            </a:r>
            <a:r>
              <a:rPr lang="zh-CN" altLang="en-US" sz="2800" b="1" dirty="0">
                <a:solidFill>
                  <a:schemeClr val="bg1"/>
                </a:solidFill>
              </a:rPr>
              <a:t>语句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13963" y="1963066"/>
            <a:ext cx="6336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作用：用来表示判断的</a:t>
            </a:r>
            <a:endParaRPr lang="zh-CN" altLang="en-US" sz="3600" dirty="0"/>
          </a:p>
        </p:txBody>
      </p:sp>
      <p:sp>
        <p:nvSpPr>
          <p:cNvPr id="12" name="文本框 11"/>
          <p:cNvSpPr txBox="1"/>
          <p:nvPr/>
        </p:nvSpPr>
        <p:spPr>
          <a:xfrm>
            <a:off x="4513963" y="3601994"/>
            <a:ext cx="6336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作用：用来进行</a:t>
            </a:r>
            <a:r>
              <a:rPr lang="zh-CN" altLang="en-US" sz="3600" b="1" dirty="0">
                <a:solidFill>
                  <a:srgbClr val="FF0000"/>
                </a:solidFill>
              </a:rPr>
              <a:t>选择</a:t>
            </a:r>
            <a:r>
              <a:rPr lang="zh-CN" altLang="en-US" sz="3600" dirty="0"/>
              <a:t>的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062E-6 1.65935E-6 L 0.00049 -0.15035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" y="-7529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062E-6 1.65935E-6 L -0.00828 -0.15035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0" y="-7529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9259E-6 -1.21159E-6 L -0.00222 -0.14333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1" y="-71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6" grpId="0" animBg="1"/>
      <p:bldP spid="7" grpId="0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837087" y="1501964"/>
            <a:ext cx="6120680" cy="37226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4800" dirty="0">
                <a:solidFill>
                  <a:schemeClr val="tx1"/>
                </a:solidFill>
              </a:rPr>
              <a:t>Switch</a:t>
            </a:r>
            <a:r>
              <a:rPr lang="zh-CN" altLang="en-US" sz="4800" dirty="0">
                <a:solidFill>
                  <a:schemeClr val="tx1"/>
                </a:solidFill>
              </a:rPr>
              <a:t>语句</a:t>
            </a:r>
            <a:endParaRPr lang="en-US" altLang="zh-CN" sz="48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>
                <a:solidFill>
                  <a:schemeClr val="tx1"/>
                </a:solidFill>
              </a:rPr>
              <a:t>细节</a:t>
            </a:r>
            <a:endParaRPr lang="en-US" altLang="zh-CN" sz="4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en-US" altLang="zh-CN" sz="2400" b="1" dirty="0">
                <a:solidFill>
                  <a:srgbClr val="FF0000"/>
                </a:solidFill>
              </a:rPr>
              <a:t>switch</a:t>
            </a:r>
            <a:r>
              <a:rPr lang="zh-CN" altLang="en-US" sz="2400" b="1" dirty="0">
                <a:solidFill>
                  <a:srgbClr val="FF0000"/>
                </a:solidFill>
              </a:rPr>
              <a:t>语句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702419"/>
            <a:ext cx="12172950" cy="2686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一</a:t>
            </a:r>
            <a:r>
              <a:rPr lang="zh-CN" altLang="zh-CN" sz="2400" dirty="0"/>
              <a:t>、</a:t>
            </a:r>
            <a:r>
              <a:rPr lang="en-US" altLang="zh-CN" sz="2400" b="1" dirty="0">
                <a:solidFill>
                  <a:srgbClr val="FF0000"/>
                </a:solidFill>
              </a:rPr>
              <a:t>switch</a:t>
            </a:r>
            <a:r>
              <a:rPr lang="zh-CN" altLang="en-US" sz="2400" b="1" dirty="0">
                <a:solidFill>
                  <a:srgbClr val="FF0000"/>
                </a:solidFill>
              </a:rPr>
              <a:t>语句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3711" y="303957"/>
            <a:ext cx="3228975" cy="49149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89" y="2847587"/>
            <a:ext cx="8771022" cy="297257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613" y="1925153"/>
            <a:ext cx="8266966" cy="924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一</a:t>
            </a:r>
            <a:r>
              <a:rPr lang="zh-CN" altLang="zh-CN" sz="2400" dirty="0"/>
              <a:t>、</a:t>
            </a:r>
            <a:r>
              <a:rPr lang="en-US" altLang="zh-CN" sz="2400" b="1" dirty="0">
                <a:solidFill>
                  <a:srgbClr val="FF0000"/>
                </a:solidFill>
              </a:rPr>
              <a:t>switch</a:t>
            </a:r>
            <a:r>
              <a:rPr lang="zh-CN" altLang="en-US" sz="2400" b="1" dirty="0">
                <a:solidFill>
                  <a:srgbClr val="FF0000"/>
                </a:solidFill>
              </a:rPr>
              <a:t>语句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879" y="1509306"/>
            <a:ext cx="3233789" cy="476941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295" y="2117170"/>
            <a:ext cx="6175598" cy="25209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730" y="1354071"/>
            <a:ext cx="4207938" cy="5358598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en-US" altLang="zh-CN" sz="2400" b="1" dirty="0">
                <a:solidFill>
                  <a:srgbClr val="FF0000"/>
                </a:solidFill>
              </a:rPr>
              <a:t>switch</a:t>
            </a:r>
            <a:r>
              <a:rPr lang="zh-CN" altLang="en-US" sz="2400" b="1" dirty="0">
                <a:solidFill>
                  <a:srgbClr val="FF0000"/>
                </a:solidFill>
              </a:rPr>
              <a:t>语句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格式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231" y="1848484"/>
            <a:ext cx="7590752" cy="349603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227" y="473137"/>
            <a:ext cx="2229181" cy="166991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8049" y="2044100"/>
            <a:ext cx="6188546" cy="157222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697" y="3548112"/>
            <a:ext cx="3740274" cy="2590919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4986" y="3519198"/>
            <a:ext cx="4081609" cy="2716872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7160" y="1960140"/>
            <a:ext cx="1617613" cy="3528383"/>
          </a:xfrm>
          <a:prstGeom prst="rect">
            <a:avLst/>
          </a:prstGeom>
        </p:spPr>
      </p:pic>
      <p:cxnSp>
        <p:nvCxnSpPr>
          <p:cNvPr id="25" name="直接连接符 24"/>
          <p:cNvCxnSpPr/>
          <p:nvPr/>
        </p:nvCxnSpPr>
        <p:spPr>
          <a:xfrm>
            <a:off x="10101783" y="2176165"/>
            <a:ext cx="187220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9908443" y="5272509"/>
            <a:ext cx="206554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1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1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1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en-US" altLang="zh-CN" sz="2400" b="1" dirty="0">
                <a:solidFill>
                  <a:srgbClr val="FF0000"/>
                </a:solidFill>
              </a:rPr>
              <a:t>switch</a:t>
            </a:r>
            <a:r>
              <a:rPr lang="zh-CN" altLang="en-US" sz="2400" b="1" dirty="0">
                <a:solidFill>
                  <a:srgbClr val="FF0000"/>
                </a:solidFill>
              </a:rPr>
              <a:t>语句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612" y="1388309"/>
            <a:ext cx="10712194" cy="5165332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3" y="591989"/>
            <a:ext cx="2778643" cy="2664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en-US" altLang="zh-CN" sz="2400" b="1" dirty="0">
                <a:solidFill>
                  <a:srgbClr val="FF0000"/>
                </a:solidFill>
              </a:rPr>
              <a:t>switch</a:t>
            </a:r>
            <a:r>
              <a:rPr lang="zh-CN" altLang="en-US" sz="2400" b="1" dirty="0">
                <a:solidFill>
                  <a:srgbClr val="FF0000"/>
                </a:solidFill>
              </a:rPr>
              <a:t>语句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1881" y="639779"/>
            <a:ext cx="3314987" cy="59288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en-US" altLang="zh-CN" sz="2400" b="1" dirty="0">
                <a:solidFill>
                  <a:srgbClr val="FF0000"/>
                </a:solidFill>
              </a:rPr>
              <a:t>switch</a:t>
            </a:r>
            <a:r>
              <a:rPr lang="zh-CN" altLang="en-US" sz="2400" b="1" dirty="0">
                <a:solidFill>
                  <a:srgbClr val="FF0000"/>
                </a:solidFill>
              </a:rPr>
              <a:t>语句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细节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854" y="1722703"/>
            <a:ext cx="9067428" cy="440925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20" y="1293822"/>
            <a:ext cx="3414142" cy="5490855"/>
          </a:xfrm>
          <a:prstGeom prst="rect">
            <a:avLst/>
          </a:prstGeom>
        </p:spPr>
      </p:pic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en-US" altLang="zh-CN" sz="2400" b="1" dirty="0">
                <a:solidFill>
                  <a:srgbClr val="FF0000"/>
                </a:solidFill>
              </a:rPr>
              <a:t>switch</a:t>
            </a:r>
            <a:r>
              <a:rPr lang="zh-CN" altLang="en-US" sz="2400" b="1" dirty="0">
                <a:solidFill>
                  <a:srgbClr val="FF0000"/>
                </a:solidFill>
              </a:rPr>
              <a:t>语句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细节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616" y="1683631"/>
            <a:ext cx="8016361" cy="296511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189015" y="2817738"/>
            <a:ext cx="78112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default</a:t>
            </a:r>
            <a:r>
              <a:rPr lang="zh-CN" altLang="en-US" sz="3200" b="1" dirty="0"/>
              <a:t>可以写在任意位置，甚至可以省略</a:t>
            </a:r>
            <a:endParaRPr lang="zh-CN" altLang="en-US" sz="32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3189015" y="4626319"/>
            <a:ext cx="88569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Switch</a:t>
            </a:r>
            <a:r>
              <a:rPr lang="zh-CN" altLang="en-US" sz="3200" b="1" dirty="0"/>
              <a:t>：有限个</a:t>
            </a:r>
            <a:r>
              <a:rPr lang="en-US" altLang="zh-CN" sz="3200" b="1" dirty="0"/>
              <a:t>case</a:t>
            </a:r>
            <a:r>
              <a:rPr lang="zh-CN" altLang="en-US" sz="3200" b="1" dirty="0"/>
              <a:t>进行匹配的情况，</a:t>
            </a:r>
            <a:r>
              <a:rPr lang="en-US" altLang="zh-CN" sz="3200" b="1" dirty="0"/>
              <a:t>10</a:t>
            </a:r>
            <a:r>
              <a:rPr lang="zh-CN" altLang="en-US" sz="3200" b="1" dirty="0"/>
              <a:t>个左右</a:t>
            </a:r>
            <a:endParaRPr lang="en-US" altLang="zh-CN" sz="3200" b="1" dirty="0"/>
          </a:p>
          <a:p>
            <a:r>
              <a:rPr lang="en-US" altLang="zh-CN" sz="3200" b="1" dirty="0"/>
              <a:t>if</a:t>
            </a:r>
            <a:r>
              <a:rPr lang="zh-CN" altLang="en-US" sz="3200" b="1" dirty="0"/>
              <a:t>：一般对一个范围进行判断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en-US" altLang="zh-CN" sz="2400" b="1" dirty="0">
                <a:solidFill>
                  <a:srgbClr val="FF0000"/>
                </a:solidFill>
              </a:rPr>
              <a:t>switch</a:t>
            </a:r>
            <a:r>
              <a:rPr lang="zh-CN" altLang="en-US" sz="2400" b="1" dirty="0">
                <a:solidFill>
                  <a:srgbClr val="FF0000"/>
                </a:solidFill>
              </a:rPr>
              <a:t>语句</a:t>
            </a:r>
            <a:r>
              <a:rPr lang="en-US" altLang="zh-CN" sz="2400" b="1" dirty="0">
                <a:solidFill>
                  <a:srgbClr val="FF0000"/>
                </a:solidFill>
              </a:rPr>
              <a:t>-case</a:t>
            </a:r>
            <a:r>
              <a:rPr lang="zh-CN" altLang="en-US" sz="2400" b="1" dirty="0">
                <a:solidFill>
                  <a:srgbClr val="FF0000"/>
                </a:solidFill>
              </a:rPr>
              <a:t>穿透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0743" y="1654178"/>
            <a:ext cx="1180931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Case</a:t>
            </a:r>
            <a:r>
              <a:rPr lang="zh-CN" altLang="en-US" sz="2800" dirty="0"/>
              <a:t>穿透规则：</a:t>
            </a:r>
            <a:endParaRPr lang="en-US" altLang="zh-CN" sz="2800" dirty="0"/>
          </a:p>
          <a:p>
            <a:r>
              <a:rPr lang="en-US" altLang="zh-CN" sz="2800" dirty="0"/>
              <a:t>	1</a:t>
            </a:r>
            <a:r>
              <a:rPr lang="zh-CN" altLang="en-US" sz="2800" dirty="0"/>
              <a:t>、根据小括号中的表达式结果去匹配对应的</a:t>
            </a:r>
            <a:r>
              <a:rPr lang="en-US" altLang="zh-CN" sz="2800" dirty="0"/>
              <a:t>case</a:t>
            </a:r>
            <a:endParaRPr lang="en-US" altLang="zh-CN" sz="2800" dirty="0"/>
          </a:p>
          <a:p>
            <a:r>
              <a:rPr lang="en-US" altLang="zh-CN" sz="2800" dirty="0"/>
              <a:t>	2</a:t>
            </a:r>
            <a:r>
              <a:rPr lang="zh-CN" altLang="en-US" sz="2800" dirty="0"/>
              <a:t>、执行对应</a:t>
            </a:r>
            <a:r>
              <a:rPr lang="en-US" altLang="zh-CN" sz="2800" dirty="0"/>
              <a:t>case</a:t>
            </a:r>
            <a:r>
              <a:rPr lang="zh-CN" altLang="en-US" sz="2800" dirty="0"/>
              <a:t>里面的代码</a:t>
            </a:r>
            <a:endParaRPr lang="en-US" altLang="zh-CN" sz="2800" dirty="0"/>
          </a:p>
          <a:p>
            <a:r>
              <a:rPr lang="en-US" altLang="zh-CN" sz="2800" dirty="0"/>
              <a:t>	3</a:t>
            </a:r>
            <a:r>
              <a:rPr lang="zh-CN" altLang="en-US" sz="2800" dirty="0"/>
              <a:t>、如果在执行过程中，遇到</a:t>
            </a:r>
            <a:r>
              <a:rPr lang="en-US" altLang="zh-CN" sz="2800" dirty="0"/>
              <a:t>break</a:t>
            </a:r>
            <a:r>
              <a:rPr lang="zh-CN" altLang="en-US" sz="2800" dirty="0"/>
              <a:t>，那么直接结束整个</a:t>
            </a:r>
            <a:r>
              <a:rPr lang="en-US" altLang="zh-CN" sz="2800" dirty="0"/>
              <a:t>switch</a:t>
            </a:r>
            <a:r>
              <a:rPr lang="zh-CN" altLang="en-US" sz="2800" dirty="0"/>
              <a:t>，</a:t>
            </a:r>
            <a:endParaRPr lang="en-US" altLang="zh-CN" sz="2800" dirty="0"/>
          </a:p>
          <a:p>
            <a:r>
              <a:rPr lang="en-US" altLang="zh-CN" sz="2800" dirty="0"/>
              <a:t>	</a:t>
            </a:r>
            <a:r>
              <a:rPr lang="zh-CN" altLang="en-US" sz="2800" dirty="0"/>
              <a:t>但如果没有遇到</a:t>
            </a:r>
            <a:r>
              <a:rPr lang="en-US" altLang="zh-CN" sz="2800" dirty="0"/>
              <a:t>break</a:t>
            </a:r>
            <a:r>
              <a:rPr lang="zh-CN" altLang="en-US" sz="2800" dirty="0"/>
              <a:t>，就会继续执行下面的</a:t>
            </a:r>
            <a:r>
              <a:rPr lang="en-US" altLang="zh-CN" sz="2800" dirty="0"/>
              <a:t>case</a:t>
            </a:r>
            <a:r>
              <a:rPr lang="zh-CN" altLang="en-US" sz="2800" dirty="0"/>
              <a:t>中的代码，直到遇到</a:t>
            </a:r>
            <a:r>
              <a:rPr lang="en-US" altLang="zh-CN" sz="2800" dirty="0"/>
              <a:t>break</a:t>
            </a:r>
            <a:r>
              <a:rPr lang="zh-CN" altLang="en-US" sz="2800" dirty="0"/>
              <a:t>，或把整个</a:t>
            </a:r>
            <a:r>
              <a:rPr lang="en-US" altLang="zh-CN" sz="2800" dirty="0"/>
              <a:t>switch</a:t>
            </a:r>
            <a:r>
              <a:rPr lang="zh-CN" altLang="en-US" sz="2800" dirty="0"/>
              <a:t>中所有代码执行完了，才会结束</a:t>
            </a:r>
            <a:endParaRPr lang="en-US" altLang="zh-CN" sz="2800" dirty="0"/>
          </a:p>
          <a:p>
            <a:r>
              <a:rPr lang="en-US" altLang="zh-CN" sz="2800" dirty="0"/>
              <a:t>	4</a:t>
            </a:r>
            <a:r>
              <a:rPr lang="zh-CN" altLang="en-US" sz="2800" dirty="0"/>
              <a:t>、</a:t>
            </a:r>
            <a:r>
              <a:rPr lang="en-US" altLang="zh-CN" sz="2800" dirty="0"/>
              <a:t>case</a:t>
            </a:r>
            <a:r>
              <a:rPr lang="zh-CN" altLang="en-US" sz="2800" dirty="0"/>
              <a:t>穿透只会往下穿不会往上穿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en-US" altLang="zh-CN" sz="2400" b="1" dirty="0">
                <a:solidFill>
                  <a:srgbClr val="FF0000"/>
                </a:solidFill>
              </a:rPr>
              <a:t>switch</a:t>
            </a:r>
            <a:r>
              <a:rPr lang="zh-CN" altLang="en-US" sz="2400" b="1" dirty="0">
                <a:solidFill>
                  <a:srgbClr val="FF0000"/>
                </a:solidFill>
              </a:rPr>
              <a:t>语句</a:t>
            </a:r>
            <a:r>
              <a:rPr lang="en-US" altLang="zh-CN" sz="2400" b="1" dirty="0">
                <a:solidFill>
                  <a:srgbClr val="FF0000"/>
                </a:solidFill>
              </a:rPr>
              <a:t>-case</a:t>
            </a:r>
            <a:r>
              <a:rPr lang="zh-CN" altLang="en-US" sz="2400" b="1" dirty="0">
                <a:solidFill>
                  <a:srgbClr val="FF0000"/>
                </a:solidFill>
              </a:rPr>
              <a:t>穿透测试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5439" y="1512844"/>
            <a:ext cx="4603787" cy="516840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34" y="1702419"/>
            <a:ext cx="4548369" cy="4741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en-US" altLang="zh-CN" sz="2400" b="1" dirty="0">
                <a:solidFill>
                  <a:srgbClr val="FF0000"/>
                </a:solidFill>
              </a:rPr>
              <a:t>switch</a:t>
            </a:r>
            <a:r>
              <a:rPr lang="zh-CN" altLang="en-US" sz="2400" b="1" dirty="0">
                <a:solidFill>
                  <a:srgbClr val="FF0000"/>
                </a:solidFill>
              </a:rPr>
              <a:t>语句</a:t>
            </a:r>
            <a:r>
              <a:rPr lang="en-US" altLang="zh-CN" sz="2400" b="1" dirty="0">
                <a:solidFill>
                  <a:srgbClr val="FF0000"/>
                </a:solidFill>
              </a:rPr>
              <a:t>-case</a:t>
            </a:r>
            <a:r>
              <a:rPr lang="zh-CN" altLang="en-US" sz="2400" b="1" dirty="0">
                <a:solidFill>
                  <a:srgbClr val="FF0000"/>
                </a:solidFill>
              </a:rPr>
              <a:t>穿透测试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815" y="1535444"/>
            <a:ext cx="4328384" cy="49570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391" y="1507484"/>
            <a:ext cx="4370858" cy="49211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en-US" altLang="zh-CN" sz="2400" b="1" dirty="0">
                <a:solidFill>
                  <a:srgbClr val="FF0000"/>
                </a:solidFill>
              </a:rPr>
              <a:t>switch</a:t>
            </a:r>
            <a:r>
              <a:rPr lang="zh-CN" altLang="en-US" sz="2400" b="1" dirty="0">
                <a:solidFill>
                  <a:srgbClr val="FF0000"/>
                </a:solidFill>
              </a:rPr>
              <a:t>语句</a:t>
            </a:r>
            <a:r>
              <a:rPr lang="en-US" altLang="zh-CN" sz="2400" b="1" dirty="0">
                <a:solidFill>
                  <a:srgbClr val="FF0000"/>
                </a:solidFill>
              </a:rPr>
              <a:t>-case</a:t>
            </a:r>
            <a:r>
              <a:rPr lang="zh-CN" altLang="en-US" sz="2400" b="1" dirty="0">
                <a:solidFill>
                  <a:srgbClr val="FF0000"/>
                </a:solidFill>
              </a:rPr>
              <a:t>穿透</a:t>
            </a:r>
            <a:r>
              <a:rPr lang="zh-CN" altLang="en-US" sz="2400" b="1" dirty="0"/>
              <a:t>练习</a:t>
            </a:r>
            <a:endParaRPr lang="zh-CN" altLang="zh-CN" sz="24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903" y="1465371"/>
            <a:ext cx="5705475" cy="39719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占位符 2"/>
          <p:cNvSpPr>
            <a:spLocks noGrp="1"/>
          </p:cNvSpPr>
          <p:nvPr/>
        </p:nvSpPr>
        <p:spPr>
          <a:xfrm>
            <a:off x="4053111" y="1888133"/>
            <a:ext cx="3960440" cy="2289056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4800" dirty="0">
                <a:solidFill>
                  <a:schemeClr val="tx1"/>
                </a:solidFill>
              </a:rPr>
              <a:t>Switch</a:t>
            </a:r>
            <a:r>
              <a:rPr lang="zh-CN" altLang="en-US" sz="4800" dirty="0">
                <a:solidFill>
                  <a:schemeClr val="tx1"/>
                </a:solidFill>
              </a:rPr>
              <a:t>语句</a:t>
            </a:r>
            <a:endParaRPr lang="en-US" altLang="zh-CN" sz="48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>
                <a:solidFill>
                  <a:schemeClr val="tx1"/>
                </a:solidFill>
              </a:rPr>
              <a:t>细节</a:t>
            </a:r>
            <a:endParaRPr lang="en-US" altLang="zh-CN" sz="4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3823" y="1024037"/>
            <a:ext cx="118457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如果我们需要在多种情况下选择其中一种，就可以使用</a:t>
            </a:r>
            <a:r>
              <a:rPr lang="en-US" altLang="zh-CN" sz="3200" dirty="0"/>
              <a:t>switch</a:t>
            </a:r>
            <a:r>
              <a:rPr lang="zh-CN" altLang="en-US" sz="3200" dirty="0"/>
              <a:t>语句。</a:t>
            </a:r>
            <a:endParaRPr lang="en-US" altLang="zh-CN" sz="3200" dirty="0"/>
          </a:p>
          <a:p>
            <a:r>
              <a:rPr lang="zh-CN" altLang="en-US" sz="3200" dirty="0"/>
              <a:t>当我们拨打某些服务电话时，一般都会有按键选择。</a:t>
            </a:r>
            <a:endParaRPr lang="en-US" altLang="zh-CN" sz="3200" dirty="0"/>
          </a:p>
          <a:p>
            <a:r>
              <a:rPr lang="zh-CN" altLang="en-US" sz="3200" dirty="0"/>
              <a:t>假设现在我们拨打了一个机票预定电话。</a:t>
            </a:r>
            <a:endParaRPr lang="en-US" altLang="zh-CN" sz="3200" dirty="0"/>
          </a:p>
          <a:p>
            <a:r>
              <a:rPr lang="zh-CN" altLang="en-US" sz="3200" dirty="0"/>
              <a:t>电话中语音提示：</a:t>
            </a:r>
            <a:endParaRPr lang="en-US" altLang="zh-CN" sz="3200" dirty="0"/>
          </a:p>
          <a:p>
            <a:r>
              <a:rPr lang="en-US" altLang="zh-CN" sz="3200" dirty="0"/>
              <a:t>1</a:t>
            </a:r>
            <a:r>
              <a:rPr lang="zh-CN" altLang="en-US" sz="3200" dirty="0"/>
              <a:t>机票查询</a:t>
            </a:r>
            <a:endParaRPr lang="en-US" altLang="zh-CN" sz="3200" dirty="0"/>
          </a:p>
          <a:p>
            <a:r>
              <a:rPr lang="en-US" altLang="zh-CN" sz="3200" dirty="0"/>
              <a:t>2</a:t>
            </a:r>
            <a:r>
              <a:rPr lang="zh-CN" altLang="en-US" sz="3200" dirty="0"/>
              <a:t>机票预定</a:t>
            </a:r>
            <a:endParaRPr lang="en-US" altLang="zh-CN" sz="3200" dirty="0"/>
          </a:p>
          <a:p>
            <a:r>
              <a:rPr lang="en-US" altLang="zh-CN" sz="3200" dirty="0"/>
              <a:t>3</a:t>
            </a:r>
            <a:r>
              <a:rPr lang="zh-CN" altLang="en-US" sz="3200" dirty="0"/>
              <a:t>机票改签</a:t>
            </a:r>
            <a:endParaRPr lang="en-US" altLang="zh-CN" sz="3200" dirty="0"/>
          </a:p>
          <a:p>
            <a:r>
              <a:rPr lang="en-US" altLang="zh-CN" sz="3200" dirty="0"/>
              <a:t>4</a:t>
            </a:r>
            <a:r>
              <a:rPr lang="zh-CN" altLang="en-US" sz="3200" dirty="0"/>
              <a:t>退出服务</a:t>
            </a:r>
            <a:endParaRPr lang="en-US" altLang="zh-CN" sz="3200" dirty="0"/>
          </a:p>
          <a:p>
            <a:r>
              <a:rPr lang="zh-CN" altLang="en-US" sz="3200" dirty="0"/>
              <a:t>其他按键也是退出服务。请使用</a:t>
            </a:r>
            <a:r>
              <a:rPr lang="en-US" altLang="zh-CN" sz="3200" dirty="0"/>
              <a:t>switch</a:t>
            </a:r>
            <a:r>
              <a:rPr lang="zh-CN" altLang="en-US" sz="3200" dirty="0"/>
              <a:t>模拟该业务逻辑。</a:t>
            </a:r>
            <a:endParaRPr lang="zh-CN" alt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77999" y="2049301"/>
            <a:ext cx="8963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if</a:t>
            </a:r>
            <a:r>
              <a:rPr lang="zh-CN" altLang="en-US" sz="3600" dirty="0"/>
              <a:t>的第三种格式和</a:t>
            </a:r>
            <a:r>
              <a:rPr lang="en-US" altLang="zh-CN" sz="3600" dirty="0"/>
              <a:t>switch</a:t>
            </a:r>
            <a:r>
              <a:rPr lang="zh-CN" altLang="en-US" sz="3600" dirty="0"/>
              <a:t>的最大区别是什么？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1390</Words>
  <Application>WPS 演示</Application>
  <PresentationFormat>自定义</PresentationFormat>
  <Paragraphs>144</Paragraphs>
  <Slides>19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7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R</vt:lpstr>
      <vt:lpstr>Alibaba PuHuiTi B</vt:lpstr>
      <vt:lpstr>阿里巴巴普惠体</vt:lpstr>
      <vt:lpstr>Arial Unicode MS</vt:lpstr>
      <vt:lpstr>汉仪雅酷黑简</vt:lpstr>
      <vt:lpstr>汉仪君黑-45简</vt:lpstr>
      <vt:lpstr>Radam</vt:lpstr>
      <vt:lpstr>The best part</vt:lpstr>
      <vt:lpstr>方正仿宋_GB2312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654</cp:revision>
  <dcterms:created xsi:type="dcterms:W3CDTF">2024-04-10T13:53:00Z</dcterms:created>
  <dcterms:modified xsi:type="dcterms:W3CDTF">2025-09-26T01:48:12Z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FCA88555D3D44735BAA1F56722F3B997</vt:lpwstr>
  </property>
</Properties>
</file>