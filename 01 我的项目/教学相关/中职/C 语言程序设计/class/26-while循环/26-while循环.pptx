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21"/>
  </p:handoutMasterIdLst>
  <p:sldIdLst>
    <p:sldId id="3705" r:id="rId3"/>
    <p:sldId id="3706" r:id="rId4"/>
    <p:sldId id="3775" r:id="rId5"/>
    <p:sldId id="3756" r:id="rId7"/>
    <p:sldId id="3646" r:id="rId8"/>
    <p:sldId id="3708" r:id="rId9"/>
    <p:sldId id="3786" r:id="rId10"/>
    <p:sldId id="3787" r:id="rId11"/>
    <p:sldId id="3788" r:id="rId12"/>
    <p:sldId id="3789" r:id="rId13"/>
    <p:sldId id="3712" r:id="rId14"/>
    <p:sldId id="3783" r:id="rId15"/>
    <p:sldId id="3790" r:id="rId16"/>
    <p:sldId id="3791" r:id="rId17"/>
    <p:sldId id="3792" r:id="rId18"/>
    <p:sldId id="3793" r:id="rId19"/>
    <p:sldId id="3702" r:id="rId20"/>
  </p:sldIdLst>
  <p:sldSz cx="12858750" cy="7232650"/>
  <p:notesSz cx="6858000" cy="9144000"/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7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6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F4436"/>
    <a:srgbClr val="FFBF00"/>
    <a:srgbClr val="1542FF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37"/>
        <p:guide pos="4075"/>
        <p:guide pos="556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while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909095" y="2121309"/>
            <a:ext cx="5688632" cy="1728192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1500" dirty="0"/>
              <a:t>for</a:t>
            </a:r>
            <a:r>
              <a:rPr lang="zh-CN" altLang="en-US" sz="11500" dirty="0"/>
              <a:t>循环</a:t>
            </a:r>
            <a:endParaRPr lang="en-US" altLang="zh-CN" sz="1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/>
          <p:cNvSpPr/>
          <p:nvPr/>
        </p:nvSpPr>
        <p:spPr>
          <a:xfrm>
            <a:off x="7852336" y="4729016"/>
            <a:ext cx="2448272" cy="79208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4341143" y="3220281"/>
            <a:ext cx="2448272" cy="79208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1388815" y="1888133"/>
            <a:ext cx="2448272" cy="79208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b="1" dirty="0"/>
              <a:t>  目标及重难点  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1352811" y="6556844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大纲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流程控制语句的分类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0823" y="1902121"/>
            <a:ext cx="23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</a:rPr>
              <a:t>顺序结构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13151" y="3262382"/>
            <a:ext cx="23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</a:rPr>
              <a:t>分支结构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41543" y="4768453"/>
            <a:ext cx="23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</a:rPr>
              <a:t>循环结构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7" grpId="0" animBg="1"/>
      <p:bldP spid="2" grpId="0"/>
      <p:bldP spid="4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2163704" y="2568776"/>
            <a:ext cx="2448272" cy="79208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52911" y="2608213"/>
            <a:ext cx="23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</a:rPr>
              <a:t>循环结构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9" name="左大括号 8"/>
          <p:cNvSpPr/>
          <p:nvPr/>
        </p:nvSpPr>
        <p:spPr>
          <a:xfrm>
            <a:off x="4718382" y="1071698"/>
            <a:ext cx="1134929" cy="3842399"/>
          </a:xfrm>
          <a:prstGeom prst="leftBrace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131675" y="3749963"/>
            <a:ext cx="56262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/>
              <a:t>还有其他循环   ❓ </a:t>
            </a:r>
            <a:endParaRPr lang="zh-CN" altLang="en-US" sz="44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112117" y="1391735"/>
            <a:ext cx="33415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FF0000"/>
                </a:solidFill>
              </a:rPr>
              <a:t>for</a:t>
            </a:r>
            <a:r>
              <a:rPr lang="zh-CN" altLang="en-US" sz="4400" b="1" dirty="0">
                <a:solidFill>
                  <a:srgbClr val="FF0000"/>
                </a:solidFill>
              </a:rPr>
              <a:t>循环  ✅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837087" y="1501964"/>
            <a:ext cx="6120680" cy="37226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/>
              <a:t>while</a:t>
            </a:r>
            <a:r>
              <a:rPr lang="zh-CN" altLang="en-US" sz="4800" dirty="0"/>
              <a:t>循环结构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执行流程</a:t>
            </a:r>
            <a:endParaRPr lang="en-US" altLang="zh-CN" sz="48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与</a:t>
            </a:r>
            <a:r>
              <a:rPr lang="en-US" altLang="zh-CN" sz="4800" dirty="0">
                <a:solidFill>
                  <a:schemeClr val="tx1"/>
                </a:solidFill>
              </a:rPr>
              <a:t>for</a:t>
            </a:r>
            <a:r>
              <a:rPr lang="zh-CN" altLang="en-US" sz="4800" dirty="0">
                <a:solidFill>
                  <a:schemeClr val="tx1"/>
                </a:solidFill>
              </a:rPr>
              <a:t>区别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1114149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en-US" altLang="zh-CN" sz="2400" b="1" dirty="0">
                <a:solidFill>
                  <a:srgbClr val="FF0000"/>
                </a:solidFill>
              </a:rPr>
              <a:t>while</a:t>
            </a:r>
            <a:r>
              <a:rPr lang="zh-CN" altLang="en-US" sz="2400" b="1" dirty="0">
                <a:solidFill>
                  <a:srgbClr val="FF0000"/>
                </a:solidFill>
              </a:rPr>
              <a:t>循环结构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408" y="1655310"/>
            <a:ext cx="2833934" cy="41648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178" y="767244"/>
            <a:ext cx="6600825" cy="5543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en-US" altLang="zh-CN" sz="2400" b="1" dirty="0">
                <a:solidFill>
                  <a:srgbClr val="FF0000"/>
                </a:solidFill>
              </a:rPr>
              <a:t>while</a:t>
            </a:r>
            <a:r>
              <a:rPr lang="zh-CN" altLang="en-US" sz="2400" b="1" dirty="0">
                <a:solidFill>
                  <a:srgbClr val="FF0000"/>
                </a:solidFill>
              </a:rPr>
              <a:t>循环执行流程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87" y="1792593"/>
            <a:ext cx="4665968" cy="39186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407" y="625724"/>
            <a:ext cx="4322327" cy="5452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while</a:t>
            </a:r>
            <a:r>
              <a:rPr lang="zh-CN" altLang="en-US" sz="2400" b="1" dirty="0">
                <a:solidFill>
                  <a:srgbClr val="FF0000"/>
                </a:solidFill>
              </a:rPr>
              <a:t>循环练习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52811" y="1888133"/>
            <a:ext cx="10153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使用</a:t>
            </a:r>
            <a:r>
              <a:rPr lang="en-US" altLang="zh-CN" sz="4800" dirty="0"/>
              <a:t>while</a:t>
            </a:r>
            <a:r>
              <a:rPr lang="zh-CN" altLang="en-US" sz="4800" dirty="0"/>
              <a:t>打印三遍：明天是个好日子。</a:t>
            </a:r>
            <a:endParaRPr lang="zh-CN" alt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for</a:t>
            </a:r>
            <a:r>
              <a:rPr lang="zh-CN" altLang="en-US" sz="2400" b="1" dirty="0">
                <a:solidFill>
                  <a:srgbClr val="FF0000"/>
                </a:solidFill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</a:rPr>
              <a:t>while</a:t>
            </a:r>
            <a:r>
              <a:rPr lang="zh-CN" altLang="en-US" sz="2400" b="1" dirty="0">
                <a:solidFill>
                  <a:srgbClr val="FF0000"/>
                </a:solidFill>
              </a:rPr>
              <a:t>区别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75" y="1467471"/>
            <a:ext cx="11397927" cy="4811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for</a:t>
            </a:r>
            <a:r>
              <a:rPr lang="zh-CN" altLang="en-US" sz="2400" b="1" dirty="0">
                <a:solidFill>
                  <a:srgbClr val="FF0000"/>
                </a:solidFill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</a:rPr>
              <a:t>while</a:t>
            </a:r>
            <a:r>
              <a:rPr lang="zh-CN" altLang="en-US" sz="2400" b="1" dirty="0">
                <a:solidFill>
                  <a:srgbClr val="FF0000"/>
                </a:solidFill>
              </a:rPr>
              <a:t>区别练习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0943" y="1639298"/>
            <a:ext cx="11305256" cy="87090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>
                <a:solidFill>
                  <a:srgbClr val="FF0000"/>
                </a:solidFill>
              </a:rPr>
              <a:t>1.</a:t>
            </a:r>
            <a:r>
              <a:rPr lang="zh-CN" altLang="en-US" sz="2400" b="1" dirty="0">
                <a:solidFill>
                  <a:srgbClr val="FF0000"/>
                </a:solidFill>
              </a:rPr>
              <a:t>正向</a:t>
            </a:r>
            <a:r>
              <a:rPr lang="en-US" altLang="zh-CN" sz="2400" b="1" dirty="0">
                <a:solidFill>
                  <a:srgbClr val="FF0000"/>
                </a:solidFill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</a:rPr>
              <a:t>反向输出数字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dirty="0"/>
              <a:t>  </a:t>
            </a:r>
            <a:r>
              <a:rPr lang="zh-CN" altLang="en-US" sz="2400" dirty="0"/>
              <a:t>要求</a:t>
            </a:r>
            <a:r>
              <a:rPr lang="en-US" altLang="zh-CN" sz="2400" dirty="0"/>
              <a:t>1</a:t>
            </a:r>
            <a:r>
              <a:rPr lang="zh-CN" altLang="en-US" sz="2400" dirty="0"/>
              <a:t>：打印</a:t>
            </a:r>
            <a:r>
              <a:rPr lang="en-US" altLang="zh-CN" sz="2400" dirty="0"/>
              <a:t>1-5     </a:t>
            </a:r>
            <a:r>
              <a:rPr lang="zh-CN" altLang="en-US" sz="2400" dirty="0"/>
              <a:t>要求</a:t>
            </a:r>
            <a:r>
              <a:rPr lang="en-US" altLang="zh-CN" sz="2400" dirty="0"/>
              <a:t>2</a:t>
            </a:r>
            <a:r>
              <a:rPr lang="zh-CN" altLang="en-US" sz="2400" dirty="0"/>
              <a:t>：打印</a:t>
            </a:r>
            <a:r>
              <a:rPr lang="en-US" altLang="zh-CN" sz="2400" dirty="0"/>
              <a:t>5-1</a:t>
            </a:r>
            <a:endParaRPr lang="en-US" altLang="zh-CN" sz="2400" dirty="0"/>
          </a:p>
          <a:p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2.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求和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ym typeface="+mn-ea"/>
              </a:rPr>
              <a:t>  </a:t>
            </a:r>
            <a:r>
              <a:rPr lang="zh-CN" altLang="en-US" sz="2400" dirty="0">
                <a:sym typeface="+mn-ea"/>
              </a:rPr>
              <a:t>要求：求</a:t>
            </a:r>
            <a:r>
              <a:rPr lang="en-US" altLang="zh-CN" sz="2400" dirty="0">
                <a:sym typeface="+mn-ea"/>
              </a:rPr>
              <a:t>1-5</a:t>
            </a:r>
            <a:r>
              <a:rPr lang="zh-CN" altLang="en-US" sz="2400" dirty="0">
                <a:sym typeface="+mn-ea"/>
              </a:rPr>
              <a:t>之间的和</a:t>
            </a:r>
            <a:endParaRPr lang="zh-CN" altLang="en-US" sz="2400" dirty="0">
              <a:sym typeface="+mn-ea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、统计满足条件的数字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ym typeface="+mn-ea"/>
              </a:rPr>
              <a:t>需求：键盘录入两个数字，表示一个范围。</a:t>
            </a:r>
            <a:endParaRPr lang="en-US" altLang="zh-CN" sz="2400" dirty="0"/>
          </a:p>
          <a:p>
            <a:r>
              <a:rPr lang="zh-CN" altLang="en-US" sz="2400" dirty="0">
                <a:sym typeface="+mn-ea"/>
              </a:rPr>
              <a:t>统计这个范围中，既能被</a:t>
            </a:r>
            <a:r>
              <a:rPr lang="en-US" altLang="zh-CN" sz="2400" dirty="0">
                <a:sym typeface="+mn-ea"/>
              </a:rPr>
              <a:t>6</a:t>
            </a:r>
            <a:r>
              <a:rPr lang="zh-CN" altLang="en-US" sz="2400" dirty="0">
                <a:sym typeface="+mn-ea"/>
              </a:rPr>
              <a:t>整除，又能被</a:t>
            </a:r>
            <a:r>
              <a:rPr lang="en-US" altLang="zh-CN" sz="2400" dirty="0">
                <a:sym typeface="+mn-ea"/>
              </a:rPr>
              <a:t>8</a:t>
            </a:r>
            <a:r>
              <a:rPr lang="zh-CN" altLang="en-US" sz="2400" dirty="0">
                <a:sym typeface="+mn-ea"/>
              </a:rPr>
              <a:t>整除数字有多少？</a:t>
            </a:r>
            <a:endParaRPr lang="zh-CN" altLang="en-US" sz="2400" dirty="0">
              <a:sym typeface="+mn-ea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4-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水仙花数      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100~999</a:t>
            </a:r>
            <a:endParaRPr lang="en-US" altLang="zh-CN" sz="2400" dirty="0"/>
          </a:p>
          <a:p>
            <a:r>
              <a:rPr lang="zh-CN" altLang="en-US" sz="2400" dirty="0">
                <a:sym typeface="+mn-ea"/>
              </a:rPr>
              <a:t>打印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所有的</a:t>
            </a:r>
            <a:r>
              <a:rPr lang="zh-CN" altLang="en-US" sz="2400" dirty="0">
                <a:sym typeface="+mn-ea"/>
              </a:rPr>
              <a:t>水仙花数：</a:t>
            </a:r>
            <a:endParaRPr lang="en-US" altLang="zh-CN" sz="2400" dirty="0"/>
          </a:p>
          <a:p>
            <a:r>
              <a:rPr lang="zh-CN" altLang="en-US" sz="2400" dirty="0">
                <a:sym typeface="+mn-ea"/>
              </a:rPr>
              <a:t>水仙花数是指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sym typeface="+mn-ea"/>
              </a:rPr>
              <a:t>三位数</a:t>
            </a:r>
            <a:r>
              <a:rPr lang="zh-CN" altLang="en-US" sz="2400" dirty="0">
                <a:solidFill>
                  <a:srgbClr val="111111"/>
                </a:solidFill>
                <a:effectLst/>
                <a:latin typeface="Arial" panose="020B0604020202020204" pitchFamily="34" charset="0"/>
                <a:sym typeface="+mn-ea"/>
              </a:rPr>
              <a:t>，其各位数字的立方和</a:t>
            </a:r>
            <a:r>
              <a:rPr lang="zh-CN" altLang="en-US" sz="2400" dirty="0">
                <a:solidFill>
                  <a:srgbClr val="111111"/>
                </a:solidFill>
                <a:latin typeface="Arial" panose="020B0604020202020204" pitchFamily="34" charset="0"/>
                <a:sym typeface="+mn-ea"/>
              </a:rPr>
              <a:t>正</a:t>
            </a:r>
            <a:r>
              <a:rPr lang="zh-CN" altLang="en-US" sz="2400" dirty="0">
                <a:solidFill>
                  <a:srgbClr val="111111"/>
                </a:solidFill>
                <a:effectLst/>
                <a:latin typeface="Arial" panose="020B0604020202020204" pitchFamily="34" charset="0"/>
                <a:sym typeface="+mn-ea"/>
              </a:rPr>
              <a:t>好等于该数本身</a:t>
            </a:r>
            <a:r>
              <a:rPr lang="zh-CN" altLang="en-US" sz="2400" dirty="0">
                <a:sym typeface="+mn-ea"/>
              </a:rPr>
              <a:t>。</a:t>
            </a:r>
            <a:endParaRPr lang="en-US" altLang="zh-CN" sz="2400" dirty="0"/>
          </a:p>
          <a:p>
            <a:r>
              <a:rPr lang="zh-CN" altLang="en-US" sz="2400" dirty="0">
                <a:sym typeface="+mn-ea"/>
              </a:rPr>
              <a:t>例如：</a:t>
            </a:r>
            <a:r>
              <a:rPr lang="zh-CN" altLang="en-US" sz="2400" dirty="0">
                <a:solidFill>
                  <a:srgbClr val="111111"/>
                </a:solidFill>
                <a:effectLst/>
                <a:latin typeface="Arial" panose="020B0604020202020204" pitchFamily="34" charset="0"/>
                <a:sym typeface="+mn-ea"/>
              </a:rPr>
              <a:t> </a:t>
            </a:r>
            <a:r>
              <a:rPr lang="en-US" altLang="zh-CN" sz="2400" dirty="0">
                <a:solidFill>
                  <a:srgbClr val="111111"/>
                </a:solidFill>
                <a:effectLst/>
                <a:latin typeface="Arial" panose="020B0604020202020204" pitchFamily="34" charset="0"/>
                <a:sym typeface="+mn-ea"/>
              </a:rPr>
              <a:t>153 = 1^3+ 5^3 + 3^3</a:t>
            </a:r>
            <a:r>
              <a:rPr lang="zh-CN" altLang="en-US" sz="3200" dirty="0">
                <a:sym typeface="+mn-ea"/>
              </a:rPr>
              <a:t>。</a:t>
            </a:r>
            <a:endParaRPr lang="zh-CN" altLang="en-US" sz="3200" dirty="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5.整数反转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algn="l">
              <a:buClrTx/>
              <a:buSzTx/>
              <a:buNone/>
            </a:pPr>
            <a:r>
              <a:rPr lang="zh-CN" altLang="en-US" sz="2400" dirty="0">
                <a:sym typeface="+mn-ea"/>
              </a:rPr>
              <a:t>将一个整数X，进行反转</a:t>
            </a:r>
            <a:endParaRPr lang="zh-CN" altLang="en-US" sz="2400" dirty="0"/>
          </a:p>
          <a:p>
            <a:pPr algn="l">
              <a:buClrTx/>
              <a:buSzTx/>
              <a:buNone/>
            </a:pPr>
            <a:r>
              <a:rPr lang="zh-CN" altLang="en-US" sz="2400" dirty="0">
                <a:sym typeface="+mn-ea"/>
              </a:rPr>
              <a:t>举例：123 反转之后变成321</a:t>
            </a:r>
            <a:endParaRPr lang="zh-CN" altLang="en-US" sz="2400" dirty="0"/>
          </a:p>
          <a:p>
            <a:endParaRPr lang="en-US" altLang="zh-CN" sz="3600" dirty="0"/>
          </a:p>
          <a:p>
            <a:endParaRPr lang="zh-CN" altLang="en-US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zh-CN" altLang="en-US" sz="3600" dirty="0"/>
          </a:p>
          <a:p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837087" y="1501964"/>
            <a:ext cx="6120680" cy="37226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/>
              <a:t>while</a:t>
            </a:r>
            <a:r>
              <a:rPr lang="zh-CN" altLang="en-US" sz="4800" dirty="0"/>
              <a:t>循环结构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执行流程</a:t>
            </a:r>
            <a:endParaRPr lang="en-US" altLang="zh-CN" sz="48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和</a:t>
            </a:r>
            <a:r>
              <a:rPr lang="en-US" altLang="zh-CN" sz="4800" dirty="0">
                <a:solidFill>
                  <a:schemeClr val="tx1"/>
                </a:solidFill>
              </a:rPr>
              <a:t>for</a:t>
            </a:r>
            <a:r>
              <a:rPr lang="zh-CN" altLang="en-US" sz="4800" dirty="0">
                <a:solidFill>
                  <a:schemeClr val="tx1"/>
                </a:solidFill>
              </a:rPr>
              <a:t>区别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r>
              <a:rPr kumimoji="1" lang="en-US" altLang="zh-CN" dirty="0"/>
              <a:t>-1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44799" y="852572"/>
            <a:ext cx="1029714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2</a:t>
            </a:r>
            <a:r>
              <a:rPr lang="zh-CN" altLang="en-US" sz="3600" b="1" dirty="0">
                <a:solidFill>
                  <a:srgbClr val="FF0000"/>
                </a:solidFill>
              </a:rPr>
              <a:t>的幂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endParaRPr lang="en-US" altLang="zh-CN" sz="3600" dirty="0"/>
          </a:p>
          <a:p>
            <a:r>
              <a:rPr lang="zh-CN" altLang="en-US" sz="3600" dirty="0"/>
              <a:t>给你一个整数</a:t>
            </a:r>
            <a:r>
              <a:rPr lang="en-US" altLang="zh-CN" sz="3600" dirty="0"/>
              <a:t>n</a:t>
            </a:r>
            <a:r>
              <a:rPr lang="zh-CN" altLang="en-US" sz="3600" dirty="0"/>
              <a:t>，请判断该整数是否是</a:t>
            </a:r>
            <a:r>
              <a:rPr lang="en-US" altLang="zh-CN" sz="3600" dirty="0"/>
              <a:t>2</a:t>
            </a:r>
            <a:r>
              <a:rPr lang="zh-CN" altLang="en-US" sz="3600" dirty="0"/>
              <a:t>的幂次方</a:t>
            </a:r>
            <a:endParaRPr lang="en-US" altLang="zh-CN" sz="3600" dirty="0"/>
          </a:p>
          <a:p>
            <a:r>
              <a:rPr lang="zh-CN" altLang="en-US" sz="3600" dirty="0"/>
              <a:t>举例：</a:t>
            </a:r>
            <a:endParaRPr lang="en-US" altLang="zh-CN" sz="3600" dirty="0"/>
          </a:p>
          <a:p>
            <a:r>
              <a:rPr lang="en-US" altLang="zh-CN" sz="3600" dirty="0"/>
              <a:t>	n = 1 </a:t>
            </a:r>
            <a:r>
              <a:rPr lang="zh-CN" altLang="en-US" sz="3600" dirty="0"/>
              <a:t>输出：</a:t>
            </a:r>
            <a:r>
              <a:rPr lang="en-US" altLang="zh-CN" sz="3600" dirty="0"/>
              <a:t>yes</a:t>
            </a:r>
            <a:endParaRPr lang="en-US" altLang="zh-CN" sz="3600" dirty="0"/>
          </a:p>
          <a:p>
            <a:r>
              <a:rPr lang="en-US" altLang="zh-CN" sz="3600" dirty="0"/>
              <a:t>	n = 2 </a:t>
            </a:r>
            <a:r>
              <a:rPr lang="zh-CN" altLang="en-US" sz="3600" dirty="0"/>
              <a:t>输出：</a:t>
            </a:r>
            <a:r>
              <a:rPr lang="en-US" altLang="zh-CN" sz="3600" dirty="0"/>
              <a:t>yes</a:t>
            </a:r>
            <a:endParaRPr lang="en-US" altLang="zh-CN" sz="3600" dirty="0"/>
          </a:p>
          <a:p>
            <a:r>
              <a:rPr lang="en-US" altLang="zh-CN" sz="3600" dirty="0"/>
              <a:t>	n = 3 </a:t>
            </a:r>
            <a:r>
              <a:rPr lang="zh-CN" altLang="en-US" sz="3600" dirty="0"/>
              <a:t>输出：</a:t>
            </a:r>
            <a:r>
              <a:rPr lang="en-US" altLang="zh-CN" sz="3600" dirty="0"/>
              <a:t>no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r>
              <a:rPr kumimoji="1" lang="en-US" altLang="zh-CN" dirty="0"/>
              <a:t>-2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44799" y="852572"/>
            <a:ext cx="110172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打印折纸的次数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endParaRPr lang="en-US" altLang="zh-CN" sz="3600" dirty="0"/>
          </a:p>
          <a:p>
            <a:r>
              <a:rPr lang="zh-CN" altLang="en-US" sz="3600" dirty="0"/>
              <a:t>需求：世界最高峰是珠穆朗玛峰（</a:t>
            </a:r>
            <a:r>
              <a:rPr lang="en-US" altLang="zh-CN" sz="3600" dirty="0"/>
              <a:t>8844.43=8844430</a:t>
            </a:r>
            <a:r>
              <a:rPr lang="zh-CN" altLang="en-US" sz="3600" dirty="0"/>
              <a:t>），假如我有一张足够大的纸，它的厚度是</a:t>
            </a:r>
            <a:r>
              <a:rPr lang="en-US" altLang="zh-CN" sz="3600" dirty="0"/>
              <a:t>0.1</a:t>
            </a:r>
            <a:r>
              <a:rPr lang="zh-CN" altLang="en-US" sz="3600" dirty="0"/>
              <a:t>毫米。</a:t>
            </a:r>
            <a:endParaRPr lang="en-US" altLang="zh-CN" sz="3600" dirty="0"/>
          </a:p>
          <a:p>
            <a:r>
              <a:rPr lang="zh-CN" altLang="en-US" sz="3600" dirty="0"/>
              <a:t>请问，我折多少次，可以折成珠穆朗玛峰的高度？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r>
              <a:rPr kumimoji="1" lang="en-US" altLang="zh-CN" dirty="0"/>
              <a:t>-3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44799" y="880021"/>
            <a:ext cx="110172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整数反转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endParaRPr lang="en-US" altLang="zh-CN" sz="3600" dirty="0"/>
          </a:p>
          <a:p>
            <a:r>
              <a:rPr lang="zh-CN" altLang="en-US" sz="3600" dirty="0"/>
              <a:t>将一个整数</a:t>
            </a:r>
            <a:r>
              <a:rPr lang="en-US" altLang="zh-CN" sz="3600" dirty="0"/>
              <a:t>X</a:t>
            </a:r>
            <a:r>
              <a:rPr lang="zh-CN" altLang="en-US" sz="3600" dirty="0"/>
              <a:t>，进行反转</a:t>
            </a:r>
            <a:endParaRPr lang="en-US" altLang="zh-CN" sz="3600" dirty="0"/>
          </a:p>
          <a:p>
            <a:r>
              <a:rPr lang="zh-CN" altLang="en-US" sz="3600" dirty="0"/>
              <a:t>举例：</a:t>
            </a:r>
            <a:r>
              <a:rPr lang="en-US" altLang="zh-CN" sz="3600" dirty="0"/>
              <a:t>123 </a:t>
            </a:r>
            <a:r>
              <a:rPr lang="zh-CN" altLang="en-US" sz="3600" dirty="0"/>
              <a:t>反转之后变成</a:t>
            </a:r>
            <a:r>
              <a:rPr lang="en-US" altLang="zh-CN" sz="3600" dirty="0"/>
              <a:t>321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r>
              <a:rPr kumimoji="1" lang="en-US" altLang="zh-CN" dirty="0"/>
              <a:t>-4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44799" y="852572"/>
            <a:ext cx="110172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X</a:t>
            </a:r>
            <a:r>
              <a:rPr lang="zh-CN" altLang="en-US" sz="3600" b="1" dirty="0">
                <a:solidFill>
                  <a:srgbClr val="FF0000"/>
                </a:solidFill>
              </a:rPr>
              <a:t>的平方根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endParaRPr lang="en-US" altLang="zh-CN" sz="3600" dirty="0"/>
          </a:p>
          <a:p>
            <a:r>
              <a:rPr lang="zh-CN" altLang="en-US" sz="3600" dirty="0"/>
              <a:t>给你一个非负整数</a:t>
            </a:r>
            <a:r>
              <a:rPr lang="en-US" altLang="zh-CN" sz="3600" dirty="0"/>
              <a:t>x</a:t>
            </a:r>
            <a:r>
              <a:rPr lang="zh-CN" altLang="en-US" sz="3600" dirty="0"/>
              <a:t>，计算并返回</a:t>
            </a:r>
            <a:r>
              <a:rPr lang="en-US" altLang="zh-CN" sz="3600" dirty="0"/>
              <a:t>x</a:t>
            </a:r>
            <a:r>
              <a:rPr lang="zh-CN" altLang="en-US" sz="3600" dirty="0"/>
              <a:t>的算术平方根。结果只保留整数部分，小数部分将被舍去。</a:t>
            </a:r>
            <a:endParaRPr lang="en-US" altLang="zh-CN" sz="3600" dirty="0"/>
          </a:p>
          <a:p>
            <a:r>
              <a:rPr lang="zh-CN" altLang="en-US" sz="3600" dirty="0"/>
              <a:t>举例：</a:t>
            </a:r>
            <a:r>
              <a:rPr lang="en-US" altLang="zh-CN" sz="3600" dirty="0"/>
              <a:t>x = 4   </a:t>
            </a:r>
            <a:r>
              <a:rPr lang="zh-CN" altLang="en-US" sz="3600" dirty="0"/>
              <a:t>结果：</a:t>
            </a:r>
            <a:r>
              <a:rPr lang="en-US" altLang="zh-CN" sz="3600" dirty="0"/>
              <a:t>2</a:t>
            </a:r>
            <a:endParaRPr lang="en-US" altLang="zh-CN" sz="3600" dirty="0"/>
          </a:p>
          <a:p>
            <a:r>
              <a:rPr lang="en-US" altLang="zh-CN" sz="3600" dirty="0"/>
              <a:t>	    x = 8   </a:t>
            </a:r>
            <a:r>
              <a:rPr lang="zh-CN" altLang="en-US" sz="3600" dirty="0"/>
              <a:t>结果：</a:t>
            </a:r>
            <a:r>
              <a:rPr lang="en-US" altLang="zh-CN" sz="3600" dirty="0"/>
              <a:t>2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r>
              <a:rPr kumimoji="1" lang="en-US" altLang="zh-CN" dirty="0"/>
              <a:t>-5</a:t>
            </a:r>
            <a:r>
              <a:rPr kumimoji="1" lang="zh-CN" altLang="en-US" dirty="0"/>
              <a:t>（扩展）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44799" y="852572"/>
            <a:ext cx="110172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回文数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endParaRPr lang="en-US" altLang="zh-CN" sz="3600" dirty="0"/>
          </a:p>
          <a:p>
            <a:r>
              <a:rPr lang="zh-CN" altLang="en-US" sz="3600" dirty="0"/>
              <a:t>判断一个整数是否为回文数</a:t>
            </a:r>
            <a:endParaRPr lang="en-US" altLang="zh-CN" sz="3600" dirty="0"/>
          </a:p>
          <a:p>
            <a:r>
              <a:rPr lang="zh-CN" altLang="en-US" sz="3600" dirty="0"/>
              <a:t>回文数是指正序（从左向右）和倒序（从右向左）读都是一样的整数。</a:t>
            </a:r>
            <a:endParaRPr lang="en-US" altLang="zh-CN" sz="3600" dirty="0"/>
          </a:p>
          <a:p>
            <a:r>
              <a:rPr lang="zh-CN" altLang="en-US" sz="3600" dirty="0"/>
              <a:t>例如：</a:t>
            </a:r>
            <a:r>
              <a:rPr lang="en-US" altLang="zh-CN" sz="3600" dirty="0"/>
              <a:t>121</a:t>
            </a:r>
            <a:r>
              <a:rPr lang="zh-CN" altLang="en-US" sz="3600" dirty="0"/>
              <a:t>是回文，而</a:t>
            </a:r>
            <a:r>
              <a:rPr lang="en-US" altLang="zh-CN" sz="3600" dirty="0"/>
              <a:t>123</a:t>
            </a:r>
            <a:r>
              <a:rPr lang="zh-CN" altLang="en-US" sz="3600" dirty="0"/>
              <a:t>不是。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36987" y="2327163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while</a:t>
            </a:r>
            <a:r>
              <a:rPr lang="zh-CN" altLang="en-US" sz="3600" dirty="0"/>
              <a:t>循环和</a:t>
            </a:r>
            <a:r>
              <a:rPr lang="en-US" altLang="zh-CN" sz="3600" dirty="0"/>
              <a:t>for</a:t>
            </a:r>
            <a:r>
              <a:rPr lang="zh-CN" altLang="en-US" sz="3600" dirty="0"/>
              <a:t>循环的</a:t>
            </a:r>
            <a:r>
              <a:rPr lang="zh-CN" altLang="en-US" sz="3600" b="1" dirty="0">
                <a:solidFill>
                  <a:srgbClr val="FF0000"/>
                </a:solidFill>
              </a:rPr>
              <a:t>选用</a:t>
            </a:r>
            <a:r>
              <a:rPr lang="zh-CN" altLang="en-US" sz="3600" dirty="0"/>
              <a:t>区别：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1433</Words>
  <Application>WPS 演示</Application>
  <PresentationFormat>自定义</PresentationFormat>
  <Paragraphs>159</Paragraphs>
  <Slides>17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B</vt:lpstr>
      <vt:lpstr>阿里巴巴普惠体</vt:lpstr>
      <vt:lpstr>Alibaba PuHuiTi R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659</cp:revision>
  <dcterms:created xsi:type="dcterms:W3CDTF">2024-04-10T13:53:00Z</dcterms:created>
  <dcterms:modified xsi:type="dcterms:W3CDTF">2025-10-14T05:47:41Z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FCA88555D3D44735BAA1F56722F3B997</vt:lpwstr>
  </property>
</Properties>
</file>