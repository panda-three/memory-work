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16"/>
  </p:handoutMasterIdLst>
  <p:sldIdLst>
    <p:sldId id="3705" r:id="rId3"/>
    <p:sldId id="3706" r:id="rId4"/>
    <p:sldId id="3775" r:id="rId5"/>
    <p:sldId id="3756" r:id="rId7"/>
    <p:sldId id="3646" r:id="rId8"/>
    <p:sldId id="3708" r:id="rId9"/>
    <p:sldId id="3786" r:id="rId10"/>
    <p:sldId id="3787" r:id="rId11"/>
    <p:sldId id="3788" r:id="rId12"/>
    <p:sldId id="3712" r:id="rId13"/>
    <p:sldId id="3793" r:id="rId14"/>
    <p:sldId id="3702" r:id="rId15"/>
  </p:sldIdLst>
  <p:sldSz cx="12858750" cy="7232650"/>
  <p:notesSz cx="6858000" cy="9144000"/>
  <p:custDataLst>
    <p:tags r:id="rId2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8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60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F4436"/>
    <a:srgbClr val="FFBF00"/>
    <a:srgbClr val="1542FF"/>
    <a:srgbClr val="FFFFFF"/>
    <a:srgbClr val="0C6AC7"/>
    <a:srgbClr val="FFC000"/>
    <a:srgbClr val="06619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38"/>
        <p:guide pos="4075"/>
        <p:guide pos="560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do--while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756967" y="2248173"/>
            <a:ext cx="7344816" cy="1728192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1500" dirty="0"/>
              <a:t>while</a:t>
            </a:r>
            <a:r>
              <a:rPr lang="zh-CN" altLang="en-US" sz="11500" dirty="0"/>
              <a:t>循环</a:t>
            </a:r>
            <a:endParaRPr lang="en-US" altLang="zh-CN" sz="1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圆角 11"/>
          <p:cNvSpPr/>
          <p:nvPr/>
        </p:nvSpPr>
        <p:spPr>
          <a:xfrm>
            <a:off x="7852336" y="4729016"/>
            <a:ext cx="2448272" cy="792088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>
            <a:off x="4341143" y="3220281"/>
            <a:ext cx="2448272" cy="792088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1388815" y="1888133"/>
            <a:ext cx="2448272" cy="792088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b="1" dirty="0"/>
              <a:t>  目标及重难点  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1352811" y="6556844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大纲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流程控制语句的分类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0823" y="1902121"/>
            <a:ext cx="2376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</a:rPr>
              <a:t>顺序结构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13151" y="3262382"/>
            <a:ext cx="2376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</a:rPr>
              <a:t>分支结构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41543" y="4768453"/>
            <a:ext cx="2376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</a:rPr>
              <a:t>循环结构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7" grpId="0" animBg="1"/>
      <p:bldP spid="2" grpId="0"/>
      <p:bldP spid="4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2163704" y="2568776"/>
            <a:ext cx="2448272" cy="792088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52911" y="2608213"/>
            <a:ext cx="2376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</a:rPr>
              <a:t>循环结构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9" name="左大括号 8"/>
          <p:cNvSpPr/>
          <p:nvPr/>
        </p:nvSpPr>
        <p:spPr>
          <a:xfrm>
            <a:off x="4718382" y="1071698"/>
            <a:ext cx="1134929" cy="3842399"/>
          </a:xfrm>
          <a:prstGeom prst="leftBrace">
            <a:avLst/>
          </a:prstGeom>
          <a:noFill/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131675" y="3749963"/>
            <a:ext cx="56262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/>
              <a:t>还有其他循环   ❓ </a:t>
            </a:r>
            <a:endParaRPr lang="zh-CN" altLang="en-US" sz="44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112117" y="1391735"/>
            <a:ext cx="33415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FF0000"/>
                </a:solidFill>
              </a:rPr>
              <a:t>for</a:t>
            </a:r>
            <a:r>
              <a:rPr lang="zh-CN" altLang="en-US" sz="4400" b="1" dirty="0">
                <a:solidFill>
                  <a:srgbClr val="FF0000"/>
                </a:solidFill>
              </a:rPr>
              <a:t>循环  ✅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131675" y="2524371"/>
            <a:ext cx="43301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FF0000"/>
                </a:solidFill>
              </a:rPr>
              <a:t>while</a:t>
            </a:r>
            <a:r>
              <a:rPr lang="zh-CN" altLang="en-US" sz="4400" b="1" dirty="0">
                <a:solidFill>
                  <a:srgbClr val="FF0000"/>
                </a:solidFill>
              </a:rPr>
              <a:t>循环  ✅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837087" y="1501964"/>
            <a:ext cx="6120680" cy="37226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4800" dirty="0"/>
              <a:t>do  while</a:t>
            </a:r>
            <a:r>
              <a:rPr lang="zh-CN" altLang="en-US" sz="4800" dirty="0"/>
              <a:t>循环结构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chemeClr val="tx1"/>
                </a:solidFill>
              </a:rPr>
              <a:t>执行流程</a:t>
            </a: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en-US" altLang="zh-CN" sz="2400" b="1" dirty="0">
                <a:solidFill>
                  <a:srgbClr val="FF0000"/>
                </a:solidFill>
              </a:rPr>
              <a:t>do</a:t>
            </a:r>
            <a:r>
              <a:rPr lang="en-US" altLang="zh-CN" sz="2400" dirty="0"/>
              <a:t>   </a:t>
            </a:r>
            <a:r>
              <a:rPr lang="en-US" altLang="zh-CN" sz="2400" b="1" dirty="0">
                <a:solidFill>
                  <a:srgbClr val="FF0000"/>
                </a:solidFill>
              </a:rPr>
              <a:t>while</a:t>
            </a:r>
            <a:r>
              <a:rPr lang="zh-CN" altLang="en-US" sz="2400" b="1" dirty="0">
                <a:solidFill>
                  <a:srgbClr val="FF0000"/>
                </a:solidFill>
              </a:rPr>
              <a:t>循环结构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408" y="1655310"/>
            <a:ext cx="2833934" cy="4164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271" y="1324275"/>
            <a:ext cx="5040467" cy="4724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en-US" altLang="zh-CN" sz="2400" b="1" dirty="0">
                <a:solidFill>
                  <a:srgbClr val="FF0000"/>
                </a:solidFill>
              </a:rPr>
              <a:t>do</a:t>
            </a:r>
            <a:r>
              <a:rPr lang="en-US" altLang="zh-CN" sz="2400" dirty="0"/>
              <a:t>   </a:t>
            </a:r>
            <a:r>
              <a:rPr lang="en-US" altLang="zh-CN" sz="2400" b="1" dirty="0">
                <a:solidFill>
                  <a:srgbClr val="FF0000"/>
                </a:solidFill>
              </a:rPr>
              <a:t>while</a:t>
            </a:r>
            <a:r>
              <a:rPr lang="zh-CN" altLang="en-US" sz="2400" b="1" dirty="0">
                <a:solidFill>
                  <a:srgbClr val="FF0000"/>
                </a:solidFill>
              </a:rPr>
              <a:t>循环执行流程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43" y="1464399"/>
            <a:ext cx="5131469" cy="48102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3631" y="707156"/>
            <a:ext cx="3622764" cy="57045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do</a:t>
            </a:r>
            <a:r>
              <a:rPr lang="en-US" altLang="zh-CN" sz="2400" dirty="0"/>
              <a:t>   </a:t>
            </a:r>
            <a:r>
              <a:rPr lang="en-US" altLang="zh-CN" sz="2400" b="1" dirty="0">
                <a:solidFill>
                  <a:srgbClr val="FF0000"/>
                </a:solidFill>
              </a:rPr>
              <a:t>while</a:t>
            </a:r>
            <a:r>
              <a:rPr lang="zh-CN" altLang="en-US" sz="2400" b="1" dirty="0">
                <a:solidFill>
                  <a:srgbClr val="FF0000"/>
                </a:solidFill>
              </a:rPr>
              <a:t>循环练习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89380" y="1743710"/>
            <a:ext cx="7775575" cy="541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1.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正向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/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反向输出数字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en-US" altLang="zh-CN" sz="2000" dirty="0">
                <a:sym typeface="+mn-ea"/>
              </a:rPr>
              <a:t>  </a:t>
            </a:r>
            <a:r>
              <a:rPr lang="zh-CN" altLang="en-US" sz="2000" dirty="0">
                <a:sym typeface="+mn-ea"/>
              </a:rPr>
              <a:t>要求</a:t>
            </a:r>
            <a:r>
              <a:rPr lang="en-US" altLang="zh-CN" sz="2000" dirty="0">
                <a:sym typeface="+mn-ea"/>
              </a:rPr>
              <a:t>1</a:t>
            </a:r>
            <a:r>
              <a:rPr lang="zh-CN" altLang="en-US" sz="2000" dirty="0">
                <a:sym typeface="+mn-ea"/>
              </a:rPr>
              <a:t>：打印</a:t>
            </a:r>
            <a:r>
              <a:rPr lang="en-US" altLang="zh-CN" sz="2000" dirty="0">
                <a:sym typeface="+mn-ea"/>
              </a:rPr>
              <a:t>1-5     </a:t>
            </a:r>
            <a:r>
              <a:rPr lang="zh-CN" altLang="en-US" sz="2000" dirty="0">
                <a:sym typeface="+mn-ea"/>
              </a:rPr>
              <a:t>要求</a:t>
            </a:r>
            <a:r>
              <a:rPr lang="en-US" altLang="zh-CN" sz="2000" dirty="0">
                <a:sym typeface="+mn-ea"/>
              </a:rPr>
              <a:t>2</a:t>
            </a:r>
            <a:r>
              <a:rPr lang="zh-CN" altLang="en-US" sz="2000" dirty="0">
                <a:sym typeface="+mn-ea"/>
              </a:rPr>
              <a:t>：打印</a:t>
            </a:r>
            <a:r>
              <a:rPr lang="en-US" altLang="zh-CN" sz="2000" dirty="0">
                <a:sym typeface="+mn-ea"/>
              </a:rPr>
              <a:t>5-1</a:t>
            </a:r>
            <a:endParaRPr lang="en-US" altLang="zh-CN" sz="2000" dirty="0"/>
          </a:p>
          <a:p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2.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求和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en-US" altLang="zh-CN" sz="2000" dirty="0">
                <a:sym typeface="+mn-ea"/>
              </a:rPr>
              <a:t>  </a:t>
            </a:r>
            <a:r>
              <a:rPr lang="zh-CN" altLang="en-US" sz="2000" dirty="0">
                <a:sym typeface="+mn-ea"/>
              </a:rPr>
              <a:t>要求：求</a:t>
            </a:r>
            <a:r>
              <a:rPr lang="en-US" altLang="zh-CN" sz="2000" dirty="0">
                <a:sym typeface="+mn-ea"/>
              </a:rPr>
              <a:t>1-5</a:t>
            </a:r>
            <a:r>
              <a:rPr lang="zh-CN" altLang="en-US" sz="2000" dirty="0">
                <a:sym typeface="+mn-ea"/>
              </a:rPr>
              <a:t>之间的和</a:t>
            </a:r>
            <a:endParaRPr lang="zh-CN" altLang="en-US" sz="2000" dirty="0">
              <a:sym typeface="+mn-ea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、统计满足条件的数字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ym typeface="+mn-ea"/>
              </a:rPr>
              <a:t>需求：键盘录入两个数字，表示一个范围。</a:t>
            </a:r>
            <a:endParaRPr lang="en-US" altLang="zh-CN" sz="2000" dirty="0"/>
          </a:p>
          <a:p>
            <a:r>
              <a:rPr lang="zh-CN" altLang="en-US" sz="2000" dirty="0">
                <a:sym typeface="+mn-ea"/>
              </a:rPr>
              <a:t>统计这个范围中，既能被</a:t>
            </a:r>
            <a:r>
              <a:rPr lang="en-US" altLang="zh-CN" sz="2000" dirty="0">
                <a:sym typeface="+mn-ea"/>
              </a:rPr>
              <a:t>6</a:t>
            </a:r>
            <a:r>
              <a:rPr lang="zh-CN" altLang="en-US" sz="2000" dirty="0">
                <a:sym typeface="+mn-ea"/>
              </a:rPr>
              <a:t>整除，又能被</a:t>
            </a:r>
            <a:r>
              <a:rPr lang="en-US" altLang="zh-CN" sz="2000" dirty="0">
                <a:sym typeface="+mn-ea"/>
              </a:rPr>
              <a:t>8</a:t>
            </a:r>
            <a:r>
              <a:rPr lang="zh-CN" altLang="en-US" sz="2000" dirty="0">
                <a:sym typeface="+mn-ea"/>
              </a:rPr>
              <a:t>整除数字有多少？</a:t>
            </a:r>
            <a:endParaRPr lang="zh-CN" altLang="en-US" sz="2000" dirty="0">
              <a:sym typeface="+mn-ea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4-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水仙花数      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100~999</a:t>
            </a:r>
            <a:endParaRPr lang="en-US" altLang="zh-CN" sz="2000" dirty="0"/>
          </a:p>
          <a:p>
            <a:r>
              <a:rPr lang="zh-CN" altLang="en-US" sz="2000" dirty="0">
                <a:sym typeface="+mn-ea"/>
              </a:rPr>
              <a:t>打印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所有的</a:t>
            </a:r>
            <a:r>
              <a:rPr lang="zh-CN" altLang="en-US" sz="2000" dirty="0">
                <a:sym typeface="+mn-ea"/>
              </a:rPr>
              <a:t>水仙花数：</a:t>
            </a:r>
            <a:endParaRPr lang="en-US" altLang="zh-CN" sz="2000" dirty="0"/>
          </a:p>
          <a:p>
            <a:r>
              <a:rPr lang="zh-CN" altLang="en-US" sz="2000" dirty="0">
                <a:sym typeface="+mn-ea"/>
              </a:rPr>
              <a:t>水仙花数是指</a:t>
            </a:r>
            <a:r>
              <a:rPr lang="zh-CN" altLang="en-US" sz="2000" b="1" dirty="0">
                <a:solidFill>
                  <a:srgbClr val="FF0000"/>
                </a:solidFill>
                <a:effectLst/>
                <a:latin typeface="Arial" panose="020B0604020202020204" pitchFamily="34" charset="0"/>
                <a:sym typeface="+mn-ea"/>
              </a:rPr>
              <a:t>三位数</a:t>
            </a:r>
            <a:r>
              <a:rPr lang="zh-CN" altLang="en-US" sz="2000" dirty="0">
                <a:solidFill>
                  <a:srgbClr val="111111"/>
                </a:solidFill>
                <a:effectLst/>
                <a:latin typeface="Arial" panose="020B0604020202020204" pitchFamily="34" charset="0"/>
                <a:sym typeface="+mn-ea"/>
              </a:rPr>
              <a:t>，其各位数字的立方和</a:t>
            </a:r>
            <a:r>
              <a:rPr lang="zh-CN" altLang="en-US" sz="2000" dirty="0">
                <a:solidFill>
                  <a:srgbClr val="111111"/>
                </a:solidFill>
                <a:latin typeface="Arial" panose="020B0604020202020204" pitchFamily="34" charset="0"/>
                <a:sym typeface="+mn-ea"/>
              </a:rPr>
              <a:t>正</a:t>
            </a:r>
            <a:r>
              <a:rPr lang="zh-CN" altLang="en-US" sz="2000" dirty="0">
                <a:solidFill>
                  <a:srgbClr val="111111"/>
                </a:solidFill>
                <a:effectLst/>
                <a:latin typeface="Arial" panose="020B0604020202020204" pitchFamily="34" charset="0"/>
                <a:sym typeface="+mn-ea"/>
              </a:rPr>
              <a:t>好等于该数本身</a:t>
            </a:r>
            <a:r>
              <a:rPr lang="zh-CN" altLang="en-US" sz="2000" dirty="0">
                <a:sym typeface="+mn-ea"/>
              </a:rPr>
              <a:t>。</a:t>
            </a:r>
            <a:endParaRPr lang="en-US" altLang="zh-CN" sz="2000" dirty="0"/>
          </a:p>
          <a:p>
            <a:r>
              <a:rPr lang="zh-CN" altLang="en-US" sz="2000" dirty="0">
                <a:sym typeface="+mn-ea"/>
              </a:rPr>
              <a:t>例如：</a:t>
            </a:r>
            <a:r>
              <a:rPr lang="zh-CN" altLang="en-US" sz="2000" dirty="0">
                <a:solidFill>
                  <a:srgbClr val="111111"/>
                </a:solidFill>
                <a:effectLst/>
                <a:latin typeface="Arial" panose="020B0604020202020204" pitchFamily="34" charset="0"/>
                <a:sym typeface="+mn-ea"/>
              </a:rPr>
              <a:t> </a:t>
            </a:r>
            <a:r>
              <a:rPr lang="en-US" altLang="zh-CN" sz="2000" dirty="0">
                <a:solidFill>
                  <a:srgbClr val="111111"/>
                </a:solidFill>
                <a:effectLst/>
                <a:latin typeface="Arial" panose="020B0604020202020204" pitchFamily="34" charset="0"/>
                <a:sym typeface="+mn-ea"/>
              </a:rPr>
              <a:t>153 = 1^3+ 5^3 + 3^3</a:t>
            </a:r>
            <a:r>
              <a:rPr lang="zh-CN" altLang="en-US" sz="2000" dirty="0">
                <a:sym typeface="+mn-ea"/>
              </a:rPr>
              <a:t>。</a:t>
            </a:r>
            <a:endParaRPr lang="zh-CN" altLang="en-US" sz="2000" dirty="0">
              <a:sym typeface="+mn-ea"/>
            </a:endParaRPr>
          </a:p>
          <a:p>
            <a:pPr algn="l">
              <a:buClrTx/>
              <a:buSzTx/>
              <a:buNone/>
            </a:pP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5.整数反转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algn="l">
              <a:buClrTx/>
              <a:buSzTx/>
              <a:buNone/>
            </a:pPr>
            <a:r>
              <a:rPr lang="zh-CN" altLang="en-US" sz="2000" dirty="0">
                <a:sym typeface="+mn-ea"/>
              </a:rPr>
              <a:t>将一个整数X，进行反转</a:t>
            </a:r>
            <a:endParaRPr lang="zh-CN" altLang="en-US" sz="2000" dirty="0"/>
          </a:p>
          <a:p>
            <a:pPr algn="l">
              <a:buClrTx/>
              <a:buSzTx/>
              <a:buNone/>
            </a:pPr>
            <a:r>
              <a:rPr lang="zh-CN" altLang="en-US" sz="2000" dirty="0">
                <a:sym typeface="+mn-ea"/>
              </a:rPr>
              <a:t>举例：123 反转之后变成321</a:t>
            </a:r>
            <a:endParaRPr lang="zh-CN" altLang="en-US" sz="2000"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do   while</a:t>
            </a:r>
            <a:r>
              <a:rPr lang="zh-CN" altLang="en-US" sz="2400" b="1" dirty="0">
                <a:solidFill>
                  <a:srgbClr val="FF0000"/>
                </a:solidFill>
              </a:rPr>
              <a:t>特点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76847" y="1816125"/>
            <a:ext cx="9649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至少执行一次</a:t>
            </a:r>
            <a:endParaRPr lang="zh-CN" altLang="en-US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837087" y="1501964"/>
            <a:ext cx="6120680" cy="37226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4800" dirty="0"/>
              <a:t>do  while</a:t>
            </a:r>
            <a:r>
              <a:rPr lang="zh-CN" altLang="en-US" sz="4800" dirty="0"/>
              <a:t>循环结构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chemeClr val="tx1"/>
                </a:solidFill>
              </a:rPr>
              <a:t>执行流程</a:t>
            </a: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44799" y="852572"/>
            <a:ext cx="110172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回文数使用</a:t>
            </a:r>
            <a:r>
              <a:rPr lang="en-US" altLang="zh-CN" sz="3600" b="1" dirty="0">
                <a:solidFill>
                  <a:srgbClr val="FF0000"/>
                </a:solidFill>
              </a:rPr>
              <a:t>while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endParaRPr lang="en-US" altLang="zh-CN" sz="3600" dirty="0"/>
          </a:p>
          <a:p>
            <a:r>
              <a:rPr lang="zh-CN" altLang="en-US" sz="3600" dirty="0"/>
              <a:t>判断一个整数是否为回文数</a:t>
            </a:r>
            <a:endParaRPr lang="en-US" altLang="zh-CN" sz="3600" dirty="0"/>
          </a:p>
          <a:p>
            <a:r>
              <a:rPr lang="zh-CN" altLang="en-US" sz="3600" dirty="0"/>
              <a:t>回文数是指正序（从左向右）和倒序（从右向左）读都是一样的整数。</a:t>
            </a:r>
            <a:endParaRPr lang="en-US" altLang="zh-CN" sz="3600" dirty="0"/>
          </a:p>
          <a:p>
            <a:r>
              <a:rPr lang="zh-CN" altLang="en-US" sz="3600" dirty="0"/>
              <a:t>例如：</a:t>
            </a:r>
            <a:r>
              <a:rPr lang="en-US" altLang="zh-CN" sz="3600" dirty="0"/>
              <a:t>121</a:t>
            </a:r>
            <a:r>
              <a:rPr lang="zh-CN" altLang="en-US" sz="3600" dirty="0"/>
              <a:t>是回文，而</a:t>
            </a:r>
            <a:r>
              <a:rPr lang="en-US" altLang="zh-CN" sz="3600" dirty="0"/>
              <a:t>123</a:t>
            </a:r>
            <a:r>
              <a:rPr lang="zh-CN" altLang="en-US" sz="3600" dirty="0"/>
              <a:t>不是。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36987" y="2327163"/>
            <a:ext cx="698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while</a:t>
            </a:r>
            <a:r>
              <a:rPr lang="zh-CN" altLang="en-US" sz="3600" dirty="0"/>
              <a:t>循环和</a:t>
            </a:r>
            <a:r>
              <a:rPr lang="en-US" altLang="zh-CN" sz="3600" dirty="0"/>
              <a:t>do while</a:t>
            </a:r>
            <a:r>
              <a:rPr lang="zh-CN" altLang="en-US" sz="3600" dirty="0"/>
              <a:t>循环的区别：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962</Words>
  <Application>WPS 演示</Application>
  <PresentationFormat>自定义</PresentationFormat>
  <Paragraphs>107</Paragraphs>
  <Slides>12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B</vt:lpstr>
      <vt:lpstr>阿里巴巴普惠体</vt:lpstr>
      <vt:lpstr>Alibaba PuHuiTi R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655</cp:revision>
  <dcterms:created xsi:type="dcterms:W3CDTF">2024-04-10T13:53:00Z</dcterms:created>
  <dcterms:modified xsi:type="dcterms:W3CDTF">2025-10-14T05:48:45Z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FCA88555D3D44735BAA1F56722F3B997</vt:lpwstr>
  </property>
</Properties>
</file>