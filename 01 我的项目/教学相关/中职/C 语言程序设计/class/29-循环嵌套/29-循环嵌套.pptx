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3"/>
  </p:handoutMasterIdLst>
  <p:sldIdLst>
    <p:sldId id="3705" r:id="rId3"/>
    <p:sldId id="3706" r:id="rId4"/>
    <p:sldId id="3756" r:id="rId5"/>
    <p:sldId id="3646" r:id="rId6"/>
    <p:sldId id="3804" r:id="rId8"/>
    <p:sldId id="3708" r:id="rId9"/>
    <p:sldId id="3805" r:id="rId10"/>
    <p:sldId id="3786" r:id="rId11"/>
    <p:sldId id="3794" r:id="rId12"/>
    <p:sldId id="3806" r:id="rId13"/>
    <p:sldId id="3795" r:id="rId14"/>
    <p:sldId id="3796" r:id="rId15"/>
    <p:sldId id="3800" r:id="rId16"/>
    <p:sldId id="3801" r:id="rId17"/>
    <p:sldId id="3802" r:id="rId18"/>
    <p:sldId id="3803" r:id="rId19"/>
    <p:sldId id="3712" r:id="rId20"/>
    <p:sldId id="3793" r:id="rId21"/>
    <p:sldId id="3702" r:id="rId22"/>
  </p:sldIdLst>
  <p:sldSz cx="12858750" cy="7232650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60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37"/>
        <p:guide pos="4075"/>
        <p:guide pos="560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循环嵌套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756967" y="2248173"/>
            <a:ext cx="9145016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/>
              <a:t>循环高级第一部分</a:t>
            </a:r>
            <a:endParaRPr lang="en-US" altLang="zh-CN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60823" y="1395452"/>
            <a:ext cx="9395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循环高级里，还有其他知识点吗？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循环嵌套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练习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循环嵌套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6215" y="1585595"/>
            <a:ext cx="9178925" cy="1852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什么是循环嵌套呢？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endParaRPr lang="zh-CN" altLang="en-US" sz="2800" b="1" dirty="0"/>
          </a:p>
          <a:p>
            <a:r>
              <a:rPr lang="zh-CN" altLang="en-US" sz="2800" b="1" dirty="0"/>
              <a:t>班上有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个小组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每个小组有</a:t>
            </a:r>
            <a:r>
              <a:rPr lang="en-US" altLang="zh-CN" sz="2800" b="1" dirty="0"/>
              <a:t>6</a:t>
            </a:r>
            <a:r>
              <a:rPr lang="zh-CN" altLang="en-US" sz="2800" b="1" dirty="0"/>
              <a:t>个人。老师点名怎么点</a:t>
            </a:r>
            <a:r>
              <a:rPr lang="en-US" altLang="zh-CN" sz="2800" b="1" dirty="0"/>
              <a:t>?</a:t>
            </a:r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>
                <a:solidFill>
                  <a:srgbClr val="FF0000"/>
                </a:solidFill>
              </a:rPr>
              <a:t>动手验证</a:t>
            </a:r>
            <a:r>
              <a:rPr lang="en-US" altLang="zh-CN" sz="2800" b="1" dirty="0"/>
              <a:t>:</a:t>
            </a:r>
            <a:r>
              <a:rPr lang="zh-CN" altLang="en-US" sz="2800" b="1" dirty="0"/>
              <a:t>让画一个</a:t>
            </a:r>
            <a:r>
              <a:rPr lang="en-US" altLang="zh-CN" sz="2800" b="1" dirty="0"/>
              <a:t>5</a:t>
            </a:r>
            <a:r>
              <a:rPr lang="en-US" altLang="en-US" sz="2800" b="1" dirty="0"/>
              <a:t>×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的格子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边画边数</a:t>
            </a:r>
            <a:r>
              <a:rPr lang="en-US" altLang="zh-CN" sz="2800" b="1" dirty="0"/>
              <a:t>:</a:t>
            </a:r>
            <a:endParaRPr lang="en-US" altLang="zh-CN" sz="2800" b="1" dirty="0"/>
          </a:p>
          <a:p>
            <a:r>
              <a:rPr lang="zh-CN" altLang="en-US" sz="2800" b="1" dirty="0"/>
              <a:t>第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行</a:t>
            </a:r>
            <a:r>
              <a:rPr lang="en-US" altLang="zh-CN" sz="2800" b="1" dirty="0"/>
              <a:t>:</a:t>
            </a:r>
            <a:r>
              <a:rPr lang="zh-CN" altLang="en-US" sz="2800" b="1" dirty="0"/>
              <a:t>画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个格子</a:t>
            </a:r>
            <a:endParaRPr lang="zh-CN" altLang="en-US" sz="2800" b="1" dirty="0"/>
          </a:p>
          <a:p>
            <a:r>
              <a:rPr lang="zh-CN" altLang="en-US" sz="2800" b="1" dirty="0"/>
              <a:t>第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行</a:t>
            </a:r>
            <a:r>
              <a:rPr lang="en-US" altLang="zh-CN" sz="2800" b="1" dirty="0"/>
              <a:t>:</a:t>
            </a:r>
            <a:r>
              <a:rPr lang="zh-CN" altLang="en-US" sz="2800" b="1" dirty="0"/>
              <a:t>画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个格子</a:t>
            </a:r>
            <a:r>
              <a:rPr lang="en-US" altLang="zh-CN" sz="2800" b="1" dirty="0"/>
              <a:t>  </a:t>
            </a:r>
            <a:endParaRPr lang="en-US" altLang="zh-CN" sz="2800" b="1" dirty="0"/>
          </a:p>
          <a:p>
            <a:r>
              <a:rPr lang="en-US" altLang="zh-CN" sz="2800" b="1" dirty="0"/>
              <a:t>...</a:t>
            </a:r>
            <a:endParaRPr lang="en-US" altLang="zh-CN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循环嵌套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6215" y="1585595"/>
            <a:ext cx="139655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循环嵌套：循环里还有其他循环。外面的循环称为外层循环，里面的称为内层</a:t>
            </a:r>
            <a:r>
              <a:rPr lang="zh-CN" altLang="en-US" sz="2000" b="1" dirty="0"/>
              <a:t>循环</a:t>
            </a:r>
            <a:endParaRPr lang="zh-CN" altLang="en-US" sz="20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745" y="2103755"/>
            <a:ext cx="9268460" cy="4312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循环嵌套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验证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50" y="1600200"/>
            <a:ext cx="8699500" cy="488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打印矩形形状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43" y="1497632"/>
            <a:ext cx="4752528" cy="397364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61623" y="3256285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行</a:t>
            </a:r>
            <a:r>
              <a:rPr lang="en-US" altLang="zh-CN" dirty="0"/>
              <a:t>8</a:t>
            </a:r>
            <a:r>
              <a:rPr lang="zh-CN" altLang="en-US" dirty="0"/>
              <a:t>列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打印三角形▲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79" y="1445289"/>
            <a:ext cx="6353175" cy="4067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口诀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396907" y="145624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200" dirty="0">
                <a:solidFill>
                  <a:schemeClr val="tx1"/>
                </a:solidFill>
              </a:rPr>
              <a:t>外循环一次，内循环全跑完</a:t>
            </a:r>
            <a:endParaRPr lang="zh-CN" alt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dirty="0">
                <a:solidFill>
                  <a:schemeClr val="tx1"/>
                </a:solidFill>
              </a:rPr>
              <a:t>想控制行数，外循环来管</a:t>
            </a:r>
            <a:endParaRPr lang="zh-CN" alt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dirty="0">
                <a:solidFill>
                  <a:schemeClr val="tx1"/>
                </a:solidFill>
              </a:rPr>
              <a:t>想控制列数，内循环当班</a:t>
            </a:r>
            <a:endParaRPr lang="zh-CN" alt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dirty="0">
                <a:solidFill>
                  <a:schemeClr val="tx1"/>
                </a:solidFill>
              </a:rPr>
              <a:t>关键看条件，固定还是变</a:t>
            </a:r>
            <a:endParaRPr lang="zh-CN" alt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200" dirty="0">
                <a:solidFill>
                  <a:schemeClr val="tx1"/>
                </a:solidFill>
              </a:rPr>
              <a:t>j &lt;= i </a:t>
            </a:r>
            <a:r>
              <a:rPr lang="zh-CN" altLang="en-US" sz="3200" dirty="0">
                <a:solidFill>
                  <a:schemeClr val="tx1"/>
                </a:solidFill>
              </a:rPr>
              <a:t>是变，</a:t>
            </a:r>
            <a:r>
              <a:rPr lang="en-US" altLang="zh-CN" sz="3200" dirty="0">
                <a:solidFill>
                  <a:schemeClr val="tx1"/>
                </a:solidFill>
              </a:rPr>
              <a:t>j &lt;= 5 </a:t>
            </a:r>
            <a:r>
              <a:rPr lang="zh-CN" altLang="en-US" sz="3200" dirty="0">
                <a:solidFill>
                  <a:schemeClr val="tx1"/>
                </a:solidFill>
              </a:rPr>
              <a:t>是固定</a:t>
            </a:r>
            <a:endParaRPr lang="zh-CN" alt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dirty="0">
                <a:solidFill>
                  <a:schemeClr val="tx1"/>
                </a:solidFill>
              </a:rPr>
              <a:t>多画表多想，嵌套不再难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打印乘法口诀表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083" y="1524311"/>
            <a:ext cx="561975" cy="4095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75" y="1447973"/>
            <a:ext cx="9021663" cy="5021681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928702" y="1524311"/>
            <a:ext cx="56933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思路：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</a:rPr>
              <a:t>	1</a:t>
            </a:r>
            <a:r>
              <a:rPr lang="zh-CN" altLang="en-US" sz="3200" dirty="0">
                <a:solidFill>
                  <a:srgbClr val="FF0000"/>
                </a:solidFill>
              </a:rPr>
              <a:t>、先打印</a:t>
            </a:r>
            <a:r>
              <a:rPr lang="en-US" altLang="zh-CN" sz="3200" dirty="0">
                <a:solidFill>
                  <a:srgbClr val="FF0000"/>
                </a:solidFill>
              </a:rPr>
              <a:t>9</a:t>
            </a:r>
            <a:r>
              <a:rPr lang="zh-CN" altLang="en-US" sz="3200" dirty="0">
                <a:solidFill>
                  <a:srgbClr val="FF0000"/>
                </a:solidFill>
              </a:rPr>
              <a:t>行</a:t>
            </a:r>
            <a:r>
              <a:rPr lang="en-US" altLang="zh-CN" sz="3200" dirty="0">
                <a:solidFill>
                  <a:srgbClr val="FF0000"/>
                </a:solidFill>
              </a:rPr>
              <a:t>9</a:t>
            </a:r>
            <a:r>
              <a:rPr lang="zh-CN" altLang="en-US" sz="3200" dirty="0">
                <a:solidFill>
                  <a:srgbClr val="FF0000"/>
                </a:solidFill>
              </a:rPr>
              <a:t>列的表格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</a:rPr>
              <a:t>	2</a:t>
            </a:r>
            <a:r>
              <a:rPr lang="zh-CN" altLang="en-US" sz="3200" dirty="0">
                <a:solidFill>
                  <a:srgbClr val="FF0000"/>
                </a:solidFill>
              </a:rPr>
              <a:t>、改成直角三角形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</a:rPr>
              <a:t>	3</a:t>
            </a:r>
            <a:r>
              <a:rPr lang="zh-CN" altLang="en-US" sz="3200" dirty="0">
                <a:solidFill>
                  <a:srgbClr val="FF0000"/>
                </a:solidFill>
              </a:rPr>
              <a:t>、改成</a:t>
            </a:r>
            <a:r>
              <a:rPr lang="en-US" altLang="zh-CN" sz="3200" dirty="0">
                <a:solidFill>
                  <a:srgbClr val="FF0000"/>
                </a:solidFill>
              </a:rPr>
              <a:t>99</a:t>
            </a:r>
            <a:r>
              <a:rPr lang="zh-CN" altLang="en-US" sz="3200" dirty="0">
                <a:solidFill>
                  <a:srgbClr val="FF0000"/>
                </a:solidFill>
              </a:rPr>
              <a:t>乘法表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制表符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083" y="1524311"/>
            <a:ext cx="561975" cy="4095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460823" y="1711197"/>
            <a:ext cx="108732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\t:</a:t>
            </a:r>
            <a:r>
              <a:rPr lang="zh-CN" altLang="en-US" sz="3200" b="1" dirty="0"/>
              <a:t>制表符</a:t>
            </a:r>
            <a:endParaRPr lang="en-US" altLang="zh-CN" sz="3200" b="1" dirty="0"/>
          </a:p>
          <a:p>
            <a:r>
              <a:rPr lang="en-US" altLang="zh-CN" sz="3200" dirty="0"/>
              <a:t>	</a:t>
            </a:r>
            <a:r>
              <a:rPr lang="zh-CN" altLang="en-US" sz="3200" dirty="0"/>
              <a:t>长度可变的大空格</a:t>
            </a:r>
            <a:endParaRPr lang="en-US" altLang="zh-CN" sz="3200" dirty="0"/>
          </a:p>
          <a:p>
            <a:r>
              <a:rPr lang="en-US" altLang="zh-CN" sz="3200" dirty="0"/>
              <a:t>	</a:t>
            </a:r>
            <a:r>
              <a:rPr lang="zh-CN" altLang="en-US" sz="3200" dirty="0"/>
              <a:t>会根据前面字母的个数在后面补空格，让整体的长度达到</a:t>
            </a:r>
            <a:r>
              <a:rPr lang="en-US" altLang="zh-CN" sz="3200" dirty="0"/>
              <a:t>8</a:t>
            </a:r>
            <a:r>
              <a:rPr lang="zh-CN" altLang="en-US" sz="3200" dirty="0"/>
              <a:t>或者</a:t>
            </a:r>
            <a:r>
              <a:rPr lang="en-US" altLang="zh-CN" sz="3200" dirty="0"/>
              <a:t>8</a:t>
            </a:r>
            <a:r>
              <a:rPr lang="zh-CN" altLang="en-US" sz="3200" dirty="0"/>
              <a:t>的倍数，最少补</a:t>
            </a:r>
            <a:r>
              <a:rPr lang="en-US" altLang="zh-CN" sz="3200" dirty="0"/>
              <a:t>1</a:t>
            </a:r>
            <a:r>
              <a:rPr lang="zh-CN" altLang="en-US" sz="3200" dirty="0"/>
              <a:t>个，最多补</a:t>
            </a:r>
            <a:r>
              <a:rPr lang="en-US" altLang="zh-CN" sz="3200" dirty="0"/>
              <a:t>8</a:t>
            </a:r>
            <a:r>
              <a:rPr lang="zh-CN" altLang="en-US" sz="3200" dirty="0"/>
              <a:t>个。</a:t>
            </a:r>
            <a:endParaRPr lang="en-US" altLang="zh-CN" sz="3200" dirty="0"/>
          </a:p>
          <a:p>
            <a:r>
              <a:rPr lang="en-US" altLang="zh-CN" sz="3200" dirty="0"/>
              <a:t>	</a:t>
            </a:r>
            <a:r>
              <a:rPr lang="zh-CN" altLang="en-US" sz="3200" dirty="0"/>
              <a:t>例如：</a:t>
            </a:r>
            <a:r>
              <a:rPr lang="en-US" altLang="zh-CN" sz="3200" dirty="0" err="1"/>
              <a:t>abc</a:t>
            </a:r>
            <a:r>
              <a:rPr lang="en-US" altLang="zh-CN" sz="3200" dirty="0"/>
              <a:t>\t</a:t>
            </a:r>
            <a:r>
              <a:rPr lang="zh-CN" altLang="en-US" sz="3200" dirty="0"/>
              <a:t>   补</a:t>
            </a:r>
            <a:r>
              <a:rPr lang="en-US" altLang="zh-CN" sz="3200" dirty="0"/>
              <a:t>5</a:t>
            </a:r>
            <a:r>
              <a:rPr lang="zh-CN" altLang="en-US" sz="3200" dirty="0"/>
              <a:t>个</a:t>
            </a:r>
            <a:endParaRPr lang="en-US" altLang="zh-CN" sz="3200" dirty="0"/>
          </a:p>
          <a:p>
            <a:r>
              <a:rPr lang="en-US" altLang="zh-CN" sz="3200" dirty="0"/>
              <a:t>  		    </a:t>
            </a:r>
            <a:r>
              <a:rPr lang="en-US" altLang="zh-CN" sz="3200" dirty="0" err="1"/>
              <a:t>zhangsan</a:t>
            </a:r>
            <a:r>
              <a:rPr lang="en-US" altLang="zh-CN" sz="3200" dirty="0"/>
              <a:t>\t</a:t>
            </a:r>
            <a:r>
              <a:rPr lang="zh-CN" altLang="en-US" sz="3200" dirty="0"/>
              <a:t>   补几个？</a:t>
            </a:r>
            <a:endParaRPr lang="en-US" altLang="zh-CN" sz="3200" dirty="0"/>
          </a:p>
          <a:p>
            <a:r>
              <a:rPr lang="en-US" altLang="zh-CN" sz="3200" dirty="0"/>
              <a:t>		    </a:t>
            </a:r>
            <a:r>
              <a:rPr lang="zh-CN" altLang="en-US" sz="3200" dirty="0"/>
              <a:t>张</a:t>
            </a:r>
            <a:r>
              <a:rPr lang="en-US" altLang="zh-CN" sz="3200" dirty="0"/>
              <a:t>\t     </a:t>
            </a:r>
            <a:r>
              <a:rPr lang="zh-CN" altLang="en-US" sz="3200" dirty="0"/>
              <a:t>补几个呢？  </a:t>
            </a:r>
            <a:r>
              <a:rPr lang="en-US" altLang="zh-CN" sz="3200" dirty="0"/>
              <a:t>6</a:t>
            </a:r>
            <a:r>
              <a:rPr lang="zh-CN" altLang="en-US" sz="3200" dirty="0"/>
              <a:t>个</a:t>
            </a:r>
            <a:endParaRPr lang="zh-CN" altLang="en-US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823" y="5250627"/>
            <a:ext cx="5981860" cy="1174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八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和为</a:t>
            </a:r>
            <a:r>
              <a:rPr lang="en-US" altLang="zh-CN" sz="2400" b="1" dirty="0">
                <a:solidFill>
                  <a:srgbClr val="FF0000"/>
                </a:solidFill>
              </a:rPr>
              <a:t>15</a:t>
            </a:r>
            <a:r>
              <a:rPr lang="zh-CN" altLang="en-US" sz="2400" b="1" dirty="0">
                <a:solidFill>
                  <a:srgbClr val="FF0000"/>
                </a:solidFill>
              </a:rPr>
              <a:t>的数字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083" y="1524311"/>
            <a:ext cx="561975" cy="4095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88815" y="1717242"/>
            <a:ext cx="10801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找出</a:t>
            </a:r>
            <a:r>
              <a:rPr lang="en-US" altLang="zh-CN" sz="4000" dirty="0"/>
              <a:t>0~1000</a:t>
            </a:r>
            <a:r>
              <a:rPr lang="zh-CN" altLang="en-US" sz="4000" dirty="0"/>
              <a:t>之内，符合要求的数字：</a:t>
            </a:r>
            <a:endParaRPr lang="en-US" altLang="zh-CN" sz="4000" dirty="0"/>
          </a:p>
          <a:p>
            <a:r>
              <a:rPr lang="zh-CN" altLang="en-US" sz="4000" dirty="0"/>
              <a:t>要求：</a:t>
            </a:r>
            <a:endParaRPr lang="en-US" altLang="zh-CN" sz="4000" dirty="0"/>
          </a:p>
          <a:p>
            <a:r>
              <a:rPr lang="en-US" altLang="zh-CN" sz="4000" dirty="0"/>
              <a:t>	</a:t>
            </a:r>
            <a:r>
              <a:rPr lang="zh-CN" altLang="en-US" sz="4000" dirty="0"/>
              <a:t>每一位的数字之和等于</a:t>
            </a:r>
            <a:r>
              <a:rPr lang="en-US" altLang="zh-CN" sz="4000" dirty="0"/>
              <a:t>15</a:t>
            </a:r>
            <a:endParaRPr lang="en-US" altLang="zh-CN" sz="4000" dirty="0"/>
          </a:p>
          <a:p>
            <a:r>
              <a:rPr lang="en-US" altLang="zh-CN" sz="4000" dirty="0"/>
              <a:t>	</a:t>
            </a:r>
            <a:r>
              <a:rPr lang="zh-CN" altLang="en-US" sz="4000" dirty="0"/>
              <a:t>举例：</a:t>
            </a:r>
            <a:r>
              <a:rPr lang="en-US" altLang="zh-CN" sz="4000" dirty="0"/>
              <a:t>78,168,1167</a:t>
            </a:r>
            <a:endParaRPr lang="zh-CN" altLang="en-US" sz="4000" dirty="0"/>
          </a:p>
        </p:txBody>
      </p:sp>
      <p:sp>
        <p:nvSpPr>
          <p:cNvPr id="2" name="文本框 1"/>
          <p:cNvSpPr txBox="1"/>
          <p:nvPr/>
        </p:nvSpPr>
        <p:spPr>
          <a:xfrm>
            <a:off x="6357367" y="4192389"/>
            <a:ext cx="63367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套路：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dirty="0"/>
              <a:t>	</a:t>
            </a:r>
            <a:r>
              <a:rPr lang="en-US" altLang="zh-CN" sz="2400" dirty="0"/>
              <a:t>1</a:t>
            </a:r>
            <a:r>
              <a:rPr lang="zh-CN" altLang="en-US" sz="2400" dirty="0"/>
              <a:t>、外循环：获取范围中的每一个数字</a:t>
            </a:r>
            <a:r>
              <a:rPr lang="en-US" altLang="zh-CN" sz="2400" dirty="0"/>
              <a:t>0~1000</a:t>
            </a:r>
            <a:endParaRPr lang="en-US" altLang="zh-CN" sz="2400" dirty="0"/>
          </a:p>
          <a:p>
            <a:r>
              <a:rPr lang="en-US" altLang="zh-CN" sz="2400" dirty="0"/>
              <a:t>	2</a:t>
            </a:r>
            <a:r>
              <a:rPr lang="zh-CN" altLang="en-US" sz="2400" dirty="0"/>
              <a:t>、内循环：处理这个数字</a:t>
            </a:r>
            <a:endParaRPr lang="en-US" altLang="zh-CN" sz="2400" dirty="0"/>
          </a:p>
          <a:p>
            <a:r>
              <a:rPr lang="en-US" altLang="zh-CN" sz="2400" dirty="0"/>
              <a:t>		</a:t>
            </a:r>
            <a:r>
              <a:rPr lang="zh-CN" altLang="en-US" sz="2400" dirty="0"/>
              <a:t>每一位的数字之和等于</a:t>
            </a:r>
            <a:r>
              <a:rPr lang="en-US" altLang="zh-CN" sz="2400" dirty="0"/>
              <a:t>15</a:t>
            </a:r>
            <a:r>
              <a:rPr lang="zh-CN" altLang="en-US" sz="2400" dirty="0"/>
              <a:t>；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八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和为</a:t>
            </a:r>
            <a:r>
              <a:rPr lang="en-US" altLang="zh-CN" sz="2400" b="1" dirty="0">
                <a:solidFill>
                  <a:srgbClr val="FF0000"/>
                </a:solidFill>
              </a:rPr>
              <a:t>15</a:t>
            </a:r>
            <a:r>
              <a:rPr lang="zh-CN" altLang="en-US" sz="2400" b="1" dirty="0">
                <a:solidFill>
                  <a:srgbClr val="FF0000"/>
                </a:solidFill>
              </a:rPr>
              <a:t>的数字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083" y="1524311"/>
            <a:ext cx="561975" cy="4095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332" y="288627"/>
            <a:ext cx="4886325" cy="6496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九</a:t>
            </a:r>
            <a:r>
              <a:rPr lang="zh-CN" altLang="zh-CN" sz="2400" dirty="0"/>
              <a:t>、</a:t>
            </a:r>
            <a:r>
              <a:rPr lang="en-US" altLang="zh-CN" sz="2400" b="1" dirty="0" err="1">
                <a:solidFill>
                  <a:srgbClr val="FF0000"/>
                </a:solidFill>
              </a:rPr>
              <a:t>goto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083" y="1524311"/>
            <a:ext cx="561975" cy="409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318" y="1582874"/>
            <a:ext cx="6912768" cy="37930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84591" y="1250709"/>
            <a:ext cx="4680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break</a:t>
            </a:r>
            <a:r>
              <a:rPr lang="zh-CN" altLang="en-US" sz="3600" b="1" dirty="0">
                <a:solidFill>
                  <a:srgbClr val="FF0000"/>
                </a:solidFill>
              </a:rPr>
              <a:t>跳出的是内循环呢，还是外循环也跳出呢？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九</a:t>
            </a:r>
            <a:r>
              <a:rPr lang="zh-CN" altLang="zh-CN" sz="2400" dirty="0"/>
              <a:t>、</a:t>
            </a:r>
            <a:r>
              <a:rPr lang="en-US" altLang="zh-CN" sz="2400" b="1" dirty="0" err="1">
                <a:solidFill>
                  <a:srgbClr val="FF0000"/>
                </a:solidFill>
              </a:rPr>
              <a:t>goto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083" y="1524311"/>
            <a:ext cx="561975" cy="4095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75" y="1953394"/>
            <a:ext cx="6673207" cy="445412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941543" y="1600101"/>
            <a:ext cx="4752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/>
              <a:t>goto</a:t>
            </a:r>
            <a:r>
              <a:rPr lang="zh-CN" altLang="en-US" sz="2800" dirty="0"/>
              <a:t>：结合标号，可以跳到代码中的任意地方。</a:t>
            </a:r>
            <a:endParaRPr lang="en-US" altLang="zh-CN" sz="2800" dirty="0"/>
          </a:p>
          <a:p>
            <a:r>
              <a:rPr lang="zh-CN" altLang="en-US" sz="2800" dirty="0"/>
              <a:t>一般只用于跳出循环。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循环嵌套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88815" y="1717242"/>
            <a:ext cx="10801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判断一个数是否为</a:t>
            </a:r>
            <a:r>
              <a:rPr lang="zh-CN" altLang="en-US" sz="4000" dirty="0"/>
              <a:t>素数？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36987" y="2327163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双层循环中，外面的循环叫</a:t>
            </a:r>
            <a:r>
              <a:rPr lang="en-US" altLang="zh-CN" sz="3600" dirty="0"/>
              <a:t>____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1420</Words>
  <Application>WPS 演示</Application>
  <PresentationFormat>自定义</PresentationFormat>
  <Paragraphs>161</Paragraphs>
  <Slides>19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668</cp:revision>
  <dcterms:created xsi:type="dcterms:W3CDTF">2024-04-10T13:53:00Z</dcterms:created>
  <dcterms:modified xsi:type="dcterms:W3CDTF">2025-10-27T07:46:01Z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FCA88555D3D44735BAA1F56722F3B997</vt:lpwstr>
  </property>
</Properties>
</file>