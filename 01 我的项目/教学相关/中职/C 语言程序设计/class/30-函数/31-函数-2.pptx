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7"/>
  </p:notesMasterIdLst>
  <p:handoutMasterIdLst>
    <p:handoutMasterId r:id="rId25"/>
  </p:handoutMasterIdLst>
  <p:sldIdLst>
    <p:sldId id="3705" r:id="rId3"/>
    <p:sldId id="3706" r:id="rId4"/>
    <p:sldId id="3756" r:id="rId5"/>
    <p:sldId id="3646" r:id="rId6"/>
    <p:sldId id="3708" r:id="rId8"/>
    <p:sldId id="3795" r:id="rId9"/>
    <p:sldId id="3786" r:id="rId10"/>
    <p:sldId id="3796" r:id="rId11"/>
    <p:sldId id="3794" r:id="rId12"/>
    <p:sldId id="3798" r:id="rId13"/>
    <p:sldId id="3799" r:id="rId14"/>
    <p:sldId id="3802" r:id="rId15"/>
    <p:sldId id="3803" r:id="rId16"/>
    <p:sldId id="3800" r:id="rId17"/>
    <p:sldId id="3804" r:id="rId18"/>
    <p:sldId id="3801" r:id="rId19"/>
    <p:sldId id="3805" r:id="rId20"/>
    <p:sldId id="3806" r:id="rId21"/>
    <p:sldId id="3712" r:id="rId22"/>
    <p:sldId id="3793" r:id="rId23"/>
    <p:sldId id="3702" r:id="rId24"/>
  </p:sldIdLst>
  <p:sldSz cx="12858750" cy="7232650"/>
  <p:notesSz cx="6858000" cy="9144000"/>
  <p:custDataLst>
    <p:tags r:id="rId30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40080" indent="-1828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925955" indent="-554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" userDrawn="1">
          <p15:clr>
            <a:srgbClr val="A4A3A4"/>
          </p15:clr>
        </p15:guide>
        <p15:guide id="2" orient="horz" pos="4152" userDrawn="1">
          <p15:clr>
            <a:srgbClr val="A4A3A4"/>
          </p15:clr>
        </p15:guide>
        <p15:guide id="3" pos="4075" userDrawn="1">
          <p15:clr>
            <a:srgbClr val="A4A3A4"/>
          </p15:clr>
        </p15:guide>
        <p15:guide id="4" pos="557" userDrawn="1">
          <p15:clr>
            <a:srgbClr val="A4A3A4"/>
          </p15:clr>
        </p15:guide>
        <p15:guide id="5" pos="7544" userDrawn="1">
          <p15:clr>
            <a:srgbClr val="A4A3A4"/>
          </p15:clr>
        </p15:guide>
        <p15:guide id="6" pos="685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11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1542FF"/>
    <a:srgbClr val="AF4436"/>
    <a:srgbClr val="FFBF00"/>
    <a:srgbClr val="FFFFFF"/>
    <a:srgbClr val="0C6AC7"/>
    <a:srgbClr val="FFC000"/>
    <a:srgbClr val="066197"/>
    <a:srgbClr val="262626"/>
    <a:srgbClr val="0767A3"/>
    <a:srgbClr val="5353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41" autoAdjust="0"/>
    <p:restoredTop sz="95865" autoAdjust="0"/>
  </p:normalViewPr>
  <p:slideViewPr>
    <p:cSldViewPr showGuides="1">
      <p:cViewPr varScale="1">
        <p:scale>
          <a:sx n="90" d="100"/>
          <a:sy n="90" d="100"/>
        </p:scale>
        <p:origin x="341" y="53"/>
      </p:cViewPr>
      <p:guideLst>
        <p:guide orient="horz" pos="218"/>
        <p:guide orient="horz" pos="4152"/>
        <p:guide pos="4075"/>
        <p:guide pos="557"/>
        <p:guide pos="7544"/>
        <p:guide pos="6858"/>
      </p:guideLst>
    </p:cSldViewPr>
  </p:slideViewPr>
  <p:outlineViewPr>
    <p:cViewPr>
      <p:scale>
        <a:sx n="100" d="100"/>
        <a:sy n="100" d="100"/>
      </p:scale>
      <p:origin x="0" y="-99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gs" Target="tags/tag1.xml"/><Relationship Id="rId3" Type="http://schemas.openxmlformats.org/officeDocument/2006/relationships/slide" Target="slides/slide1.xml"/><Relationship Id="rId29" Type="http://schemas.openxmlformats.org/officeDocument/2006/relationships/commentAuthors" Target="commentAuthors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0DBF-D010-4114-9DE3-41E342A27C18}" type="datetimeFigureOut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1D107-4CC9-43CA-8CA8-36E1DF70D5F2}" type="slidenum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fld id="{06024D97-E667-405D-B634-E583E2108D71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5pPr>
    <a:lvl6pPr marL="22853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5" y="635"/>
            <a:ext cx="12849225" cy="72320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70"/>
            <a:ext cx="12858750" cy="72313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4984477"/>
            <a:ext cx="3161905" cy="6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25119" y="4804672"/>
            <a:ext cx="3161905" cy="6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17207" y="5282442"/>
            <a:ext cx="3161905" cy="6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4804672"/>
            <a:ext cx="3161905" cy="6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21338" y="5337044"/>
            <a:ext cx="3161905" cy="6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91155" y="4781605"/>
            <a:ext cx="3161905" cy="61904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20821" y="5346680"/>
            <a:ext cx="3161905" cy="619048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2692" y="4781605"/>
            <a:ext cx="3161905" cy="61904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1366761"/>
            <a:ext cx="3161905" cy="619048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5773" y="1359987"/>
            <a:ext cx="3161905" cy="619048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4039" y="1359987"/>
            <a:ext cx="1580953" cy="619048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3501" y="4781605"/>
            <a:ext cx="764270" cy="619048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59461" y="1262924"/>
            <a:ext cx="860873" cy="619048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60390" y="1354452"/>
            <a:ext cx="356817" cy="6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17"/>
            <a:ext cx="12858750" cy="72853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1528093"/>
            <a:ext cx="2857143" cy="14190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77047" y="1518648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09175" y="1528093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1600101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751" y="4624437"/>
            <a:ext cx="2857143" cy="14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69135" y="4407232"/>
            <a:ext cx="2857143" cy="14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6947" y="4416677"/>
            <a:ext cx="2857143" cy="14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37687" y="4474217"/>
            <a:ext cx="2857143" cy="14190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箭头: V 形 3"/>
          <p:cNvSpPr/>
          <p:nvPr userDrawn="1"/>
        </p:nvSpPr>
        <p:spPr>
          <a:xfrm>
            <a:off x="435610" y="224155"/>
            <a:ext cx="405130" cy="405130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6" name="等腰三角形 75"/>
          <p:cNvSpPr/>
          <p:nvPr userDrawn="1"/>
        </p:nvSpPr>
        <p:spPr>
          <a:xfrm rot="5400000">
            <a:off x="-146685" y="156845"/>
            <a:ext cx="852805" cy="540385"/>
          </a:xfrm>
          <a:prstGeom prst="triangle">
            <a:avLst/>
          </a:prstGeom>
          <a:solidFill>
            <a:srgbClr val="0767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6656" y="5177155"/>
            <a:ext cx="752744" cy="2098793"/>
            <a:chOff x="13891297" y="2075351"/>
            <a:chExt cx="1066248" cy="2972900"/>
          </a:xfrm>
        </p:grpSpPr>
        <p:sp>
          <p:nvSpPr>
            <p:cNvPr id="14" name="椭圆 13"/>
            <p:cNvSpPr/>
            <p:nvPr/>
          </p:nvSpPr>
          <p:spPr>
            <a:xfrm>
              <a:off x="13891297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14142396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14393495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14644594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14895693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13891297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14142396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14393495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4644594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14895693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13891297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14142396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14393495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14644594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14895693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13891297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14142396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14393495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14644594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14895693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13891297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14142396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14393495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14644594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14895693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13891297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14142396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14393495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14644594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>
              <a:off x="14895693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13891297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14142396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>
              <a:off x="14393495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14644594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14895693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13891297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4142396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>
              <a:off x="14393495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14644594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/>
          </p:nvSpPr>
          <p:spPr>
            <a:xfrm>
              <a:off x="14895693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13891297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14142396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14393495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>
              <a:off x="14644594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14895693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13891297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/>
          </p:nvSpPr>
          <p:spPr>
            <a:xfrm>
              <a:off x="14142396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/>
          </p:nvSpPr>
          <p:spPr>
            <a:xfrm>
              <a:off x="14393495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/>
          </p:nvSpPr>
          <p:spPr>
            <a:xfrm>
              <a:off x="14644594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/>
          </p:nvSpPr>
          <p:spPr>
            <a:xfrm>
              <a:off x="14895693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/>
          </p:nvSpPr>
          <p:spPr>
            <a:xfrm>
              <a:off x="13891297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/>
          </p:nvSpPr>
          <p:spPr>
            <a:xfrm>
              <a:off x="14142396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/>
          </p:nvSpPr>
          <p:spPr>
            <a:xfrm>
              <a:off x="14393495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/>
          </p:nvSpPr>
          <p:spPr>
            <a:xfrm>
              <a:off x="14644594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/>
          </p:nvSpPr>
          <p:spPr>
            <a:xfrm>
              <a:off x="14895693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/>
          </p:nvSpPr>
          <p:spPr>
            <a:xfrm>
              <a:off x="13891297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/>
            <p:cNvSpPr/>
            <p:nvPr/>
          </p:nvSpPr>
          <p:spPr>
            <a:xfrm>
              <a:off x="14142396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椭圆 70"/>
            <p:cNvSpPr/>
            <p:nvPr/>
          </p:nvSpPr>
          <p:spPr>
            <a:xfrm>
              <a:off x="14393495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椭圆 71"/>
            <p:cNvSpPr/>
            <p:nvPr/>
          </p:nvSpPr>
          <p:spPr>
            <a:xfrm>
              <a:off x="14644594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/>
            <p:cNvSpPr/>
            <p:nvPr/>
          </p:nvSpPr>
          <p:spPr>
            <a:xfrm>
              <a:off x="14895693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/>
            <p:cNvSpPr/>
            <p:nvPr/>
          </p:nvSpPr>
          <p:spPr>
            <a:xfrm>
              <a:off x="13891297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/>
            <p:cNvSpPr/>
            <p:nvPr/>
          </p:nvSpPr>
          <p:spPr>
            <a:xfrm>
              <a:off x="14142396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椭圆 81"/>
            <p:cNvSpPr/>
            <p:nvPr/>
          </p:nvSpPr>
          <p:spPr>
            <a:xfrm>
              <a:off x="14393495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椭圆 82"/>
            <p:cNvSpPr/>
            <p:nvPr/>
          </p:nvSpPr>
          <p:spPr>
            <a:xfrm>
              <a:off x="14644594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椭圆 83"/>
            <p:cNvSpPr/>
            <p:nvPr/>
          </p:nvSpPr>
          <p:spPr>
            <a:xfrm>
              <a:off x="14895693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5" name="矩形 134"/>
          <p:cNvSpPr/>
          <p:nvPr userDrawn="1"/>
        </p:nvSpPr>
        <p:spPr>
          <a:xfrm>
            <a:off x="635" y="7160260"/>
            <a:ext cx="12858750" cy="87630"/>
          </a:xfrm>
          <a:prstGeom prst="rect">
            <a:avLst/>
          </a:prstGeom>
          <a:solidFill>
            <a:srgbClr val="0767A3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3475" y="1461770"/>
            <a:ext cx="1497330" cy="1257935"/>
          </a:xfrm>
          <a:prstGeom prst="rect">
            <a:avLst/>
          </a:prstGeom>
        </p:spPr>
      </p:pic>
      <p:pic>
        <p:nvPicPr>
          <p:cNvPr id="77" name="图片 7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73215" y="1393190"/>
            <a:ext cx="1497330" cy="1257935"/>
          </a:xfrm>
          <a:prstGeom prst="rect">
            <a:avLst/>
          </a:prstGeom>
        </p:spPr>
      </p:pic>
      <p:pic>
        <p:nvPicPr>
          <p:cNvPr id="78" name="图片 77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1461770"/>
            <a:ext cx="1497330" cy="1257935"/>
          </a:xfrm>
          <a:prstGeom prst="rect">
            <a:avLst/>
          </a:prstGeom>
        </p:spPr>
      </p:pic>
      <p:pic>
        <p:nvPicPr>
          <p:cNvPr id="79" name="图片 78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1290955"/>
            <a:ext cx="1497330" cy="1257935"/>
          </a:xfrm>
          <a:prstGeom prst="rect">
            <a:avLst/>
          </a:prstGeom>
        </p:spPr>
      </p:pic>
      <p:pic>
        <p:nvPicPr>
          <p:cNvPr id="80" name="图片 79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71600" y="4476750"/>
            <a:ext cx="1497330" cy="1257935"/>
          </a:xfrm>
          <a:prstGeom prst="rect">
            <a:avLst/>
          </a:prstGeom>
        </p:spPr>
      </p:pic>
      <p:pic>
        <p:nvPicPr>
          <p:cNvPr id="85" name="图片 84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12280" y="4305300"/>
            <a:ext cx="1497330" cy="1257935"/>
          </a:xfrm>
          <a:prstGeom prst="rect">
            <a:avLst/>
          </a:prstGeom>
        </p:spPr>
      </p:pic>
      <p:pic>
        <p:nvPicPr>
          <p:cNvPr id="86" name="图片 85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4305300"/>
            <a:ext cx="1497330" cy="1257935"/>
          </a:xfrm>
          <a:prstGeom prst="rect">
            <a:avLst/>
          </a:prstGeom>
        </p:spPr>
      </p:pic>
      <p:pic>
        <p:nvPicPr>
          <p:cNvPr id="87" name="图片 8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4305300"/>
            <a:ext cx="1497330" cy="1257935"/>
          </a:xfrm>
          <a:prstGeom prst="rect">
            <a:avLst/>
          </a:prstGeom>
        </p:spPr>
      </p:pic>
      <p:sp>
        <p:nvSpPr>
          <p:cNvPr id="4" name="任意多边形: 形状 50"/>
          <p:cNvSpPr/>
          <p:nvPr userDrawn="1"/>
        </p:nvSpPr>
        <p:spPr>
          <a:xfrm rot="18932100">
            <a:off x="9102985" y="1473268"/>
            <a:ext cx="1159449" cy="1159449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0767A3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51"/>
          <p:cNvSpPr/>
          <p:nvPr userDrawn="1"/>
        </p:nvSpPr>
        <p:spPr>
          <a:xfrm rot="18958199">
            <a:off x="10136715" y="3266146"/>
            <a:ext cx="462942" cy="462942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FFC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1"/>
          <p:cNvSpPr txBox="1"/>
          <p:nvPr userDrawn="1"/>
        </p:nvSpPr>
        <p:spPr>
          <a:xfrm>
            <a:off x="3907790" y="2265045"/>
            <a:ext cx="50374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0661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You!</a:t>
            </a:r>
            <a:endParaRPr lang="en-US" altLang="zh-CN" sz="7200" b="1" dirty="0">
              <a:solidFill>
                <a:srgbClr val="06619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9" name="直接连接符 88"/>
          <p:cNvCxnSpPr/>
          <p:nvPr userDrawn="1"/>
        </p:nvCxnSpPr>
        <p:spPr>
          <a:xfrm>
            <a:off x="3900805" y="3392170"/>
            <a:ext cx="5051425" cy="0"/>
          </a:xfrm>
          <a:prstGeom prst="line">
            <a:avLst/>
          </a:prstGeom>
          <a:ln>
            <a:solidFill>
              <a:srgbClr val="53535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0" name="文本框 6"/>
          <p:cNvSpPr txBox="1"/>
          <p:nvPr userDrawn="1"/>
        </p:nvSpPr>
        <p:spPr>
          <a:xfrm>
            <a:off x="4038600" y="3468370"/>
            <a:ext cx="47758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45" algn="dist" eaLnBrk="1" latinLnBrk="0" hangingPunct="1"/>
            <a:r>
              <a:rPr lang="zh-CN" altLang="en-US" sz="3200">
                <a:solidFill>
                  <a:schemeClr val="accent4">
                    <a:lumMod val="50000"/>
                  </a:schemeClr>
                </a:solidFill>
                <a:latin typeface="字魂73号-江南手书" panose="00000500000000000000" charset="-122"/>
                <a:ea typeface="字魂73号-江南手书" panose="00000500000000000000" charset="-122"/>
                <a:cs typeface="字魂73号-江南手书" panose="00000500000000000000" charset="-122"/>
              </a:rPr>
              <a:t>力学笃行  志存高远</a:t>
            </a:r>
            <a:endParaRPr lang="zh-CN" altLang="en-US" sz="3200">
              <a:solidFill>
                <a:schemeClr val="accent4">
                  <a:lumMod val="50000"/>
                </a:schemeClr>
              </a:solidFill>
              <a:latin typeface="字魂73号-江南手书" panose="00000500000000000000" charset="-122"/>
              <a:ea typeface="字魂73号-江南手书" panose="00000500000000000000" charset="-122"/>
              <a:cs typeface="字魂73号-江南手书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3729" y="4375800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16072" y="4410145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92013" y="4278768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4238224"/>
            <a:ext cx="2857143" cy="1419048"/>
          </a:xfrm>
          <a:prstGeom prst="rect">
            <a:avLst/>
          </a:prstGeom>
        </p:spPr>
      </p:pic>
      <p:pic>
        <p:nvPicPr>
          <p:cNvPr id="92" name="图片 9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66302" y="1013956"/>
            <a:ext cx="2857143" cy="1419048"/>
          </a:xfrm>
          <a:prstGeom prst="rect">
            <a:avLst/>
          </a:prstGeom>
        </p:spPr>
      </p:pic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069" y="1173658"/>
            <a:ext cx="2857143" cy="1419048"/>
          </a:xfrm>
          <a:prstGeom prst="rect">
            <a:avLst/>
          </a:prstGeom>
        </p:spPr>
      </p:pic>
      <p:pic>
        <p:nvPicPr>
          <p:cNvPr id="128" name="图片 1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77818" y="1024383"/>
            <a:ext cx="2857143" cy="1419048"/>
          </a:xfrm>
          <a:prstGeom prst="rect">
            <a:avLst/>
          </a:prstGeom>
        </p:spPr>
      </p:pic>
      <p:pic>
        <p:nvPicPr>
          <p:cNvPr id="130" name="图片 1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57292" y="995663"/>
            <a:ext cx="2857143" cy="14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4039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59461" y="6703595"/>
            <a:ext cx="4339828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81492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64565" rtl="0" eaLnBrk="1" latinLnBrk="0" hangingPunct="1">
        <a:lnSpc>
          <a:spcPct val="90000"/>
        </a:lnSpc>
        <a:spcBef>
          <a:spcPct val="0"/>
        </a:spcBef>
        <a:buNone/>
        <a:defRPr sz="4640" kern="1200">
          <a:solidFill>
            <a:schemeClr val="tx1"/>
          </a:solidFill>
          <a:latin typeface="印品黑体" panose="00000500000000000000" pitchFamily="2" charset="-122"/>
          <a:ea typeface="+mj-ea"/>
          <a:cs typeface="+mj-cs"/>
        </a:defRPr>
      </a:lvl1pPr>
    </p:titleStyle>
    <p:bodyStyle>
      <a:lvl1pPr marL="241300" indent="-241300" algn="l" defTabSz="964565" rtl="0" eaLnBrk="1" latinLnBrk="0" hangingPunct="1">
        <a:lnSpc>
          <a:spcPct val="90000"/>
        </a:lnSpc>
        <a:spcBef>
          <a:spcPts val="1055"/>
        </a:spcBef>
        <a:buFont typeface="Arial" panose="020B0604020202020204" pitchFamily="34" charset="0"/>
        <a:buChar char="•"/>
        <a:defRPr sz="2955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1pPr>
      <a:lvl2pPr marL="72326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3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2pPr>
      <a:lvl3pPr marL="12052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1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3pPr>
      <a:lvl4pPr marL="16878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4pPr>
      <a:lvl5pPr marL="216979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5pPr>
      <a:lvl6pPr marL="26517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343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61632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9829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819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645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4653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284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110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9306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7502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5699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8.pn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3.png"/><Relationship Id="rId1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684959" y="1498476"/>
            <a:ext cx="76060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函数</a:t>
            </a:r>
            <a:r>
              <a:rPr lang="en-US" altLang="zh-CN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-2</a:t>
            </a:r>
            <a:endParaRPr lang="en-US" altLang="zh-CN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TextBox 7"/>
          <p:cNvSpPr txBox="1"/>
          <p:nvPr/>
        </p:nvSpPr>
        <p:spPr>
          <a:xfrm>
            <a:off x="4125119" y="3400926"/>
            <a:ext cx="4968552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周磊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1103" y="5272509"/>
            <a:ext cx="5582514" cy="108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4870" y="159734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>
                <a:solidFill>
                  <a:srgbClr val="FFC000"/>
                </a:solidFill>
              </a:rPr>
              <a:t>C</a:t>
            </a:r>
            <a:r>
              <a:rPr kumimoji="1" lang="zh-CN" altLang="en-US" dirty="0">
                <a:solidFill>
                  <a:srgbClr val="FFC000"/>
                </a:solidFill>
              </a:rPr>
              <a:t>语言</a:t>
            </a:r>
            <a:endParaRPr kumimoji="1" lang="zh-CN" altLang="en-US" dirty="0">
              <a:solidFill>
                <a:srgbClr val="FFC000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70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sz="2000" b="1" dirty="0">
                <a:solidFill>
                  <a:srgbClr val="FFFFFF"/>
                </a:solidFill>
              </a:rPr>
              <a:t>知识回顾 </a:t>
            </a:r>
            <a:r>
              <a:rPr lang="zh-CN" altLang="en-US" b="1" dirty="0"/>
              <a:t>新课导入  目标及重难点  新授 总结与合作探究  作业  限时检测</a:t>
            </a:r>
            <a:endParaRPr lang="zh-CN" altLang="en-US" b="1" dirty="0"/>
          </a:p>
        </p:txBody>
      </p:sp>
      <p:sp>
        <p:nvSpPr>
          <p:cNvPr id="6" name="箭头: 上 5"/>
          <p:cNvSpPr/>
          <p:nvPr/>
        </p:nvSpPr>
        <p:spPr>
          <a:xfrm>
            <a:off x="45271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文本占位符 2"/>
          <p:cNvSpPr>
            <a:spLocks noGrp="1"/>
          </p:cNvSpPr>
          <p:nvPr/>
        </p:nvSpPr>
        <p:spPr>
          <a:xfrm>
            <a:off x="2972991" y="1312069"/>
            <a:ext cx="6480720" cy="3896981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6600" dirty="0"/>
              <a:t>函数带参数</a:t>
            </a:r>
            <a:endParaRPr lang="zh-CN" altLang="en-US" sz="66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6600" dirty="0"/>
              <a:t>函数的基本格式</a:t>
            </a:r>
            <a:endParaRPr lang="en-US" altLang="zh-CN" sz="66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6600" dirty="0"/>
              <a:t>函数调用</a:t>
            </a:r>
            <a:endParaRPr lang="en-US" altLang="zh-CN" sz="6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</a:t>
            </a:r>
            <a:r>
              <a:rPr lang="zh-CN" altLang="en-US" sz="2000" b="1" dirty="0">
                <a:solidFill>
                  <a:schemeClr val="bg1"/>
                </a:solidFill>
              </a:rPr>
              <a:t>新课导入</a:t>
            </a:r>
            <a:r>
              <a:rPr lang="zh-CN" altLang="en-US" sz="2000" b="1" dirty="0"/>
              <a:t>  </a:t>
            </a:r>
            <a:r>
              <a:rPr lang="zh-CN" altLang="en-US" b="1" dirty="0"/>
              <a:t>目标及重难点  新授 总结与合作探究  作业  限时检测</a:t>
            </a:r>
            <a:endParaRPr lang="zh-CN" altLang="en-US" b="1" dirty="0"/>
          </a:p>
        </p:txBody>
      </p:sp>
      <p:sp>
        <p:nvSpPr>
          <p:cNvPr id="2" name="箭头: 上 1"/>
          <p:cNvSpPr/>
          <p:nvPr/>
        </p:nvSpPr>
        <p:spPr>
          <a:xfrm>
            <a:off x="1460823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9017" y="1816125"/>
            <a:ext cx="5343525" cy="2752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</a:t>
            </a:r>
            <a:r>
              <a:rPr lang="zh-CN" altLang="en-US" sz="2000" b="1" dirty="0">
                <a:solidFill>
                  <a:schemeClr val="bg1"/>
                </a:solidFill>
              </a:rPr>
              <a:t>目标及重难点  </a:t>
            </a:r>
            <a:r>
              <a:rPr lang="zh-CN" altLang="en-US" b="1" dirty="0"/>
              <a:t>新授 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275696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标题 3"/>
          <p:cNvSpPr>
            <a:spLocks noGrp="1"/>
          </p:cNvSpPr>
          <p:nvPr/>
        </p:nvSpPr>
        <p:spPr>
          <a:xfrm>
            <a:off x="2026555" y="2968253"/>
            <a:ext cx="2160240" cy="81407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lang="zh-CN" altLang="en-US" sz="4800" dirty="0"/>
              <a:t>目标：</a:t>
            </a:r>
            <a:endParaRPr lang="en-US" altLang="zh-CN" sz="4800" dirty="0"/>
          </a:p>
        </p:txBody>
      </p:sp>
      <p:sp>
        <p:nvSpPr>
          <p:cNvPr id="4" name="文本占位符 2"/>
          <p:cNvSpPr>
            <a:spLocks noGrp="1"/>
          </p:cNvSpPr>
          <p:nvPr/>
        </p:nvSpPr>
        <p:spPr>
          <a:xfrm>
            <a:off x="3837087" y="2176165"/>
            <a:ext cx="4536504" cy="221950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>
                <a:solidFill>
                  <a:schemeClr val="tx1"/>
                </a:solidFill>
              </a:rPr>
              <a:t>函数带参数</a:t>
            </a:r>
            <a:endParaRPr lang="en-US" altLang="zh-CN" sz="48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>
                <a:solidFill>
                  <a:schemeClr val="tx1"/>
                </a:solidFill>
              </a:rPr>
              <a:t>函数带返回值</a:t>
            </a:r>
            <a:endParaRPr lang="en-US" altLang="zh-CN" sz="4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b="1" dirty="0">
                <a:solidFill>
                  <a:srgbClr val="FF0000"/>
                </a:solidFill>
              </a:rPr>
              <a:t>函数带参数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66351" y="1585592"/>
            <a:ext cx="100091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昨天的作业：</a:t>
            </a:r>
            <a:endParaRPr lang="en-US" altLang="zh-CN" sz="2800" b="1" dirty="0"/>
          </a:p>
          <a:p>
            <a:r>
              <a:rPr lang="en-US" altLang="zh-CN" sz="2800" b="1" dirty="0"/>
              <a:t>	</a:t>
            </a:r>
            <a:r>
              <a:rPr lang="zh-CN" altLang="en-US" sz="2800" b="1" dirty="0"/>
              <a:t>定义一个函数，求      和        的和？</a:t>
            </a:r>
            <a:endParaRPr lang="zh-CN" altLang="en-US" sz="2800" b="1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421" y="2583758"/>
            <a:ext cx="4305300" cy="36576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271831" y="1998456"/>
            <a:ext cx="652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10</a:t>
            </a:r>
            <a:endParaRPr lang="zh-CN" altLang="en-US" sz="2800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6275901" y="1998456"/>
            <a:ext cx="652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20</a:t>
            </a:r>
            <a:endParaRPr lang="zh-CN" altLang="en-US" sz="2800" b="1" dirty="0"/>
          </a:p>
        </p:txBody>
      </p:sp>
      <p:sp>
        <p:nvSpPr>
          <p:cNvPr id="12" name="文本框 11"/>
          <p:cNvSpPr txBox="1"/>
          <p:nvPr/>
        </p:nvSpPr>
        <p:spPr>
          <a:xfrm>
            <a:off x="5271831" y="1994853"/>
            <a:ext cx="652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</a:rPr>
              <a:t>30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275901" y="1994853"/>
            <a:ext cx="6528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</a:rPr>
              <a:t>40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9335" y="3145224"/>
            <a:ext cx="6548289" cy="15637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2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b="1" dirty="0">
                <a:solidFill>
                  <a:srgbClr val="FF0000"/>
                </a:solidFill>
              </a:rPr>
              <a:t>函数带参数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8806" y="2182840"/>
            <a:ext cx="5381625" cy="261937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743" y="1788213"/>
            <a:ext cx="4305300" cy="3657600"/>
          </a:xfrm>
          <a:prstGeom prst="rect">
            <a:avLst/>
          </a:prstGeom>
        </p:spPr>
      </p:pic>
      <p:sp>
        <p:nvSpPr>
          <p:cNvPr id="15" name="箭头: 右 14"/>
          <p:cNvSpPr/>
          <p:nvPr/>
        </p:nvSpPr>
        <p:spPr>
          <a:xfrm>
            <a:off x="5277247" y="2751209"/>
            <a:ext cx="1985223" cy="1081139"/>
          </a:xfrm>
          <a:prstGeom prst="rightArrow">
            <a:avLst>
              <a:gd name="adj1" fmla="val 32109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一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函数带参数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892871" y="1507995"/>
            <a:ext cx="26642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调用的时候：</a:t>
            </a:r>
            <a:endParaRPr lang="zh-CN" altLang="en-US" sz="28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9093" y="19500"/>
            <a:ext cx="4968553" cy="3509343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7327" y="3811612"/>
            <a:ext cx="6108297" cy="2973065"/>
          </a:xfrm>
          <a:prstGeom prst="rect">
            <a:avLst/>
          </a:prstGeom>
        </p:spPr>
      </p:pic>
      <p:cxnSp>
        <p:nvCxnSpPr>
          <p:cNvPr id="14" name="直接箭头连接符 13"/>
          <p:cNvCxnSpPr/>
          <p:nvPr/>
        </p:nvCxnSpPr>
        <p:spPr>
          <a:xfrm>
            <a:off x="6069335" y="2176165"/>
            <a:ext cx="2736304" cy="1728192"/>
          </a:xfrm>
          <a:prstGeom prst="straightConnector1">
            <a:avLst/>
          </a:prstGeom>
          <a:ln w="571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>
            <a:off x="6928702" y="2176165"/>
            <a:ext cx="4037176" cy="1758217"/>
          </a:xfrm>
          <a:prstGeom prst="straightConnector1">
            <a:avLst/>
          </a:prstGeom>
          <a:ln w="571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7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25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5" dur="25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" dur="25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25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7" presetClass="emph" presetSubtype="0" repeatCount="indefinite" fill="remov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 override="childStyle">
                                        <p:cTn id="19" dur="250" autoRev="1" fill="remov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0" dur="250" autoRev="1" fill="remove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" dur="250" autoRev="1" fill="remove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" dur="250" autoRev="1" fill="remove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一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函数带参数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743" y="1305985"/>
            <a:ext cx="11757967" cy="3469197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9655" y="2104157"/>
            <a:ext cx="1834546" cy="45502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0008" y="2824237"/>
            <a:ext cx="1846126" cy="34804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4999" y="4806895"/>
            <a:ext cx="6289576" cy="15146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函数带参数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</a:rPr>
              <a:t>练习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88815" y="1702419"/>
            <a:ext cx="11300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定义一个函数，求两数之和，并把结果输出到控制台上。</a:t>
            </a:r>
            <a:endParaRPr lang="zh-CN" altLang="en-US" sz="36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函数带范围值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783" y="1489158"/>
            <a:ext cx="10317807" cy="48937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函数带范围值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44799" y="1632420"/>
            <a:ext cx="1071219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需求：小慧考试成绩：基础题得分</a:t>
            </a:r>
            <a:r>
              <a:rPr lang="en-US" altLang="zh-CN" sz="2800" dirty="0"/>
              <a:t>93</a:t>
            </a:r>
            <a:r>
              <a:rPr lang="zh-CN" altLang="en-US" sz="2800" dirty="0"/>
              <a:t>，附加题得分</a:t>
            </a:r>
            <a:r>
              <a:rPr lang="en-US" altLang="zh-CN" sz="2800" dirty="0"/>
              <a:t>10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r>
              <a:rPr lang="en-US" altLang="zh-CN" sz="2800" dirty="0"/>
              <a:t>              </a:t>
            </a:r>
            <a:r>
              <a:rPr lang="zh-CN" altLang="en-US" sz="2800" dirty="0"/>
              <a:t>小丹考试成绩：基础题得分</a:t>
            </a:r>
            <a:r>
              <a:rPr lang="en-US" altLang="zh-CN" sz="2800" dirty="0"/>
              <a:t>87</a:t>
            </a:r>
            <a:r>
              <a:rPr lang="zh-CN" altLang="en-US" sz="2800" dirty="0"/>
              <a:t>，附加题得分</a:t>
            </a:r>
            <a:r>
              <a:rPr lang="en-US" altLang="zh-CN" sz="2800" dirty="0"/>
              <a:t>9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r>
              <a:rPr lang="en-US" altLang="zh-CN" sz="2800" dirty="0"/>
              <a:t>	</a:t>
            </a:r>
            <a:r>
              <a:rPr lang="zh-CN" altLang="en-US" sz="2800" dirty="0"/>
              <a:t>请问，谁的总分更高？</a:t>
            </a:r>
            <a:endParaRPr lang="zh-CN" altLang="en-US" sz="2800" dirty="0"/>
          </a:p>
        </p:txBody>
      </p:sp>
      <p:sp>
        <p:nvSpPr>
          <p:cNvPr id="4" name="矩形: 圆角 3"/>
          <p:cNvSpPr/>
          <p:nvPr/>
        </p:nvSpPr>
        <p:spPr>
          <a:xfrm>
            <a:off x="983973" y="1744117"/>
            <a:ext cx="260826" cy="27651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751" y="3216693"/>
            <a:ext cx="5181600" cy="268605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984" y="3210025"/>
            <a:ext cx="5465071" cy="2692351"/>
          </a:xfrm>
          <a:prstGeom prst="rect">
            <a:avLst/>
          </a:prstGeom>
        </p:spPr>
      </p:pic>
      <p:sp>
        <p:nvSpPr>
          <p:cNvPr id="14" name="箭头: 右 13"/>
          <p:cNvSpPr/>
          <p:nvPr/>
        </p:nvSpPr>
        <p:spPr>
          <a:xfrm>
            <a:off x="5994351" y="4192389"/>
            <a:ext cx="1090633" cy="504056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7869535" y="5416525"/>
            <a:ext cx="48245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return</a:t>
            </a:r>
            <a:r>
              <a:rPr lang="zh-CN" altLang="en-US" sz="2400" b="1" dirty="0">
                <a:solidFill>
                  <a:srgbClr val="FF0000"/>
                </a:solidFill>
              </a:rPr>
              <a:t>作用：</a:t>
            </a:r>
            <a:r>
              <a:rPr lang="en-US" altLang="zh-CN" sz="2400" b="1" dirty="0">
                <a:solidFill>
                  <a:srgbClr val="FF0000"/>
                </a:solidFill>
              </a:rPr>
              <a:t> 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r>
              <a:rPr lang="en-US" altLang="zh-CN" sz="2400" b="1" dirty="0"/>
              <a:t>      1</a:t>
            </a:r>
            <a:r>
              <a:rPr lang="zh-CN" altLang="en-US" sz="2400" b="1" dirty="0"/>
              <a:t>、结束函数</a:t>
            </a:r>
            <a:endParaRPr lang="en-US" altLang="zh-CN" sz="2400" b="1" dirty="0"/>
          </a:p>
          <a:p>
            <a:r>
              <a:rPr lang="en-US" altLang="zh-CN" sz="2400" b="1" dirty="0"/>
              <a:t>      2</a:t>
            </a:r>
            <a:r>
              <a:rPr lang="zh-CN" altLang="en-US" sz="2400" b="1" dirty="0"/>
              <a:t>、把后面的数据，交给调用处</a:t>
            </a:r>
            <a:endParaRPr lang="zh-CN" altLang="en-US" sz="24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函数带</a:t>
            </a:r>
            <a:r>
              <a:rPr lang="zh-CN" altLang="en-US" sz="2400" b="1" dirty="0">
                <a:solidFill>
                  <a:srgbClr val="FF0000"/>
                </a:solidFill>
              </a:rPr>
              <a:t>返回值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743" y="2147713"/>
            <a:ext cx="5465071" cy="2692351"/>
          </a:xfrm>
          <a:prstGeom prst="rect">
            <a:avLst/>
          </a:prstGeom>
        </p:spPr>
      </p:pic>
      <p:sp>
        <p:nvSpPr>
          <p:cNvPr id="14" name="箭头: 右 13"/>
          <p:cNvSpPr/>
          <p:nvPr/>
        </p:nvSpPr>
        <p:spPr>
          <a:xfrm>
            <a:off x="6407468" y="3241860"/>
            <a:ext cx="1090633" cy="504056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169815" y="4903381"/>
            <a:ext cx="48245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return</a:t>
            </a:r>
            <a:r>
              <a:rPr lang="zh-CN" altLang="en-US" sz="2400" b="1" dirty="0">
                <a:solidFill>
                  <a:srgbClr val="FF0000"/>
                </a:solidFill>
              </a:rPr>
              <a:t>作用：</a:t>
            </a:r>
            <a:r>
              <a:rPr lang="en-US" altLang="zh-CN" sz="2400" b="1" dirty="0">
                <a:solidFill>
                  <a:srgbClr val="FF0000"/>
                </a:solidFill>
              </a:rPr>
              <a:t> 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r>
              <a:rPr lang="en-US" altLang="zh-CN" sz="2400" b="1" dirty="0"/>
              <a:t>      1</a:t>
            </a:r>
            <a:r>
              <a:rPr lang="zh-CN" altLang="en-US" sz="2400" b="1" dirty="0"/>
              <a:t>、结束函数</a:t>
            </a:r>
            <a:endParaRPr lang="en-US" altLang="zh-CN" sz="2400" b="1" dirty="0"/>
          </a:p>
          <a:p>
            <a:r>
              <a:rPr lang="en-US" altLang="zh-CN" sz="2400" b="1" dirty="0"/>
              <a:t>      2</a:t>
            </a:r>
            <a:r>
              <a:rPr lang="zh-CN" altLang="en-US" sz="2400" b="1" dirty="0"/>
              <a:t>、把后面的数据，交给调用处</a:t>
            </a:r>
            <a:endParaRPr lang="zh-CN" altLang="en-US" sz="2400" b="1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7527" y="1980967"/>
            <a:ext cx="4392488" cy="2742226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6501383" y="4943929"/>
            <a:ext cx="48245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void</a:t>
            </a:r>
            <a:r>
              <a:rPr lang="zh-CN" altLang="en-US" sz="2400" b="1" dirty="0">
                <a:solidFill>
                  <a:srgbClr val="FF0000"/>
                </a:solidFill>
              </a:rPr>
              <a:t>作用：</a:t>
            </a:r>
            <a:r>
              <a:rPr lang="en-US" altLang="zh-CN" sz="2400" b="1" dirty="0">
                <a:solidFill>
                  <a:srgbClr val="FF0000"/>
                </a:solidFill>
              </a:rPr>
              <a:t> 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r>
              <a:rPr lang="en-US" altLang="zh-CN" sz="2400" b="1" dirty="0"/>
              <a:t>      </a:t>
            </a:r>
            <a:r>
              <a:rPr lang="zh-CN" altLang="en-US" sz="2400" b="1" dirty="0"/>
              <a:t>表示没有返回值。</a:t>
            </a:r>
            <a:endParaRPr lang="zh-CN" altLang="en-US" sz="2400" b="1" dirty="0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730" y="2155177"/>
            <a:ext cx="772584" cy="4497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函数带范围值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735" y="2184176"/>
            <a:ext cx="5343525" cy="275272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172791" y="1543290"/>
            <a:ext cx="4680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函数定义的完整形式：</a:t>
            </a:r>
            <a:endParaRPr lang="zh-CN" altLang="en-US" sz="2800" dirty="0"/>
          </a:p>
        </p:txBody>
      </p:sp>
      <p:sp>
        <p:nvSpPr>
          <p:cNvPr id="4" name="箭头: 右 3"/>
          <p:cNvSpPr/>
          <p:nvPr/>
        </p:nvSpPr>
        <p:spPr>
          <a:xfrm>
            <a:off x="6141343" y="3111922"/>
            <a:ext cx="1090633" cy="504056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437487" y="2797788"/>
            <a:ext cx="524607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1542FF"/>
                </a:solidFill>
              </a:rPr>
              <a:t>变量</a:t>
            </a:r>
            <a:r>
              <a:rPr lang="zh-CN" altLang="en-US" sz="2800" dirty="0"/>
              <a:t> </a:t>
            </a:r>
            <a:r>
              <a:rPr lang="en-US" altLang="zh-CN" sz="2800" b="1" dirty="0"/>
              <a:t>= </a:t>
            </a:r>
            <a:r>
              <a:rPr lang="zh-CN" altLang="en-US" sz="2800" b="1" dirty="0"/>
              <a:t>函数名</a:t>
            </a:r>
            <a:r>
              <a:rPr lang="en-US" altLang="zh-CN" sz="2800" b="1" dirty="0"/>
              <a:t>(</a:t>
            </a:r>
            <a:r>
              <a:rPr lang="zh-CN" altLang="en-US" sz="2800" b="1" dirty="0"/>
              <a:t>实参</a:t>
            </a:r>
            <a:r>
              <a:rPr lang="en-US" altLang="zh-CN" sz="2800" b="1" dirty="0"/>
              <a:t>…);</a:t>
            </a:r>
            <a:endParaRPr lang="en-US" altLang="zh-CN" sz="2800" b="1" dirty="0"/>
          </a:p>
          <a:p>
            <a:r>
              <a:rPr lang="en-US" altLang="zh-CN" sz="2800" b="1" dirty="0" err="1"/>
              <a:t>printf</a:t>
            </a:r>
            <a:r>
              <a:rPr lang="en-US" altLang="zh-CN" sz="2800" b="1" dirty="0"/>
              <a:t>(“</a:t>
            </a:r>
            <a:r>
              <a:rPr lang="zh-CN" altLang="en-US" sz="2800" b="1" dirty="0">
                <a:solidFill>
                  <a:srgbClr val="C00000"/>
                </a:solidFill>
              </a:rPr>
              <a:t>占位符</a:t>
            </a:r>
            <a:r>
              <a:rPr lang="en-US" altLang="zh-CN" sz="2800" b="1" dirty="0"/>
              <a:t>”,</a:t>
            </a:r>
            <a:r>
              <a:rPr lang="zh-CN" altLang="en-US" sz="2800" b="1" dirty="0"/>
              <a:t>函数名</a:t>
            </a:r>
            <a:r>
              <a:rPr lang="en-US" altLang="zh-CN" sz="2800" b="1" dirty="0"/>
              <a:t>(</a:t>
            </a:r>
            <a:r>
              <a:rPr lang="zh-CN" altLang="en-US" sz="2800" b="1" dirty="0"/>
              <a:t>实参</a:t>
            </a:r>
            <a:r>
              <a:rPr lang="en-US" altLang="zh-CN" sz="2800" b="1" dirty="0"/>
              <a:t>…));</a:t>
            </a:r>
            <a:endParaRPr lang="zh-CN" altLang="en-US" sz="28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函数带</a:t>
            </a:r>
            <a:r>
              <a:rPr lang="zh-CN" altLang="en-US" sz="2400" b="1" dirty="0">
                <a:solidFill>
                  <a:srgbClr val="FF0000"/>
                </a:solidFill>
              </a:rPr>
              <a:t>返回值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60823" y="2612143"/>
            <a:ext cx="1071219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需求：小慧考试成绩：基础题得分</a:t>
            </a:r>
            <a:r>
              <a:rPr lang="en-US" altLang="zh-CN" sz="2800" dirty="0"/>
              <a:t>93</a:t>
            </a:r>
            <a:r>
              <a:rPr lang="zh-CN" altLang="en-US" sz="2800" dirty="0"/>
              <a:t>，附加题得分</a:t>
            </a:r>
            <a:r>
              <a:rPr lang="en-US" altLang="zh-CN" sz="2800" dirty="0"/>
              <a:t>10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r>
              <a:rPr lang="en-US" altLang="zh-CN" sz="2800" dirty="0"/>
              <a:t>              </a:t>
            </a:r>
            <a:r>
              <a:rPr lang="zh-CN" altLang="en-US" sz="2800" dirty="0"/>
              <a:t>小丹考试成绩：基础题得分</a:t>
            </a:r>
            <a:r>
              <a:rPr lang="en-US" altLang="zh-CN" sz="2800" dirty="0"/>
              <a:t>87</a:t>
            </a:r>
            <a:r>
              <a:rPr lang="zh-CN" altLang="en-US" sz="2800" dirty="0"/>
              <a:t>，附加题得分</a:t>
            </a:r>
            <a:r>
              <a:rPr lang="en-US" altLang="zh-CN" sz="2800" dirty="0"/>
              <a:t>9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r>
              <a:rPr lang="en-US" altLang="zh-CN" sz="2800" dirty="0"/>
              <a:t>	</a:t>
            </a:r>
            <a:r>
              <a:rPr lang="zh-CN" altLang="en-US" sz="2800" dirty="0"/>
              <a:t>请问，谁的总分更高？</a:t>
            </a:r>
            <a:endParaRPr lang="zh-CN" altLang="en-US" sz="2800" dirty="0"/>
          </a:p>
        </p:txBody>
      </p:sp>
      <p:sp>
        <p:nvSpPr>
          <p:cNvPr id="4" name="矩形: 圆角 3"/>
          <p:cNvSpPr/>
          <p:nvPr/>
        </p:nvSpPr>
        <p:spPr>
          <a:xfrm>
            <a:off x="1199997" y="2723840"/>
            <a:ext cx="260826" cy="27651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028775" y="1672109"/>
            <a:ext cx="105851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代码实现下面需求：</a:t>
            </a:r>
            <a:endParaRPr lang="zh-CN" altLang="en-US" sz="32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1199998" y="4408413"/>
            <a:ext cx="609347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函数的好处：</a:t>
            </a:r>
            <a:endParaRPr lang="en-US" altLang="zh-CN" sz="3200" dirty="0"/>
          </a:p>
          <a:p>
            <a:r>
              <a:rPr lang="en-US" altLang="zh-CN" sz="3200" dirty="0"/>
              <a:t>	1</a:t>
            </a:r>
            <a:r>
              <a:rPr lang="zh-CN" altLang="en-US" sz="3200" dirty="0"/>
              <a:t>、提高了代码的复用性</a:t>
            </a:r>
            <a:endParaRPr lang="en-US" altLang="zh-CN" sz="3200" dirty="0"/>
          </a:p>
          <a:p>
            <a:r>
              <a:rPr lang="en-US" altLang="zh-CN" sz="3200" dirty="0"/>
              <a:t>	2</a:t>
            </a:r>
            <a:r>
              <a:rPr lang="zh-CN" altLang="en-US" sz="3200" dirty="0"/>
              <a:t>、提高了代码的可维护行</a:t>
            </a:r>
            <a:endParaRPr lang="zh-CN" altLang="en-US" sz="3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函数带范围值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172791" y="1569611"/>
            <a:ext cx="11377264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C00000"/>
                </a:solidFill>
              </a:rPr>
              <a:t>带有返回值的函数</a:t>
            </a:r>
            <a:endParaRPr lang="en-US" altLang="zh-CN" sz="3600" b="1" dirty="0">
              <a:solidFill>
                <a:srgbClr val="C00000"/>
              </a:solidFill>
            </a:endParaRPr>
          </a:p>
          <a:p>
            <a:r>
              <a:rPr lang="zh-CN" altLang="en-US" sz="2800" b="1" dirty="0"/>
              <a:t>某商场</a:t>
            </a:r>
            <a:r>
              <a:rPr lang="en-US" altLang="zh-CN" sz="2800" b="1" dirty="0"/>
              <a:t>1-12</a:t>
            </a:r>
            <a:r>
              <a:rPr lang="zh-CN" altLang="en-US" sz="2800" b="1" dirty="0"/>
              <a:t>月的营业额如下（单位：万元）：</a:t>
            </a:r>
            <a:endParaRPr lang="en-US" altLang="zh-CN" sz="2800" b="1" dirty="0"/>
          </a:p>
          <a:p>
            <a:r>
              <a:rPr lang="zh-CN" altLang="en-US" sz="2800" b="1" dirty="0"/>
              <a:t>第一季度：</a:t>
            </a:r>
            <a:r>
              <a:rPr lang="en-US" altLang="zh-CN" sz="2800" b="1" dirty="0"/>
              <a:t>10   20   15</a:t>
            </a:r>
            <a:endParaRPr lang="en-US" altLang="zh-CN" sz="2800" b="1" dirty="0"/>
          </a:p>
          <a:p>
            <a:r>
              <a:rPr lang="zh-CN" altLang="en-US" sz="2800" b="1" dirty="0"/>
              <a:t>第二季度：</a:t>
            </a:r>
            <a:r>
              <a:rPr lang="en-US" altLang="zh-CN" sz="2800" b="1" dirty="0"/>
              <a:t>20   30   17</a:t>
            </a:r>
            <a:endParaRPr lang="en-US" altLang="zh-CN" sz="2800" b="1" dirty="0"/>
          </a:p>
          <a:p>
            <a:r>
              <a:rPr lang="zh-CN" altLang="en-US" sz="2800" b="1" dirty="0"/>
              <a:t>第三季度：</a:t>
            </a:r>
            <a:r>
              <a:rPr lang="en-US" altLang="zh-CN" sz="2800" b="1" dirty="0"/>
              <a:t>19   17   20</a:t>
            </a:r>
            <a:endParaRPr lang="en-US" altLang="zh-CN" sz="2800" b="1" dirty="0"/>
          </a:p>
          <a:p>
            <a:r>
              <a:rPr lang="zh-CN" altLang="en-US" sz="2800" b="1" dirty="0"/>
              <a:t>第四季度：</a:t>
            </a:r>
            <a:r>
              <a:rPr lang="en-US" altLang="zh-CN" sz="2800" b="1" dirty="0"/>
              <a:t>23   21   19</a:t>
            </a:r>
            <a:endParaRPr lang="en-US" altLang="zh-CN" sz="2800" b="1" dirty="0"/>
          </a:p>
          <a:p>
            <a:endParaRPr lang="en-US" altLang="zh-CN" sz="2800" b="1" dirty="0"/>
          </a:p>
          <a:p>
            <a:r>
              <a:rPr lang="zh-CN" altLang="en-US" sz="2800" b="1" dirty="0"/>
              <a:t>要求：定义函数求单个季度的营业额，并判断最高的营业额？</a:t>
            </a:r>
            <a:endParaRPr lang="zh-CN" altLang="en-US" sz="28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四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函数定义的思路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44799" y="1806032"/>
            <a:ext cx="1087320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</a:rPr>
              <a:t>每次定义函数时：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r>
              <a:rPr lang="en-US" altLang="zh-CN" sz="3200" dirty="0"/>
              <a:t>	1</a:t>
            </a:r>
            <a:r>
              <a:rPr lang="zh-CN" altLang="en-US" sz="3200" dirty="0"/>
              <a:t>、我定义函数，是为了干什么事情？函数体</a:t>
            </a:r>
            <a:endParaRPr lang="en-US" altLang="zh-CN" sz="3200" dirty="0"/>
          </a:p>
          <a:p>
            <a:r>
              <a:rPr lang="en-US" altLang="zh-CN" sz="3200" dirty="0"/>
              <a:t>	2</a:t>
            </a:r>
            <a:r>
              <a:rPr lang="zh-CN" altLang="en-US" sz="3200" dirty="0"/>
              <a:t>、我干这件事情，需要什么才能完成？形参</a:t>
            </a:r>
            <a:endParaRPr lang="en-US" altLang="zh-CN" sz="3200" dirty="0"/>
          </a:p>
          <a:p>
            <a:r>
              <a:rPr lang="en-US" altLang="zh-CN" sz="3200" dirty="0"/>
              <a:t>	3</a:t>
            </a:r>
            <a:r>
              <a:rPr lang="zh-CN" altLang="en-US" sz="3200" dirty="0"/>
              <a:t>、我干完了，调用处是否需要继续使用？返回值类型</a:t>
            </a:r>
            <a:endParaRPr lang="en-US" altLang="zh-CN" sz="3200" dirty="0"/>
          </a:p>
          <a:p>
            <a:endParaRPr lang="zh-CN" altLang="en-US" sz="3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四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函数定义的注意点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</a:rPr>
              <a:t>练习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83823" y="1600101"/>
            <a:ext cx="11234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需求：给定两个长方形，判断谁的面积更大？如何定义函数？</a:t>
            </a:r>
            <a:endParaRPr lang="zh-CN" altLang="en-US" sz="3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四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函数注意点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925" y="1497330"/>
            <a:ext cx="6710045" cy="417576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461135" y="6049010"/>
            <a:ext cx="5436235" cy="38354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9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实参传递给形参，传递的是值，而不是这个变量</a:t>
            </a:r>
            <a:endParaRPr lang="zh-CN" altLang="en-US" sz="1900">
              <a:solidFill>
                <a:srgbClr val="FF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总结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</a:t>
            </a:r>
            <a:r>
              <a:rPr lang="zh-CN" altLang="en-US" sz="2000" b="1" dirty="0">
                <a:solidFill>
                  <a:schemeClr val="bg1"/>
                </a:solidFill>
              </a:rPr>
              <a:t>总结与合作探究</a:t>
            </a:r>
            <a:r>
              <a:rPr lang="zh-CN" altLang="en-US" b="1" dirty="0"/>
              <a:t>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4845199" y="6553641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文本占位符 2"/>
          <p:cNvSpPr>
            <a:spLocks noGrp="1"/>
          </p:cNvSpPr>
          <p:nvPr/>
        </p:nvSpPr>
        <p:spPr>
          <a:xfrm>
            <a:off x="3837087" y="1501964"/>
            <a:ext cx="6120680" cy="372260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/>
              <a:t>函数概念</a:t>
            </a:r>
            <a:endParaRPr lang="en-US" altLang="zh-CN" sz="48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>
                <a:solidFill>
                  <a:schemeClr val="tx1"/>
                </a:solidFill>
              </a:rPr>
              <a:t>函数最基本定义格式</a:t>
            </a:r>
            <a:endParaRPr lang="en-US" altLang="zh-CN" sz="480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>
                <a:solidFill>
                  <a:schemeClr val="tx1"/>
                </a:solidFill>
              </a:rPr>
              <a:t>函数调用</a:t>
            </a:r>
            <a:endParaRPr lang="en-US" altLang="zh-CN" sz="4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作业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0" y="6826660"/>
            <a:ext cx="8373591" cy="427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</a:t>
            </a:r>
            <a:r>
              <a:rPr lang="zh-CN" altLang="en-US" sz="2000" b="1" dirty="0">
                <a:solidFill>
                  <a:schemeClr val="bg1"/>
                </a:solidFill>
              </a:rPr>
              <a:t>作业</a:t>
            </a:r>
            <a:r>
              <a:rPr lang="zh-CN" altLang="en-US" b="1" dirty="0"/>
              <a:t>  限时检测</a:t>
            </a:r>
            <a:endParaRPr lang="zh-CN" altLang="en-US" b="1" dirty="0"/>
          </a:p>
        </p:txBody>
      </p:sp>
      <p:sp>
        <p:nvSpPr>
          <p:cNvPr id="9" name="箭头: 上 8"/>
          <p:cNvSpPr/>
          <p:nvPr/>
        </p:nvSpPr>
        <p:spPr>
          <a:xfrm>
            <a:off x="5925319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388815" y="1672109"/>
            <a:ext cx="105851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需求：给定两个圆，判断哪个圆的面积更大？</a:t>
            </a:r>
            <a:endParaRPr lang="en-US" altLang="zh-CN" sz="3600" dirty="0"/>
          </a:p>
          <a:p>
            <a:r>
              <a:rPr lang="en-US" altLang="zh-CN" sz="3600" dirty="0"/>
              <a:t>	</a:t>
            </a:r>
            <a:r>
              <a:rPr lang="zh-CN" altLang="en-US" sz="3600" dirty="0"/>
              <a:t>如何定义函数？</a:t>
            </a:r>
            <a:endParaRPr lang="zh-CN" altLang="en-US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限时检测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69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作业  </a:t>
            </a:r>
            <a:r>
              <a:rPr lang="zh-CN" altLang="en-US" sz="2000" b="1" dirty="0">
                <a:solidFill>
                  <a:srgbClr val="FFFFFF"/>
                </a:solidFill>
              </a:rPr>
              <a:t>限时检测</a:t>
            </a:r>
            <a:endParaRPr lang="zh-CN" altLang="en-US" sz="2000" b="1" dirty="0">
              <a:solidFill>
                <a:srgbClr val="FFFFFF"/>
              </a:solidFill>
            </a:endParaRPr>
          </a:p>
        </p:txBody>
      </p:sp>
      <p:sp>
        <p:nvSpPr>
          <p:cNvPr id="2" name="箭头: 上 1"/>
          <p:cNvSpPr/>
          <p:nvPr/>
        </p:nvSpPr>
        <p:spPr>
          <a:xfrm>
            <a:off x="671740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180903" y="1841589"/>
            <a:ext cx="83889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定义函数时，有返回值，跟没有返回值的函数有什么区别？</a:t>
            </a:r>
            <a:endParaRPr lang="zh-CN" altLang="en-US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tags/tag1.xml><?xml version="1.0" encoding="utf-8"?>
<p:tagLst xmlns:p="http://schemas.openxmlformats.org/presentationml/2006/main">
  <p:tag name="ISPRING_ULTRA_SCORM_COURSE_ID" val="9E7965BD-BA7C-4284-B303-3DF26FF20985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OUTPUT_FOLDER" val="C:\Users\Administrator\Desktop"/>
  <p:tag name="ISPRING_UUID" val="{C1A8F295-47DC-48FB-81BD-666766343352}"/>
  <p:tag name="ISPRING_RESOURCE_FOLDER" val="E:\素材\正版图-卖\PPT\0变色龙\0包图网\bt369\ppt\bt369\"/>
  <p:tag name="ISPRING_PRESENTATION_PATH" val="E:\素材\正版图-卖\PPT\0变色龙\0包图网\bt369\ppt\bt369.pptx"/>
  <p:tag name="ISPRING_PROJECT_FOLDER_UPDATED" val="1"/>
  <p:tag name="ISPRING_SCREEN_RECS_UPDATED" val="E:\素材\正版图-卖\PPT\0变色龙\0包图网\bt369\ppt\bt369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RESENTATION_TITLE" val="bt730"/>
  <p:tag name="COMMONDATA" val="eyJoZGlkIjoiMDAwYWZhOGExNDMzNDI0MTI4MjAzMzJiNzg2MTAwMGEifQ=="/>
</p:tagLst>
</file>

<file path=ppt/theme/theme1.xml><?xml version="1.0" encoding="utf-8"?>
<a:theme xmlns:a="http://schemas.openxmlformats.org/drawingml/2006/main" name="Office Theme">
  <a:themeElements>
    <a:clrScheme name="自定义 447">
      <a:dk1>
        <a:sysClr val="windowText" lastClr="000000"/>
      </a:dk1>
      <a:lt1>
        <a:sysClr val="window" lastClr="FFFFFF"/>
      </a:lt1>
      <a:dk2>
        <a:srgbClr val="006E67"/>
      </a:dk2>
      <a:lt2>
        <a:srgbClr val="E7E6E6"/>
      </a:lt2>
      <a:accent1>
        <a:srgbClr val="006E67"/>
      </a:accent1>
      <a:accent2>
        <a:srgbClr val="A5A5A5"/>
      </a:accent2>
      <a:accent3>
        <a:srgbClr val="006E67"/>
      </a:accent3>
      <a:accent4>
        <a:srgbClr val="A5A5A5"/>
      </a:accent4>
      <a:accent5>
        <a:srgbClr val="006E67"/>
      </a:accent5>
      <a:accent6>
        <a:srgbClr val="A5A5A5"/>
      </a:accent6>
      <a:hlink>
        <a:srgbClr val="006E67"/>
      </a:hlink>
      <a:folHlink>
        <a:srgbClr val="A5A5A5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1720</Words>
  <Application>WPS 演示</Application>
  <PresentationFormat>自定义</PresentationFormat>
  <Paragraphs>194</Paragraphs>
  <Slides>21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9" baseType="lpstr">
      <vt:lpstr>Arial</vt:lpstr>
      <vt:lpstr>宋体</vt:lpstr>
      <vt:lpstr>Wingdings</vt:lpstr>
      <vt:lpstr>Calibri</vt:lpstr>
      <vt:lpstr>印品黑体</vt:lpstr>
      <vt:lpstr>黑体</vt:lpstr>
      <vt:lpstr>微软雅黑</vt:lpstr>
      <vt:lpstr>字魂73号-江南手书</vt:lpstr>
      <vt:lpstr>Alibaba PuHuiTi B</vt:lpstr>
      <vt:lpstr>阿里巴巴普惠体</vt:lpstr>
      <vt:lpstr>Alibaba PuHuiTi R</vt:lpstr>
      <vt:lpstr>Arial Unicode MS</vt:lpstr>
      <vt:lpstr>汉仪雅酷黑简</vt:lpstr>
      <vt:lpstr>汉仪君黑-45简</vt:lpstr>
      <vt:lpstr>The best part</vt:lpstr>
      <vt:lpstr>方正仿宋_GB2312</vt:lpstr>
      <vt:lpstr>Radam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bt730</dc:title>
  <dc:creator/>
  <cp:lastModifiedBy>周磊</cp:lastModifiedBy>
  <cp:revision>658</cp:revision>
  <dcterms:created xsi:type="dcterms:W3CDTF">2024-04-10T13:53:00Z</dcterms:created>
  <dcterms:modified xsi:type="dcterms:W3CDTF">2025-11-11T00:55:30Z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FCA88555D3D44735BAA1F56722F3B997</vt:lpwstr>
  </property>
</Properties>
</file>