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19"/>
  </p:handoutMasterIdLst>
  <p:sldIdLst>
    <p:sldId id="3705" r:id="rId3"/>
    <p:sldId id="3706" r:id="rId4"/>
    <p:sldId id="3756" r:id="rId5"/>
    <p:sldId id="3646" r:id="rId6"/>
    <p:sldId id="3798" r:id="rId8"/>
    <p:sldId id="3708" r:id="rId9"/>
    <p:sldId id="3803" r:id="rId10"/>
    <p:sldId id="3800" r:id="rId11"/>
    <p:sldId id="3804" r:id="rId12"/>
    <p:sldId id="3805" r:id="rId13"/>
    <p:sldId id="3806" r:id="rId14"/>
    <p:sldId id="3807" r:id="rId15"/>
    <p:sldId id="3712" r:id="rId16"/>
    <p:sldId id="3793" r:id="rId17"/>
    <p:sldId id="3702" r:id="rId18"/>
  </p:sldIdLst>
  <p:sldSz cx="12858750" cy="723265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60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542FF"/>
    <a:srgbClr val="AF4436"/>
    <a:srgbClr val="FFBF00"/>
    <a:srgbClr val="FFFFFF"/>
    <a:srgbClr val="0C6AC7"/>
    <a:srgbClr val="FFC000"/>
    <a:srgbClr val="066197"/>
    <a:srgbClr val="262626"/>
    <a:srgbClr val="0767A3"/>
    <a:srgbClr val="5353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90" d="100"/>
          <a:sy n="90" d="100"/>
        </p:scale>
        <p:origin x="552" y="53"/>
      </p:cViewPr>
      <p:guideLst>
        <p:guide orient="horz" pos="218"/>
        <p:guide orient="horz" pos="4138"/>
        <p:guide pos="4075"/>
        <p:guide pos="560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1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4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随机数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72991" y="1312069"/>
            <a:ext cx="6480720" cy="3896981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altLang="zh-CN" sz="6600" dirty="0"/>
          </a:p>
        </p:txBody>
      </p:sp>
      <p:sp>
        <p:nvSpPr>
          <p:cNvPr id="7" name="文本占位符 2"/>
          <p:cNvSpPr>
            <a:spLocks noGrp="1"/>
          </p:cNvSpPr>
          <p:nvPr/>
        </p:nvSpPr>
        <p:spPr>
          <a:xfrm>
            <a:off x="2685415" y="735965"/>
            <a:ext cx="8566150" cy="428688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一、函数的分类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二、函数定义的一般格式（无参函数、有参函数）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三、形参与实参（重点）</a:t>
            </a:r>
            <a:endParaRPr kumimoji="1" lang="en-US" altLang="zh-CN" sz="24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2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四、函数的调用（重点、难点）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32702" y="2032127"/>
            <a:ext cx="9793088" cy="2122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b="1" u="sng" dirty="0">
                <a:solidFill>
                  <a:srgbClr val="4007A2"/>
                </a:solidFill>
                <a:effectLst/>
                <a:latin typeface="Arial" panose="020B0604020202020204" pitchFamily="34" charset="0"/>
              </a:rPr>
              <a:t>循环有嵌套，函数可以嵌套</a:t>
            </a:r>
            <a:r>
              <a:rPr lang="zh-CN" altLang="en-US" sz="6600" b="1" u="sng" dirty="0">
                <a:solidFill>
                  <a:srgbClr val="4007A2"/>
                </a:solidFill>
                <a:effectLst/>
                <a:latin typeface="Arial" panose="020B0604020202020204" pitchFamily="34" charset="0"/>
              </a:rPr>
              <a:t>么？</a:t>
            </a:r>
            <a:endParaRPr lang="zh-CN" altLang="en-US" sz="6600" b="1" dirty="0">
              <a:solidFill>
                <a:srgbClr val="71777D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837305" y="2032000"/>
            <a:ext cx="6616700" cy="2219325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1"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一、函数的嵌套调用</a:t>
            </a:r>
            <a:endParaRPr kumimoji="1" lang="en-US" altLang="zh-CN" sz="32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r>
              <a:rPr kumimoji="1" lang="zh-CN" altLang="en-US" sz="32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二、函数的递归调用</a:t>
            </a:r>
            <a:endParaRPr lang="en-US" altLang="zh-CN" sz="3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6371590" cy="56197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一、嵌套</a:t>
            </a:r>
            <a:r>
              <a:rPr lang="zh-CN" altLang="zh-CN" sz="2400" dirty="0"/>
              <a:t>调用</a:t>
            </a:r>
            <a:endParaRPr lang="zh-CN" altLang="zh-CN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01090" y="1744345"/>
            <a:ext cx="738187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在</a:t>
            </a:r>
            <a:r>
              <a:rPr lang="en-US" altLang="zh-CN" sz="4400" b="1" dirty="0"/>
              <a:t>A</a:t>
            </a:r>
            <a:r>
              <a:rPr lang="zh-CN" altLang="en-US" sz="4400" b="1" dirty="0"/>
              <a:t>函数中</a:t>
            </a:r>
            <a:endParaRPr lang="zh-CN" altLang="en-US" sz="4400" b="1" dirty="0"/>
          </a:p>
          <a:p>
            <a:r>
              <a:rPr lang="zh-CN" altLang="en-US" sz="4400" b="1" dirty="0"/>
              <a:t>调用</a:t>
            </a:r>
            <a:r>
              <a:rPr lang="en-US" altLang="zh-CN" sz="4400" b="1" dirty="0"/>
              <a:t>B</a:t>
            </a:r>
            <a:r>
              <a:rPr lang="zh-CN" altLang="en-US" sz="4400" b="1" dirty="0"/>
              <a:t>函数</a:t>
            </a:r>
            <a:endParaRPr lang="zh-CN" altLang="en-US" sz="4400" b="1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585" y="448310"/>
            <a:ext cx="5956300" cy="5811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>
                <a:sym typeface="+mn-ea"/>
              </a:rPr>
              <a:t>课堂练习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101090" y="1671955"/>
            <a:ext cx="9697085" cy="2799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4400" dirty="0">
                <a:sym typeface="+mn-ea"/>
              </a:rPr>
              <a:t>1. </a:t>
            </a:r>
            <a:r>
              <a:rPr lang="zh-CN" altLang="en-US" sz="4400" dirty="0">
                <a:sym typeface="+mn-ea"/>
              </a:rPr>
              <a:t>定义一个函数</a:t>
            </a:r>
            <a:r>
              <a:rPr lang="en-US" altLang="zh-CN" sz="4400" dirty="0">
                <a:sym typeface="+mn-ea"/>
              </a:rPr>
              <a:t>two_add</a:t>
            </a:r>
            <a:r>
              <a:rPr lang="zh-CN" altLang="en-US" sz="4400" dirty="0">
                <a:sym typeface="+mn-ea"/>
              </a:rPr>
              <a:t>，求俩个整数和</a:t>
            </a:r>
            <a:endParaRPr lang="zh-CN" altLang="en-US" sz="4400" dirty="0"/>
          </a:p>
          <a:p>
            <a:pPr marL="0" indent="0">
              <a:buNone/>
            </a:pPr>
            <a:r>
              <a:rPr lang="en-US" altLang="zh-CN" sz="4400" dirty="0">
                <a:sym typeface="+mn-ea"/>
              </a:rPr>
              <a:t>2. </a:t>
            </a:r>
            <a:r>
              <a:rPr lang="zh-CN" altLang="en-US" sz="4400" dirty="0">
                <a:sym typeface="+mn-ea"/>
              </a:rPr>
              <a:t>定义一个函数</a:t>
            </a:r>
            <a:r>
              <a:rPr lang="en-US" altLang="zh-CN" sz="4400" dirty="0">
                <a:sym typeface="+mn-ea"/>
              </a:rPr>
              <a:t>three_add</a:t>
            </a:r>
            <a:r>
              <a:rPr lang="zh-CN" altLang="en-US" sz="4400" dirty="0">
                <a:sym typeface="+mn-ea"/>
              </a:rPr>
              <a:t>，求三个整数和（使用</a:t>
            </a:r>
            <a:r>
              <a:rPr lang="en-US" altLang="zh-CN" sz="4400" dirty="0">
                <a:sym typeface="+mn-ea"/>
              </a:rPr>
              <a:t> two_add</a:t>
            </a:r>
            <a:r>
              <a:rPr lang="zh-CN" altLang="en-US" sz="4400" dirty="0">
                <a:sym typeface="+mn-ea"/>
              </a:rPr>
              <a:t>）</a:t>
            </a:r>
            <a:endParaRPr lang="zh-CN" altLang="en-US" sz="4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6371590" cy="56197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二、递归</a:t>
            </a:r>
            <a:r>
              <a:rPr lang="zh-CN" altLang="zh-CN" sz="2400" dirty="0"/>
              <a:t>调用</a:t>
            </a:r>
            <a:endParaRPr lang="zh-CN" altLang="zh-CN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01090" y="1744345"/>
            <a:ext cx="738187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b="1" dirty="0"/>
              <a:t>在</a:t>
            </a:r>
            <a:r>
              <a:rPr lang="en-US" altLang="zh-CN" sz="4400" b="1" dirty="0"/>
              <a:t>A</a:t>
            </a:r>
            <a:r>
              <a:rPr lang="zh-CN" altLang="en-US" sz="4400" b="1" dirty="0"/>
              <a:t>函数中</a:t>
            </a:r>
            <a:endParaRPr lang="zh-CN" altLang="en-US" sz="4400" b="1" dirty="0"/>
          </a:p>
          <a:p>
            <a:r>
              <a:rPr lang="zh-CN" altLang="en-US" sz="4400" b="1" dirty="0"/>
              <a:t>调用</a:t>
            </a:r>
            <a:r>
              <a:rPr lang="en-US" altLang="zh-CN" sz="4400" b="1" dirty="0"/>
              <a:t>B</a:t>
            </a:r>
            <a:r>
              <a:rPr lang="zh-CN" altLang="en-US" sz="4400" b="1" dirty="0"/>
              <a:t>函数</a:t>
            </a:r>
            <a:endParaRPr lang="zh-CN" altLang="en-US" sz="4400" b="1" dirty="0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640" y="735965"/>
            <a:ext cx="6707505" cy="37979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901315" y="4874260"/>
            <a:ext cx="91897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</a:t>
            </a:r>
            <a:r>
              <a:rPr lang="zh-CN" altLang="en-US" sz="2400"/>
              <a:t>我们进一步发散思维，函数内部是否能调用自己呢？</a:t>
            </a:r>
            <a:endParaRPr lang="zh-CN" altLang="en-US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515552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二、递归</a:t>
            </a:r>
            <a:r>
              <a:rPr lang="zh-CN" altLang="zh-CN" sz="2400" dirty="0"/>
              <a:t>调用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028700" y="1382395"/>
            <a:ext cx="10513695" cy="49390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3200" dirty="0" smtClean="0">
                <a:sym typeface="+mn-ea"/>
              </a:rPr>
              <a:t>一个函数在</a:t>
            </a:r>
            <a:r>
              <a:rPr lang="zh-CN" altLang="en-US" sz="3200" dirty="0" smtClean="0">
                <a:solidFill>
                  <a:srgbClr val="FF0000"/>
                </a:solidFill>
                <a:sym typeface="+mn-ea"/>
              </a:rPr>
              <a:t>它的函数体内调用它自身</a:t>
            </a:r>
            <a:r>
              <a:rPr lang="zh-CN" altLang="en-US" sz="3200" dirty="0" smtClean="0">
                <a:sym typeface="+mn-ea"/>
              </a:rPr>
              <a:t>称为递归调用，这种函数称为递归函数。</a:t>
            </a:r>
            <a:endParaRPr lang="zh-CN" altLang="en-US" sz="3200" dirty="0" smtClean="0">
              <a:sym typeface="+mn-ea"/>
            </a:endParaRPr>
          </a:p>
          <a:p>
            <a:endParaRPr lang="en-US" altLang="zh-CN" sz="3200" dirty="0"/>
          </a:p>
          <a:p>
            <a:r>
              <a:rPr lang="en-US" altLang="zh-CN" sz="3200" dirty="0" smtClean="0">
                <a:sym typeface="+mn-ea"/>
              </a:rPr>
              <a:t>C</a:t>
            </a:r>
            <a:r>
              <a:rPr lang="zh-CN" altLang="en-US" sz="3200" dirty="0" smtClean="0">
                <a:sym typeface="+mn-ea"/>
              </a:rPr>
              <a:t>语言允许函数的递归调用。在递归调用中，主调函数又是被调函数。执行递归函数将反复调用其自身，每调用一次就进入新的一层。</a:t>
            </a:r>
            <a:endParaRPr lang="en-US" altLang="zh-CN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515552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二、递归</a:t>
            </a:r>
            <a:r>
              <a:rPr lang="zh-CN" altLang="zh-CN" sz="2400" dirty="0"/>
              <a:t>案例</a:t>
            </a:r>
            <a:endParaRPr lang="zh-CN" altLang="zh-CN" sz="2400" dirty="0"/>
          </a:p>
        </p:txBody>
      </p:sp>
      <p:pic>
        <p:nvPicPr>
          <p:cNvPr id="4" name="内容占位符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235" y="1778635"/>
            <a:ext cx="9130030" cy="42271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515552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二、递归</a:t>
            </a:r>
            <a:r>
              <a:rPr lang="zh-CN" altLang="zh-CN" sz="2400" dirty="0"/>
              <a:t>流程</a:t>
            </a:r>
            <a:endParaRPr lang="zh-CN" altLang="zh-CN" sz="2400" dirty="0"/>
          </a:p>
        </p:txBody>
      </p:sp>
      <p:pic>
        <p:nvPicPr>
          <p:cNvPr id="2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0" y="1765300"/>
            <a:ext cx="10175875" cy="1861820"/>
          </a:xfrm>
          <a:prstGeom prst="rect">
            <a:avLst/>
          </a:prstGeom>
        </p:spPr>
      </p:pic>
      <p:pic>
        <p:nvPicPr>
          <p:cNvPr id="6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845" y="1671955"/>
            <a:ext cx="10175875" cy="18618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98905" y="3780155"/>
            <a:ext cx="9116060" cy="204152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900">
                <a:sym typeface="+mn-ea"/>
              </a:rPr>
              <a:t>最初，func函数在主函数main中被调用，传入了参数0。进入func函数后，形参n的值为0，n被printf打印。接下来将n + 1作为参数传入func函数，开始自己调用自己。</a:t>
            </a:r>
            <a:endParaRPr lang="zh-CN" altLang="en-US" sz="1900"/>
          </a:p>
          <a:p>
            <a:pPr algn="l"/>
            <a:endParaRPr lang="zh-CN" altLang="en-US" sz="1900"/>
          </a:p>
          <a:p>
            <a:pPr algn="l"/>
            <a:r>
              <a:rPr lang="zh-CN" altLang="en-US" sz="1900">
                <a:sym typeface="+mn-ea"/>
              </a:rPr>
              <a:t>如何解决死循环问题呢？</a:t>
            </a:r>
            <a:endParaRPr lang="zh-CN" altLang="en-US" sz="1900"/>
          </a:p>
          <a:p>
            <a:pPr algn="l"/>
            <a:endParaRPr lang="zh-CN" altLang="en-US" sz="19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8" y="953926"/>
            <a:ext cx="2515552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</a:t>
            </a:r>
            <a:r>
              <a:rPr lang="zh-CN" altLang="en-US" sz="2400" dirty="0">
                <a:sym typeface="+mn-ea"/>
              </a:rPr>
              <a:t>正确递归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605280" y="2104390"/>
            <a:ext cx="6241415" cy="2861945"/>
          </a:xfrm>
          <a:prstGeom prst="rect">
            <a:avLst/>
          </a:prstGeom>
        </p:spPr>
        <p:txBody>
          <a:bodyPr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800">
                <a:sym typeface="+mn-ea"/>
              </a:rPr>
              <a:t>递归函数的两个要素：</a:t>
            </a:r>
            <a:endParaRPr lang="zh-CN" altLang="en-US" sz="2800"/>
          </a:p>
          <a:p>
            <a:pPr algn="l"/>
            <a:endParaRPr lang="zh-CN" altLang="en-US" sz="2800"/>
          </a:p>
          <a:p>
            <a:pPr algn="l"/>
            <a:r>
              <a:rPr lang="en-US" altLang="zh-CN" sz="2800">
                <a:sym typeface="+mn-ea"/>
              </a:rPr>
              <a:t>1.</a:t>
            </a:r>
            <a:r>
              <a:rPr lang="zh-CN" altLang="en-US" sz="2800">
                <a:sym typeface="+mn-ea"/>
              </a:rPr>
              <a:t>递推规则</a:t>
            </a:r>
            <a:endParaRPr lang="zh-CN" altLang="en-US" sz="2800"/>
          </a:p>
          <a:p>
            <a:pPr algn="l"/>
            <a:endParaRPr lang="zh-CN" altLang="en-US" sz="2800"/>
          </a:p>
          <a:p>
            <a:pPr algn="l"/>
            <a:r>
              <a:rPr lang="en-US" altLang="zh-CN" sz="2800">
                <a:sym typeface="+mn-ea"/>
              </a:rPr>
              <a:t>2.</a:t>
            </a:r>
            <a:r>
              <a:rPr lang="zh-CN" altLang="en-US" sz="2800">
                <a:sym typeface="+mn-ea"/>
              </a:rPr>
              <a:t>递推结束条件</a:t>
            </a:r>
            <a:endParaRPr lang="zh-CN" altLang="en-US" sz="2800"/>
          </a:p>
          <a:p>
            <a:pPr algn="l"/>
            <a:endParaRPr lang="zh-CN" altLang="en-US" sz="28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6" name="内容占位符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775" y="1744345"/>
            <a:ext cx="6684645" cy="3458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635" y="953770"/>
            <a:ext cx="2893060" cy="471805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二、</a:t>
            </a:r>
            <a:r>
              <a:rPr lang="zh-CN" altLang="zh-CN" sz="2400" dirty="0"/>
              <a:t>正确递归</a:t>
            </a:r>
            <a:r>
              <a:rPr lang="zh-CN" altLang="zh-CN" sz="2400" dirty="0"/>
              <a:t>流程</a:t>
            </a:r>
            <a:endParaRPr lang="zh-CN" altLang="zh-CN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812800" y="1600200"/>
            <a:ext cx="9116060" cy="3492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900">
                <a:sym typeface="+mn-ea"/>
              </a:rPr>
              <a:t>流程在n小于5之前，一直递推至下级函数。当n为5时，从下级函数开始回归。</a:t>
            </a:r>
            <a:endParaRPr lang="zh-CN" altLang="en-US" sz="1900"/>
          </a:p>
          <a:p>
            <a:pPr algn="l"/>
            <a:endParaRPr lang="zh-CN" altLang="en-US" sz="190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810" y="2023110"/>
            <a:ext cx="8661400" cy="444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3837087" y="1501964"/>
            <a:ext cx="6120680" cy="372260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函数的嵌套调用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函数的递归</a:t>
            </a:r>
            <a:r>
              <a:rPr lang="zh-CN" altLang="en-US" sz="4800" dirty="0"/>
              <a:t>调用</a:t>
            </a:r>
            <a:endParaRPr lang="zh-CN" altLang="en-US" sz="4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04839" y="1456085"/>
            <a:ext cx="8856984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使用递归</a:t>
            </a:r>
            <a:r>
              <a:rPr lang="zh-CN" altLang="en-US" sz="5400" dirty="0"/>
              <a:t>完成：</a:t>
            </a:r>
            <a:endParaRPr lang="en-US" altLang="zh-CN" sz="5400" dirty="0"/>
          </a:p>
          <a:p>
            <a:pPr lvl="1"/>
            <a:r>
              <a:rPr lang="en-US" altLang="zh-CN" sz="5400" dirty="0"/>
              <a:t>1</a:t>
            </a:r>
            <a:r>
              <a:rPr lang="zh-CN" altLang="en-US" sz="5400" dirty="0"/>
              <a:t>、</a:t>
            </a:r>
            <a:r>
              <a:rPr lang="en-US" altLang="zh-CN" sz="5400" dirty="0"/>
              <a:t>n</a:t>
            </a:r>
            <a:r>
              <a:rPr lang="zh-CN" altLang="en-US" sz="5400" dirty="0"/>
              <a:t>的阶乘</a:t>
            </a:r>
            <a:endParaRPr lang="en-US" altLang="zh-CN" sz="5400" dirty="0"/>
          </a:p>
          <a:p>
            <a:pPr lvl="1"/>
            <a:r>
              <a:rPr lang="en-US" altLang="zh-CN" sz="5400" dirty="0"/>
              <a:t>2</a:t>
            </a:r>
            <a:r>
              <a:rPr lang="zh-CN" altLang="en-US" sz="5400" dirty="0"/>
              <a:t>、斐波那契</a:t>
            </a:r>
            <a:r>
              <a:rPr lang="zh-CN" altLang="en-US" sz="5400" dirty="0"/>
              <a:t>数列</a:t>
            </a:r>
            <a:endParaRPr lang="zh-CN" altLang="en-US" sz="5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906833" y="2151296"/>
            <a:ext cx="904508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无</a:t>
            </a:r>
            <a:endParaRPr lang="zh-CN" altLang="en-US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1128</Words>
  <Application>WPS 演示</Application>
  <PresentationFormat>自定义</PresentationFormat>
  <Paragraphs>127</Paragraphs>
  <Slides>15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B</vt:lpstr>
      <vt:lpstr>阿里巴巴普惠体</vt:lpstr>
      <vt:lpstr>Alibaba PuHuiTi R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671</cp:revision>
  <dcterms:created xsi:type="dcterms:W3CDTF">2024-04-10T13:53:00Z</dcterms:created>
  <dcterms:modified xsi:type="dcterms:W3CDTF">2025-11-10T07:34:27Z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FCA88555D3D44735BAA1F56722F3B997</vt:lpwstr>
  </property>
</Properties>
</file>