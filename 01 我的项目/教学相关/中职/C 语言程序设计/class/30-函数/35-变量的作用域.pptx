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7"/>
  </p:notesMasterIdLst>
  <p:handoutMasterIdLst>
    <p:handoutMasterId r:id="rId16"/>
  </p:handoutMasterIdLst>
  <p:sldIdLst>
    <p:sldId id="3705" r:id="rId3"/>
    <p:sldId id="3706" r:id="rId4"/>
    <p:sldId id="3756" r:id="rId5"/>
    <p:sldId id="3646" r:id="rId6"/>
    <p:sldId id="3798" r:id="rId8"/>
    <p:sldId id="3708" r:id="rId9"/>
    <p:sldId id="3808" r:id="rId10"/>
    <p:sldId id="3809" r:id="rId11"/>
    <p:sldId id="3803" r:id="rId12"/>
    <p:sldId id="3712" r:id="rId13"/>
    <p:sldId id="3793" r:id="rId14"/>
    <p:sldId id="3702" r:id="rId15"/>
  </p:sldIdLst>
  <p:sldSz cx="12858750" cy="7232650"/>
  <p:notesSz cx="6858000" cy="9144000"/>
  <p:custDataLst>
    <p:tags r:id="rId21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640080" indent="-18288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1282700" indent="-3683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925955" indent="-55435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2568575" indent="-7397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" userDrawn="1">
          <p15:clr>
            <a:srgbClr val="A4A3A4"/>
          </p15:clr>
        </p15:guide>
        <p15:guide id="2" orient="horz" pos="4137" userDrawn="1">
          <p15:clr>
            <a:srgbClr val="A4A3A4"/>
          </p15:clr>
        </p15:guide>
        <p15:guide id="3" pos="4075" userDrawn="1">
          <p15:clr>
            <a:srgbClr val="A4A3A4"/>
          </p15:clr>
        </p15:guide>
        <p15:guide id="4" pos="560" userDrawn="1">
          <p15:clr>
            <a:srgbClr val="A4A3A4"/>
          </p15:clr>
        </p15:guide>
        <p15:guide id="5" pos="7544" userDrawn="1">
          <p15:clr>
            <a:srgbClr val="A4A3A4"/>
          </p15:clr>
        </p15:guide>
        <p15:guide id="6" pos="685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114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1542FF"/>
    <a:srgbClr val="AF4436"/>
    <a:srgbClr val="FFBF00"/>
    <a:srgbClr val="FFFFFF"/>
    <a:srgbClr val="0C6AC7"/>
    <a:srgbClr val="FFC000"/>
    <a:srgbClr val="066197"/>
    <a:srgbClr val="262626"/>
    <a:srgbClr val="0767A3"/>
    <a:srgbClr val="5353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541" autoAdjust="0"/>
    <p:restoredTop sz="96327" autoAdjust="0"/>
  </p:normalViewPr>
  <p:slideViewPr>
    <p:cSldViewPr showGuides="1">
      <p:cViewPr varScale="1">
        <p:scale>
          <a:sx n="90" d="100"/>
          <a:sy n="90" d="100"/>
        </p:scale>
        <p:origin x="552" y="53"/>
      </p:cViewPr>
      <p:guideLst>
        <p:guide orient="horz" pos="218"/>
        <p:guide orient="horz" pos="4137"/>
        <p:guide pos="4075"/>
        <p:guide pos="560"/>
        <p:guide pos="7544"/>
        <p:guide pos="6858"/>
      </p:guideLst>
    </p:cSldViewPr>
  </p:slideViewPr>
  <p:outlineViewPr>
    <p:cViewPr>
      <p:scale>
        <a:sx n="100" d="100"/>
        <a:sy n="100" d="100"/>
      </p:scale>
      <p:origin x="0" y="-997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>
      <p:cViewPr varScale="1">
        <p:scale>
          <a:sx n="87" d="100"/>
          <a:sy n="87" d="100"/>
        </p:scale>
        <p:origin x="384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gs" Target="tags/tag1.xml"/><Relationship Id="rId20" Type="http://schemas.openxmlformats.org/officeDocument/2006/relationships/commentAuthors" Target="commentAuthors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handoutMaster" Target="handoutMasters/handoutMaster1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630DBF-D010-4114-9DE3-41E342A27C18}" type="datetimeFigureOut">
              <a:rPr lang="zh-CN" altLang="en-US" smtClean="0">
                <a:latin typeface="印品黑体" panose="00000500000000000000" pitchFamily="2" charset="-122"/>
              </a:rPr>
            </a:fld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D1D107-4CC9-43CA-8CA8-36E1DF70D5F2}" type="slidenum">
              <a:rPr lang="zh-CN" altLang="en-US" smtClean="0">
                <a:latin typeface="印品黑体" panose="00000500000000000000" pitchFamily="2" charset="-122"/>
              </a:rPr>
            </a:fld>
            <a:endParaRPr lang="zh-CN" altLang="en-US" dirty="0">
              <a:latin typeface="印品黑体" panose="00000500000000000000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fld id="{06024D97-E667-405D-B634-E583E2108D71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 dirty="0"/>
              <a:t>单击此处编辑母版文本样式</a:t>
            </a:r>
            <a:endParaRPr lang="zh-CN" altLang="en-US" noProof="0" dirty="0"/>
          </a:p>
          <a:p>
            <a:pPr lvl="1"/>
            <a:r>
              <a:rPr lang="zh-CN" altLang="en-US" noProof="0" dirty="0"/>
              <a:t>第二级</a:t>
            </a:r>
            <a:endParaRPr lang="zh-CN" altLang="en-US" noProof="0" dirty="0"/>
          </a:p>
          <a:p>
            <a:pPr lvl="2"/>
            <a:r>
              <a:rPr lang="zh-CN" altLang="en-US" noProof="0" dirty="0"/>
              <a:t>第三级</a:t>
            </a:r>
            <a:endParaRPr lang="zh-CN" altLang="en-US" noProof="0" dirty="0"/>
          </a:p>
          <a:p>
            <a:pPr lvl="3"/>
            <a:r>
              <a:rPr lang="zh-CN" altLang="en-US" noProof="0" dirty="0"/>
              <a:t>第四级</a:t>
            </a:r>
            <a:endParaRPr lang="zh-CN" altLang="en-US" noProof="0" dirty="0"/>
          </a:p>
          <a:p>
            <a:pPr lvl="4"/>
            <a:r>
              <a:rPr lang="zh-CN" altLang="en-US" noProof="0" dirty="0"/>
              <a:t>第五级</a:t>
            </a:r>
            <a:endParaRPr lang="zh-CN" altLang="en-US" noProof="0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印品黑体" panose="00000500000000000000" pitchFamily="2" charset="-122"/>
              </a:defRPr>
            </a:lvl1pPr>
          </a:lstStyle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1pPr>
    <a:lvl2pPr marL="4559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2pPr>
    <a:lvl3pPr marL="9131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3pPr>
    <a:lvl4pPr marL="13703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4pPr>
    <a:lvl5pPr marL="18275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5pPr>
    <a:lvl6pPr marL="22853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7425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6569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25" y="635"/>
            <a:ext cx="12849225" cy="72320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270"/>
            <a:ext cx="12858750" cy="723138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2791" y="4984477"/>
            <a:ext cx="3161905" cy="6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25119" y="4804672"/>
            <a:ext cx="3161905" cy="6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17207" y="5282442"/>
            <a:ext cx="3161905" cy="619048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88582" y="4804672"/>
            <a:ext cx="3161905" cy="61904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621338" y="5337044"/>
            <a:ext cx="3161905" cy="619048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991155" y="4781605"/>
            <a:ext cx="3161905" cy="619048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20821" y="5346680"/>
            <a:ext cx="3161905" cy="619048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12692" y="4781605"/>
            <a:ext cx="3161905" cy="619048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88582" y="1366761"/>
            <a:ext cx="3161905" cy="619048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75773" y="1359987"/>
            <a:ext cx="3161905" cy="619048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84039" y="1359987"/>
            <a:ext cx="1580953" cy="619048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43501" y="4781605"/>
            <a:ext cx="764270" cy="619048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59461" y="1262924"/>
            <a:ext cx="860873" cy="619048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560390" y="1354452"/>
            <a:ext cx="356817" cy="6190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017"/>
            <a:ext cx="12858750" cy="728535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2791" y="1528093"/>
            <a:ext cx="2857143" cy="141904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77047" y="1518648"/>
            <a:ext cx="2857143" cy="141904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09175" y="1528093"/>
            <a:ext cx="2857143" cy="14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65679" y="1600101"/>
            <a:ext cx="2857143" cy="14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12751" y="4624437"/>
            <a:ext cx="2857143" cy="1419048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69135" y="4407232"/>
            <a:ext cx="2857143" cy="141904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96947" y="4416677"/>
            <a:ext cx="2857143" cy="1419048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37687" y="4474217"/>
            <a:ext cx="2857143" cy="14190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箭头: V 形 3"/>
          <p:cNvSpPr/>
          <p:nvPr userDrawn="1"/>
        </p:nvSpPr>
        <p:spPr>
          <a:xfrm>
            <a:off x="435610" y="224155"/>
            <a:ext cx="405130" cy="405130"/>
          </a:xfrm>
          <a:prstGeom prst="chevron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6" name="等腰三角形 75"/>
          <p:cNvSpPr/>
          <p:nvPr userDrawn="1"/>
        </p:nvSpPr>
        <p:spPr>
          <a:xfrm rot="5400000">
            <a:off x="-146685" y="156845"/>
            <a:ext cx="852805" cy="540385"/>
          </a:xfrm>
          <a:prstGeom prst="triangle">
            <a:avLst/>
          </a:prstGeom>
          <a:solidFill>
            <a:srgbClr val="0767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3" name="组合 12"/>
          <p:cNvGrpSpPr/>
          <p:nvPr userDrawn="1"/>
        </p:nvGrpSpPr>
        <p:grpSpPr>
          <a:xfrm>
            <a:off x="16656" y="5177155"/>
            <a:ext cx="752744" cy="2098793"/>
            <a:chOff x="13891297" y="2075351"/>
            <a:chExt cx="1066248" cy="2972900"/>
          </a:xfrm>
        </p:grpSpPr>
        <p:sp>
          <p:nvSpPr>
            <p:cNvPr id="14" name="椭圆 13"/>
            <p:cNvSpPr/>
            <p:nvPr/>
          </p:nvSpPr>
          <p:spPr>
            <a:xfrm>
              <a:off x="13891297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/>
            <p:cNvSpPr/>
            <p:nvPr/>
          </p:nvSpPr>
          <p:spPr>
            <a:xfrm>
              <a:off x="14142396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/>
          </p:nvSpPr>
          <p:spPr>
            <a:xfrm>
              <a:off x="14393495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/>
          </p:nvSpPr>
          <p:spPr>
            <a:xfrm>
              <a:off x="14644594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/>
            <p:cNvSpPr/>
            <p:nvPr/>
          </p:nvSpPr>
          <p:spPr>
            <a:xfrm>
              <a:off x="14895693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/>
          </p:nvSpPr>
          <p:spPr>
            <a:xfrm>
              <a:off x="13891297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/>
            <p:cNvSpPr/>
            <p:nvPr/>
          </p:nvSpPr>
          <p:spPr>
            <a:xfrm>
              <a:off x="14142396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/>
            <p:cNvSpPr/>
            <p:nvPr/>
          </p:nvSpPr>
          <p:spPr>
            <a:xfrm>
              <a:off x="14393495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/>
            <p:cNvSpPr/>
            <p:nvPr/>
          </p:nvSpPr>
          <p:spPr>
            <a:xfrm>
              <a:off x="14644594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/>
            <p:cNvSpPr/>
            <p:nvPr/>
          </p:nvSpPr>
          <p:spPr>
            <a:xfrm>
              <a:off x="14895693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椭圆 23"/>
            <p:cNvSpPr/>
            <p:nvPr/>
          </p:nvSpPr>
          <p:spPr>
            <a:xfrm>
              <a:off x="13891297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椭圆 24"/>
            <p:cNvSpPr/>
            <p:nvPr/>
          </p:nvSpPr>
          <p:spPr>
            <a:xfrm>
              <a:off x="14142396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椭圆 25"/>
            <p:cNvSpPr/>
            <p:nvPr/>
          </p:nvSpPr>
          <p:spPr>
            <a:xfrm>
              <a:off x="14393495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椭圆 26"/>
            <p:cNvSpPr/>
            <p:nvPr/>
          </p:nvSpPr>
          <p:spPr>
            <a:xfrm>
              <a:off x="14644594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椭圆 27"/>
            <p:cNvSpPr/>
            <p:nvPr/>
          </p:nvSpPr>
          <p:spPr>
            <a:xfrm>
              <a:off x="14895693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椭圆 28"/>
            <p:cNvSpPr/>
            <p:nvPr/>
          </p:nvSpPr>
          <p:spPr>
            <a:xfrm>
              <a:off x="13891297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椭圆 29"/>
            <p:cNvSpPr/>
            <p:nvPr/>
          </p:nvSpPr>
          <p:spPr>
            <a:xfrm>
              <a:off x="14142396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椭圆 30"/>
            <p:cNvSpPr/>
            <p:nvPr/>
          </p:nvSpPr>
          <p:spPr>
            <a:xfrm>
              <a:off x="14393495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椭圆 31"/>
            <p:cNvSpPr/>
            <p:nvPr/>
          </p:nvSpPr>
          <p:spPr>
            <a:xfrm>
              <a:off x="14644594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椭圆 32"/>
            <p:cNvSpPr/>
            <p:nvPr/>
          </p:nvSpPr>
          <p:spPr>
            <a:xfrm>
              <a:off x="14895693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椭圆 33"/>
            <p:cNvSpPr/>
            <p:nvPr/>
          </p:nvSpPr>
          <p:spPr>
            <a:xfrm>
              <a:off x="13891297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椭圆 34"/>
            <p:cNvSpPr/>
            <p:nvPr/>
          </p:nvSpPr>
          <p:spPr>
            <a:xfrm>
              <a:off x="14142396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椭圆 35"/>
            <p:cNvSpPr/>
            <p:nvPr/>
          </p:nvSpPr>
          <p:spPr>
            <a:xfrm>
              <a:off x="14393495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椭圆 36"/>
            <p:cNvSpPr/>
            <p:nvPr/>
          </p:nvSpPr>
          <p:spPr>
            <a:xfrm>
              <a:off x="14644594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椭圆 37"/>
            <p:cNvSpPr/>
            <p:nvPr/>
          </p:nvSpPr>
          <p:spPr>
            <a:xfrm>
              <a:off x="14895693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椭圆 38"/>
            <p:cNvSpPr/>
            <p:nvPr/>
          </p:nvSpPr>
          <p:spPr>
            <a:xfrm>
              <a:off x="13891297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椭圆 39"/>
            <p:cNvSpPr/>
            <p:nvPr/>
          </p:nvSpPr>
          <p:spPr>
            <a:xfrm>
              <a:off x="14142396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椭圆 40"/>
            <p:cNvSpPr/>
            <p:nvPr/>
          </p:nvSpPr>
          <p:spPr>
            <a:xfrm>
              <a:off x="14393495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椭圆 41"/>
            <p:cNvSpPr/>
            <p:nvPr/>
          </p:nvSpPr>
          <p:spPr>
            <a:xfrm>
              <a:off x="14644594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椭圆 42"/>
            <p:cNvSpPr/>
            <p:nvPr/>
          </p:nvSpPr>
          <p:spPr>
            <a:xfrm>
              <a:off x="14895693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椭圆 43"/>
            <p:cNvSpPr/>
            <p:nvPr/>
          </p:nvSpPr>
          <p:spPr>
            <a:xfrm>
              <a:off x="13891297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椭圆 44"/>
            <p:cNvSpPr/>
            <p:nvPr/>
          </p:nvSpPr>
          <p:spPr>
            <a:xfrm>
              <a:off x="14142396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椭圆 45"/>
            <p:cNvSpPr/>
            <p:nvPr/>
          </p:nvSpPr>
          <p:spPr>
            <a:xfrm>
              <a:off x="14393495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椭圆 46"/>
            <p:cNvSpPr/>
            <p:nvPr/>
          </p:nvSpPr>
          <p:spPr>
            <a:xfrm>
              <a:off x="14644594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椭圆 47"/>
            <p:cNvSpPr/>
            <p:nvPr/>
          </p:nvSpPr>
          <p:spPr>
            <a:xfrm>
              <a:off x="14895693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椭圆 48"/>
            <p:cNvSpPr/>
            <p:nvPr/>
          </p:nvSpPr>
          <p:spPr>
            <a:xfrm>
              <a:off x="13891297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椭圆 49"/>
            <p:cNvSpPr/>
            <p:nvPr/>
          </p:nvSpPr>
          <p:spPr>
            <a:xfrm>
              <a:off x="14142396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椭圆 50"/>
            <p:cNvSpPr/>
            <p:nvPr/>
          </p:nvSpPr>
          <p:spPr>
            <a:xfrm>
              <a:off x="14393495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椭圆 51"/>
            <p:cNvSpPr/>
            <p:nvPr/>
          </p:nvSpPr>
          <p:spPr>
            <a:xfrm>
              <a:off x="14644594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椭圆 52"/>
            <p:cNvSpPr/>
            <p:nvPr/>
          </p:nvSpPr>
          <p:spPr>
            <a:xfrm>
              <a:off x="14895693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椭圆 53"/>
            <p:cNvSpPr/>
            <p:nvPr/>
          </p:nvSpPr>
          <p:spPr>
            <a:xfrm>
              <a:off x="13891297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椭圆 54"/>
            <p:cNvSpPr/>
            <p:nvPr/>
          </p:nvSpPr>
          <p:spPr>
            <a:xfrm>
              <a:off x="14142396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椭圆 55"/>
            <p:cNvSpPr/>
            <p:nvPr/>
          </p:nvSpPr>
          <p:spPr>
            <a:xfrm>
              <a:off x="14393495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椭圆 56"/>
            <p:cNvSpPr/>
            <p:nvPr/>
          </p:nvSpPr>
          <p:spPr>
            <a:xfrm>
              <a:off x="14644594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椭圆 57"/>
            <p:cNvSpPr/>
            <p:nvPr/>
          </p:nvSpPr>
          <p:spPr>
            <a:xfrm>
              <a:off x="14895693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椭圆 58"/>
            <p:cNvSpPr/>
            <p:nvPr/>
          </p:nvSpPr>
          <p:spPr>
            <a:xfrm>
              <a:off x="13891297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椭圆 59"/>
            <p:cNvSpPr/>
            <p:nvPr/>
          </p:nvSpPr>
          <p:spPr>
            <a:xfrm>
              <a:off x="14142396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椭圆 60"/>
            <p:cNvSpPr/>
            <p:nvPr/>
          </p:nvSpPr>
          <p:spPr>
            <a:xfrm>
              <a:off x="14393495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椭圆 61"/>
            <p:cNvSpPr/>
            <p:nvPr/>
          </p:nvSpPr>
          <p:spPr>
            <a:xfrm>
              <a:off x="14644594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椭圆 62"/>
            <p:cNvSpPr/>
            <p:nvPr/>
          </p:nvSpPr>
          <p:spPr>
            <a:xfrm>
              <a:off x="14895693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椭圆 63"/>
            <p:cNvSpPr/>
            <p:nvPr/>
          </p:nvSpPr>
          <p:spPr>
            <a:xfrm>
              <a:off x="13891297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椭圆 64"/>
            <p:cNvSpPr/>
            <p:nvPr/>
          </p:nvSpPr>
          <p:spPr>
            <a:xfrm>
              <a:off x="14142396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椭圆 65"/>
            <p:cNvSpPr/>
            <p:nvPr/>
          </p:nvSpPr>
          <p:spPr>
            <a:xfrm>
              <a:off x="14393495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椭圆 66"/>
            <p:cNvSpPr/>
            <p:nvPr/>
          </p:nvSpPr>
          <p:spPr>
            <a:xfrm>
              <a:off x="14644594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椭圆 67"/>
            <p:cNvSpPr/>
            <p:nvPr/>
          </p:nvSpPr>
          <p:spPr>
            <a:xfrm>
              <a:off x="14895693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椭圆 68"/>
            <p:cNvSpPr/>
            <p:nvPr/>
          </p:nvSpPr>
          <p:spPr>
            <a:xfrm>
              <a:off x="13891297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椭圆 69"/>
            <p:cNvSpPr/>
            <p:nvPr/>
          </p:nvSpPr>
          <p:spPr>
            <a:xfrm>
              <a:off x="14142396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椭圆 70"/>
            <p:cNvSpPr/>
            <p:nvPr/>
          </p:nvSpPr>
          <p:spPr>
            <a:xfrm>
              <a:off x="14393495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椭圆 71"/>
            <p:cNvSpPr/>
            <p:nvPr/>
          </p:nvSpPr>
          <p:spPr>
            <a:xfrm>
              <a:off x="14644594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椭圆 72"/>
            <p:cNvSpPr/>
            <p:nvPr/>
          </p:nvSpPr>
          <p:spPr>
            <a:xfrm>
              <a:off x="14895693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椭圆 73"/>
            <p:cNvSpPr/>
            <p:nvPr/>
          </p:nvSpPr>
          <p:spPr>
            <a:xfrm>
              <a:off x="13891297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椭圆 80"/>
            <p:cNvSpPr/>
            <p:nvPr/>
          </p:nvSpPr>
          <p:spPr>
            <a:xfrm>
              <a:off x="14142396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椭圆 81"/>
            <p:cNvSpPr/>
            <p:nvPr/>
          </p:nvSpPr>
          <p:spPr>
            <a:xfrm>
              <a:off x="14393495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椭圆 82"/>
            <p:cNvSpPr/>
            <p:nvPr/>
          </p:nvSpPr>
          <p:spPr>
            <a:xfrm>
              <a:off x="14644594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椭圆 83"/>
            <p:cNvSpPr/>
            <p:nvPr/>
          </p:nvSpPr>
          <p:spPr>
            <a:xfrm>
              <a:off x="14895693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5" name="矩形 134"/>
          <p:cNvSpPr/>
          <p:nvPr userDrawn="1"/>
        </p:nvSpPr>
        <p:spPr>
          <a:xfrm>
            <a:off x="635" y="7160260"/>
            <a:ext cx="12858750" cy="87630"/>
          </a:xfrm>
          <a:prstGeom prst="rect">
            <a:avLst/>
          </a:prstGeom>
          <a:solidFill>
            <a:srgbClr val="0767A3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3475" y="1461770"/>
            <a:ext cx="1497330" cy="1257935"/>
          </a:xfrm>
          <a:prstGeom prst="rect">
            <a:avLst/>
          </a:prstGeom>
        </p:spPr>
      </p:pic>
      <p:pic>
        <p:nvPicPr>
          <p:cNvPr id="77" name="图片 7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73215" y="1393190"/>
            <a:ext cx="1497330" cy="1257935"/>
          </a:xfrm>
          <a:prstGeom prst="rect">
            <a:avLst/>
          </a:prstGeom>
        </p:spPr>
      </p:pic>
      <p:pic>
        <p:nvPicPr>
          <p:cNvPr id="78" name="图片 77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6845" y="1461770"/>
            <a:ext cx="1497330" cy="1257935"/>
          </a:xfrm>
          <a:prstGeom prst="rect">
            <a:avLst/>
          </a:prstGeom>
        </p:spPr>
      </p:pic>
      <p:pic>
        <p:nvPicPr>
          <p:cNvPr id="79" name="图片 78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66020" y="1290955"/>
            <a:ext cx="1497330" cy="1257935"/>
          </a:xfrm>
          <a:prstGeom prst="rect">
            <a:avLst/>
          </a:prstGeom>
        </p:spPr>
      </p:pic>
      <p:pic>
        <p:nvPicPr>
          <p:cNvPr id="80" name="图片 79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71600" y="4476750"/>
            <a:ext cx="1497330" cy="1257935"/>
          </a:xfrm>
          <a:prstGeom prst="rect">
            <a:avLst/>
          </a:prstGeom>
        </p:spPr>
      </p:pic>
      <p:pic>
        <p:nvPicPr>
          <p:cNvPr id="85" name="图片 84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12280" y="4305300"/>
            <a:ext cx="1497330" cy="1257935"/>
          </a:xfrm>
          <a:prstGeom prst="rect">
            <a:avLst/>
          </a:prstGeom>
        </p:spPr>
      </p:pic>
      <p:pic>
        <p:nvPicPr>
          <p:cNvPr id="86" name="图片 85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6845" y="4305300"/>
            <a:ext cx="1497330" cy="1257935"/>
          </a:xfrm>
          <a:prstGeom prst="rect">
            <a:avLst/>
          </a:prstGeom>
        </p:spPr>
      </p:pic>
      <p:pic>
        <p:nvPicPr>
          <p:cNvPr id="87" name="图片 8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66020" y="4305300"/>
            <a:ext cx="1497330" cy="1257935"/>
          </a:xfrm>
          <a:prstGeom prst="rect">
            <a:avLst/>
          </a:prstGeom>
        </p:spPr>
      </p:pic>
      <p:sp>
        <p:nvSpPr>
          <p:cNvPr id="4" name="任意多边形: 形状 50"/>
          <p:cNvSpPr/>
          <p:nvPr userDrawn="1"/>
        </p:nvSpPr>
        <p:spPr>
          <a:xfrm rot="18932100">
            <a:off x="9102985" y="1473268"/>
            <a:ext cx="1159449" cy="1159449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rgbClr val="0767A3">
              <a:alpha val="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: 形状 51"/>
          <p:cNvSpPr/>
          <p:nvPr userDrawn="1"/>
        </p:nvSpPr>
        <p:spPr>
          <a:xfrm rot="18958199">
            <a:off x="10136715" y="3266146"/>
            <a:ext cx="462942" cy="462942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rgbClr val="FFC0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文本框 1"/>
          <p:cNvSpPr txBox="1"/>
          <p:nvPr userDrawn="1"/>
        </p:nvSpPr>
        <p:spPr>
          <a:xfrm>
            <a:off x="3907790" y="2265045"/>
            <a:ext cx="503745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200" b="1" dirty="0">
                <a:solidFill>
                  <a:srgbClr val="06619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 You!</a:t>
            </a:r>
            <a:endParaRPr lang="en-US" altLang="zh-CN" sz="7200" b="1" dirty="0">
              <a:solidFill>
                <a:srgbClr val="06619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9" name="直接连接符 88"/>
          <p:cNvCxnSpPr/>
          <p:nvPr userDrawn="1"/>
        </p:nvCxnSpPr>
        <p:spPr>
          <a:xfrm>
            <a:off x="3900805" y="3392170"/>
            <a:ext cx="5051425" cy="0"/>
          </a:xfrm>
          <a:prstGeom prst="line">
            <a:avLst/>
          </a:prstGeom>
          <a:ln>
            <a:solidFill>
              <a:srgbClr val="53535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0" name="文本框 6"/>
          <p:cNvSpPr txBox="1"/>
          <p:nvPr userDrawn="1"/>
        </p:nvSpPr>
        <p:spPr>
          <a:xfrm>
            <a:off x="4038600" y="3468370"/>
            <a:ext cx="47758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45" algn="dist" eaLnBrk="1" latinLnBrk="0" hangingPunct="1"/>
            <a:r>
              <a:rPr lang="zh-CN" altLang="en-US" sz="3200">
                <a:solidFill>
                  <a:schemeClr val="accent4">
                    <a:lumMod val="50000"/>
                  </a:schemeClr>
                </a:solidFill>
                <a:latin typeface="字魂73号-江南手书" panose="00000500000000000000" charset="-122"/>
                <a:ea typeface="字魂73号-江南手书" panose="00000500000000000000" charset="-122"/>
                <a:cs typeface="字魂73号-江南手书" panose="00000500000000000000" charset="-122"/>
              </a:rPr>
              <a:t>力学笃行  志存高远</a:t>
            </a:r>
            <a:endParaRPr lang="zh-CN" altLang="en-US" sz="3200">
              <a:solidFill>
                <a:schemeClr val="accent4">
                  <a:lumMod val="50000"/>
                </a:schemeClr>
              </a:solidFill>
              <a:latin typeface="字魂73号-江南手书" panose="00000500000000000000" charset="-122"/>
              <a:ea typeface="字魂73号-江南手书" panose="00000500000000000000" charset="-122"/>
              <a:cs typeface="字魂73号-江南手书" panose="000005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3729" y="4375800"/>
            <a:ext cx="2857143" cy="141904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16072" y="4410145"/>
            <a:ext cx="2857143" cy="14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92013" y="4278768"/>
            <a:ext cx="2857143" cy="14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65679" y="4238224"/>
            <a:ext cx="2857143" cy="1419048"/>
          </a:xfrm>
          <a:prstGeom prst="rect">
            <a:avLst/>
          </a:prstGeom>
        </p:spPr>
      </p:pic>
      <p:pic>
        <p:nvPicPr>
          <p:cNvPr id="92" name="图片 9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66302" y="1013956"/>
            <a:ext cx="2857143" cy="1419048"/>
          </a:xfrm>
          <a:prstGeom prst="rect">
            <a:avLst/>
          </a:prstGeom>
        </p:spPr>
      </p:pic>
      <p:pic>
        <p:nvPicPr>
          <p:cNvPr id="94" name="图片 9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069" y="1173658"/>
            <a:ext cx="2857143" cy="1419048"/>
          </a:xfrm>
          <a:prstGeom prst="rect">
            <a:avLst/>
          </a:prstGeom>
        </p:spPr>
      </p:pic>
      <p:pic>
        <p:nvPicPr>
          <p:cNvPr id="128" name="图片 12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877818" y="1024383"/>
            <a:ext cx="2857143" cy="1419048"/>
          </a:xfrm>
          <a:prstGeom prst="rect">
            <a:avLst/>
          </a:prstGeom>
        </p:spPr>
      </p:pic>
      <p:pic>
        <p:nvPicPr>
          <p:cNvPr id="130" name="图片 12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957292" y="995663"/>
            <a:ext cx="2857143" cy="14190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4039" y="6703595"/>
            <a:ext cx="2893219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fld id="{32BF82D2-7A68-459D-A996-9BDDA2518FA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59461" y="6703595"/>
            <a:ext cx="4339828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81492" y="6703595"/>
            <a:ext cx="2893219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fld id="{3E01EE5D-26FB-46D5-A381-ECFB35BF1D34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64565" rtl="0" eaLnBrk="1" latinLnBrk="0" hangingPunct="1">
        <a:lnSpc>
          <a:spcPct val="90000"/>
        </a:lnSpc>
        <a:spcBef>
          <a:spcPct val="0"/>
        </a:spcBef>
        <a:buNone/>
        <a:defRPr sz="4640" kern="1200">
          <a:solidFill>
            <a:schemeClr val="tx1"/>
          </a:solidFill>
          <a:latin typeface="印品黑体" panose="00000500000000000000" pitchFamily="2" charset="-122"/>
          <a:ea typeface="+mj-ea"/>
          <a:cs typeface="+mj-cs"/>
        </a:defRPr>
      </a:lvl1pPr>
    </p:titleStyle>
    <p:bodyStyle>
      <a:lvl1pPr marL="241300" indent="-241300" algn="l" defTabSz="964565" rtl="0" eaLnBrk="1" latinLnBrk="0" hangingPunct="1">
        <a:lnSpc>
          <a:spcPct val="90000"/>
        </a:lnSpc>
        <a:spcBef>
          <a:spcPts val="1055"/>
        </a:spcBef>
        <a:buFont typeface="Arial" panose="020B0604020202020204" pitchFamily="34" charset="0"/>
        <a:buChar char="•"/>
        <a:defRPr sz="2955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1pPr>
      <a:lvl2pPr marL="72326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3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2pPr>
      <a:lvl3pPr marL="120523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1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3pPr>
      <a:lvl4pPr marL="168783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4pPr>
      <a:lvl5pPr marL="216979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5pPr>
      <a:lvl6pPr marL="265176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313436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61632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409829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8196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6456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4653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2849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41109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9306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7502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5699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0.png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684959" y="1498476"/>
            <a:ext cx="76060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随机数</a:t>
            </a:r>
            <a:endParaRPr lang="en-US" altLang="zh-CN" sz="5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6" name="TextBox 7"/>
          <p:cNvSpPr txBox="1"/>
          <p:nvPr/>
        </p:nvSpPr>
        <p:spPr>
          <a:xfrm>
            <a:off x="4125119" y="3400926"/>
            <a:ext cx="4968552" cy="5219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周磊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81103" y="5272509"/>
            <a:ext cx="5582514" cy="10801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84870" y="159734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>
                <a:solidFill>
                  <a:srgbClr val="FFC000"/>
                </a:solidFill>
              </a:rPr>
              <a:t>C</a:t>
            </a:r>
            <a:r>
              <a:rPr kumimoji="1" lang="zh-CN" altLang="en-US" dirty="0">
                <a:solidFill>
                  <a:srgbClr val="FFC000"/>
                </a:solidFill>
              </a:rPr>
              <a:t>语言</a:t>
            </a:r>
            <a:endParaRPr kumimoji="1" lang="zh-CN" altLang="en-US" dirty="0">
              <a:solidFill>
                <a:srgbClr val="FFC000"/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/>
        </p:nvSpPr>
        <p:spPr>
          <a:xfrm>
            <a:off x="884870" y="855626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sz="2000" b="1" dirty="0">
                <a:solidFill>
                  <a:srgbClr val="FFFFFF"/>
                </a:solidFill>
              </a:rPr>
              <a:t>知识回顾 </a:t>
            </a:r>
            <a:r>
              <a:rPr lang="zh-CN" altLang="en-US" b="1" dirty="0"/>
              <a:t>新课导入  目标及重难点  新授 总结与合作探究  作业  限时检测</a:t>
            </a:r>
            <a:endParaRPr lang="zh-CN" altLang="en-US" b="1" dirty="0"/>
          </a:p>
        </p:txBody>
      </p:sp>
      <p:sp>
        <p:nvSpPr>
          <p:cNvPr id="6" name="箭头: 上 5"/>
          <p:cNvSpPr/>
          <p:nvPr/>
        </p:nvSpPr>
        <p:spPr>
          <a:xfrm>
            <a:off x="45271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文本占位符 2"/>
          <p:cNvSpPr>
            <a:spLocks noGrp="1"/>
          </p:cNvSpPr>
          <p:nvPr/>
        </p:nvSpPr>
        <p:spPr>
          <a:xfrm>
            <a:off x="2972991" y="1312069"/>
            <a:ext cx="6480720" cy="3896981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endParaRPr lang="en-US" altLang="zh-CN" sz="6600" dirty="0"/>
          </a:p>
        </p:txBody>
      </p:sp>
      <p:sp>
        <p:nvSpPr>
          <p:cNvPr id="7" name="文本占位符 2"/>
          <p:cNvSpPr>
            <a:spLocks noGrp="1"/>
          </p:cNvSpPr>
          <p:nvPr/>
        </p:nvSpPr>
        <p:spPr>
          <a:xfrm>
            <a:off x="2685415" y="735965"/>
            <a:ext cx="8566150" cy="4286885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kumimoji="1" lang="en-US" altLang="zh-CN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indent="0">
              <a:buNone/>
            </a:pPr>
            <a:r>
              <a:rPr kumimoji="1"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一、递归</a:t>
            </a:r>
            <a:r>
              <a:rPr kumimoji="1"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调用</a:t>
            </a:r>
            <a:endParaRPr kumimoji="1"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indent="0">
              <a:buNone/>
            </a:pPr>
            <a:r>
              <a:rPr kumimoji="1"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二、嵌套调用</a:t>
            </a:r>
            <a:endParaRPr kumimoji="1" lang="en-US" altLang="zh-CN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indent="0">
              <a:buNone/>
            </a:pPr>
            <a:endParaRPr lang="en-US" altLang="zh-CN" sz="2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1" y="1646134"/>
            <a:ext cx="10749598" cy="4462058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</a:t>
            </a:r>
            <a:r>
              <a:rPr lang="zh-CN" altLang="en-US" sz="2000" b="1" dirty="0">
                <a:solidFill>
                  <a:schemeClr val="bg1"/>
                </a:solidFill>
              </a:rPr>
              <a:t>新课导入</a:t>
            </a:r>
            <a:r>
              <a:rPr lang="zh-CN" altLang="en-US" sz="2000" b="1" dirty="0"/>
              <a:t>  </a:t>
            </a:r>
            <a:r>
              <a:rPr lang="zh-CN" altLang="en-US" b="1" dirty="0"/>
              <a:t>目标及重难点  新授 总结与合作探究  作业  限时检测</a:t>
            </a:r>
            <a:endParaRPr lang="zh-CN" altLang="en-US" b="1" dirty="0"/>
          </a:p>
        </p:txBody>
      </p:sp>
      <p:sp>
        <p:nvSpPr>
          <p:cNvPr id="2" name="箭头: 上 1"/>
          <p:cNvSpPr/>
          <p:nvPr/>
        </p:nvSpPr>
        <p:spPr>
          <a:xfrm>
            <a:off x="1460823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532702" y="2032127"/>
            <a:ext cx="9793088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600" b="1" u="sng" dirty="0">
                <a:solidFill>
                  <a:srgbClr val="4007A2"/>
                </a:solidFill>
                <a:effectLst/>
                <a:latin typeface="Arial" panose="020B0604020202020204" pitchFamily="34" charset="0"/>
              </a:rPr>
              <a:t>变量有作用范围</a:t>
            </a:r>
            <a:r>
              <a:rPr lang="zh-CN" altLang="en-US" sz="6600" b="1" u="sng" dirty="0">
                <a:solidFill>
                  <a:srgbClr val="4007A2"/>
                </a:solidFill>
                <a:effectLst/>
                <a:latin typeface="Arial" panose="020B0604020202020204" pitchFamily="34" charset="0"/>
              </a:rPr>
              <a:t>么？</a:t>
            </a:r>
            <a:endParaRPr lang="zh-CN" altLang="en-US" sz="6600" b="1" dirty="0">
              <a:solidFill>
                <a:srgbClr val="71777D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</a:t>
            </a:r>
            <a:r>
              <a:rPr lang="zh-CN" altLang="en-US" sz="2000" b="1" dirty="0">
                <a:solidFill>
                  <a:schemeClr val="bg1"/>
                </a:solidFill>
              </a:rPr>
              <a:t>目标及重难点  </a:t>
            </a:r>
            <a:r>
              <a:rPr lang="zh-CN" altLang="en-US" b="1" dirty="0"/>
              <a:t>新授 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2756967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标题 3"/>
          <p:cNvSpPr>
            <a:spLocks noGrp="1"/>
          </p:cNvSpPr>
          <p:nvPr/>
        </p:nvSpPr>
        <p:spPr>
          <a:xfrm>
            <a:off x="2026555" y="2968253"/>
            <a:ext cx="2160240" cy="81407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lang="zh-CN" altLang="en-US" sz="4800" dirty="0"/>
              <a:t>目标：</a:t>
            </a:r>
            <a:endParaRPr lang="en-US" altLang="zh-CN" sz="4800" dirty="0"/>
          </a:p>
        </p:txBody>
      </p:sp>
      <p:sp>
        <p:nvSpPr>
          <p:cNvPr id="4" name="文本占位符 2"/>
          <p:cNvSpPr>
            <a:spLocks noGrp="1"/>
          </p:cNvSpPr>
          <p:nvPr/>
        </p:nvSpPr>
        <p:spPr>
          <a:xfrm>
            <a:off x="3837305" y="2032000"/>
            <a:ext cx="6616700" cy="2219325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zh-CN" altLang="en-US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一、局部变量</a:t>
            </a:r>
            <a:r>
              <a:rPr kumimoji="1"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（重点）</a:t>
            </a:r>
            <a:endParaRPr kumimoji="1" lang="en-US" altLang="zh-CN" sz="24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indent="0">
              <a:buNone/>
            </a:pPr>
            <a:r>
              <a:rPr kumimoji="1" lang="zh-CN" altLang="en-US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二、全局变量</a:t>
            </a:r>
            <a:r>
              <a:rPr kumimoji="1"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（重点）</a:t>
            </a:r>
            <a:endParaRPr kumimoji="1" lang="en-US" altLang="zh-CN" sz="24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indent="0">
              <a:buNone/>
            </a:pPr>
            <a:endParaRPr lang="en-US" altLang="zh-CN" sz="2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635" y="953770"/>
            <a:ext cx="6371590" cy="561975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zh-CN" sz="2400" dirty="0"/>
              <a:t>一、局部</a:t>
            </a:r>
            <a:r>
              <a:rPr lang="zh-CN" altLang="zh-CN" sz="2400" dirty="0"/>
              <a:t>变量</a:t>
            </a:r>
            <a:endParaRPr lang="zh-CN" altLang="zh-CN" sz="2400" dirty="0"/>
          </a:p>
        </p:txBody>
      </p:sp>
      <p:sp>
        <p:nvSpPr>
          <p:cNvPr id="11" name="文本框 10"/>
          <p:cNvSpPr txBox="1"/>
          <p:nvPr/>
        </p:nvSpPr>
        <p:spPr>
          <a:xfrm>
            <a:off x="1101090" y="1744345"/>
            <a:ext cx="8387715" cy="46634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400" dirty="0" smtClean="0">
                <a:solidFill>
                  <a:srgbClr val="FF0000"/>
                </a:solidFill>
                <a:sym typeface="+mn-ea"/>
              </a:rPr>
              <a:t>局部变量</a:t>
            </a:r>
            <a:r>
              <a:rPr lang="zh-CN" altLang="en-US" sz="2400" dirty="0" smtClean="0">
                <a:sym typeface="+mn-ea"/>
              </a:rPr>
              <a:t>：也称内部变量、也叫</a:t>
            </a:r>
            <a:r>
              <a:rPr lang="en-US" altLang="zh-CN" sz="2400" dirty="0" smtClean="0">
                <a:sym typeface="+mn-ea"/>
              </a:rPr>
              <a:t>auto</a:t>
            </a:r>
            <a:r>
              <a:rPr lang="zh-CN" altLang="en-US" sz="2400" dirty="0" smtClean="0">
                <a:sym typeface="+mn-ea"/>
              </a:rPr>
              <a:t>自动变量（</a:t>
            </a:r>
            <a:r>
              <a:rPr lang="en-US" altLang="zh-CN" sz="2400" dirty="0" smtClean="0">
                <a:sym typeface="+mn-ea"/>
              </a:rPr>
              <a:t>auto</a:t>
            </a:r>
            <a:r>
              <a:rPr lang="zh-CN" altLang="en-US" sz="2400" dirty="0" smtClean="0">
                <a:sym typeface="+mn-ea"/>
              </a:rPr>
              <a:t>可写可不写）。</a:t>
            </a:r>
            <a:endParaRPr lang="zh-CN" altLang="en-US" sz="2400" dirty="0" smtClean="0">
              <a:sym typeface="+mn-ea"/>
            </a:endParaRPr>
          </a:p>
          <a:p>
            <a:r>
              <a:rPr lang="zh-CN" altLang="en-US" sz="2400" dirty="0" smtClean="0">
                <a:solidFill>
                  <a:srgbClr val="FF0000"/>
                </a:solidFill>
                <a:sym typeface="+mn-ea"/>
              </a:rPr>
              <a:t>在函数内部定义的变量</a:t>
            </a:r>
            <a:r>
              <a:rPr lang="zh-CN" altLang="en-US" sz="2400" dirty="0" smtClean="0">
                <a:sym typeface="+mn-ea"/>
              </a:rPr>
              <a:t>。</a:t>
            </a:r>
            <a:endParaRPr lang="en-US" altLang="zh-CN" sz="2400" dirty="0" smtClean="0"/>
          </a:p>
          <a:p>
            <a:r>
              <a:rPr lang="zh-CN" altLang="en-US" sz="2400" dirty="0" smtClean="0">
                <a:sym typeface="+mn-ea"/>
              </a:rPr>
              <a:t>若没有赋初值，内容为随机。</a:t>
            </a:r>
            <a:endParaRPr lang="en-US" altLang="zh-CN" sz="2400" dirty="0" smtClean="0"/>
          </a:p>
          <a:p>
            <a:r>
              <a:rPr lang="zh-CN" altLang="en-US" sz="2400" dirty="0" smtClean="0">
                <a:sym typeface="+mn-ea"/>
              </a:rPr>
              <a:t>关键字 </a:t>
            </a:r>
            <a:r>
              <a:rPr lang="en-US" altLang="zh-CN" sz="2400" dirty="0" smtClean="0">
                <a:sym typeface="+mn-ea"/>
              </a:rPr>
              <a:t>auto  </a:t>
            </a:r>
            <a:r>
              <a:rPr lang="zh-CN" altLang="en-US" sz="2400" dirty="0" smtClean="0">
                <a:sym typeface="+mn-ea"/>
              </a:rPr>
              <a:t>自动类型   </a:t>
            </a:r>
            <a:endParaRPr lang="en-US" altLang="zh-CN" sz="2400" dirty="0" smtClean="0"/>
          </a:p>
          <a:p>
            <a:r>
              <a:rPr lang="zh-CN" altLang="en-US" sz="2400" dirty="0" smtClean="0">
                <a:solidFill>
                  <a:srgbClr val="FF0000"/>
                </a:solidFill>
                <a:sym typeface="+mn-ea"/>
              </a:rPr>
              <a:t>生命周期：从创建到函数结束</a:t>
            </a:r>
            <a:endParaRPr lang="zh-CN" altLang="en-US" sz="2400" b="1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1630" y="2392297"/>
            <a:ext cx="7171428" cy="37333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635" y="953770"/>
            <a:ext cx="6897370" cy="471805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 smtClean="0">
                <a:sym typeface="+mn-ea"/>
              </a:rPr>
              <a:t>变量</a:t>
            </a:r>
            <a:r>
              <a:rPr lang="en-US" altLang="zh-CN" sz="2400" dirty="0" smtClean="0">
                <a:sym typeface="+mn-ea"/>
              </a:rPr>
              <a:t>b</a:t>
            </a:r>
            <a:r>
              <a:rPr lang="zh-CN" altLang="en-US" sz="2400" dirty="0" smtClean="0">
                <a:sym typeface="+mn-ea"/>
              </a:rPr>
              <a:t>在复合语句</a:t>
            </a:r>
            <a:r>
              <a:rPr lang="en-US" altLang="zh-CN" sz="2400" dirty="0" smtClean="0">
                <a:sym typeface="+mn-ea"/>
              </a:rPr>
              <a:t>if</a:t>
            </a:r>
            <a:r>
              <a:rPr lang="zh-CN" altLang="en-US" sz="2400" dirty="0" smtClean="0">
                <a:sym typeface="+mn-ea"/>
              </a:rPr>
              <a:t>中，在作用域外无法使用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475" y="1671947"/>
            <a:ext cx="7104762" cy="50190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635" y="953770"/>
            <a:ext cx="6371590" cy="561975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zh-CN" sz="2400" dirty="0"/>
              <a:t>二、</a:t>
            </a:r>
            <a:r>
              <a:rPr lang="zh-CN" altLang="zh-CN" sz="2400" dirty="0"/>
              <a:t>全局变量</a:t>
            </a:r>
            <a:endParaRPr lang="zh-CN" altLang="zh-CN" sz="2400" dirty="0"/>
          </a:p>
        </p:txBody>
      </p:sp>
      <p:sp>
        <p:nvSpPr>
          <p:cNvPr id="11" name="文本框 10"/>
          <p:cNvSpPr txBox="1"/>
          <p:nvPr/>
        </p:nvSpPr>
        <p:spPr>
          <a:xfrm>
            <a:off x="1101090" y="1671955"/>
            <a:ext cx="8387715" cy="46634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400" dirty="0">
                <a:sym typeface="+mn-ea"/>
              </a:rPr>
              <a:t>全局变量：也称外部变量，是在函数外部定义的变量。</a:t>
            </a:r>
            <a:endParaRPr lang="zh-CN" altLang="en-US" sz="2400" dirty="0">
              <a:sym typeface="+mn-ea"/>
            </a:endParaRPr>
          </a:p>
          <a:p>
            <a:r>
              <a:rPr lang="zh-CN" altLang="en-US" sz="2400" dirty="0">
                <a:sym typeface="+mn-ea"/>
              </a:rPr>
              <a:t>全局变量不属于哪一个函数，属于一个源程序文件，其作用域是整个源程序</a:t>
            </a:r>
            <a:r>
              <a:rPr lang="zh-CN" altLang="en-US" sz="2400" dirty="0" smtClean="0">
                <a:sym typeface="+mn-ea"/>
              </a:rPr>
              <a:t>。</a:t>
            </a:r>
            <a:endParaRPr lang="zh-CN" altLang="en-US" sz="2400" dirty="0" smtClean="0">
              <a:sym typeface="+mn-ea"/>
            </a:endParaRPr>
          </a:p>
          <a:p>
            <a:r>
              <a:rPr lang="zh-CN" altLang="en-US" sz="2400" b="1" dirty="0" smtClean="0">
                <a:solidFill>
                  <a:srgbClr val="FF0000"/>
                </a:solidFill>
                <a:sym typeface="+mn-ea"/>
              </a:rPr>
              <a:t>生命周期</a:t>
            </a:r>
            <a:r>
              <a:rPr lang="zh-CN" altLang="en-US" sz="2400" dirty="0" smtClean="0">
                <a:solidFill>
                  <a:srgbClr val="FF0000"/>
                </a:solidFill>
                <a:sym typeface="+mn-ea"/>
              </a:rPr>
              <a:t>：和程序运行周期一样</a:t>
            </a:r>
            <a:r>
              <a:rPr lang="zh-CN" altLang="en-US" sz="2400" dirty="0" smtClean="0">
                <a:sym typeface="+mn-ea"/>
              </a:rPr>
              <a:t>。</a:t>
            </a:r>
            <a:endParaRPr lang="zh-CN" altLang="en-US" sz="24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635" y="953770"/>
            <a:ext cx="6897370" cy="471805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 smtClean="0">
                <a:sym typeface="+mn-ea"/>
              </a:rPr>
              <a:t>思考，若局部变量和全局变量重名？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052" y="1459172"/>
            <a:ext cx="6505139" cy="265449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2807" y="4353636"/>
            <a:ext cx="4875154" cy="23405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635" y="953770"/>
            <a:ext cx="6371590" cy="561975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zh-CN" sz="2400" dirty="0"/>
              <a:t>二、</a:t>
            </a:r>
            <a:r>
              <a:rPr lang="zh-CN" altLang="en-US" sz="2400" dirty="0" smtClean="0">
                <a:sym typeface="+mn-ea"/>
              </a:rPr>
              <a:t>结论：</a:t>
            </a:r>
            <a:endParaRPr lang="zh-CN" altLang="zh-CN" sz="2400" dirty="0"/>
          </a:p>
        </p:txBody>
      </p:sp>
      <p:sp>
        <p:nvSpPr>
          <p:cNvPr id="11" name="文本框 10"/>
          <p:cNvSpPr txBox="1"/>
          <p:nvPr/>
        </p:nvSpPr>
        <p:spPr>
          <a:xfrm>
            <a:off x="1101090" y="1744345"/>
            <a:ext cx="8865235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ym typeface="+mn-ea"/>
              </a:rPr>
              <a:t>在同一个源文件中，全局变量与局部变量同名，则在局部变量的作用范围内，外部变量被屏蔽，即不起作用。</a:t>
            </a:r>
            <a:endParaRPr lang="en-US" altLang="zh-CN" sz="2800" dirty="0" smtClean="0"/>
          </a:p>
          <a:p>
            <a:r>
              <a:rPr lang="zh-CN" altLang="en-US" sz="2800" dirty="0" smtClean="0">
                <a:sym typeface="+mn-ea"/>
              </a:rPr>
              <a:t>也可以说：</a:t>
            </a:r>
            <a:r>
              <a:rPr lang="zh-CN" altLang="en-US" sz="2800" dirty="0" smtClean="0">
                <a:solidFill>
                  <a:srgbClr val="FF0000"/>
                </a:solidFill>
                <a:sym typeface="+mn-ea"/>
              </a:rPr>
              <a:t>数据在操作时会采用就近原则</a:t>
            </a:r>
            <a:r>
              <a:rPr lang="zh-CN" altLang="en-US" sz="2800" dirty="0" smtClean="0">
                <a:sym typeface="+mn-ea"/>
              </a:rPr>
              <a:t>。</a:t>
            </a:r>
            <a:endParaRPr lang="en-US" altLang="zh-CN" sz="2800" dirty="0" smtClean="0"/>
          </a:p>
          <a:p>
            <a:r>
              <a:rPr lang="zh-CN" altLang="en-US" sz="2800" dirty="0" smtClean="0">
                <a:solidFill>
                  <a:srgbClr val="FF0000"/>
                </a:solidFill>
                <a:sym typeface="+mn-ea"/>
              </a:rPr>
              <a:t>举例：全局变量像黑板，所有人都能看到，也都能修改。</a:t>
            </a:r>
            <a:endParaRPr lang="en-US" altLang="zh-CN" sz="2800" dirty="0" smtClean="0">
              <a:solidFill>
                <a:srgbClr val="FF0000"/>
              </a:solidFill>
            </a:endParaRPr>
          </a:p>
          <a:p>
            <a:r>
              <a:rPr lang="zh-CN" altLang="en-US" sz="2800" dirty="0" smtClean="0">
                <a:solidFill>
                  <a:srgbClr val="FF0000"/>
                </a:solidFill>
                <a:sym typeface="+mn-ea"/>
              </a:rPr>
              <a:t>局部变量像日记，只有自己才能看到和修改。</a:t>
            </a:r>
            <a:endParaRPr lang="zh-CN" altLang="en-US" sz="2800" b="1" dirty="0" smtClean="0">
              <a:solidFill>
                <a:srgbClr val="FF0000"/>
              </a:solidFill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总结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</a:t>
            </a:r>
            <a:r>
              <a:rPr lang="zh-CN" altLang="en-US" sz="2000" b="1" dirty="0">
                <a:solidFill>
                  <a:schemeClr val="bg1"/>
                </a:solidFill>
              </a:rPr>
              <a:t>总结与合作探究</a:t>
            </a:r>
            <a:r>
              <a:rPr lang="zh-CN" altLang="en-US" b="1" dirty="0"/>
              <a:t>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4845199" y="6553641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文本占位符 2"/>
          <p:cNvSpPr>
            <a:spLocks noGrp="1"/>
          </p:cNvSpPr>
          <p:nvPr/>
        </p:nvSpPr>
        <p:spPr>
          <a:xfrm>
            <a:off x="3837087" y="1501964"/>
            <a:ext cx="6120680" cy="372260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en-US" sz="4800" dirty="0"/>
              <a:t>全局变量</a:t>
            </a:r>
            <a:endParaRPr lang="en-US" altLang="zh-CN" sz="4800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4800" dirty="0"/>
              <a:t>局部</a:t>
            </a:r>
            <a:r>
              <a:rPr lang="zh-CN" altLang="en-US" sz="4800" dirty="0"/>
              <a:t>变量</a:t>
            </a:r>
            <a:endParaRPr lang="zh-CN" altLang="en-US" sz="4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作业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0" y="6826660"/>
            <a:ext cx="8373591" cy="427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总结与合作探究  </a:t>
            </a:r>
            <a:r>
              <a:rPr lang="zh-CN" altLang="en-US" sz="2000" b="1" dirty="0">
                <a:solidFill>
                  <a:schemeClr val="bg1"/>
                </a:solidFill>
              </a:rPr>
              <a:t>作业</a:t>
            </a:r>
            <a:r>
              <a:rPr lang="zh-CN" altLang="en-US" b="1" dirty="0"/>
              <a:t>  限时检测</a:t>
            </a:r>
            <a:endParaRPr lang="zh-CN" altLang="en-US" b="1" dirty="0"/>
          </a:p>
        </p:txBody>
      </p:sp>
      <p:sp>
        <p:nvSpPr>
          <p:cNvPr id="9" name="箭头: 上 8"/>
          <p:cNvSpPr/>
          <p:nvPr/>
        </p:nvSpPr>
        <p:spPr>
          <a:xfrm>
            <a:off x="5925319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604839" y="1456085"/>
            <a:ext cx="8856984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sz="5400" dirty="0"/>
              <a:t>利用全局变量，输入长方体的长、宽、高，求长方体的表面积和</a:t>
            </a:r>
            <a:r>
              <a:rPr lang="zh-CN" sz="5400" dirty="0"/>
              <a:t>体积</a:t>
            </a:r>
            <a:endParaRPr lang="zh-CN" sz="5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1" y="1646134"/>
            <a:ext cx="10749598" cy="4462058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限时检测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/>
        </p:nvSpPr>
        <p:spPr>
          <a:xfrm>
            <a:off x="884869" y="855626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总结与合作探究  作业  </a:t>
            </a:r>
            <a:r>
              <a:rPr lang="zh-CN" altLang="en-US" sz="2000" b="1" dirty="0">
                <a:solidFill>
                  <a:srgbClr val="FFFFFF"/>
                </a:solidFill>
              </a:rPr>
              <a:t>限时检测</a:t>
            </a:r>
            <a:endParaRPr lang="zh-CN" altLang="en-US" sz="2000" b="1" dirty="0">
              <a:solidFill>
                <a:srgbClr val="FFFFFF"/>
              </a:solidFill>
            </a:endParaRPr>
          </a:p>
        </p:txBody>
      </p:sp>
      <p:sp>
        <p:nvSpPr>
          <p:cNvPr id="2" name="箭头: 上 1"/>
          <p:cNvSpPr/>
          <p:nvPr/>
        </p:nvSpPr>
        <p:spPr>
          <a:xfrm>
            <a:off x="6717407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906833" y="2151296"/>
            <a:ext cx="9045084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无</a:t>
            </a:r>
            <a:endParaRPr lang="zh-CN" altLang="en-US" sz="3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ISPRING_ULTRA_SCORM_COURSE_ID" val="9E7965BD-BA7C-4284-B303-3DF26FF20985"/>
  <p:tag name="ISPRING_SCORM_RATE_SLIDES" val="1"/>
  <p:tag name="ISPRINGONLINEFOLDERID" val="0"/>
  <p:tag name="ISPRINGONLINEFOLDERPATH" val="Content List"/>
  <p:tag name="ISPRINGCLOUDFOLDERID" val="0"/>
  <p:tag name="ISPRINGCLOUDFOLDERPATH" val="Repository"/>
  <p:tag name="ISPRING_PLAYERS_CUSTOMIZATION" val="UEsDBBQAAgAIAEOUV0cNwDEewAEAANoDAAAPAAAAbm9uZS9wbGF5ZXIueG1spZJPb9QwEMXPW6nfIfK9dpYKUa0cekDKiaJKC4jbyptME1PHDp4Ju/vtmfzZpFuQQOKQaPIy72fPs/X9sXHJT4hog8/EWqYiAV+E0voqE18+5zd34v799ZVunTlBTGyZCR88iKQELKJtiX2PhupMvBAkQ0XCL4+bI9pM1ETtRqnD4SAPtzLESr1J07X69vBxW9TQmBvrkYwvmLvs5VYkbbQhWjpl4l0qrq9WA/ICZ5F7fIXBdf3KKIvQqDYCgieIatz2bN3Q3838NMErOrWAgkdfDbPvTfH8EMrOAfbaSo9tWyDqCYO20rSx6zufYCwyMTbsGkA0FaB0vhJq9Ko/mPWTM1hPHLzA9ty22zuLNYsjfejeLerubBmyVxNHXYJ0M0wwnGLeOZeDoS5CKZIIPzrLVd5jv85HkK7FuJzn7h0+Wy/xULDGVW4KCvH0gR18JFOUco5ejtHLwdTbh+ITF49TnNsFMgezhKBratzbf86j7/6fOEp4Mp0jcV7B+hKOueW/BA2PQsAz9pqk1sl+tTOVd9ftmxdX40Iadzdl8R1FQiZWwNewNGTUos8w9Zqm1fg5JTTHotXv91JPRC5/AVBLAQIAABQAAgAIAEOUV0cNwDEewAEAANoDAAAPAAAAAAAAAAEAAAAAAAAAAABub25lL3BsYXllci54bWxQSwUGAAAAAAEAAQA9AAAA7QEAAAAA"/>
  <p:tag name="ISPRING_OUTPUT_FOLDER" val="C:\Users\Administrator\Desktop"/>
  <p:tag name="ISPRING_UUID" val="{C1A8F295-47DC-48FB-81BD-666766343352}"/>
  <p:tag name="ISPRING_RESOURCE_FOLDER" val="E:\素材\正版图-卖\PPT\0变色龙\0包图网\bt369\ppt\bt369\"/>
  <p:tag name="ISPRING_PRESENTATION_PATH" val="E:\素材\正版图-卖\PPT\0变色龙\0包图网\bt369\ppt\bt369.pptx"/>
  <p:tag name="ISPRING_PROJECT_FOLDER_UPDATED" val="1"/>
  <p:tag name="ISPRING_SCREEN_RECS_UPDATED" val="E:\素材\正版图-卖\PPT\0变色龙\0包图网\bt369\ppt\bt369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_PRESENTATION_TITLE" val="bt730"/>
</p:tagLst>
</file>

<file path=ppt/theme/theme1.xml><?xml version="1.0" encoding="utf-8"?>
<a:theme xmlns:a="http://schemas.openxmlformats.org/drawingml/2006/main" name="Office Theme">
  <a:themeElements>
    <a:clrScheme name="自定义 447">
      <a:dk1>
        <a:sysClr val="windowText" lastClr="000000"/>
      </a:dk1>
      <a:lt1>
        <a:sysClr val="window" lastClr="FFFFFF"/>
      </a:lt1>
      <a:dk2>
        <a:srgbClr val="006E67"/>
      </a:dk2>
      <a:lt2>
        <a:srgbClr val="E7E6E6"/>
      </a:lt2>
      <a:accent1>
        <a:srgbClr val="006E67"/>
      </a:accent1>
      <a:accent2>
        <a:srgbClr val="A5A5A5"/>
      </a:accent2>
      <a:accent3>
        <a:srgbClr val="006E67"/>
      </a:accent3>
      <a:accent4>
        <a:srgbClr val="A5A5A5"/>
      </a:accent4>
      <a:accent5>
        <a:srgbClr val="006E67"/>
      </a:accent5>
      <a:accent6>
        <a:srgbClr val="A5A5A5"/>
      </a:accent6>
      <a:hlink>
        <a:srgbClr val="006E67"/>
      </a:hlink>
      <a:folHlink>
        <a:srgbClr val="A5A5A5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877</Words>
  <Application>WPS 演示</Application>
  <PresentationFormat>自定义</PresentationFormat>
  <Paragraphs>92</Paragraphs>
  <Slides>12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5" baseType="lpstr">
      <vt:lpstr>Arial</vt:lpstr>
      <vt:lpstr>宋体</vt:lpstr>
      <vt:lpstr>Wingdings</vt:lpstr>
      <vt:lpstr>Calibri</vt:lpstr>
      <vt:lpstr>印品黑体</vt:lpstr>
      <vt:lpstr>黑体</vt:lpstr>
      <vt:lpstr>微软雅黑</vt:lpstr>
      <vt:lpstr>字魂73号-江南手书</vt:lpstr>
      <vt:lpstr>Alibaba PuHuiTi B</vt:lpstr>
      <vt:lpstr>阿里巴巴普惠体</vt:lpstr>
      <vt:lpstr>Alibaba PuHuiTi R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bt730</dc:title>
  <dc:creator/>
  <cp:lastModifiedBy>周磊</cp:lastModifiedBy>
  <cp:revision>676</cp:revision>
  <dcterms:created xsi:type="dcterms:W3CDTF">2024-04-10T13:53:00Z</dcterms:created>
  <dcterms:modified xsi:type="dcterms:W3CDTF">2025-11-10T08:56:28Z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FCA88555D3D44735BAA1F56722F3B997</vt:lpwstr>
  </property>
</Properties>
</file>