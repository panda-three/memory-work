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3"/>
  </p:handoutMasterIdLst>
  <p:sldIdLst>
    <p:sldId id="3705" r:id="rId3"/>
    <p:sldId id="3706" r:id="rId4"/>
    <p:sldId id="3756" r:id="rId5"/>
    <p:sldId id="3646" r:id="rId6"/>
    <p:sldId id="3798" r:id="rId8"/>
    <p:sldId id="3708" r:id="rId9"/>
    <p:sldId id="3801" r:id="rId10"/>
    <p:sldId id="3802" r:id="rId11"/>
    <p:sldId id="3795" r:id="rId12"/>
    <p:sldId id="3786" r:id="rId13"/>
    <p:sldId id="3803" r:id="rId14"/>
    <p:sldId id="3804" r:id="rId15"/>
    <p:sldId id="3805" r:id="rId16"/>
    <p:sldId id="3806" r:id="rId17"/>
    <p:sldId id="3807" r:id="rId18"/>
    <p:sldId id="3808" r:id="rId19"/>
    <p:sldId id="3712" r:id="rId20"/>
    <p:sldId id="3793" r:id="rId21"/>
    <p:sldId id="3702" r:id="rId22"/>
  </p:sldIdLst>
  <p:sldSz cx="12858750" cy="723265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1542FF"/>
    <a:srgbClr val="FFBF00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3477047" y="1635164"/>
            <a:ext cx="547260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3800" dirty="0" smtClean="0">
                <a:solidFill>
                  <a:schemeClr val="tx1"/>
                </a:solidFill>
              </a:rPr>
              <a:t>随机数</a:t>
            </a:r>
            <a:endParaRPr lang="en-US" altLang="zh-CN" sz="13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51" y="935947"/>
            <a:ext cx="5144418" cy="514441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439" y="908816"/>
            <a:ext cx="5151069" cy="5151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2032149"/>
            <a:ext cx="5472608" cy="27363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 smtClean="0"/>
              <a:t>数组概念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 smtClean="0">
                <a:solidFill>
                  <a:schemeClr val="tx1"/>
                </a:solidFill>
              </a:rPr>
              <a:t>数组的定义</a:t>
            </a:r>
            <a:endParaRPr lang="en-US" altLang="zh-CN" sz="48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 smtClean="0">
                <a:solidFill>
                  <a:schemeClr val="tx1"/>
                </a:solidFill>
              </a:rPr>
              <a:t>数组的初始化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什么是数组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15" y="1938332"/>
            <a:ext cx="1790700" cy="3162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75" y="1742582"/>
            <a:ext cx="2676525" cy="1790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671" y="1700207"/>
            <a:ext cx="2085975" cy="3400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50" y="3876039"/>
            <a:ext cx="2609850" cy="16859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757" y="92593"/>
            <a:ext cx="1019175" cy="18764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199" y="159941"/>
            <a:ext cx="1247775" cy="15430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7112" y="4264397"/>
            <a:ext cx="1152525" cy="21240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8355" y="4282314"/>
            <a:ext cx="1685925" cy="2152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什么是数组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5" y="1495467"/>
            <a:ext cx="10498013" cy="500334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645" y="2636639"/>
            <a:ext cx="8763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什么是数组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51" y="1608925"/>
            <a:ext cx="10829925" cy="208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什么是数组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679" y="3688333"/>
            <a:ext cx="628650" cy="5048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815" y="1497632"/>
            <a:ext cx="10109845" cy="194727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8475"/>
            <a:ext cx="4789508" cy="2938391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 rot="10800000">
            <a:off x="4485159" y="4174210"/>
            <a:ext cx="1144859" cy="725839"/>
          </a:xfrm>
          <a:prstGeom prst="rightArrow">
            <a:avLst>
              <a:gd name="adj1" fmla="val 50000"/>
              <a:gd name="adj2" fmla="val 485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0975" y="2756216"/>
            <a:ext cx="7309408" cy="3899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 smtClean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什么是数组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1" y="2170830"/>
            <a:ext cx="4686013" cy="37470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368" y="2746070"/>
            <a:ext cx="3933825" cy="266700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 rot="10800000">
            <a:off x="4557166" y="3046122"/>
            <a:ext cx="2448272" cy="648072"/>
          </a:xfrm>
          <a:prstGeom prst="rightArrow">
            <a:avLst>
              <a:gd name="adj1" fmla="val 50000"/>
              <a:gd name="adj2" fmla="val 6175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73774" y="2522901"/>
            <a:ext cx="2160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能存进去吗？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什么是数组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3" y="1911163"/>
            <a:ext cx="10829925" cy="208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3981103" y="5071638"/>
            <a:ext cx="3744416" cy="576064"/>
          </a:xfrm>
          <a:prstGeom prst="roundRect">
            <a:avLst/>
          </a:prstGeom>
          <a:solidFill>
            <a:srgbClr val="AF443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3981103" y="3853055"/>
            <a:ext cx="3744416" cy="576064"/>
          </a:xfrm>
          <a:prstGeom prst="roundRect">
            <a:avLst/>
          </a:prstGeom>
          <a:solidFill>
            <a:srgbClr val="AF443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3981103" y="2641440"/>
            <a:ext cx="3744416" cy="576064"/>
          </a:xfrm>
          <a:prstGeom prst="roundRect">
            <a:avLst/>
          </a:prstGeom>
          <a:solidFill>
            <a:srgbClr val="AF443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3981103" y="1429826"/>
            <a:ext cx="3744416" cy="576064"/>
          </a:xfrm>
          <a:prstGeom prst="roundRect">
            <a:avLst/>
          </a:prstGeom>
          <a:solidFill>
            <a:srgbClr val="AF443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3981103" y="5694010"/>
            <a:ext cx="3744416" cy="57606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981103" y="4455378"/>
            <a:ext cx="3744416" cy="57606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3981103" y="3236795"/>
            <a:ext cx="3744416" cy="57606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981103" y="2032149"/>
            <a:ext cx="3744416" cy="57606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数组学习大纲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81103" y="1369581"/>
            <a:ext cx="43204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</a:rPr>
              <a:t>数组的定义</a:t>
            </a:r>
            <a:endParaRPr lang="en-US" altLang="zh-CN" sz="4000" dirty="0">
              <a:solidFill>
                <a:schemeClr val="bg1"/>
              </a:solidFill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</a:rPr>
              <a:t>数组的初始化</a:t>
            </a:r>
            <a:endParaRPr lang="en-US" altLang="zh-CN" sz="4000" dirty="0" smtClean="0">
              <a:solidFill>
                <a:schemeClr val="bg1"/>
              </a:solidFill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</a:rPr>
              <a:t>元素访问</a:t>
            </a:r>
            <a:endParaRPr lang="en-US" altLang="zh-CN" sz="4000" dirty="0" smtClean="0">
              <a:solidFill>
                <a:schemeClr val="bg1"/>
              </a:solidFill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</a:rPr>
              <a:t>数组遍历</a:t>
            </a:r>
            <a:endParaRPr lang="en-US" altLang="zh-CN" sz="4000" dirty="0" smtClean="0">
              <a:solidFill>
                <a:schemeClr val="bg1"/>
              </a:solidFill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</a:rPr>
              <a:t>内存中的数组</a:t>
            </a:r>
            <a:endParaRPr lang="en-US" altLang="zh-CN" sz="4000" dirty="0" smtClean="0">
              <a:solidFill>
                <a:schemeClr val="bg1"/>
              </a:solidFill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</a:rPr>
              <a:t>数组的常见问题</a:t>
            </a:r>
            <a:endParaRPr lang="en-US" altLang="zh-CN" sz="4000" dirty="0" smtClean="0">
              <a:solidFill>
                <a:schemeClr val="bg1"/>
              </a:solidFill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</a:rPr>
              <a:t>数组的算法题</a:t>
            </a:r>
            <a:endParaRPr lang="en-US" altLang="zh-CN" sz="4000" dirty="0" smtClean="0">
              <a:solidFill>
                <a:schemeClr val="bg1"/>
              </a:solidFill>
            </a:endParaRPr>
          </a:p>
          <a:p>
            <a:r>
              <a:rPr lang="zh-CN" altLang="en-US" sz="4000" dirty="0">
                <a:solidFill>
                  <a:schemeClr val="bg1"/>
                </a:solidFill>
              </a:rPr>
              <a:t>二</a:t>
            </a:r>
            <a:r>
              <a:rPr lang="zh-CN" altLang="en-US" sz="4000" dirty="0" smtClean="0">
                <a:solidFill>
                  <a:schemeClr val="bg1"/>
                </a:solidFill>
              </a:rPr>
              <a:t>维数组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/>
              <a:t>三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数组的定义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46" y="1714199"/>
            <a:ext cx="5276850" cy="2943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919" y="3419745"/>
            <a:ext cx="657225" cy="485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033" y="3544285"/>
            <a:ext cx="600075" cy="3238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059" y="3440342"/>
            <a:ext cx="523875" cy="457200"/>
          </a:xfrm>
          <a:prstGeom prst="rect">
            <a:avLst/>
          </a:prstGeom>
        </p:spPr>
      </p:pic>
      <p:cxnSp>
        <p:nvCxnSpPr>
          <p:cNvPr id="16" name="直接箭头连接符 15"/>
          <p:cNvCxnSpPr>
            <a:stCxn id="14" idx="2"/>
          </p:cNvCxnSpPr>
          <p:nvPr/>
        </p:nvCxnSpPr>
        <p:spPr>
          <a:xfrm>
            <a:off x="4525997" y="3897542"/>
            <a:ext cx="463218" cy="11589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909094" y="5128493"/>
            <a:ext cx="309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表示能存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几个</a:t>
            </a:r>
            <a:r>
              <a:rPr lang="zh-CN" altLang="en-US" sz="2400" dirty="0" smtClean="0"/>
              <a:t>整数，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就表示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个。</a:t>
            </a:r>
            <a:endParaRPr lang="zh-CN" altLang="en-US" sz="24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591" y="1428797"/>
            <a:ext cx="4000500" cy="25146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741" y="2562495"/>
            <a:ext cx="3943350" cy="134302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285029" y="4810567"/>
            <a:ext cx="5040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特点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zh-CN" altLang="en-US" sz="2800" dirty="0" smtClean="0"/>
              <a:t>连续的空间</a:t>
            </a:r>
            <a:endParaRPr lang="en-US" altLang="zh-CN" sz="2800" dirty="0" smtClean="0"/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特点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800" dirty="0" smtClean="0"/>
              <a:t>一旦定义，长度不可变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/>
              <a:t>三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数组的定义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0823" y="1501890"/>
            <a:ext cx="97930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/>
              <a:t>1</a:t>
            </a:r>
            <a:r>
              <a:rPr lang="zh-CN" altLang="en-US" sz="4400" dirty="0" smtClean="0"/>
              <a:t>、定义数组存储全班</a:t>
            </a:r>
            <a:r>
              <a:rPr lang="en-US" altLang="zh-CN" sz="4400" dirty="0" smtClean="0"/>
              <a:t>80</a:t>
            </a:r>
            <a:r>
              <a:rPr lang="zh-CN" altLang="en-US" sz="4400" dirty="0" smtClean="0"/>
              <a:t>位同学的成绩</a:t>
            </a:r>
            <a:endParaRPr lang="en-US" altLang="zh-CN" sz="4400" dirty="0" smtClean="0"/>
          </a:p>
          <a:p>
            <a:r>
              <a:rPr lang="en-US" altLang="zh-CN" sz="4400" dirty="0" smtClean="0"/>
              <a:t>2</a:t>
            </a:r>
            <a:r>
              <a:rPr lang="zh-CN" altLang="en-US" sz="4400" dirty="0" smtClean="0"/>
              <a:t>、定义数组存储全班</a:t>
            </a:r>
            <a:r>
              <a:rPr lang="en-US" altLang="zh-CN" sz="4400" dirty="0" smtClean="0"/>
              <a:t>50</a:t>
            </a:r>
            <a:r>
              <a:rPr lang="zh-CN" altLang="en-US" sz="4400" dirty="0" smtClean="0"/>
              <a:t>位同学的身高</a:t>
            </a:r>
            <a:endParaRPr lang="en-US" altLang="zh-CN" sz="4400" dirty="0" smtClean="0"/>
          </a:p>
          <a:p>
            <a:r>
              <a:rPr lang="en-US" altLang="zh-CN" sz="4400" dirty="0" smtClean="0"/>
              <a:t>3</a:t>
            </a:r>
            <a:r>
              <a:rPr lang="zh-CN" altLang="en-US" sz="4400" dirty="0" smtClean="0"/>
              <a:t>、定义数组存储全身每件衣服的价格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数组的初始化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32831" y="1600101"/>
            <a:ext cx="10873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rgbClr val="FF0000"/>
                </a:solidFill>
              </a:rPr>
              <a:t>初始化：</a:t>
            </a:r>
            <a:r>
              <a:rPr lang="zh-CN" altLang="en-US" sz="4000" dirty="0" smtClean="0"/>
              <a:t>定义数组的时候，第一次给数组赋值。</a:t>
            </a:r>
            <a:endParaRPr lang="zh-CN" altLang="en-US" sz="4000" dirty="0"/>
          </a:p>
        </p:txBody>
      </p:sp>
      <p:sp>
        <p:nvSpPr>
          <p:cNvPr id="4" name="圆角矩形 3"/>
          <p:cNvSpPr/>
          <p:nvPr/>
        </p:nvSpPr>
        <p:spPr>
          <a:xfrm>
            <a:off x="956767" y="1744117"/>
            <a:ext cx="432048" cy="43204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07" y="2434172"/>
            <a:ext cx="8724900" cy="2428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51" y="4003792"/>
            <a:ext cx="4867275" cy="581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数组的初始化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-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细节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855" y="1576440"/>
            <a:ext cx="8305800" cy="1600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039" y="3206665"/>
            <a:ext cx="4695825" cy="56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 smtClean="0"/>
              <a:t>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数组的初始化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-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细节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39" y="1377844"/>
            <a:ext cx="8143875" cy="1857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027" y="3198614"/>
            <a:ext cx="4924425" cy="5905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338" y="4138987"/>
            <a:ext cx="7000875" cy="1724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837087" y="2032149"/>
            <a:ext cx="5472608" cy="27363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 smtClean="0"/>
              <a:t>数组概念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 smtClean="0">
                <a:solidFill>
                  <a:schemeClr val="tx1"/>
                </a:solidFill>
              </a:rPr>
              <a:t>数组的定义</a:t>
            </a:r>
            <a:endParaRPr lang="en-US" altLang="zh-CN" sz="48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 smtClean="0">
                <a:solidFill>
                  <a:schemeClr val="tx1"/>
                </a:solidFill>
              </a:rPr>
              <a:t>数组的初始化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4839" y="1456085"/>
            <a:ext cx="88569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/>
              <a:t>定义一个数组</a:t>
            </a:r>
            <a:r>
              <a:rPr lang="en-US" altLang="zh-CN" sz="5400" dirty="0" smtClean="0"/>
              <a:t>arr1</a:t>
            </a:r>
            <a:r>
              <a:rPr lang="zh-CN" altLang="en-US" sz="5400" dirty="0" smtClean="0"/>
              <a:t>，用来存储</a:t>
            </a:r>
            <a:r>
              <a:rPr lang="en-US" altLang="zh-CN" sz="5400" dirty="0" smtClean="0"/>
              <a:t>5</a:t>
            </a:r>
            <a:r>
              <a:rPr lang="zh-CN" altLang="en-US" sz="5400" dirty="0" smtClean="0"/>
              <a:t>个</a:t>
            </a:r>
            <a:r>
              <a:rPr lang="en-US" altLang="zh-CN" sz="5400" dirty="0" err="1" smtClean="0"/>
              <a:t>int</a:t>
            </a:r>
            <a:r>
              <a:rPr lang="zh-CN" altLang="en-US" sz="5400" dirty="0" smtClean="0"/>
              <a:t>类型的整数，并初始化一些值。</a:t>
            </a:r>
            <a:endParaRPr lang="en-US" altLang="zh-CN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51" y="2299983"/>
            <a:ext cx="3874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/>
              <a:t>如何定义数组呢？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1095</Words>
  <Application>WPS 演示</Application>
  <PresentationFormat>自定义</PresentationFormat>
  <Paragraphs>138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654</cp:revision>
  <dcterms:created xsi:type="dcterms:W3CDTF">2024-04-10T13:53:00Z</dcterms:created>
  <dcterms:modified xsi:type="dcterms:W3CDTF">2025-11-02T11:05:51Z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FCA88555D3D44735BAA1F56722F3B997</vt:lpwstr>
  </property>
</Properties>
</file>