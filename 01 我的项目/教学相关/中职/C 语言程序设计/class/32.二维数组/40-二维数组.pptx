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6"/>
  </p:notesMasterIdLst>
  <p:handoutMasterIdLst>
    <p:handoutMasterId r:id="rId25"/>
  </p:handoutMasterIdLst>
  <p:sldIdLst>
    <p:sldId id="3705" r:id="rId3"/>
    <p:sldId id="3756" r:id="rId4"/>
    <p:sldId id="3646" r:id="rId5"/>
    <p:sldId id="3798" r:id="rId7"/>
    <p:sldId id="3799" r:id="rId8"/>
    <p:sldId id="3800" r:id="rId9"/>
    <p:sldId id="3801" r:id="rId10"/>
    <p:sldId id="3802" r:id="rId11"/>
    <p:sldId id="3811" r:id="rId12"/>
    <p:sldId id="3803" r:id="rId13"/>
    <p:sldId id="3804" r:id="rId14"/>
    <p:sldId id="3805" r:id="rId15"/>
    <p:sldId id="3809" r:id="rId16"/>
    <p:sldId id="3810" r:id="rId17"/>
    <p:sldId id="3806" r:id="rId18"/>
    <p:sldId id="3807" r:id="rId19"/>
    <p:sldId id="3808" r:id="rId20"/>
    <p:sldId id="3712" r:id="rId21"/>
    <p:sldId id="3812" r:id="rId22"/>
    <p:sldId id="3834" r:id="rId23"/>
    <p:sldId id="3702" r:id="rId24"/>
  </p:sldIdLst>
  <p:sldSz cx="12858750" cy="7232650"/>
  <p:notesSz cx="6858000" cy="9144000"/>
  <p:custDataLst>
    <p:tags r:id="rId30"/>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 userDrawn="1">
          <p15:clr>
            <a:srgbClr val="A4A3A4"/>
          </p15:clr>
        </p15:guide>
        <p15:guide id="2" orient="horz" pos="4138" userDrawn="1">
          <p15:clr>
            <a:srgbClr val="A4A3A4"/>
          </p15:clr>
        </p15:guide>
        <p15:guide id="3" pos="4075" userDrawn="1">
          <p15:clr>
            <a:srgbClr val="A4A3A4"/>
          </p15:clr>
        </p15:guide>
        <p15:guide id="4" pos="556" userDrawn="1">
          <p15:clr>
            <a:srgbClr val="A4A3A4"/>
          </p15:clr>
        </p15:guide>
        <p15:guide id="5" pos="7544" userDrawn="1">
          <p15:clr>
            <a:srgbClr val="A4A3A4"/>
          </p15:clr>
        </p15:guide>
        <p15:guide id="6" pos="68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14" clrIdx="1"/>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F4436"/>
    <a:srgbClr val="1542FF"/>
    <a:srgbClr val="FFBF00"/>
    <a:srgbClr val="FFFFFF"/>
    <a:srgbClr val="0C6AC7"/>
    <a:srgbClr val="FFC000"/>
    <a:srgbClr val="066197"/>
    <a:srgbClr val="262626"/>
    <a:srgbClr val="0767A3"/>
    <a:srgbClr val="535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41" autoAdjust="0"/>
    <p:restoredTop sz="96327" autoAdjust="0"/>
  </p:normalViewPr>
  <p:slideViewPr>
    <p:cSldViewPr showGuides="1">
      <p:cViewPr varScale="1">
        <p:scale>
          <a:sx n="90" d="100"/>
          <a:sy n="90" d="100"/>
        </p:scale>
        <p:origin x="552" y="53"/>
      </p:cViewPr>
      <p:guideLst>
        <p:guide orient="horz" pos="218"/>
        <p:guide orient="horz" pos="4138"/>
        <p:guide pos="4075"/>
        <p:guide pos="556"/>
        <p:guide pos="7544"/>
        <p:guide pos="6858"/>
      </p:guideLst>
    </p:cSldViewPr>
  </p:slideViewPr>
  <p:outlineViewPr>
    <p:cViewPr>
      <p:scale>
        <a:sx n="100" d="100"/>
        <a:sy n="100" d="100"/>
      </p:scale>
      <p:origin x="0" y="-9972"/>
    </p:cViewPr>
  </p:outlineViewPr>
  <p:notesTextViewPr>
    <p:cViewPr>
      <p:scale>
        <a:sx n="1" d="1"/>
        <a:sy n="1" d="1"/>
      </p:scale>
      <p:origin x="0" y="0"/>
    </p:cViewPr>
  </p:notesTextViewPr>
  <p:sorterViewPr>
    <p:cViewPr>
      <p:scale>
        <a:sx n="33" d="100"/>
        <a:sy n="33" d="100"/>
      </p:scale>
      <p:origin x="0" y="0"/>
    </p:cViewPr>
  </p:sorterViewPr>
  <p:notesViewPr>
    <p:cSldViewPr>
      <p:cViewPr varScale="1">
        <p:scale>
          <a:sx n="63" d="100"/>
          <a:sy n="63" d="100"/>
        </p:scale>
        <p:origin x="3206"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gs" Target="tags/tag1.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印品黑体" panose="00000500000000000000" pitchFamily="2"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latin typeface="印品黑体" panose="00000500000000000000" pitchFamily="2" charset="-122"/>
              </a:rPr>
            </a:fld>
            <a:endParaRPr lang="zh-CN" altLang="en-US" dirty="0">
              <a:latin typeface="印品黑体" panose="00000500000000000000" pitchFamily="2"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印品黑体" panose="00000500000000000000" pitchFamily="2"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latin typeface="印品黑体" panose="00000500000000000000" pitchFamily="2" charset="-122"/>
              </a:rPr>
            </a:fld>
            <a:endParaRPr lang="zh-CN" altLang="en-US" dirty="0">
              <a:latin typeface="印品黑体" panose="00000500000000000000"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印品黑体" panose="00000500000000000000" pitchFamily="2" charset="-122"/>
              </a:defRPr>
            </a:lvl1pPr>
          </a:lstStyle>
          <a:p>
            <a:pPr>
              <a:defRPr/>
            </a:pPr>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印品黑体" panose="00000500000000000000" pitchFamily="2" charset="-122"/>
              </a:defRPr>
            </a:lvl1pPr>
          </a:lstStyle>
          <a:p>
            <a:pPr>
              <a:defRPr/>
            </a:pPr>
            <a:fld id="{06024D97-E667-405D-B634-E583E2108D71}"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印品黑体" panose="00000500000000000000" pitchFamily="2" charset="-122"/>
              </a:defRPr>
            </a:lvl1pPr>
          </a:lstStyle>
          <a:p>
            <a:pPr>
              <a:defRPr/>
            </a:pPr>
            <a:endParaRPr lang="zh-CN" altLang="en-US" dirty="0"/>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印品黑体" panose="00000500000000000000" pitchFamily="2" charset="-122"/>
              </a:defRPr>
            </a:lvl1pPr>
          </a:lstStyle>
          <a:p>
            <a:fld id="{418F03C3-53C1-4F10-8DAF-D1F318E96C6E}"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1pPr>
    <a:lvl2pPr marL="4559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2pPr>
    <a:lvl3pPr marL="9131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3pPr>
    <a:lvl4pPr marL="13703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4pPr>
    <a:lvl5pPr marL="1827530" algn="l" rtl="0" eaLnBrk="0" fontAlgn="base" hangingPunct="0">
      <a:spcBef>
        <a:spcPct val="30000"/>
      </a:spcBef>
      <a:spcAft>
        <a:spcPct val="0"/>
      </a:spcAft>
      <a:defRPr sz="1300" kern="1200">
        <a:solidFill>
          <a:schemeClr val="tx1"/>
        </a:solidFill>
        <a:latin typeface="印品黑体" panose="00000500000000000000" pitchFamily="2" charset="-122"/>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8F03C3-53C1-4F10-8DAF-D1F318E96C6E}"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9525" y="635"/>
            <a:ext cx="12849225" cy="72320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3E01EE5D-26FB-46D5-A381-ECFB35BF1D34}" type="slidenum">
              <a:rPr lang="zh-CN" altLang="en-US" smtClean="0"/>
            </a:fld>
            <a:endParaRPr lang="zh-CN" altLang="en-US" dirty="0"/>
          </a:p>
        </p:txBody>
      </p:sp>
      <p:pic>
        <p:nvPicPr>
          <p:cNvPr id="7" name="图片 6"/>
          <p:cNvPicPr>
            <a:picLocks noChangeAspect="1"/>
          </p:cNvPicPr>
          <p:nvPr userDrawn="1"/>
        </p:nvPicPr>
        <p:blipFill>
          <a:blip r:embed="rId2"/>
          <a:stretch>
            <a:fillRect/>
          </a:stretch>
        </p:blipFill>
        <p:spPr>
          <a:xfrm>
            <a:off x="0" y="1270"/>
            <a:ext cx="12858750" cy="7231380"/>
          </a:xfrm>
          <a:prstGeom prst="rect">
            <a:avLst/>
          </a:prstGeom>
        </p:spPr>
      </p:pic>
      <p:pic>
        <p:nvPicPr>
          <p:cNvPr id="8" name="图片 7"/>
          <p:cNvPicPr>
            <a:picLocks noChangeAspect="1"/>
          </p:cNvPicPr>
          <p:nvPr userDrawn="1"/>
        </p:nvPicPr>
        <p:blipFill>
          <a:blip r:embed="rId3"/>
          <a:stretch>
            <a:fillRect/>
          </a:stretch>
        </p:blipFill>
        <p:spPr>
          <a:xfrm>
            <a:off x="1172791" y="4984477"/>
            <a:ext cx="3161905" cy="619048"/>
          </a:xfrm>
          <a:prstGeom prst="rect">
            <a:avLst/>
          </a:prstGeom>
        </p:spPr>
      </p:pic>
      <p:pic>
        <p:nvPicPr>
          <p:cNvPr id="10" name="图片 9"/>
          <p:cNvPicPr>
            <a:picLocks noChangeAspect="1"/>
          </p:cNvPicPr>
          <p:nvPr userDrawn="1"/>
        </p:nvPicPr>
        <p:blipFill>
          <a:blip r:embed="rId3"/>
          <a:stretch>
            <a:fillRect/>
          </a:stretch>
        </p:blipFill>
        <p:spPr>
          <a:xfrm>
            <a:off x="4125119" y="4804672"/>
            <a:ext cx="3161905" cy="619048"/>
          </a:xfrm>
          <a:prstGeom prst="rect">
            <a:avLst/>
          </a:prstGeom>
        </p:spPr>
      </p:pic>
      <p:pic>
        <p:nvPicPr>
          <p:cNvPr id="12" name="图片 11"/>
          <p:cNvPicPr>
            <a:picLocks noChangeAspect="1"/>
          </p:cNvPicPr>
          <p:nvPr userDrawn="1"/>
        </p:nvPicPr>
        <p:blipFill>
          <a:blip r:embed="rId3"/>
          <a:stretch>
            <a:fillRect/>
          </a:stretch>
        </p:blipFill>
        <p:spPr>
          <a:xfrm>
            <a:off x="4917207" y="5282442"/>
            <a:ext cx="3161905" cy="619048"/>
          </a:xfrm>
          <a:prstGeom prst="rect">
            <a:avLst/>
          </a:prstGeom>
        </p:spPr>
      </p:pic>
      <p:pic>
        <p:nvPicPr>
          <p:cNvPr id="14" name="图片 13"/>
          <p:cNvPicPr>
            <a:picLocks noChangeAspect="1"/>
          </p:cNvPicPr>
          <p:nvPr userDrawn="1"/>
        </p:nvPicPr>
        <p:blipFill>
          <a:blip r:embed="rId3"/>
          <a:stretch>
            <a:fillRect/>
          </a:stretch>
        </p:blipFill>
        <p:spPr>
          <a:xfrm>
            <a:off x="6288582" y="4804672"/>
            <a:ext cx="3161905" cy="619048"/>
          </a:xfrm>
          <a:prstGeom prst="rect">
            <a:avLst/>
          </a:prstGeom>
        </p:spPr>
      </p:pic>
      <p:pic>
        <p:nvPicPr>
          <p:cNvPr id="16" name="图片 15"/>
          <p:cNvPicPr>
            <a:picLocks noChangeAspect="1"/>
          </p:cNvPicPr>
          <p:nvPr userDrawn="1"/>
        </p:nvPicPr>
        <p:blipFill>
          <a:blip r:embed="rId3"/>
          <a:stretch>
            <a:fillRect/>
          </a:stretch>
        </p:blipFill>
        <p:spPr>
          <a:xfrm>
            <a:off x="6621338" y="5337044"/>
            <a:ext cx="3161905" cy="619048"/>
          </a:xfrm>
          <a:prstGeom prst="rect">
            <a:avLst/>
          </a:prstGeom>
        </p:spPr>
      </p:pic>
      <p:pic>
        <p:nvPicPr>
          <p:cNvPr id="18" name="图片 17"/>
          <p:cNvPicPr>
            <a:picLocks noChangeAspect="1"/>
          </p:cNvPicPr>
          <p:nvPr userDrawn="1"/>
        </p:nvPicPr>
        <p:blipFill>
          <a:blip r:embed="rId3"/>
          <a:stretch>
            <a:fillRect/>
          </a:stretch>
        </p:blipFill>
        <p:spPr>
          <a:xfrm>
            <a:off x="8991155" y="4781605"/>
            <a:ext cx="3161905" cy="619048"/>
          </a:xfrm>
          <a:prstGeom prst="rect">
            <a:avLst/>
          </a:prstGeom>
        </p:spPr>
      </p:pic>
      <p:pic>
        <p:nvPicPr>
          <p:cNvPr id="20" name="图片 19"/>
          <p:cNvPicPr>
            <a:picLocks noChangeAspect="1"/>
          </p:cNvPicPr>
          <p:nvPr userDrawn="1"/>
        </p:nvPicPr>
        <p:blipFill>
          <a:blip r:embed="rId3"/>
          <a:stretch>
            <a:fillRect/>
          </a:stretch>
        </p:blipFill>
        <p:spPr>
          <a:xfrm>
            <a:off x="9220821" y="5346680"/>
            <a:ext cx="3161905" cy="619048"/>
          </a:xfrm>
          <a:prstGeom prst="rect">
            <a:avLst/>
          </a:prstGeom>
        </p:spPr>
      </p:pic>
      <p:pic>
        <p:nvPicPr>
          <p:cNvPr id="22" name="图片 21"/>
          <p:cNvPicPr>
            <a:picLocks noChangeAspect="1"/>
          </p:cNvPicPr>
          <p:nvPr userDrawn="1"/>
        </p:nvPicPr>
        <p:blipFill>
          <a:blip r:embed="rId3"/>
          <a:stretch>
            <a:fillRect/>
          </a:stretch>
        </p:blipFill>
        <p:spPr>
          <a:xfrm>
            <a:off x="5612692" y="4781605"/>
            <a:ext cx="3161905" cy="619048"/>
          </a:xfrm>
          <a:prstGeom prst="rect">
            <a:avLst/>
          </a:prstGeom>
        </p:spPr>
      </p:pic>
      <p:pic>
        <p:nvPicPr>
          <p:cNvPr id="24" name="图片 23"/>
          <p:cNvPicPr>
            <a:picLocks noChangeAspect="1"/>
          </p:cNvPicPr>
          <p:nvPr userDrawn="1"/>
        </p:nvPicPr>
        <p:blipFill>
          <a:blip r:embed="rId3"/>
          <a:stretch>
            <a:fillRect/>
          </a:stretch>
        </p:blipFill>
        <p:spPr>
          <a:xfrm>
            <a:off x="6288582" y="1366761"/>
            <a:ext cx="3161905" cy="619048"/>
          </a:xfrm>
          <a:prstGeom prst="rect">
            <a:avLst/>
          </a:prstGeom>
        </p:spPr>
      </p:pic>
      <p:pic>
        <p:nvPicPr>
          <p:cNvPr id="26" name="图片 25"/>
          <p:cNvPicPr>
            <a:picLocks noChangeAspect="1"/>
          </p:cNvPicPr>
          <p:nvPr userDrawn="1"/>
        </p:nvPicPr>
        <p:blipFill>
          <a:blip r:embed="rId3"/>
          <a:stretch>
            <a:fillRect/>
          </a:stretch>
        </p:blipFill>
        <p:spPr>
          <a:xfrm>
            <a:off x="9275773" y="1359987"/>
            <a:ext cx="3161905" cy="619048"/>
          </a:xfrm>
          <a:prstGeom prst="rect">
            <a:avLst/>
          </a:prstGeom>
        </p:spPr>
      </p:pic>
      <p:pic>
        <p:nvPicPr>
          <p:cNvPr id="28" name="图片 27"/>
          <p:cNvPicPr>
            <a:picLocks noChangeAspect="1"/>
          </p:cNvPicPr>
          <p:nvPr userDrawn="1"/>
        </p:nvPicPr>
        <p:blipFill>
          <a:blip r:embed="rId3"/>
          <a:stretch>
            <a:fillRect/>
          </a:stretch>
        </p:blipFill>
        <p:spPr>
          <a:xfrm>
            <a:off x="884039" y="1359987"/>
            <a:ext cx="1580953" cy="619048"/>
          </a:xfrm>
          <a:prstGeom prst="rect">
            <a:avLst/>
          </a:prstGeom>
        </p:spPr>
      </p:pic>
      <p:pic>
        <p:nvPicPr>
          <p:cNvPr id="30" name="图片 29"/>
          <p:cNvPicPr>
            <a:picLocks noChangeAspect="1"/>
          </p:cNvPicPr>
          <p:nvPr userDrawn="1"/>
        </p:nvPicPr>
        <p:blipFill>
          <a:blip r:embed="rId3"/>
          <a:stretch>
            <a:fillRect/>
          </a:stretch>
        </p:blipFill>
        <p:spPr>
          <a:xfrm>
            <a:off x="1143501" y="4781605"/>
            <a:ext cx="764270" cy="619048"/>
          </a:xfrm>
          <a:prstGeom prst="rect">
            <a:avLst/>
          </a:prstGeom>
        </p:spPr>
      </p:pic>
      <p:pic>
        <p:nvPicPr>
          <p:cNvPr id="32" name="图片 31"/>
          <p:cNvPicPr>
            <a:picLocks noChangeAspect="1"/>
          </p:cNvPicPr>
          <p:nvPr userDrawn="1"/>
        </p:nvPicPr>
        <p:blipFill>
          <a:blip r:embed="rId3"/>
          <a:stretch>
            <a:fillRect/>
          </a:stretch>
        </p:blipFill>
        <p:spPr>
          <a:xfrm>
            <a:off x="4259461" y="1262924"/>
            <a:ext cx="860873" cy="619048"/>
          </a:xfrm>
          <a:prstGeom prst="rect">
            <a:avLst/>
          </a:prstGeom>
        </p:spPr>
      </p:pic>
      <p:pic>
        <p:nvPicPr>
          <p:cNvPr id="34" name="图片 33"/>
          <p:cNvPicPr>
            <a:picLocks noChangeAspect="1"/>
          </p:cNvPicPr>
          <p:nvPr userDrawn="1"/>
        </p:nvPicPr>
        <p:blipFill>
          <a:blip r:embed="rId3"/>
          <a:stretch>
            <a:fillRect/>
          </a:stretch>
        </p:blipFill>
        <p:spPr>
          <a:xfrm>
            <a:off x="4560390" y="1354452"/>
            <a:ext cx="356817" cy="6190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1017"/>
            <a:ext cx="12858750" cy="7285355"/>
          </a:xfrm>
          <a:prstGeom prst="rect">
            <a:avLst/>
          </a:prstGeom>
        </p:spPr>
      </p:pic>
      <p:pic>
        <p:nvPicPr>
          <p:cNvPr id="3" name="图片 2"/>
          <p:cNvPicPr>
            <a:picLocks noChangeAspect="1"/>
          </p:cNvPicPr>
          <p:nvPr userDrawn="1"/>
        </p:nvPicPr>
        <p:blipFill>
          <a:blip r:embed="rId3"/>
          <a:stretch>
            <a:fillRect/>
          </a:stretch>
        </p:blipFill>
        <p:spPr>
          <a:xfrm>
            <a:off x="1172791" y="1528093"/>
            <a:ext cx="2857143" cy="1419048"/>
          </a:xfrm>
          <a:prstGeom prst="rect">
            <a:avLst/>
          </a:prstGeom>
        </p:spPr>
      </p:pic>
      <p:pic>
        <p:nvPicPr>
          <p:cNvPr id="6" name="图片 5"/>
          <p:cNvPicPr>
            <a:picLocks noChangeAspect="1"/>
          </p:cNvPicPr>
          <p:nvPr userDrawn="1"/>
        </p:nvPicPr>
        <p:blipFill>
          <a:blip r:embed="rId3"/>
          <a:stretch>
            <a:fillRect/>
          </a:stretch>
        </p:blipFill>
        <p:spPr>
          <a:xfrm>
            <a:off x="3477047" y="1518648"/>
            <a:ext cx="2857143" cy="1419048"/>
          </a:xfrm>
          <a:prstGeom prst="rect">
            <a:avLst/>
          </a:prstGeom>
        </p:spPr>
      </p:pic>
      <p:pic>
        <p:nvPicPr>
          <p:cNvPr id="8" name="图片 7"/>
          <p:cNvPicPr>
            <a:picLocks noChangeAspect="1"/>
          </p:cNvPicPr>
          <p:nvPr userDrawn="1"/>
        </p:nvPicPr>
        <p:blipFill>
          <a:blip r:embed="rId3"/>
          <a:stretch>
            <a:fillRect/>
          </a:stretch>
        </p:blipFill>
        <p:spPr>
          <a:xfrm>
            <a:off x="6509175" y="1528093"/>
            <a:ext cx="2857143" cy="1419048"/>
          </a:xfrm>
          <a:prstGeom prst="rect">
            <a:avLst/>
          </a:prstGeom>
        </p:spPr>
      </p:pic>
      <p:pic>
        <p:nvPicPr>
          <p:cNvPr id="10" name="图片 9"/>
          <p:cNvPicPr>
            <a:picLocks noChangeAspect="1"/>
          </p:cNvPicPr>
          <p:nvPr userDrawn="1"/>
        </p:nvPicPr>
        <p:blipFill>
          <a:blip r:embed="rId3"/>
          <a:stretch>
            <a:fillRect/>
          </a:stretch>
        </p:blipFill>
        <p:spPr>
          <a:xfrm>
            <a:off x="9165679" y="1600101"/>
            <a:ext cx="2857143" cy="1419048"/>
          </a:xfrm>
          <a:prstGeom prst="rect">
            <a:avLst/>
          </a:prstGeom>
        </p:spPr>
      </p:pic>
      <p:pic>
        <p:nvPicPr>
          <p:cNvPr id="12" name="图片 11"/>
          <p:cNvPicPr>
            <a:picLocks noChangeAspect="1"/>
          </p:cNvPicPr>
          <p:nvPr userDrawn="1"/>
        </p:nvPicPr>
        <p:blipFill>
          <a:blip r:embed="rId3"/>
          <a:stretch>
            <a:fillRect/>
          </a:stretch>
        </p:blipFill>
        <p:spPr>
          <a:xfrm>
            <a:off x="812751" y="4624437"/>
            <a:ext cx="2857143" cy="1419048"/>
          </a:xfrm>
          <a:prstGeom prst="rect">
            <a:avLst/>
          </a:prstGeom>
        </p:spPr>
      </p:pic>
      <p:pic>
        <p:nvPicPr>
          <p:cNvPr id="14" name="图片 13"/>
          <p:cNvPicPr>
            <a:picLocks noChangeAspect="1"/>
          </p:cNvPicPr>
          <p:nvPr userDrawn="1"/>
        </p:nvPicPr>
        <p:blipFill>
          <a:blip r:embed="rId3"/>
          <a:stretch>
            <a:fillRect/>
          </a:stretch>
        </p:blipFill>
        <p:spPr>
          <a:xfrm>
            <a:off x="4269135" y="4407232"/>
            <a:ext cx="2857143" cy="1419048"/>
          </a:xfrm>
          <a:prstGeom prst="rect">
            <a:avLst/>
          </a:prstGeom>
        </p:spPr>
      </p:pic>
      <p:pic>
        <p:nvPicPr>
          <p:cNvPr id="16" name="图片 15"/>
          <p:cNvPicPr>
            <a:picLocks noChangeAspect="1"/>
          </p:cNvPicPr>
          <p:nvPr userDrawn="1"/>
        </p:nvPicPr>
        <p:blipFill>
          <a:blip r:embed="rId3"/>
          <a:stretch>
            <a:fillRect/>
          </a:stretch>
        </p:blipFill>
        <p:spPr>
          <a:xfrm>
            <a:off x="6296947" y="4416677"/>
            <a:ext cx="2857143" cy="1419048"/>
          </a:xfrm>
          <a:prstGeom prst="rect">
            <a:avLst/>
          </a:prstGeom>
        </p:spPr>
      </p:pic>
      <p:pic>
        <p:nvPicPr>
          <p:cNvPr id="18" name="图片 17"/>
          <p:cNvPicPr>
            <a:picLocks noChangeAspect="1"/>
          </p:cNvPicPr>
          <p:nvPr userDrawn="1"/>
        </p:nvPicPr>
        <p:blipFill>
          <a:blip r:embed="rId3"/>
          <a:stretch>
            <a:fillRect/>
          </a:stretch>
        </p:blipFill>
        <p:spPr>
          <a:xfrm>
            <a:off x="9237687" y="4474217"/>
            <a:ext cx="2857143" cy="141904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5" name="箭头: V 形 3"/>
          <p:cNvSpPr/>
          <p:nvPr userDrawn="1"/>
        </p:nvSpPr>
        <p:spPr>
          <a:xfrm>
            <a:off x="435610" y="224155"/>
            <a:ext cx="405130" cy="405130"/>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solidFill>
            </a:endParaRPr>
          </a:p>
        </p:txBody>
      </p:sp>
      <p:sp>
        <p:nvSpPr>
          <p:cNvPr id="76" name="等腰三角形 75"/>
          <p:cNvSpPr/>
          <p:nvPr userDrawn="1"/>
        </p:nvSpPr>
        <p:spPr>
          <a:xfrm rot="5400000">
            <a:off x="-146685" y="156845"/>
            <a:ext cx="852805" cy="540385"/>
          </a:xfrm>
          <a:prstGeom prst="triangle">
            <a:avLst/>
          </a:prstGeom>
          <a:solidFill>
            <a:srgbClr val="0767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13" name="组合 12"/>
          <p:cNvGrpSpPr/>
          <p:nvPr userDrawn="1"/>
        </p:nvGrpSpPr>
        <p:grpSpPr>
          <a:xfrm>
            <a:off x="16656" y="5177155"/>
            <a:ext cx="752744" cy="2098793"/>
            <a:chOff x="13891297" y="2075351"/>
            <a:chExt cx="1066248" cy="2972900"/>
          </a:xfrm>
        </p:grpSpPr>
        <p:sp>
          <p:nvSpPr>
            <p:cNvPr id="14" name="椭圆 13"/>
            <p:cNvSpPr/>
            <p:nvPr/>
          </p:nvSpPr>
          <p:spPr>
            <a:xfrm>
              <a:off x="13891297"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4142396"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4393495"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4644594"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895693" y="207535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891297"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4142396"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4393495"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644594"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4895693" y="231793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3891297"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4142396"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4393495"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14644594"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895693" y="2560526"/>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3891297"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4142396"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4393495"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4644594"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4895693" y="2803113"/>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3891297"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4142396"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4393495"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4644594"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4895693" y="304570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13891297"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14142396"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4393495"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4644594"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4895693" y="3288288"/>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3891297"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4142396"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4393495"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4644594"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14895693" y="3530875"/>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3891297"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4142396"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4393495"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14644594"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14895693" y="3773462"/>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3891297"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4142396"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14393495"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14644594"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14895693" y="4016050"/>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3891297"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4142396"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14393495"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14644594"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14895693" y="4258637"/>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13891297"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14142396"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14393495"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14644594"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14895693" y="4501224"/>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13891297"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14142396"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14393495"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14644594"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14895693" y="4743811"/>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13891297"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14142396"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14393495"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14644594"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14895693" y="4986399"/>
              <a:ext cx="61852" cy="61852"/>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5" name="矩形 134"/>
          <p:cNvSpPr/>
          <p:nvPr userDrawn="1"/>
        </p:nvSpPr>
        <p:spPr>
          <a:xfrm>
            <a:off x="635" y="7160260"/>
            <a:ext cx="12858750" cy="87630"/>
          </a:xfrm>
          <a:prstGeom prst="rect">
            <a:avLst/>
          </a:prstGeom>
          <a:solidFill>
            <a:srgbClr val="0767A3"/>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2"/>
          <p:cNvPicPr>
            <a:picLocks noChangeAspect="1"/>
          </p:cNvPicPr>
          <p:nvPr userDrawn="1"/>
        </p:nvPicPr>
        <p:blipFill>
          <a:blip r:embed="rId2"/>
          <a:stretch>
            <a:fillRect/>
          </a:stretch>
        </p:blipFill>
        <p:spPr>
          <a:xfrm>
            <a:off x="1133475" y="1461770"/>
            <a:ext cx="1497330" cy="1257935"/>
          </a:xfrm>
          <a:prstGeom prst="rect">
            <a:avLst/>
          </a:prstGeom>
        </p:spPr>
      </p:pic>
      <p:pic>
        <p:nvPicPr>
          <p:cNvPr id="77" name="图片 76" descr="图片2"/>
          <p:cNvPicPr>
            <a:picLocks noChangeAspect="1"/>
          </p:cNvPicPr>
          <p:nvPr userDrawn="1"/>
        </p:nvPicPr>
        <p:blipFill>
          <a:blip r:embed="rId2"/>
          <a:stretch>
            <a:fillRect/>
          </a:stretch>
        </p:blipFill>
        <p:spPr>
          <a:xfrm>
            <a:off x="6673215" y="1393190"/>
            <a:ext cx="1497330" cy="1257935"/>
          </a:xfrm>
          <a:prstGeom prst="rect">
            <a:avLst/>
          </a:prstGeom>
        </p:spPr>
      </p:pic>
      <p:pic>
        <p:nvPicPr>
          <p:cNvPr id="78" name="图片 77" descr="图片2"/>
          <p:cNvPicPr>
            <a:picLocks noChangeAspect="1"/>
          </p:cNvPicPr>
          <p:nvPr userDrawn="1"/>
        </p:nvPicPr>
        <p:blipFill>
          <a:blip r:embed="rId2"/>
          <a:stretch>
            <a:fillRect/>
          </a:stretch>
        </p:blipFill>
        <p:spPr>
          <a:xfrm>
            <a:off x="3966845" y="1461770"/>
            <a:ext cx="1497330" cy="1257935"/>
          </a:xfrm>
          <a:prstGeom prst="rect">
            <a:avLst/>
          </a:prstGeom>
        </p:spPr>
      </p:pic>
      <p:pic>
        <p:nvPicPr>
          <p:cNvPr id="79" name="图片 78" descr="图片2"/>
          <p:cNvPicPr>
            <a:picLocks noChangeAspect="1"/>
          </p:cNvPicPr>
          <p:nvPr userDrawn="1"/>
        </p:nvPicPr>
        <p:blipFill>
          <a:blip r:embed="rId2"/>
          <a:stretch>
            <a:fillRect/>
          </a:stretch>
        </p:blipFill>
        <p:spPr>
          <a:xfrm>
            <a:off x="10066020" y="1290955"/>
            <a:ext cx="1497330" cy="1257935"/>
          </a:xfrm>
          <a:prstGeom prst="rect">
            <a:avLst/>
          </a:prstGeom>
        </p:spPr>
      </p:pic>
      <p:pic>
        <p:nvPicPr>
          <p:cNvPr id="80" name="图片 79" descr="图片2"/>
          <p:cNvPicPr>
            <a:picLocks noChangeAspect="1"/>
          </p:cNvPicPr>
          <p:nvPr userDrawn="1"/>
        </p:nvPicPr>
        <p:blipFill>
          <a:blip r:embed="rId2"/>
          <a:stretch>
            <a:fillRect/>
          </a:stretch>
        </p:blipFill>
        <p:spPr>
          <a:xfrm>
            <a:off x="1371600" y="4476750"/>
            <a:ext cx="1497330" cy="1257935"/>
          </a:xfrm>
          <a:prstGeom prst="rect">
            <a:avLst/>
          </a:prstGeom>
        </p:spPr>
      </p:pic>
      <p:pic>
        <p:nvPicPr>
          <p:cNvPr id="85" name="图片 84" descr="图片2"/>
          <p:cNvPicPr>
            <a:picLocks noChangeAspect="1"/>
          </p:cNvPicPr>
          <p:nvPr userDrawn="1"/>
        </p:nvPicPr>
        <p:blipFill>
          <a:blip r:embed="rId2"/>
          <a:stretch>
            <a:fillRect/>
          </a:stretch>
        </p:blipFill>
        <p:spPr>
          <a:xfrm>
            <a:off x="6812280" y="4305300"/>
            <a:ext cx="1497330" cy="1257935"/>
          </a:xfrm>
          <a:prstGeom prst="rect">
            <a:avLst/>
          </a:prstGeom>
        </p:spPr>
      </p:pic>
      <p:pic>
        <p:nvPicPr>
          <p:cNvPr id="86" name="图片 85" descr="图片2"/>
          <p:cNvPicPr>
            <a:picLocks noChangeAspect="1"/>
          </p:cNvPicPr>
          <p:nvPr userDrawn="1"/>
        </p:nvPicPr>
        <p:blipFill>
          <a:blip r:embed="rId2"/>
          <a:stretch>
            <a:fillRect/>
          </a:stretch>
        </p:blipFill>
        <p:spPr>
          <a:xfrm>
            <a:off x="3966845" y="4305300"/>
            <a:ext cx="1497330" cy="1257935"/>
          </a:xfrm>
          <a:prstGeom prst="rect">
            <a:avLst/>
          </a:prstGeom>
        </p:spPr>
      </p:pic>
      <p:pic>
        <p:nvPicPr>
          <p:cNvPr id="87" name="图片 86" descr="图片2"/>
          <p:cNvPicPr>
            <a:picLocks noChangeAspect="1"/>
          </p:cNvPicPr>
          <p:nvPr userDrawn="1"/>
        </p:nvPicPr>
        <p:blipFill>
          <a:blip r:embed="rId2"/>
          <a:stretch>
            <a:fillRect/>
          </a:stretch>
        </p:blipFill>
        <p:spPr>
          <a:xfrm>
            <a:off x="10066020" y="4305300"/>
            <a:ext cx="1497330" cy="1257935"/>
          </a:xfrm>
          <a:prstGeom prst="rect">
            <a:avLst/>
          </a:prstGeom>
        </p:spPr>
      </p:pic>
      <p:sp>
        <p:nvSpPr>
          <p:cNvPr id="4" name="任意多边形: 形状 50"/>
          <p:cNvSpPr/>
          <p:nvPr userDrawn="1"/>
        </p:nvSpPr>
        <p:spPr>
          <a:xfrm rot="18932100">
            <a:off x="9102985" y="1473268"/>
            <a:ext cx="1159449" cy="1159449"/>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767A3">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51"/>
          <p:cNvSpPr/>
          <p:nvPr userDrawn="1"/>
        </p:nvSpPr>
        <p:spPr>
          <a:xfrm rot="18958199">
            <a:off x="10136715" y="3266146"/>
            <a:ext cx="462942" cy="46294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1"/>
          <p:cNvSpPr txBox="1"/>
          <p:nvPr userDrawn="1"/>
        </p:nvSpPr>
        <p:spPr>
          <a:xfrm>
            <a:off x="3907790" y="2265045"/>
            <a:ext cx="5037455" cy="1198880"/>
          </a:xfrm>
          <a:prstGeom prst="rect">
            <a:avLst/>
          </a:prstGeom>
          <a:noFill/>
        </p:spPr>
        <p:txBody>
          <a:bodyPr wrap="square" rtlCol="0">
            <a:spAutoFit/>
          </a:bodyPr>
          <a:lstStyle/>
          <a:p>
            <a:pPr algn="ctr"/>
            <a:r>
              <a:rPr lang="en-US" altLang="zh-CN" sz="7200" b="1" dirty="0">
                <a:solidFill>
                  <a:srgbClr val="066197"/>
                </a:solidFill>
                <a:latin typeface="微软雅黑" panose="020B0503020204020204" pitchFamily="34" charset="-122"/>
                <a:ea typeface="微软雅黑" panose="020B0503020204020204" pitchFamily="34" charset="-122"/>
              </a:rPr>
              <a:t>Thank You!</a:t>
            </a:r>
            <a:endParaRPr lang="en-US" altLang="zh-CN" sz="7200" b="1" dirty="0">
              <a:solidFill>
                <a:srgbClr val="066197"/>
              </a:solidFill>
              <a:latin typeface="微软雅黑" panose="020B0503020204020204" pitchFamily="34" charset="-122"/>
              <a:ea typeface="微软雅黑" panose="020B0503020204020204" pitchFamily="34" charset="-122"/>
            </a:endParaRPr>
          </a:p>
        </p:txBody>
      </p:sp>
      <p:cxnSp>
        <p:nvCxnSpPr>
          <p:cNvPr id="89" name="直接连接符 88"/>
          <p:cNvCxnSpPr/>
          <p:nvPr userDrawn="1"/>
        </p:nvCxnSpPr>
        <p:spPr>
          <a:xfrm>
            <a:off x="3900805" y="3392170"/>
            <a:ext cx="5051425" cy="0"/>
          </a:xfrm>
          <a:prstGeom prst="line">
            <a:avLst/>
          </a:prstGeom>
          <a:ln>
            <a:solidFill>
              <a:srgbClr val="535353"/>
            </a:solidFill>
          </a:ln>
        </p:spPr>
        <p:style>
          <a:lnRef idx="3">
            <a:schemeClr val="dk1"/>
          </a:lnRef>
          <a:fillRef idx="0">
            <a:schemeClr val="dk1"/>
          </a:fillRef>
          <a:effectRef idx="2">
            <a:schemeClr val="dk1"/>
          </a:effectRef>
          <a:fontRef idx="minor">
            <a:schemeClr val="tx1"/>
          </a:fontRef>
        </p:style>
      </p:cxnSp>
      <p:sp>
        <p:nvSpPr>
          <p:cNvPr id="90" name="文本框 6"/>
          <p:cNvSpPr txBox="1"/>
          <p:nvPr userDrawn="1"/>
        </p:nvSpPr>
        <p:spPr>
          <a:xfrm>
            <a:off x="4038600" y="3468370"/>
            <a:ext cx="4775835" cy="583565"/>
          </a:xfrm>
          <a:prstGeom prst="rect">
            <a:avLst/>
          </a:prstGeom>
          <a:noFill/>
        </p:spPr>
        <p:txBody>
          <a:bodyPr wrap="square" rtlCol="0">
            <a:spAutoFit/>
          </a:bodyPr>
          <a:lstStyle/>
          <a:p>
            <a:pPr marL="360045" algn="dist" eaLnBrk="1" latinLnBrk="0" hangingPunct="1"/>
            <a:r>
              <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rPr>
              <a:t>力学笃行  志存高远</a:t>
            </a:r>
            <a:endParaRPr lang="zh-CN" altLang="en-US" sz="3200">
              <a:solidFill>
                <a:schemeClr val="accent4">
                  <a:lumMod val="50000"/>
                </a:schemeClr>
              </a:solidFill>
              <a:latin typeface="字魂73号-江南手书" panose="00000500000000000000" charset="-122"/>
              <a:ea typeface="字魂73号-江南手书" panose="00000500000000000000" charset="-122"/>
              <a:cs typeface="字魂73号-江南手书" panose="00000500000000000000" charset="-122"/>
            </a:endParaRPr>
          </a:p>
        </p:txBody>
      </p:sp>
      <p:pic>
        <p:nvPicPr>
          <p:cNvPr id="3" name="图片 2"/>
          <p:cNvPicPr>
            <a:picLocks noChangeAspect="1"/>
          </p:cNvPicPr>
          <p:nvPr userDrawn="1"/>
        </p:nvPicPr>
        <p:blipFill>
          <a:blip r:embed="rId3"/>
          <a:stretch>
            <a:fillRect/>
          </a:stretch>
        </p:blipFill>
        <p:spPr>
          <a:xfrm>
            <a:off x="1033729" y="4375800"/>
            <a:ext cx="2857143" cy="1419048"/>
          </a:xfrm>
          <a:prstGeom prst="rect">
            <a:avLst/>
          </a:prstGeom>
        </p:spPr>
      </p:pic>
      <p:pic>
        <p:nvPicPr>
          <p:cNvPr id="8" name="图片 7"/>
          <p:cNvPicPr>
            <a:picLocks noChangeAspect="1"/>
          </p:cNvPicPr>
          <p:nvPr userDrawn="1"/>
        </p:nvPicPr>
        <p:blipFill>
          <a:blip r:embed="rId3"/>
          <a:stretch>
            <a:fillRect/>
          </a:stretch>
        </p:blipFill>
        <p:spPr>
          <a:xfrm>
            <a:off x="3816072" y="4410145"/>
            <a:ext cx="2857143" cy="1419048"/>
          </a:xfrm>
          <a:prstGeom prst="rect">
            <a:avLst/>
          </a:prstGeom>
        </p:spPr>
      </p:pic>
      <p:pic>
        <p:nvPicPr>
          <p:cNvPr id="10" name="图片 9"/>
          <p:cNvPicPr>
            <a:picLocks noChangeAspect="1"/>
          </p:cNvPicPr>
          <p:nvPr userDrawn="1"/>
        </p:nvPicPr>
        <p:blipFill>
          <a:blip r:embed="rId3"/>
          <a:stretch>
            <a:fillRect/>
          </a:stretch>
        </p:blipFill>
        <p:spPr>
          <a:xfrm>
            <a:off x="5792013" y="4278768"/>
            <a:ext cx="2857143" cy="1419048"/>
          </a:xfrm>
          <a:prstGeom prst="rect">
            <a:avLst/>
          </a:prstGeom>
        </p:spPr>
      </p:pic>
      <p:pic>
        <p:nvPicPr>
          <p:cNvPr id="12" name="图片 11"/>
          <p:cNvPicPr>
            <a:picLocks noChangeAspect="1"/>
          </p:cNvPicPr>
          <p:nvPr userDrawn="1"/>
        </p:nvPicPr>
        <p:blipFill>
          <a:blip r:embed="rId3"/>
          <a:stretch>
            <a:fillRect/>
          </a:stretch>
        </p:blipFill>
        <p:spPr>
          <a:xfrm>
            <a:off x="9165679" y="4238224"/>
            <a:ext cx="2857143" cy="1419048"/>
          </a:xfrm>
          <a:prstGeom prst="rect">
            <a:avLst/>
          </a:prstGeom>
        </p:spPr>
      </p:pic>
      <p:pic>
        <p:nvPicPr>
          <p:cNvPr id="92" name="图片 91"/>
          <p:cNvPicPr>
            <a:picLocks noChangeAspect="1"/>
          </p:cNvPicPr>
          <p:nvPr userDrawn="1"/>
        </p:nvPicPr>
        <p:blipFill>
          <a:blip r:embed="rId3"/>
          <a:stretch>
            <a:fillRect/>
          </a:stretch>
        </p:blipFill>
        <p:spPr>
          <a:xfrm>
            <a:off x="9766302" y="1013956"/>
            <a:ext cx="2857143" cy="1419048"/>
          </a:xfrm>
          <a:prstGeom prst="rect">
            <a:avLst/>
          </a:prstGeom>
        </p:spPr>
      </p:pic>
      <p:pic>
        <p:nvPicPr>
          <p:cNvPr id="94" name="图片 93"/>
          <p:cNvPicPr>
            <a:picLocks noChangeAspect="1"/>
          </p:cNvPicPr>
          <p:nvPr userDrawn="1"/>
        </p:nvPicPr>
        <p:blipFill>
          <a:blip r:embed="rId3"/>
          <a:stretch>
            <a:fillRect/>
          </a:stretch>
        </p:blipFill>
        <p:spPr>
          <a:xfrm>
            <a:off x="517069" y="1173658"/>
            <a:ext cx="2857143" cy="1419048"/>
          </a:xfrm>
          <a:prstGeom prst="rect">
            <a:avLst/>
          </a:prstGeom>
        </p:spPr>
      </p:pic>
      <p:pic>
        <p:nvPicPr>
          <p:cNvPr id="128" name="图片 127"/>
          <p:cNvPicPr>
            <a:picLocks noChangeAspect="1"/>
          </p:cNvPicPr>
          <p:nvPr userDrawn="1"/>
        </p:nvPicPr>
        <p:blipFill>
          <a:blip r:embed="rId3"/>
          <a:stretch>
            <a:fillRect/>
          </a:stretch>
        </p:blipFill>
        <p:spPr>
          <a:xfrm>
            <a:off x="2877818" y="1024383"/>
            <a:ext cx="2857143" cy="1419048"/>
          </a:xfrm>
          <a:prstGeom prst="rect">
            <a:avLst/>
          </a:prstGeom>
        </p:spPr>
      </p:pic>
      <p:pic>
        <p:nvPicPr>
          <p:cNvPr id="130" name="图片 129"/>
          <p:cNvPicPr>
            <a:picLocks noChangeAspect="1"/>
          </p:cNvPicPr>
          <p:nvPr userDrawn="1"/>
        </p:nvPicPr>
        <p:blipFill>
          <a:blip r:embed="rId3"/>
          <a:stretch>
            <a:fillRect/>
          </a:stretch>
        </p:blipFill>
        <p:spPr>
          <a:xfrm>
            <a:off x="5957292" y="995663"/>
            <a:ext cx="2857143" cy="141904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2BF82D2-7A68-459D-A996-9BDDA2518FA4}" type="datetimeFigureOut">
              <a:rPr lang="zh-CN" altLang="en-US" smtClean="0"/>
            </a:fld>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3E01EE5D-26FB-46D5-A381-ECFB35BF1D3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84039" y="6703595"/>
            <a:ext cx="2893219" cy="385072"/>
          </a:xfrm>
          <a:prstGeom prst="rect">
            <a:avLst/>
          </a:prstGeom>
        </p:spPr>
        <p:txBody>
          <a:bodyPr vert="horz" lIns="91440" tIns="45720" rIns="91440" bIns="45720" rtlCol="0" anchor="ctr"/>
          <a:lstStyle>
            <a:lvl1pPr algn="l">
              <a:defRPr sz="1265">
                <a:solidFill>
                  <a:schemeClr val="tx1">
                    <a:tint val="75000"/>
                  </a:schemeClr>
                </a:solidFill>
                <a:latin typeface="印品黑体" panose="00000500000000000000" pitchFamily="2" charset="-122"/>
              </a:defRPr>
            </a:lvl1pPr>
          </a:lstStyle>
          <a:p>
            <a:fld id="{32BF82D2-7A68-459D-A996-9BDDA2518FA4}" type="datetimeFigureOut">
              <a:rPr lang="zh-CN" altLang="en-US" smtClean="0"/>
            </a:fld>
            <a:endParaRPr lang="zh-CN" altLang="en-US" dirty="0"/>
          </a:p>
        </p:txBody>
      </p:sp>
      <p:sp>
        <p:nvSpPr>
          <p:cNvPr id="5" name="Footer Placeholder 4"/>
          <p:cNvSpPr>
            <a:spLocks noGrp="1"/>
          </p:cNvSpPr>
          <p:nvPr>
            <p:ph type="ftr" sz="quarter" idx="3"/>
          </p:nvPr>
        </p:nvSpPr>
        <p:spPr>
          <a:xfrm>
            <a:off x="4259461" y="6703595"/>
            <a:ext cx="4339828" cy="385072"/>
          </a:xfrm>
          <a:prstGeom prst="rect">
            <a:avLst/>
          </a:prstGeom>
        </p:spPr>
        <p:txBody>
          <a:bodyPr vert="horz" lIns="91440" tIns="45720" rIns="91440" bIns="45720" rtlCol="0" anchor="ctr"/>
          <a:lstStyle>
            <a:lvl1pPr algn="ctr">
              <a:defRPr sz="1265">
                <a:solidFill>
                  <a:schemeClr val="tx1">
                    <a:tint val="75000"/>
                  </a:schemeClr>
                </a:solidFill>
                <a:latin typeface="印品黑体" panose="00000500000000000000" pitchFamily="2" charset="-122"/>
              </a:defRPr>
            </a:lvl1pPr>
          </a:lstStyle>
          <a:p>
            <a:endParaRPr lang="zh-CN" altLang="en-US" dirty="0"/>
          </a:p>
        </p:txBody>
      </p:sp>
      <p:sp>
        <p:nvSpPr>
          <p:cNvPr id="6" name="Slide Number Placeholder 5"/>
          <p:cNvSpPr>
            <a:spLocks noGrp="1"/>
          </p:cNvSpPr>
          <p:nvPr>
            <p:ph type="sldNum" sz="quarter" idx="4"/>
          </p:nvPr>
        </p:nvSpPr>
        <p:spPr>
          <a:xfrm>
            <a:off x="9081492" y="6703595"/>
            <a:ext cx="2893219" cy="385072"/>
          </a:xfrm>
          <a:prstGeom prst="rect">
            <a:avLst/>
          </a:prstGeom>
        </p:spPr>
        <p:txBody>
          <a:bodyPr vert="horz" lIns="91440" tIns="45720" rIns="91440" bIns="45720" rtlCol="0" anchor="ctr"/>
          <a:lstStyle>
            <a:lvl1pPr algn="r">
              <a:defRPr sz="1265">
                <a:solidFill>
                  <a:schemeClr val="tx1">
                    <a:tint val="75000"/>
                  </a:schemeClr>
                </a:solidFill>
                <a:latin typeface="印品黑体" panose="00000500000000000000" pitchFamily="2" charset="-122"/>
              </a:defRPr>
            </a:lvl1pPr>
          </a:lstStyle>
          <a:p>
            <a:fld id="{3E01EE5D-26FB-46D5-A381-ECFB35BF1D3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p:titleStyle>
    <p:bodyStyle>
      <a:lvl1pPr marL="241300" indent="-241300" algn="l" defTabSz="964565" rtl="0" eaLnBrk="1" latinLnBrk="0" hangingPunct="1">
        <a:lnSpc>
          <a:spcPct val="90000"/>
        </a:lnSpc>
        <a:spcBef>
          <a:spcPts val="1055"/>
        </a:spcBef>
        <a:buFont typeface="Arial" panose="020B0604020202020204" pitchFamily="34" charset="0"/>
        <a:buChar char="•"/>
        <a:defRPr sz="2955" kern="1200">
          <a:solidFill>
            <a:schemeClr val="tx1"/>
          </a:solidFill>
          <a:latin typeface="印品黑体" panose="00000500000000000000" pitchFamily="2" charset="-122"/>
          <a:ea typeface="+mn-ea"/>
          <a:cs typeface="+mn-cs"/>
        </a:defRPr>
      </a:lvl1pPr>
      <a:lvl2pPr marL="723265" indent="-241300" algn="l" defTabSz="964565" rtl="0" eaLnBrk="1" latinLnBrk="0" hangingPunct="1">
        <a:lnSpc>
          <a:spcPct val="90000"/>
        </a:lnSpc>
        <a:spcBef>
          <a:spcPts val="525"/>
        </a:spcBef>
        <a:buFont typeface="Arial" panose="020B0604020202020204" pitchFamily="34" charset="0"/>
        <a:buChar char="•"/>
        <a:defRPr sz="2530" kern="1200">
          <a:solidFill>
            <a:schemeClr val="tx1"/>
          </a:solidFill>
          <a:latin typeface="印品黑体" panose="00000500000000000000" pitchFamily="2" charset="-122"/>
          <a:ea typeface="+mn-ea"/>
          <a:cs typeface="+mn-cs"/>
        </a:defRPr>
      </a:lvl2pPr>
      <a:lvl3pPr marL="1205230" indent="-241300" algn="l" defTabSz="964565" rtl="0" eaLnBrk="1" latinLnBrk="0" hangingPunct="1">
        <a:lnSpc>
          <a:spcPct val="90000"/>
        </a:lnSpc>
        <a:spcBef>
          <a:spcPts val="525"/>
        </a:spcBef>
        <a:buFont typeface="Arial" panose="020B0604020202020204" pitchFamily="34" charset="0"/>
        <a:buChar char="•"/>
        <a:defRPr sz="2110" kern="1200">
          <a:solidFill>
            <a:schemeClr val="tx1"/>
          </a:solidFill>
          <a:latin typeface="印品黑体" panose="00000500000000000000" pitchFamily="2" charset="-122"/>
          <a:ea typeface="+mn-ea"/>
          <a:cs typeface="+mn-cs"/>
        </a:defRPr>
      </a:lvl3pPr>
      <a:lvl4pPr marL="168783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4pPr>
      <a:lvl5pPr marL="216979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印品黑体" panose="00000500000000000000" pitchFamily="2" charset="-122"/>
          <a:ea typeface="+mn-ea"/>
          <a:cs typeface="+mn-cs"/>
        </a:defRPr>
      </a:lvl5pPr>
      <a:lvl6pPr marL="26517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4565"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64565" rtl="0" eaLnBrk="1" latinLnBrk="0" hangingPunct="1">
        <a:defRPr sz="1900" kern="1200">
          <a:solidFill>
            <a:schemeClr val="tx1"/>
          </a:solidFill>
          <a:latin typeface="+mn-lt"/>
          <a:ea typeface="+mn-ea"/>
          <a:cs typeface="+mn-cs"/>
        </a:defRPr>
      </a:lvl1pPr>
      <a:lvl2pPr marL="481965" algn="l" defTabSz="964565" rtl="0" eaLnBrk="1" latinLnBrk="0" hangingPunct="1">
        <a:defRPr sz="1900" kern="1200">
          <a:solidFill>
            <a:schemeClr val="tx1"/>
          </a:solidFill>
          <a:latin typeface="+mn-lt"/>
          <a:ea typeface="+mn-ea"/>
          <a:cs typeface="+mn-cs"/>
        </a:defRPr>
      </a:lvl2pPr>
      <a:lvl3pPr marL="964565" algn="l" defTabSz="964565" rtl="0" eaLnBrk="1" latinLnBrk="0" hangingPunct="1">
        <a:defRPr sz="1900" kern="1200">
          <a:solidFill>
            <a:schemeClr val="tx1"/>
          </a:solidFill>
          <a:latin typeface="+mn-lt"/>
          <a:ea typeface="+mn-ea"/>
          <a:cs typeface="+mn-cs"/>
        </a:defRPr>
      </a:lvl3pPr>
      <a:lvl4pPr marL="1446530" algn="l" defTabSz="964565" rtl="0" eaLnBrk="1" latinLnBrk="0" hangingPunct="1">
        <a:defRPr sz="1900" kern="1200">
          <a:solidFill>
            <a:schemeClr val="tx1"/>
          </a:solidFill>
          <a:latin typeface="+mn-lt"/>
          <a:ea typeface="+mn-ea"/>
          <a:cs typeface="+mn-cs"/>
        </a:defRPr>
      </a:lvl4pPr>
      <a:lvl5pPr marL="1928495" algn="l" defTabSz="964565" rtl="0" eaLnBrk="1" latinLnBrk="0" hangingPunct="1">
        <a:defRPr sz="1900" kern="1200">
          <a:solidFill>
            <a:schemeClr val="tx1"/>
          </a:solidFill>
          <a:latin typeface="+mn-lt"/>
          <a:ea typeface="+mn-ea"/>
          <a:cs typeface="+mn-cs"/>
        </a:defRPr>
      </a:lvl5pPr>
      <a:lvl6pPr marL="2411095" algn="l" defTabSz="964565" rtl="0" eaLnBrk="1" latinLnBrk="0" hangingPunct="1">
        <a:defRPr sz="1900" kern="1200">
          <a:solidFill>
            <a:schemeClr val="tx1"/>
          </a:solidFill>
          <a:latin typeface="+mn-lt"/>
          <a:ea typeface="+mn-ea"/>
          <a:cs typeface="+mn-cs"/>
        </a:defRPr>
      </a:lvl6pPr>
      <a:lvl7pPr marL="2893060" algn="l" defTabSz="964565" rtl="0" eaLnBrk="1" latinLnBrk="0" hangingPunct="1">
        <a:defRPr sz="1900" kern="1200">
          <a:solidFill>
            <a:schemeClr val="tx1"/>
          </a:solidFill>
          <a:latin typeface="+mn-lt"/>
          <a:ea typeface="+mn-ea"/>
          <a:cs typeface="+mn-cs"/>
        </a:defRPr>
      </a:lvl7pPr>
      <a:lvl8pPr marL="3375025" algn="l" defTabSz="964565" rtl="0" eaLnBrk="1" latinLnBrk="0" hangingPunct="1">
        <a:defRPr sz="1900" kern="1200">
          <a:solidFill>
            <a:schemeClr val="tx1"/>
          </a:solidFill>
          <a:latin typeface="+mn-lt"/>
          <a:ea typeface="+mn-ea"/>
          <a:cs typeface="+mn-cs"/>
        </a:defRPr>
      </a:lvl8pPr>
      <a:lvl9pPr marL="3856990" algn="l" defTabSz="9645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9.jpe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84959" y="1498476"/>
            <a:ext cx="7606030" cy="923330"/>
          </a:xfrm>
          <a:prstGeom prst="rect">
            <a:avLst/>
          </a:prstGeom>
          <a:noFill/>
        </p:spPr>
        <p:txBody>
          <a:bodyPr wrap="square" rtlCol="0">
            <a:spAutoFit/>
          </a:bodyPr>
          <a:lstStyle/>
          <a:p>
            <a:pPr algn="ctr"/>
            <a:r>
              <a:rPr lang="zh-CN" altLang="en-US" sz="5400" b="1" dirty="0">
                <a:solidFill>
                  <a:schemeClr val="bg1"/>
                </a:solidFill>
                <a:latin typeface="微软雅黑" panose="020B0503020204020204" pitchFamily="34" charset="-122"/>
                <a:ea typeface="微软雅黑" panose="020B0503020204020204" pitchFamily="34" charset="-122"/>
                <a:sym typeface="+mn-ea"/>
              </a:rPr>
              <a:t>二维数组</a:t>
            </a:r>
            <a:endParaRPr lang="en-US" altLang="zh-CN" sz="5400" b="1" dirty="0">
              <a:solidFill>
                <a:schemeClr val="bg1"/>
              </a:solidFill>
              <a:latin typeface="微软雅黑" panose="020B0503020204020204" pitchFamily="34" charset="-122"/>
              <a:ea typeface="微软雅黑" panose="020B0503020204020204" pitchFamily="34" charset="-122"/>
              <a:sym typeface="+mn-ea"/>
            </a:endParaRPr>
          </a:p>
        </p:txBody>
      </p:sp>
      <p:sp>
        <p:nvSpPr>
          <p:cNvPr id="6" name="TextBox 7"/>
          <p:cNvSpPr txBox="1"/>
          <p:nvPr/>
        </p:nvSpPr>
        <p:spPr>
          <a:xfrm>
            <a:off x="4125119" y="3400926"/>
            <a:ext cx="4968552" cy="521970"/>
          </a:xfrm>
          <a:prstGeom prst="rect">
            <a:avLst/>
          </a:prstGeom>
          <a:noFill/>
        </p:spPr>
        <p:txBody>
          <a:bodyPr wrap="square" rtlCol="0" anchor="ctr">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周磊</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3981103" y="5272509"/>
            <a:ext cx="5582514" cy="1080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a:t>
            </a:r>
            <a:r>
              <a:rPr lang="zh-CN" altLang="en-US" sz="2000" b="1" dirty="0">
                <a:solidFill>
                  <a:schemeClr val="bg1"/>
                </a:solidFill>
              </a:rPr>
              <a:t>新课导入</a:t>
            </a:r>
            <a:r>
              <a:rPr lang="zh-CN" altLang="en-US" sz="2000" b="1" dirty="0"/>
              <a:t>  </a:t>
            </a:r>
            <a:r>
              <a:rPr lang="zh-CN" altLang="en-US" b="1" dirty="0"/>
              <a:t>目标及重难点  新授 总结与合作探究  作业  限时检测</a:t>
            </a:r>
            <a:endParaRPr lang="zh-CN" altLang="en-US" b="1" dirty="0"/>
          </a:p>
        </p:txBody>
      </p:sp>
      <p:sp>
        <p:nvSpPr>
          <p:cNvPr id="2" name="箭头: 上 1"/>
          <p:cNvSpPr/>
          <p:nvPr/>
        </p:nvSpPr>
        <p:spPr>
          <a:xfrm>
            <a:off x="1460823"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0" name="圆角矩形 9"/>
          <p:cNvSpPr/>
          <p:nvPr/>
        </p:nvSpPr>
        <p:spPr>
          <a:xfrm>
            <a:off x="3909095" y="4837488"/>
            <a:ext cx="3744416" cy="576064"/>
          </a:xfrm>
          <a:prstGeom prst="roundRect">
            <a:avLst/>
          </a:prstGeom>
          <a:solidFill>
            <a:srgbClr val="AF4436"/>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000" dirty="0">
                <a:solidFill>
                  <a:schemeClr val="bg1"/>
                </a:solidFill>
                <a:latin typeface="Calibri" panose="020F0502020204030204" pitchFamily="34" charset="0"/>
                <a:ea typeface="宋体" panose="02010600030101010101" pitchFamily="2" charset="-122"/>
              </a:rPr>
              <a:t>数组的应用</a:t>
            </a:r>
            <a:endParaRPr lang="zh-CN" altLang="en-US"/>
          </a:p>
        </p:txBody>
      </p:sp>
      <p:sp>
        <p:nvSpPr>
          <p:cNvPr id="11" name="圆角矩形 10"/>
          <p:cNvSpPr/>
          <p:nvPr/>
        </p:nvSpPr>
        <p:spPr>
          <a:xfrm>
            <a:off x="3909095" y="3618905"/>
            <a:ext cx="3744416" cy="576064"/>
          </a:xfrm>
          <a:prstGeom prst="roundRect">
            <a:avLst/>
          </a:prstGeom>
          <a:solidFill>
            <a:srgbClr val="AF4436"/>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3909095" y="2407290"/>
            <a:ext cx="3744416" cy="576064"/>
          </a:xfrm>
          <a:prstGeom prst="roundRect">
            <a:avLst/>
          </a:prstGeom>
          <a:solidFill>
            <a:srgbClr val="AF4436"/>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3909095" y="1195676"/>
            <a:ext cx="3744416" cy="576064"/>
          </a:xfrm>
          <a:prstGeom prst="roundRect">
            <a:avLst/>
          </a:prstGeom>
          <a:solidFill>
            <a:srgbClr val="AF4436"/>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3909095" y="4221228"/>
            <a:ext cx="3744416" cy="576064"/>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000" dirty="0">
                <a:solidFill>
                  <a:schemeClr val="bg1"/>
                </a:solidFill>
                <a:latin typeface="Calibri" panose="020F0502020204030204" pitchFamily="34" charset="0"/>
                <a:ea typeface="宋体" panose="02010600030101010101" pitchFamily="2" charset="-122"/>
              </a:rPr>
              <a:t>字符串</a:t>
            </a:r>
            <a:endParaRPr lang="zh-CN" altLang="en-US"/>
          </a:p>
        </p:txBody>
      </p:sp>
      <p:sp>
        <p:nvSpPr>
          <p:cNvPr id="16" name="圆角矩形 15"/>
          <p:cNvSpPr/>
          <p:nvPr/>
        </p:nvSpPr>
        <p:spPr>
          <a:xfrm>
            <a:off x="3909095" y="3002645"/>
            <a:ext cx="3744416" cy="576064"/>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3909095" y="1797999"/>
            <a:ext cx="3744416" cy="576064"/>
          </a:xfrm>
          <a:prstGeom prst="round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909095" y="1135431"/>
            <a:ext cx="4320480" cy="3169285"/>
          </a:xfrm>
          <a:prstGeom prst="rect">
            <a:avLst/>
          </a:prstGeom>
          <a:noFill/>
        </p:spPr>
        <p:txBody>
          <a:bodyPr wrap="square" rtlCol="0">
            <a:spAutoFit/>
          </a:bodyPr>
          <a:lstStyle/>
          <a:p>
            <a:r>
              <a:rPr lang="zh-CN" altLang="en-US" sz="4000" dirty="0">
                <a:solidFill>
                  <a:schemeClr val="bg1"/>
                </a:solidFill>
              </a:rPr>
              <a:t>数组的定义</a:t>
            </a:r>
            <a:endParaRPr lang="en-US" altLang="zh-CN" sz="4000" dirty="0">
              <a:solidFill>
                <a:schemeClr val="bg1"/>
              </a:solidFill>
            </a:endParaRPr>
          </a:p>
          <a:p>
            <a:r>
              <a:rPr lang="zh-CN" altLang="en-US" sz="4000" dirty="0">
                <a:solidFill>
                  <a:schemeClr val="bg1"/>
                </a:solidFill>
              </a:rPr>
              <a:t>数组的初始化</a:t>
            </a:r>
            <a:endParaRPr lang="en-US" altLang="zh-CN" sz="4000" dirty="0">
              <a:solidFill>
                <a:schemeClr val="bg1"/>
              </a:solidFill>
            </a:endParaRPr>
          </a:p>
          <a:p>
            <a:r>
              <a:rPr lang="zh-CN" altLang="en-US" sz="4000" dirty="0">
                <a:solidFill>
                  <a:schemeClr val="bg1"/>
                </a:solidFill>
              </a:rPr>
              <a:t>元素访问</a:t>
            </a:r>
            <a:endParaRPr lang="en-US" altLang="zh-CN" sz="4000" dirty="0">
              <a:solidFill>
                <a:schemeClr val="bg1"/>
              </a:solidFill>
            </a:endParaRPr>
          </a:p>
          <a:p>
            <a:r>
              <a:rPr lang="zh-CN" altLang="en-US" sz="4000" dirty="0">
                <a:solidFill>
                  <a:schemeClr val="bg1"/>
                </a:solidFill>
              </a:rPr>
              <a:t>数组遍历</a:t>
            </a:r>
            <a:endParaRPr lang="en-US" altLang="zh-CN" sz="4000" dirty="0">
              <a:solidFill>
                <a:schemeClr val="bg1"/>
              </a:solidFill>
            </a:endParaRPr>
          </a:p>
          <a:p>
            <a:r>
              <a:rPr lang="zh-CN" altLang="en-US" sz="4000" dirty="0">
                <a:solidFill>
                  <a:schemeClr val="bg1"/>
                </a:solidFill>
              </a:rPr>
              <a:t>二维数组</a:t>
            </a:r>
            <a:endParaRPr lang="zh-CN" altLang="en-US" sz="4000" dirty="0">
              <a:solidFill>
                <a:schemeClr val="bg1"/>
              </a:solidFill>
            </a:endParaRPr>
          </a:p>
        </p:txBody>
      </p:sp>
      <p:sp>
        <p:nvSpPr>
          <p:cNvPr id="4" name="右大括号 3"/>
          <p:cNvSpPr/>
          <p:nvPr/>
        </p:nvSpPr>
        <p:spPr>
          <a:xfrm>
            <a:off x="7869535" y="3759681"/>
            <a:ext cx="432048" cy="288032"/>
          </a:xfrm>
          <a:prstGeom prst="rightBrace">
            <a:avLst>
              <a:gd name="adj1" fmla="val 76921"/>
              <a:gd name="adj2" fmla="val 50000"/>
            </a:avLst>
          </a:prstGeom>
          <a:ln w="762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p:cNvSpPr txBox="1"/>
          <p:nvPr/>
        </p:nvSpPr>
        <p:spPr>
          <a:xfrm>
            <a:off x="8563318" y="3636843"/>
            <a:ext cx="2736304" cy="584775"/>
          </a:xfrm>
          <a:prstGeom prst="rect">
            <a:avLst/>
          </a:prstGeom>
          <a:noFill/>
        </p:spPr>
        <p:txBody>
          <a:bodyPr wrap="square" rtlCol="0">
            <a:spAutoFit/>
          </a:bodyPr>
          <a:lstStyle/>
          <a:p>
            <a:r>
              <a:rPr lang="zh-CN" altLang="en-US" sz="3200" dirty="0"/>
              <a:t>下面没有讲过</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a:t>
            </a:r>
            <a:r>
              <a:rPr lang="zh-CN" altLang="en-US" sz="2000" b="1" dirty="0">
                <a:solidFill>
                  <a:schemeClr val="bg1"/>
                </a:solidFill>
              </a:rPr>
              <a:t>目标及重难点  </a:t>
            </a:r>
            <a:r>
              <a:rPr lang="zh-CN" altLang="en-US" b="1" dirty="0"/>
              <a:t>新授 总结与合作探究  作业  限时检测</a:t>
            </a:r>
            <a:endParaRPr lang="zh-CN" altLang="en-US" b="1" dirty="0"/>
          </a:p>
        </p:txBody>
      </p:sp>
      <p:sp>
        <p:nvSpPr>
          <p:cNvPr id="10" name="箭头: 上 9"/>
          <p:cNvSpPr/>
          <p:nvPr/>
        </p:nvSpPr>
        <p:spPr>
          <a:xfrm>
            <a:off x="275696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2" name="标题 3"/>
          <p:cNvSpPr>
            <a:spLocks noGrp="1"/>
          </p:cNvSpPr>
          <p:nvPr/>
        </p:nvSpPr>
        <p:spPr>
          <a:xfrm>
            <a:off x="2026555" y="2968253"/>
            <a:ext cx="2160240" cy="81407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lang="zh-CN" altLang="en-US" sz="4800" dirty="0"/>
              <a:t>目标：</a:t>
            </a:r>
            <a:endParaRPr lang="en-US" altLang="zh-CN" sz="4800" dirty="0"/>
          </a:p>
        </p:txBody>
      </p:sp>
      <p:sp>
        <p:nvSpPr>
          <p:cNvPr id="4" name="文本占位符 2"/>
          <p:cNvSpPr>
            <a:spLocks noGrp="1"/>
          </p:cNvSpPr>
          <p:nvPr/>
        </p:nvSpPr>
        <p:spPr>
          <a:xfrm>
            <a:off x="3943441" y="2295168"/>
            <a:ext cx="6768752" cy="21602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3600" dirty="0"/>
              <a:t>概念</a:t>
            </a:r>
            <a:endParaRPr lang="en-US" altLang="zh-CN" sz="3600" dirty="0"/>
          </a:p>
          <a:p>
            <a:pPr marL="0" indent="0">
              <a:lnSpc>
                <a:spcPct val="100000"/>
              </a:lnSpc>
              <a:buNone/>
            </a:pPr>
            <a:r>
              <a:rPr lang="zh-CN" altLang="en-US" sz="3600" dirty="0"/>
              <a:t>定义及初始化</a:t>
            </a:r>
            <a:endParaRPr lang="en-US" altLang="zh-CN" sz="3600" dirty="0"/>
          </a:p>
          <a:p>
            <a:pPr marL="0" indent="0">
              <a:lnSpc>
                <a:spcPct val="100000"/>
              </a:lnSpc>
              <a:buNone/>
            </a:pPr>
            <a:r>
              <a:rPr lang="zh-CN" altLang="en-US" sz="3600" dirty="0"/>
              <a:t>遍历</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zh-CN" sz="2400" dirty="0"/>
              <a:t>一、</a:t>
            </a:r>
            <a:r>
              <a:rPr lang="zh-CN" altLang="en-US" sz="2400" b="1" dirty="0">
                <a:solidFill>
                  <a:srgbClr val="FF0000"/>
                </a:solidFill>
              </a:rPr>
              <a:t>什么是二维数组</a:t>
            </a:r>
            <a:endParaRPr lang="zh-CN" altLang="zh-CN" sz="2400" b="1" dirty="0">
              <a:solidFill>
                <a:srgbClr val="FF0000"/>
              </a:solidFill>
            </a:endParaRPr>
          </a:p>
        </p:txBody>
      </p:sp>
      <p:sp>
        <p:nvSpPr>
          <p:cNvPr id="11" name="文本框 10"/>
          <p:cNvSpPr txBox="1"/>
          <p:nvPr/>
        </p:nvSpPr>
        <p:spPr>
          <a:xfrm>
            <a:off x="1388815" y="1770272"/>
            <a:ext cx="10729192" cy="1323439"/>
          </a:xfrm>
          <a:prstGeom prst="rect">
            <a:avLst/>
          </a:prstGeom>
          <a:noFill/>
        </p:spPr>
        <p:txBody>
          <a:bodyPr wrap="square" rtlCol="0">
            <a:spAutoFit/>
          </a:bodyPr>
          <a:lstStyle/>
          <a:p>
            <a:r>
              <a:rPr lang="zh-CN" altLang="en-US" sz="4000" dirty="0"/>
              <a:t>二维数组是一种数据结构，它可以被看作是由多个一维数组组成的数组。</a:t>
            </a:r>
            <a:endParaRPr lang="zh-CN" altLang="en-US" sz="4000" dirty="0"/>
          </a:p>
        </p:txBody>
      </p:sp>
      <p:sp>
        <p:nvSpPr>
          <p:cNvPr id="2" name="文本框 1"/>
          <p:cNvSpPr txBox="1"/>
          <p:nvPr/>
        </p:nvSpPr>
        <p:spPr>
          <a:xfrm>
            <a:off x="8373591" y="3575244"/>
            <a:ext cx="2338602" cy="1938992"/>
          </a:xfrm>
          <a:prstGeom prst="rect">
            <a:avLst/>
          </a:prstGeom>
          <a:noFill/>
        </p:spPr>
        <p:txBody>
          <a:bodyPr wrap="square" rtlCol="0">
            <a:spAutoFit/>
          </a:bodyPr>
          <a:lstStyle/>
          <a:p>
            <a:r>
              <a:rPr lang="en-US" altLang="zh-CN" sz="2400" b="1" dirty="0"/>
              <a:t>{</a:t>
            </a:r>
            <a:endParaRPr lang="en-US" altLang="zh-CN" sz="2400" b="1" dirty="0"/>
          </a:p>
          <a:p>
            <a:r>
              <a:rPr lang="en-US" altLang="zh-CN" sz="2400" b="1" dirty="0"/>
              <a:t>   {</a:t>
            </a:r>
            <a:r>
              <a:rPr lang="zh-CN" altLang="en-US" sz="2400" b="1" dirty="0"/>
              <a:t>数据</a:t>
            </a:r>
            <a:r>
              <a:rPr lang="en-US" altLang="zh-CN" sz="2400" b="1" dirty="0"/>
              <a:t>,</a:t>
            </a:r>
            <a:r>
              <a:rPr lang="zh-CN" altLang="en-US" sz="2400" b="1" dirty="0"/>
              <a:t>数据</a:t>
            </a:r>
            <a:r>
              <a:rPr lang="en-US" altLang="zh-CN" sz="2400" b="1" dirty="0"/>
              <a:t>},</a:t>
            </a:r>
            <a:endParaRPr lang="en-US" altLang="zh-CN" sz="2400" b="1" dirty="0"/>
          </a:p>
          <a:p>
            <a:r>
              <a:rPr lang="en-US" altLang="zh-CN" sz="2400" b="1" dirty="0"/>
              <a:t>   {</a:t>
            </a:r>
            <a:r>
              <a:rPr lang="zh-CN" altLang="en-US" sz="2400" b="1" dirty="0"/>
              <a:t>数据</a:t>
            </a:r>
            <a:r>
              <a:rPr lang="en-US" altLang="zh-CN" sz="2400" b="1" dirty="0"/>
              <a:t>,</a:t>
            </a:r>
            <a:r>
              <a:rPr lang="zh-CN" altLang="en-US" sz="2400" b="1" dirty="0"/>
              <a:t>数据</a:t>
            </a:r>
            <a:r>
              <a:rPr lang="en-US" altLang="zh-CN" sz="2400" b="1" dirty="0"/>
              <a:t>},</a:t>
            </a:r>
            <a:endParaRPr lang="en-US" altLang="zh-CN" sz="2400" b="1" dirty="0"/>
          </a:p>
          <a:p>
            <a:r>
              <a:rPr lang="en-US" altLang="zh-CN" sz="2400" b="1" dirty="0"/>
              <a:t>   {</a:t>
            </a:r>
            <a:r>
              <a:rPr lang="zh-CN" altLang="en-US" sz="2400" b="1" dirty="0"/>
              <a:t>数据</a:t>
            </a:r>
            <a:r>
              <a:rPr lang="en-US" altLang="zh-CN" sz="2400" b="1" dirty="0"/>
              <a:t>,</a:t>
            </a:r>
            <a:r>
              <a:rPr lang="zh-CN" altLang="en-US" sz="2400" b="1" dirty="0"/>
              <a:t>数据</a:t>
            </a:r>
            <a:r>
              <a:rPr lang="en-US" altLang="zh-CN" sz="2400" b="1" dirty="0"/>
              <a:t>}</a:t>
            </a:r>
            <a:endParaRPr lang="en-US" altLang="zh-CN" sz="2400" b="1" dirty="0"/>
          </a:p>
          <a:p>
            <a:r>
              <a:rPr lang="en-US" altLang="zh-CN" sz="2400" b="1" dirty="0"/>
              <a:t>}</a:t>
            </a:r>
            <a:endParaRPr lang="zh-CN" altLang="en-US" sz="2400" b="1" dirty="0"/>
          </a:p>
        </p:txBody>
      </p:sp>
      <p:sp>
        <p:nvSpPr>
          <p:cNvPr id="4" name="文本框 3"/>
          <p:cNvSpPr txBox="1"/>
          <p:nvPr/>
        </p:nvSpPr>
        <p:spPr>
          <a:xfrm>
            <a:off x="3425021" y="3570384"/>
            <a:ext cx="1762537" cy="1938992"/>
          </a:xfrm>
          <a:prstGeom prst="rect">
            <a:avLst/>
          </a:prstGeom>
          <a:noFill/>
        </p:spPr>
        <p:txBody>
          <a:bodyPr wrap="square" rtlCol="0">
            <a:spAutoFit/>
          </a:bodyPr>
          <a:lstStyle/>
          <a:p>
            <a:r>
              <a:rPr lang="en-US" altLang="zh-CN" sz="2400" b="1" dirty="0"/>
              <a:t>{</a:t>
            </a:r>
            <a:endParaRPr lang="en-US" altLang="zh-CN" sz="2400" b="1" dirty="0"/>
          </a:p>
          <a:p>
            <a:r>
              <a:rPr lang="zh-CN" altLang="en-US" sz="2400" b="1" dirty="0"/>
              <a:t>   数据</a:t>
            </a:r>
            <a:r>
              <a:rPr lang="en-US" altLang="zh-CN" sz="2400" b="1" dirty="0"/>
              <a:t>,</a:t>
            </a:r>
            <a:endParaRPr lang="en-US" altLang="zh-CN" sz="2400" b="1" dirty="0"/>
          </a:p>
          <a:p>
            <a:r>
              <a:rPr lang="zh-CN" altLang="en-US" sz="2400" b="1" dirty="0"/>
              <a:t>   数据</a:t>
            </a:r>
            <a:r>
              <a:rPr lang="en-US" altLang="zh-CN" sz="2400" b="1" dirty="0"/>
              <a:t>,</a:t>
            </a:r>
            <a:endParaRPr lang="en-US" altLang="zh-CN" sz="2400" b="1" dirty="0"/>
          </a:p>
          <a:p>
            <a:r>
              <a:rPr lang="zh-CN" altLang="en-US" sz="2400" b="1" dirty="0"/>
              <a:t>   数据</a:t>
            </a:r>
            <a:endParaRPr lang="en-US" altLang="zh-CN" sz="2400" b="1" dirty="0"/>
          </a:p>
          <a:p>
            <a:r>
              <a:rPr lang="en-US" altLang="zh-CN" sz="2400" b="1" dirty="0"/>
              <a:t>}</a:t>
            </a:r>
            <a:endParaRPr lang="zh-CN" altLang="en-US" sz="2400" b="1" dirty="0"/>
          </a:p>
        </p:txBody>
      </p:sp>
      <p:sp>
        <p:nvSpPr>
          <p:cNvPr id="12" name="矩形: 圆角 11"/>
          <p:cNvSpPr/>
          <p:nvPr/>
        </p:nvSpPr>
        <p:spPr>
          <a:xfrm>
            <a:off x="8589615" y="3934382"/>
            <a:ext cx="1728192" cy="4320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3425020" y="3542410"/>
            <a:ext cx="1060139" cy="1966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a:off x="4485159" y="4192389"/>
            <a:ext cx="403244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485159" y="4220364"/>
            <a:ext cx="4112840" cy="31162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4485159" y="4192389"/>
            <a:ext cx="4176464" cy="7200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500"/>
                                        <p:tgtEl>
                                          <p:spTgt spid="12"/>
                                        </p:tgtEl>
                                      </p:cBhvr>
                                    </p:animEffect>
                                  </p:childTnLst>
                                </p:cTn>
                              </p:par>
                              <p:par>
                                <p:cTn id="18" presetID="6" presetClass="entr" presetSubtype="16"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circle(in)">
                                      <p:cBhvr>
                                        <p:cTn id="20" dur="500"/>
                                        <p:tgtEl>
                                          <p:spTgt spid="16"/>
                                        </p:tgtEl>
                                      </p:cBhvr>
                                    </p:animEffect>
                                  </p:childTnLst>
                                </p:cTn>
                              </p:par>
                              <p:par>
                                <p:cTn id="21" presetID="6" presetClass="entr" presetSubtype="16"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500"/>
                                        <p:tgtEl>
                                          <p:spTgt spid="17"/>
                                        </p:tgtEl>
                                      </p:cBhvr>
                                    </p:animEffect>
                                  </p:childTnLst>
                                </p:cTn>
                              </p:par>
                              <p:par>
                                <p:cTn id="24" presetID="6" presetClass="entr" presetSubtype="16"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circle(in)">
                                      <p:cBhvr>
                                        <p:cTn id="26" dur="500"/>
                                        <p:tgtEl>
                                          <p:spTgt spid="18"/>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circle(in)">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12"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二</a:t>
            </a:r>
            <a:r>
              <a:rPr lang="zh-CN" altLang="zh-CN" sz="2400" dirty="0"/>
              <a:t>、</a:t>
            </a:r>
            <a:r>
              <a:rPr lang="zh-CN" altLang="en-US" sz="2400" b="1" dirty="0">
                <a:solidFill>
                  <a:srgbClr val="FF0000"/>
                </a:solidFill>
              </a:rPr>
              <a:t>二维数组定义</a:t>
            </a:r>
            <a:endParaRPr lang="en-US" altLang="zh-CN" sz="2400" b="1" dirty="0">
              <a:solidFill>
                <a:srgbClr val="FF0000"/>
              </a:solidFill>
            </a:endParaRPr>
          </a:p>
        </p:txBody>
      </p:sp>
      <p:sp>
        <p:nvSpPr>
          <p:cNvPr id="11" name="文本框 10"/>
          <p:cNvSpPr txBox="1"/>
          <p:nvPr/>
        </p:nvSpPr>
        <p:spPr>
          <a:xfrm>
            <a:off x="1732235" y="3202606"/>
            <a:ext cx="6120680" cy="584775"/>
          </a:xfrm>
          <a:prstGeom prst="rect">
            <a:avLst/>
          </a:prstGeom>
          <a:noFill/>
        </p:spPr>
        <p:txBody>
          <a:bodyPr wrap="square" rtlCol="0">
            <a:spAutoFit/>
          </a:bodyPr>
          <a:lstStyle/>
          <a:p>
            <a:r>
              <a:rPr lang="zh-CN" altLang="en-US" sz="3200" dirty="0"/>
              <a:t>数据类型  数组名</a:t>
            </a:r>
            <a:r>
              <a:rPr lang="en-US" altLang="zh-CN" sz="3200" dirty="0"/>
              <a:t>[</a:t>
            </a:r>
            <a:r>
              <a:rPr lang="zh-CN" altLang="en-US" sz="3200" dirty="0"/>
              <a:t>行数</a:t>
            </a:r>
            <a:r>
              <a:rPr lang="en-US" altLang="zh-CN" sz="3200" dirty="0"/>
              <a:t>][</a:t>
            </a:r>
            <a:r>
              <a:rPr lang="zh-CN" altLang="en-US" sz="3200" dirty="0"/>
              <a:t>列数</a:t>
            </a:r>
            <a:r>
              <a:rPr lang="en-US" altLang="zh-CN" sz="3200" dirty="0"/>
              <a:t>]</a:t>
            </a:r>
            <a:endParaRPr lang="zh-CN" altLang="en-US" sz="3200" dirty="0"/>
          </a:p>
        </p:txBody>
      </p:sp>
      <p:sp>
        <p:nvSpPr>
          <p:cNvPr id="12" name="文本框 11"/>
          <p:cNvSpPr txBox="1"/>
          <p:nvPr/>
        </p:nvSpPr>
        <p:spPr>
          <a:xfrm>
            <a:off x="1732235" y="1560840"/>
            <a:ext cx="10072736" cy="584775"/>
          </a:xfrm>
          <a:prstGeom prst="rect">
            <a:avLst/>
          </a:prstGeom>
          <a:noFill/>
        </p:spPr>
        <p:txBody>
          <a:bodyPr wrap="square" rtlCol="0">
            <a:spAutoFit/>
          </a:bodyPr>
          <a:lstStyle/>
          <a:p>
            <a:r>
              <a:rPr lang="zh-CN" altLang="en-US" sz="3200" dirty="0"/>
              <a:t>数据类型  数组名</a:t>
            </a:r>
            <a:r>
              <a:rPr lang="en-US" altLang="zh-CN" sz="3200" dirty="0"/>
              <a:t>[</a:t>
            </a:r>
            <a:r>
              <a:rPr lang="zh-CN" altLang="en-US" sz="3200" dirty="0"/>
              <a:t>常量表达式</a:t>
            </a:r>
            <a:r>
              <a:rPr lang="en-US" altLang="zh-CN" sz="3200" dirty="0"/>
              <a:t>1][</a:t>
            </a:r>
            <a:r>
              <a:rPr lang="zh-CN" altLang="en-US" sz="3200" dirty="0"/>
              <a:t>常量表达式</a:t>
            </a:r>
            <a:r>
              <a:rPr lang="en-US" altLang="zh-CN" sz="3200" dirty="0"/>
              <a:t>2]</a:t>
            </a:r>
            <a:endParaRPr lang="zh-CN" altLang="en-US" sz="3200" dirty="0"/>
          </a:p>
        </p:txBody>
      </p:sp>
      <p:cxnSp>
        <p:nvCxnSpPr>
          <p:cNvPr id="4" name="直接箭头连接符 3"/>
          <p:cNvCxnSpPr/>
          <p:nvPr/>
        </p:nvCxnSpPr>
        <p:spPr>
          <a:xfrm flipH="1">
            <a:off x="5356096" y="2147211"/>
            <a:ext cx="641231" cy="10483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6768603" y="2132864"/>
            <a:ext cx="1800199" cy="107896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32004" y="3961395"/>
            <a:ext cx="11848798" cy="1569660"/>
          </a:xfrm>
          <a:prstGeom prst="rect">
            <a:avLst/>
          </a:prstGeom>
          <a:noFill/>
        </p:spPr>
        <p:txBody>
          <a:bodyPr wrap="square" rtlCol="0">
            <a:spAutoFit/>
          </a:bodyPr>
          <a:lstStyle/>
          <a:p>
            <a:r>
              <a:rPr lang="zh-CN" altLang="en-US" sz="3200" dirty="0"/>
              <a:t>常量表达式</a:t>
            </a:r>
            <a:r>
              <a:rPr lang="en-US" altLang="zh-CN" sz="3200" dirty="0"/>
              <a:t>1</a:t>
            </a:r>
            <a:r>
              <a:rPr lang="zh-CN" altLang="en-US" sz="3200" dirty="0"/>
              <a:t>（行数）表示第一维下标的长度，</a:t>
            </a:r>
            <a:endParaRPr lang="en-US" altLang="zh-CN" sz="3200" dirty="0"/>
          </a:p>
          <a:p>
            <a:r>
              <a:rPr lang="zh-CN" altLang="en-US" sz="3200" dirty="0"/>
              <a:t>常量表达式</a:t>
            </a:r>
            <a:r>
              <a:rPr lang="en-US" altLang="zh-CN" sz="3200" dirty="0"/>
              <a:t>2</a:t>
            </a:r>
            <a:r>
              <a:rPr lang="zh-CN" altLang="en-US" sz="3200" dirty="0"/>
              <a:t>（列数）表示第二维下标的长度。</a:t>
            </a:r>
            <a:endParaRPr lang="en-US" altLang="zh-CN" sz="3200" dirty="0"/>
          </a:p>
          <a:p>
            <a:r>
              <a:rPr lang="zh-CN" altLang="en-US" sz="3200" b="1" dirty="0">
                <a:solidFill>
                  <a:srgbClr val="FF0000"/>
                </a:solidFill>
              </a:rPr>
              <a:t>例如：</a:t>
            </a:r>
            <a:r>
              <a:rPr lang="en-US" altLang="zh-CN" sz="3200" b="1" dirty="0" err="1">
                <a:solidFill>
                  <a:srgbClr val="FF0000"/>
                </a:solidFill>
              </a:rPr>
              <a:t>int</a:t>
            </a:r>
            <a:r>
              <a:rPr lang="en-US" altLang="zh-CN" sz="3200" b="1" dirty="0">
                <a:solidFill>
                  <a:srgbClr val="FF0000"/>
                </a:solidFill>
              </a:rPr>
              <a:t> </a:t>
            </a:r>
            <a:r>
              <a:rPr lang="en-US" altLang="zh-CN" sz="3200" b="1" dirty="0" err="1">
                <a:solidFill>
                  <a:srgbClr val="FF0000"/>
                </a:solidFill>
              </a:rPr>
              <a:t>arr</a:t>
            </a:r>
            <a:r>
              <a:rPr lang="en-US" altLang="zh-CN" sz="3200" b="1" dirty="0">
                <a:solidFill>
                  <a:srgbClr val="FF0000"/>
                </a:solidFill>
              </a:rPr>
              <a:t>[3][4];</a:t>
            </a:r>
            <a:r>
              <a:rPr lang="zh-CN" altLang="en-US" sz="3200" b="1" dirty="0">
                <a:solidFill>
                  <a:srgbClr val="FF0000"/>
                </a:solidFill>
              </a:rPr>
              <a:t>定义了一个名为</a:t>
            </a:r>
            <a:r>
              <a:rPr lang="en-US" altLang="zh-CN" sz="3200" b="1" dirty="0" err="1">
                <a:solidFill>
                  <a:srgbClr val="FF0000"/>
                </a:solidFill>
              </a:rPr>
              <a:t>arr</a:t>
            </a:r>
            <a:r>
              <a:rPr lang="zh-CN" altLang="en-US" sz="3200" b="1" dirty="0">
                <a:solidFill>
                  <a:srgbClr val="FF0000"/>
                </a:solidFill>
              </a:rPr>
              <a:t>的二维整型数，有 </a:t>
            </a:r>
            <a:r>
              <a:rPr lang="en-US" altLang="zh-CN" sz="3200" b="1" dirty="0">
                <a:solidFill>
                  <a:srgbClr val="FF0000"/>
                </a:solidFill>
              </a:rPr>
              <a:t>3 </a:t>
            </a:r>
            <a:r>
              <a:rPr lang="zh-CN" altLang="en-US" sz="3200" b="1" dirty="0">
                <a:solidFill>
                  <a:srgbClr val="FF0000"/>
                </a:solidFill>
              </a:rPr>
              <a:t>行 </a:t>
            </a:r>
            <a:r>
              <a:rPr lang="en-US" altLang="zh-CN" sz="3200" b="1" dirty="0">
                <a:solidFill>
                  <a:srgbClr val="FF0000"/>
                </a:solidFill>
              </a:rPr>
              <a:t>4 </a:t>
            </a:r>
            <a:r>
              <a:rPr lang="zh-CN" altLang="en-US" sz="3200" b="1" dirty="0">
                <a:solidFill>
                  <a:srgbClr val="FF0000"/>
                </a:solidFill>
              </a:rPr>
              <a:t>列。</a:t>
            </a:r>
            <a:endParaRPr lang="zh-CN" altLang="en-US" sz="3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500"/>
                                        <p:tgtEl>
                                          <p:spTgt spid="11"/>
                                        </p:tgtEl>
                                      </p:cBhvr>
                                    </p:animEffect>
                                  </p:childTnLst>
                                </p:cTn>
                              </p:par>
                              <p:par>
                                <p:cTn id="8" presetID="21"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heel(1)">
                                      <p:cBhvr>
                                        <p:cTn id="10" dur="500"/>
                                        <p:tgtEl>
                                          <p:spTgt spid="4"/>
                                        </p:tgtEl>
                                      </p:cBhvr>
                                    </p:animEffect>
                                  </p:childTnLst>
                                </p:cTn>
                              </p:par>
                              <p:par>
                                <p:cTn id="11" presetID="21" presetClass="entr" presetSubtype="1"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heel(1)">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ircle(in)">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二</a:t>
            </a:r>
            <a:r>
              <a:rPr lang="zh-CN" altLang="zh-CN" sz="2400" dirty="0"/>
              <a:t>、</a:t>
            </a:r>
            <a:r>
              <a:rPr lang="zh-CN" altLang="en-US" sz="2400" b="1" dirty="0">
                <a:solidFill>
                  <a:srgbClr val="FF0000"/>
                </a:solidFill>
              </a:rPr>
              <a:t>二维数组定义</a:t>
            </a:r>
            <a:endParaRPr lang="en-US" altLang="zh-CN" sz="2400" b="1" dirty="0">
              <a:solidFill>
                <a:srgbClr val="FF0000"/>
              </a:solidFill>
            </a:endParaRPr>
          </a:p>
        </p:txBody>
      </p:sp>
      <p:sp>
        <p:nvSpPr>
          <p:cNvPr id="11" name="文本框 10"/>
          <p:cNvSpPr txBox="1"/>
          <p:nvPr/>
        </p:nvSpPr>
        <p:spPr>
          <a:xfrm>
            <a:off x="1460823" y="1372949"/>
            <a:ext cx="3545100" cy="769441"/>
          </a:xfrm>
          <a:prstGeom prst="rect">
            <a:avLst/>
          </a:prstGeom>
          <a:noFill/>
        </p:spPr>
        <p:txBody>
          <a:bodyPr wrap="square" rtlCol="0">
            <a:spAutoFit/>
          </a:bodyPr>
          <a:lstStyle/>
          <a:p>
            <a:r>
              <a:rPr lang="en-US" altLang="zh-CN" sz="4400" dirty="0" err="1"/>
              <a:t>int</a:t>
            </a:r>
            <a:r>
              <a:rPr lang="en-US" altLang="zh-CN" sz="4400" dirty="0"/>
              <a:t>  a[3][4];</a:t>
            </a:r>
            <a:endParaRPr lang="zh-CN" altLang="en-US" sz="4400" dirty="0"/>
          </a:p>
        </p:txBody>
      </p:sp>
      <p:cxnSp>
        <p:nvCxnSpPr>
          <p:cNvPr id="12" name="直接箭头连接符 11"/>
          <p:cNvCxnSpPr/>
          <p:nvPr/>
        </p:nvCxnSpPr>
        <p:spPr>
          <a:xfrm>
            <a:off x="4177832" y="1981117"/>
            <a:ext cx="828091" cy="52419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2180903" y="2658158"/>
            <a:ext cx="8928992" cy="2585323"/>
          </a:xfrm>
          <a:prstGeom prst="rect">
            <a:avLst/>
          </a:prstGeom>
          <a:noFill/>
        </p:spPr>
        <p:txBody>
          <a:bodyPr wrap="square" rtlCol="0">
            <a:spAutoFit/>
          </a:bodyPr>
          <a:lstStyle/>
          <a:p>
            <a:r>
              <a:rPr lang="en-US" altLang="zh-CN" sz="5400" dirty="0"/>
              <a:t>a[0][0], a[0][1], a[0][2], a[0][3]</a:t>
            </a:r>
            <a:endParaRPr lang="en-US" altLang="zh-CN" sz="5400" dirty="0"/>
          </a:p>
          <a:p>
            <a:r>
              <a:rPr lang="en-US" altLang="zh-CN" sz="5400" dirty="0"/>
              <a:t>a[1][0], a[1][1], a[1][2], a[1][3]</a:t>
            </a:r>
            <a:endParaRPr lang="zh-CN" altLang="en-US" sz="5400" dirty="0"/>
          </a:p>
          <a:p>
            <a:r>
              <a:rPr lang="en-US" altLang="zh-CN" sz="5400" dirty="0"/>
              <a:t>a[2][0], a[2][1], a[2][2], a[2][3]</a:t>
            </a:r>
            <a:endParaRPr lang="zh-CN" altLang="en-US" sz="5400" dirty="0"/>
          </a:p>
        </p:txBody>
      </p:sp>
      <p:sp>
        <p:nvSpPr>
          <p:cNvPr id="6" name="矩形 5"/>
          <p:cNvSpPr/>
          <p:nvPr/>
        </p:nvSpPr>
        <p:spPr>
          <a:xfrm>
            <a:off x="2062718" y="2724254"/>
            <a:ext cx="8784976" cy="258532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2072891" y="3544317"/>
            <a:ext cx="874897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072891" y="4408413"/>
            <a:ext cx="877480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341143" y="2724254"/>
            <a:ext cx="0" cy="258532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805639" y="2724253"/>
            <a:ext cx="0" cy="258532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573391" y="2750308"/>
            <a:ext cx="0" cy="258532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in)">
                                      <p:cBhvr>
                                        <p:cTn id="7" dur="500"/>
                                        <p:tgtEl>
                                          <p:spTgt spid="20"/>
                                        </p:tgtEl>
                                      </p:cBhvr>
                                    </p:animEffect>
                                  </p:childTnLst>
                                </p:cTn>
                              </p:par>
                              <p:par>
                                <p:cTn id="8" presetID="6" presetClass="entr" presetSubtype="16"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circle(in)">
                                      <p:cBhvr>
                                        <p:cTn id="10" dur="500"/>
                                        <p:tgtEl>
                                          <p:spTgt spid="21"/>
                                        </p:tgtEl>
                                      </p:cBhvr>
                                    </p:animEffect>
                                  </p:childTnLst>
                                </p:cTn>
                              </p:par>
                              <p:par>
                                <p:cTn id="11" presetID="6" presetClass="entr" presetSubtype="16"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ircle(in)">
                                      <p:cBhvr>
                                        <p:cTn id="13" dur="500"/>
                                        <p:tgtEl>
                                          <p:spTgt spid="19"/>
                                        </p:tgtEl>
                                      </p:cBhvr>
                                    </p:animEffect>
                                  </p:childTnLst>
                                </p:cTn>
                              </p:par>
                              <p:par>
                                <p:cTn id="14" presetID="6" presetClass="entr" presetSubtype="16"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circle(in)">
                                      <p:cBhvr>
                                        <p:cTn id="16" dur="500"/>
                                        <p:tgtEl>
                                          <p:spTgt spid="14"/>
                                        </p:tgtEl>
                                      </p:cBhvr>
                                    </p:animEffect>
                                  </p:childTnLst>
                                </p:cTn>
                              </p:par>
                              <p:par>
                                <p:cTn id="17" presetID="6" presetClass="entr" presetSubtype="16"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circle(in)">
                                      <p:cBhvr>
                                        <p:cTn id="19" dur="500"/>
                                        <p:tgtEl>
                                          <p:spTgt spid="15"/>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ircle(in)">
                                      <p:cBhvr>
                                        <p:cTn id="22" dur="500"/>
                                        <p:tgtEl>
                                          <p:spTgt spid="6"/>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三</a:t>
            </a:r>
            <a:r>
              <a:rPr lang="zh-CN" altLang="zh-CN" sz="2400" dirty="0"/>
              <a:t>、</a:t>
            </a:r>
            <a:r>
              <a:rPr lang="zh-CN" altLang="en-US" sz="2400" b="1" dirty="0">
                <a:solidFill>
                  <a:srgbClr val="FF0000"/>
                </a:solidFill>
              </a:rPr>
              <a:t>存储方式</a:t>
            </a:r>
            <a:endParaRPr lang="zh-CN" altLang="zh-CN" sz="2400" b="1" dirty="0">
              <a:solidFill>
                <a:srgbClr val="FF0000"/>
              </a:solidFill>
            </a:endParaRPr>
          </a:p>
        </p:txBody>
      </p:sp>
      <p:sp>
        <p:nvSpPr>
          <p:cNvPr id="11" name="文本框 10"/>
          <p:cNvSpPr txBox="1"/>
          <p:nvPr/>
        </p:nvSpPr>
        <p:spPr>
          <a:xfrm>
            <a:off x="890123" y="1660494"/>
            <a:ext cx="11515915" cy="2554545"/>
          </a:xfrm>
          <a:prstGeom prst="rect">
            <a:avLst/>
          </a:prstGeom>
          <a:noFill/>
        </p:spPr>
        <p:txBody>
          <a:bodyPr wrap="square" rtlCol="0">
            <a:spAutoFit/>
          </a:bodyPr>
          <a:lstStyle/>
          <a:p>
            <a:r>
              <a:rPr lang="en-US" altLang="zh-CN" sz="3200" dirty="0"/>
              <a:t>1</a:t>
            </a:r>
            <a:r>
              <a:rPr lang="zh-CN" altLang="en-US" sz="3200" dirty="0"/>
              <a:t>、二维数组在内存中是按</a:t>
            </a:r>
            <a:r>
              <a:rPr lang="zh-CN" altLang="en-US" sz="3200" b="1" dirty="0">
                <a:solidFill>
                  <a:srgbClr val="FF0000"/>
                </a:solidFill>
              </a:rPr>
              <a:t>行</a:t>
            </a:r>
            <a:r>
              <a:rPr lang="zh-CN" altLang="en-US" sz="3200" dirty="0"/>
              <a:t>优先的顺序存储的，即先存储第一行的元素，再存储第二行的元素，以此类推。</a:t>
            </a:r>
            <a:br>
              <a:rPr lang="zh-CN" altLang="en-US" sz="3200" dirty="0"/>
            </a:br>
            <a:r>
              <a:rPr lang="en-US" altLang="zh-CN" sz="3200" dirty="0"/>
              <a:t>2</a:t>
            </a:r>
            <a:r>
              <a:rPr lang="zh-CN" altLang="en-US" sz="3200" dirty="0"/>
              <a:t>、例如对于数组</a:t>
            </a:r>
            <a:r>
              <a:rPr lang="en-US" altLang="zh-CN" sz="3200" dirty="0" err="1"/>
              <a:t>int</a:t>
            </a:r>
            <a:r>
              <a:rPr lang="en-US" altLang="zh-CN" sz="3200" dirty="0"/>
              <a:t> </a:t>
            </a:r>
            <a:r>
              <a:rPr lang="en-US" altLang="zh-CN" sz="3200" dirty="0" err="1"/>
              <a:t>arr</a:t>
            </a:r>
            <a:r>
              <a:rPr lang="en-US" altLang="zh-CN" sz="3200" dirty="0"/>
              <a:t>[3][4]</a:t>
            </a:r>
            <a:r>
              <a:rPr lang="zh-CN" altLang="en-US" sz="3200" dirty="0"/>
              <a:t>，在内存中是连续存储 </a:t>
            </a:r>
            <a:r>
              <a:rPr lang="en-US" altLang="zh-CN" sz="3200" dirty="0"/>
              <a:t>12 </a:t>
            </a:r>
            <a:r>
              <a:rPr lang="zh-CN" altLang="en-US" sz="3200" dirty="0"/>
              <a:t>个整数，先存储第一行的 </a:t>
            </a:r>
            <a:r>
              <a:rPr lang="en-US" altLang="zh-CN" sz="3200" dirty="0"/>
              <a:t>4 </a:t>
            </a:r>
            <a:r>
              <a:rPr lang="zh-CN" altLang="en-US" sz="3200" dirty="0"/>
              <a:t>个整数，再存储第二行的 </a:t>
            </a:r>
            <a:r>
              <a:rPr lang="en-US" altLang="zh-CN" sz="3200" dirty="0"/>
              <a:t>4 </a:t>
            </a:r>
            <a:r>
              <a:rPr lang="zh-CN" altLang="en-US" sz="3200" dirty="0"/>
              <a:t>个整数，最后存储第三行的 </a:t>
            </a:r>
            <a:r>
              <a:rPr lang="en-US" altLang="zh-CN" sz="3200" dirty="0"/>
              <a:t>4 </a:t>
            </a:r>
            <a:r>
              <a:rPr lang="zh-CN" altLang="en-US" sz="3200" dirty="0"/>
              <a:t>个整数。</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四</a:t>
            </a:r>
            <a:r>
              <a:rPr lang="zh-CN" altLang="zh-CN" sz="2400" dirty="0"/>
              <a:t>、</a:t>
            </a:r>
            <a:r>
              <a:rPr lang="zh-CN" altLang="en-US" sz="2400" b="1" dirty="0">
                <a:solidFill>
                  <a:srgbClr val="FF0000"/>
                </a:solidFill>
              </a:rPr>
              <a:t>访问元素</a:t>
            </a:r>
            <a:endParaRPr lang="zh-CN" altLang="zh-CN" sz="2400" b="1" dirty="0">
              <a:solidFill>
                <a:srgbClr val="FF0000"/>
              </a:solidFill>
            </a:endParaRPr>
          </a:p>
        </p:txBody>
      </p:sp>
      <p:sp>
        <p:nvSpPr>
          <p:cNvPr id="11" name="文本框 10"/>
          <p:cNvSpPr txBox="1"/>
          <p:nvPr/>
        </p:nvSpPr>
        <p:spPr>
          <a:xfrm>
            <a:off x="1532831" y="1744117"/>
            <a:ext cx="10729192" cy="2585323"/>
          </a:xfrm>
          <a:prstGeom prst="rect">
            <a:avLst/>
          </a:prstGeom>
          <a:noFill/>
        </p:spPr>
        <p:txBody>
          <a:bodyPr wrap="square" rtlCol="0">
            <a:spAutoFit/>
          </a:bodyPr>
          <a:lstStyle/>
          <a:p>
            <a:r>
              <a:rPr lang="zh-CN" altLang="en-US" sz="3200" dirty="0"/>
              <a:t>通过下标来访问二维数组中的元素。</a:t>
            </a:r>
            <a:endParaRPr lang="en-US" altLang="zh-CN" sz="3200" dirty="0"/>
          </a:p>
          <a:p>
            <a:r>
              <a:rPr lang="zh-CN" altLang="en-US" sz="3200" b="1" dirty="0">
                <a:solidFill>
                  <a:srgbClr val="FF0000"/>
                </a:solidFill>
              </a:rPr>
              <a:t>形式为：</a:t>
            </a:r>
            <a:r>
              <a:rPr lang="zh-CN" altLang="en-US" sz="3200" dirty="0"/>
              <a:t>数组名</a:t>
            </a:r>
            <a:r>
              <a:rPr lang="en-US" altLang="zh-CN" sz="3200" dirty="0"/>
              <a:t>[</a:t>
            </a:r>
            <a:r>
              <a:rPr lang="zh-CN" altLang="en-US" sz="3200" dirty="0"/>
              <a:t>行下标</a:t>
            </a:r>
            <a:r>
              <a:rPr lang="en-US" altLang="zh-CN" sz="3200" dirty="0"/>
              <a:t>][</a:t>
            </a:r>
            <a:r>
              <a:rPr lang="zh-CN" altLang="en-US" sz="3200" dirty="0"/>
              <a:t>列下标</a:t>
            </a:r>
            <a:r>
              <a:rPr lang="en-US" altLang="zh-CN" sz="3200" dirty="0"/>
              <a:t>]</a:t>
            </a:r>
            <a:r>
              <a:rPr lang="zh-CN" altLang="en-US" sz="3200" dirty="0"/>
              <a:t>。</a:t>
            </a:r>
            <a:endParaRPr lang="en-US" altLang="zh-CN" sz="3200" dirty="0"/>
          </a:p>
          <a:p>
            <a:endParaRPr lang="en-US" altLang="zh-CN" sz="1100" dirty="0"/>
          </a:p>
          <a:p>
            <a:r>
              <a:rPr lang="zh-CN" altLang="en-US" sz="3200" dirty="0"/>
              <a:t>注意：行下标和列下标都是从 </a:t>
            </a:r>
            <a:r>
              <a:rPr lang="en-US" altLang="zh-CN" sz="3200" dirty="0"/>
              <a:t>0 </a:t>
            </a:r>
            <a:r>
              <a:rPr lang="zh-CN" altLang="en-US" sz="3200" dirty="0"/>
              <a:t>开始。</a:t>
            </a:r>
            <a:endParaRPr lang="en-US" altLang="zh-CN" sz="3200" dirty="0"/>
          </a:p>
          <a:p>
            <a:endParaRPr lang="en-US" altLang="zh-CN" dirty="0"/>
          </a:p>
          <a:p>
            <a:r>
              <a:rPr lang="zh-CN" altLang="en-US" sz="3200" dirty="0"/>
              <a:t>例如：</a:t>
            </a:r>
            <a:r>
              <a:rPr lang="en-US" altLang="zh-CN" sz="3200" dirty="0" err="1"/>
              <a:t>arr</a:t>
            </a:r>
            <a:r>
              <a:rPr lang="en-US" altLang="zh-CN" sz="3200" dirty="0"/>
              <a:t>[1][2]</a:t>
            </a:r>
            <a:r>
              <a:rPr lang="zh-CN" altLang="en-US" sz="3200" dirty="0"/>
              <a:t>表示访问二维数组</a:t>
            </a:r>
            <a:r>
              <a:rPr lang="en-US" altLang="zh-CN" sz="3200" dirty="0" err="1"/>
              <a:t>arr</a:t>
            </a:r>
            <a:r>
              <a:rPr lang="zh-CN" altLang="en-US" sz="3200" dirty="0"/>
              <a:t>中第二行第三列的元素。</a:t>
            </a:r>
            <a:endParaRPr lang="en-US" altLang="zh-CN" sz="32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903786" y="70715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b="1" dirty="0">
                <a:solidFill>
                  <a:srgbClr val="FF0000"/>
                </a:solidFill>
              </a:rPr>
              <a:t>课堂练习</a:t>
            </a:r>
            <a:endParaRPr lang="zh-CN" altLang="zh-CN" sz="2400" b="1" dirty="0">
              <a:solidFill>
                <a:srgbClr val="FF0000"/>
              </a:solidFill>
            </a:endParaRPr>
          </a:p>
        </p:txBody>
      </p:sp>
      <p:sp>
        <p:nvSpPr>
          <p:cNvPr id="4" name="文本框 3"/>
          <p:cNvSpPr txBox="1"/>
          <p:nvPr/>
        </p:nvSpPr>
        <p:spPr>
          <a:xfrm>
            <a:off x="1316807" y="1436861"/>
            <a:ext cx="10657184" cy="3970318"/>
          </a:xfrm>
          <a:prstGeom prst="rect">
            <a:avLst/>
          </a:prstGeom>
          <a:noFill/>
        </p:spPr>
        <p:txBody>
          <a:bodyPr wrap="square" rtlCol="0">
            <a:spAutoFit/>
          </a:bodyPr>
          <a:lstStyle/>
          <a:p>
            <a:r>
              <a:rPr lang="zh-CN" altLang="en-US" sz="3600" dirty="0"/>
              <a:t>下列代码请改正。</a:t>
            </a:r>
            <a:endParaRPr lang="en-US" altLang="zh-CN" sz="3600" dirty="0"/>
          </a:p>
          <a:p>
            <a:r>
              <a:rPr lang="en-US" altLang="zh-CN" sz="3600" dirty="0"/>
              <a:t>1</a:t>
            </a:r>
            <a:r>
              <a:rPr lang="zh-CN" altLang="en-US" sz="3600" dirty="0"/>
              <a:t>、</a:t>
            </a:r>
            <a:r>
              <a:rPr lang="en-US" altLang="zh-CN" sz="3600" dirty="0"/>
              <a:t>int  a[3,4];</a:t>
            </a:r>
            <a:endParaRPr lang="en-US" altLang="zh-CN" sz="3600" dirty="0"/>
          </a:p>
          <a:p>
            <a:r>
              <a:rPr lang="en-US" altLang="zh-CN" sz="3600" dirty="0"/>
              <a:t>2</a:t>
            </a:r>
            <a:r>
              <a:rPr lang="zh-CN" altLang="en-US" sz="3600" dirty="0"/>
              <a:t>、</a:t>
            </a:r>
            <a:r>
              <a:rPr lang="en-US" altLang="zh-CN" sz="3600" dirty="0"/>
              <a:t>int  a[2][3];</a:t>
            </a:r>
            <a:endParaRPr lang="en-US" altLang="zh-CN" sz="3600" dirty="0"/>
          </a:p>
          <a:p>
            <a:r>
              <a:rPr lang="en-US" altLang="zh-CN" sz="3600" dirty="0"/>
              <a:t>           a[1][3] = 2;</a:t>
            </a:r>
            <a:endParaRPr lang="en-US" altLang="zh-CN" sz="3600" dirty="0"/>
          </a:p>
          <a:p>
            <a:r>
              <a:rPr lang="en-US" altLang="zh-CN" sz="3600" dirty="0"/>
              <a:t>3</a:t>
            </a:r>
            <a:r>
              <a:rPr lang="zh-CN" altLang="en-US" sz="3600" dirty="0"/>
              <a:t>、</a:t>
            </a:r>
            <a:r>
              <a:rPr lang="en-US" altLang="zh-CN" sz="3600" dirty="0"/>
              <a:t>int  a[2][3]</a:t>
            </a:r>
            <a:r>
              <a:rPr lang="zh-CN" altLang="en-US" sz="3600" dirty="0"/>
              <a:t>与</a:t>
            </a:r>
            <a:r>
              <a:rPr lang="en-US" altLang="zh-CN" sz="3600" dirty="0"/>
              <a:t>a[2][3]</a:t>
            </a:r>
            <a:r>
              <a:rPr lang="zh-CN" altLang="en-US" sz="3600" dirty="0"/>
              <a:t>是同一个概念</a:t>
            </a:r>
            <a:endParaRPr lang="en-US" altLang="zh-CN" sz="3600" dirty="0"/>
          </a:p>
          <a:p>
            <a:r>
              <a:rPr lang="en-US" altLang="zh-CN" sz="3600" dirty="0"/>
              <a:t>4</a:t>
            </a:r>
            <a:r>
              <a:rPr lang="zh-CN" altLang="en-US" sz="3600" dirty="0"/>
              <a:t>、</a:t>
            </a:r>
            <a:r>
              <a:rPr lang="en-US" altLang="zh-CN" sz="3600" dirty="0"/>
              <a:t>float  a[0][0];</a:t>
            </a:r>
            <a:endParaRPr lang="en-US" altLang="zh-CN" sz="3600" dirty="0"/>
          </a:p>
          <a:p>
            <a:r>
              <a:rPr lang="en-US" altLang="zh-CN" sz="3600" dirty="0"/>
              <a:t>5</a:t>
            </a:r>
            <a:r>
              <a:rPr lang="zh-CN" altLang="en-US" sz="3600" dirty="0"/>
              <a:t>、</a:t>
            </a:r>
            <a:r>
              <a:rPr lang="en-US" altLang="zh-CN" sz="3600" dirty="0"/>
              <a:t>int  k, a[k][1];</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二维数组的初始化</a:t>
            </a:r>
            <a:endParaRPr lang="zh-CN" altLang="zh-CN" sz="2400" b="1" dirty="0">
              <a:solidFill>
                <a:srgbClr val="FF0000"/>
              </a:solidFill>
            </a:endParaRPr>
          </a:p>
        </p:txBody>
      </p:sp>
      <p:sp>
        <p:nvSpPr>
          <p:cNvPr id="11" name="文本框 10"/>
          <p:cNvSpPr txBox="1"/>
          <p:nvPr/>
        </p:nvSpPr>
        <p:spPr>
          <a:xfrm>
            <a:off x="1532831" y="1528093"/>
            <a:ext cx="3888432" cy="584775"/>
          </a:xfrm>
          <a:prstGeom prst="rect">
            <a:avLst/>
          </a:prstGeom>
          <a:noFill/>
        </p:spPr>
        <p:txBody>
          <a:bodyPr wrap="square" rtlCol="0">
            <a:spAutoFit/>
          </a:bodyPr>
          <a:lstStyle/>
          <a:p>
            <a:r>
              <a:rPr lang="en-US" altLang="zh-CN" sz="3200" dirty="0"/>
              <a:t>1</a:t>
            </a:r>
            <a:r>
              <a:rPr lang="zh-CN" altLang="en-US" sz="3200" dirty="0"/>
              <a:t>、按行</a:t>
            </a:r>
            <a:r>
              <a:rPr lang="zh-CN" altLang="en-US" sz="3200" b="1" dirty="0">
                <a:solidFill>
                  <a:srgbClr val="FF0000"/>
                </a:solidFill>
              </a:rPr>
              <a:t>分段</a:t>
            </a:r>
            <a:r>
              <a:rPr lang="zh-CN" altLang="en-US" sz="3200" dirty="0"/>
              <a:t>赋值：</a:t>
            </a:r>
            <a:endParaRPr lang="en-US" altLang="zh-CN" sz="3200" dirty="0"/>
          </a:p>
        </p:txBody>
      </p:sp>
      <p:sp>
        <p:nvSpPr>
          <p:cNvPr id="2" name="文本框 1"/>
          <p:cNvSpPr txBox="1"/>
          <p:nvPr/>
        </p:nvSpPr>
        <p:spPr>
          <a:xfrm>
            <a:off x="1820863" y="2112868"/>
            <a:ext cx="9577064" cy="4401205"/>
          </a:xfrm>
          <a:prstGeom prst="rect">
            <a:avLst/>
          </a:prstGeom>
          <a:noFill/>
        </p:spPr>
        <p:txBody>
          <a:bodyPr wrap="square" rtlCol="0">
            <a:spAutoFit/>
          </a:bodyPr>
          <a:lstStyle/>
          <a:p>
            <a:r>
              <a:rPr lang="en-US" altLang="zh-CN" sz="4000" dirty="0"/>
              <a:t>int  </a:t>
            </a:r>
            <a:r>
              <a:rPr lang="en-US" altLang="zh-CN" sz="4000" dirty="0" err="1"/>
              <a:t>arr</a:t>
            </a:r>
            <a:r>
              <a:rPr lang="en-US" altLang="zh-CN" sz="4000" dirty="0"/>
              <a:t>[5][3] = {</a:t>
            </a:r>
            <a:endParaRPr lang="en-US" altLang="zh-CN" sz="4000" dirty="0"/>
          </a:p>
          <a:p>
            <a:r>
              <a:rPr lang="en-US" altLang="zh-CN" sz="4000" dirty="0"/>
              <a:t>	{80,75,92},</a:t>
            </a:r>
            <a:endParaRPr lang="en-US" altLang="zh-CN" sz="4000" dirty="0"/>
          </a:p>
          <a:p>
            <a:r>
              <a:rPr lang="en-US" altLang="zh-CN" sz="4000" dirty="0"/>
              <a:t>	{61,65,71},</a:t>
            </a:r>
            <a:endParaRPr lang="en-US" altLang="zh-CN" sz="4000" dirty="0"/>
          </a:p>
          <a:p>
            <a:r>
              <a:rPr lang="en-US" altLang="zh-CN" sz="4000" dirty="0"/>
              <a:t>	{59,63,70},</a:t>
            </a:r>
            <a:endParaRPr lang="en-US" altLang="zh-CN" sz="4000" dirty="0"/>
          </a:p>
          <a:p>
            <a:r>
              <a:rPr lang="en-US" altLang="zh-CN" sz="4000" dirty="0"/>
              <a:t>	{85,87,90},</a:t>
            </a:r>
            <a:endParaRPr lang="en-US" altLang="zh-CN" sz="4000" dirty="0"/>
          </a:p>
          <a:p>
            <a:r>
              <a:rPr lang="en-US" altLang="zh-CN" sz="4000" dirty="0"/>
              <a:t>	{76,77,85}</a:t>
            </a:r>
            <a:endParaRPr lang="en-US" altLang="zh-CN" sz="4000" dirty="0"/>
          </a:p>
          <a:p>
            <a:r>
              <a:rPr lang="en-US" altLang="zh-CN" sz="4000" dirty="0"/>
              <a:t>};</a:t>
            </a:r>
            <a:endParaRPr lang="zh-CN" altLang="en-US" sz="40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二维数组的初始化</a:t>
            </a:r>
            <a:endParaRPr lang="zh-CN" altLang="zh-CN" sz="2400" b="1" dirty="0">
              <a:solidFill>
                <a:srgbClr val="FF0000"/>
              </a:solidFill>
            </a:endParaRPr>
          </a:p>
        </p:txBody>
      </p:sp>
      <p:sp>
        <p:nvSpPr>
          <p:cNvPr id="11" name="文本框 10"/>
          <p:cNvSpPr txBox="1"/>
          <p:nvPr/>
        </p:nvSpPr>
        <p:spPr>
          <a:xfrm>
            <a:off x="1532831" y="1528093"/>
            <a:ext cx="3888432" cy="584775"/>
          </a:xfrm>
          <a:prstGeom prst="rect">
            <a:avLst/>
          </a:prstGeom>
          <a:noFill/>
        </p:spPr>
        <p:txBody>
          <a:bodyPr wrap="square" rtlCol="0">
            <a:spAutoFit/>
          </a:bodyPr>
          <a:lstStyle/>
          <a:p>
            <a:r>
              <a:rPr lang="en-US" altLang="zh-CN" sz="3200" dirty="0"/>
              <a:t>2</a:t>
            </a:r>
            <a:r>
              <a:rPr lang="zh-CN" altLang="en-US" sz="3200" dirty="0"/>
              <a:t>、按行</a:t>
            </a:r>
            <a:r>
              <a:rPr lang="zh-CN" altLang="en-US" sz="3200" b="1" dirty="0">
                <a:solidFill>
                  <a:srgbClr val="FF0000"/>
                </a:solidFill>
              </a:rPr>
              <a:t>连续</a:t>
            </a:r>
            <a:r>
              <a:rPr lang="zh-CN" altLang="en-US" sz="3200" dirty="0"/>
              <a:t>赋值：</a:t>
            </a:r>
            <a:endParaRPr lang="en-US" altLang="zh-CN" sz="3200" dirty="0"/>
          </a:p>
        </p:txBody>
      </p:sp>
      <p:sp>
        <p:nvSpPr>
          <p:cNvPr id="2" name="文本框 1"/>
          <p:cNvSpPr txBox="1"/>
          <p:nvPr/>
        </p:nvSpPr>
        <p:spPr>
          <a:xfrm>
            <a:off x="1820863" y="2112868"/>
            <a:ext cx="9577064" cy="1323439"/>
          </a:xfrm>
          <a:prstGeom prst="rect">
            <a:avLst/>
          </a:prstGeom>
          <a:noFill/>
        </p:spPr>
        <p:txBody>
          <a:bodyPr wrap="square" rtlCol="0">
            <a:spAutoFit/>
          </a:bodyPr>
          <a:lstStyle/>
          <a:p>
            <a:r>
              <a:rPr lang="en-US" altLang="zh-CN" sz="4000" dirty="0"/>
              <a:t>int  </a:t>
            </a:r>
            <a:r>
              <a:rPr lang="en-US" altLang="zh-CN" sz="4000" dirty="0" err="1"/>
              <a:t>arr</a:t>
            </a:r>
            <a:r>
              <a:rPr lang="en-US" altLang="zh-CN" sz="4000" dirty="0"/>
              <a:t>[5][3] = {80,75,92,61,65,71,59,63,70,</a:t>
            </a:r>
            <a:endParaRPr lang="en-US" altLang="zh-CN" sz="4000" dirty="0"/>
          </a:p>
          <a:p>
            <a:r>
              <a:rPr lang="en-US" altLang="zh-CN" sz="4000" dirty="0"/>
              <a:t>85,87,90,76,77,85};</a:t>
            </a:r>
            <a:endParaRPr lang="zh-CN" altLang="en-US" sz="4000" dirty="0"/>
          </a:p>
        </p:txBody>
      </p:sp>
      <p:sp>
        <p:nvSpPr>
          <p:cNvPr id="4" name="文本框 3"/>
          <p:cNvSpPr txBox="1"/>
          <p:nvPr/>
        </p:nvSpPr>
        <p:spPr>
          <a:xfrm>
            <a:off x="1532831" y="3486324"/>
            <a:ext cx="9001000" cy="2862322"/>
          </a:xfrm>
          <a:prstGeom prst="rect">
            <a:avLst/>
          </a:prstGeom>
          <a:noFill/>
        </p:spPr>
        <p:txBody>
          <a:bodyPr wrap="square" rtlCol="0">
            <a:spAutoFit/>
          </a:bodyPr>
          <a:lstStyle/>
          <a:p>
            <a:r>
              <a:rPr lang="en-US" altLang="zh-CN" sz="3600" dirty="0"/>
              <a:t>3</a:t>
            </a:r>
            <a:r>
              <a:rPr lang="zh-CN" altLang="en-US" sz="3600" dirty="0"/>
              <a:t>、可以只对部分值赋值，未赋值的自动取</a:t>
            </a:r>
            <a:r>
              <a:rPr lang="en-US" altLang="zh-CN" sz="3600" dirty="0"/>
              <a:t>0</a:t>
            </a:r>
            <a:r>
              <a:rPr lang="zh-CN" altLang="en-US" sz="3600" dirty="0"/>
              <a:t>。</a:t>
            </a:r>
            <a:endParaRPr lang="en-US" altLang="zh-CN" sz="3600" dirty="0"/>
          </a:p>
          <a:p>
            <a:r>
              <a:rPr lang="zh-CN" altLang="en-US" sz="3600" dirty="0"/>
              <a:t>例如： </a:t>
            </a:r>
            <a:r>
              <a:rPr lang="en-US" altLang="zh-CN" sz="3600" dirty="0" err="1"/>
              <a:t>int</a:t>
            </a:r>
            <a:r>
              <a:rPr lang="en-US" altLang="zh-CN" sz="3600" dirty="0"/>
              <a:t>  arr2[3][3] = {{1},{2},{3}};</a:t>
            </a:r>
            <a:endParaRPr lang="en-US" altLang="zh-CN" sz="3600" dirty="0"/>
          </a:p>
          <a:p>
            <a:r>
              <a:rPr lang="en-US" altLang="zh-CN" sz="3600" dirty="0"/>
              <a:t>	</a:t>
            </a:r>
            <a:r>
              <a:rPr lang="zh-CN" altLang="en-US" sz="3600" dirty="0"/>
              <a:t>值为：  </a:t>
            </a:r>
            <a:r>
              <a:rPr lang="en-US" altLang="zh-CN" sz="3600" dirty="0"/>
              <a:t>1  0  0</a:t>
            </a:r>
            <a:endParaRPr lang="en-US" altLang="zh-CN" sz="3600" dirty="0"/>
          </a:p>
          <a:p>
            <a:r>
              <a:rPr lang="en-US" altLang="zh-CN" sz="3600" dirty="0"/>
              <a:t>		       2  0  0</a:t>
            </a:r>
            <a:endParaRPr lang="en-US" altLang="zh-CN" sz="3600" dirty="0"/>
          </a:p>
          <a:p>
            <a:r>
              <a:rPr lang="en-US" altLang="zh-CN" sz="3600" dirty="0"/>
              <a:t>		       3  0  0 </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二维数组的初始化</a:t>
            </a:r>
            <a:endParaRPr lang="zh-CN" altLang="zh-CN" sz="2400" b="1" dirty="0">
              <a:solidFill>
                <a:srgbClr val="FF0000"/>
              </a:solidFill>
            </a:endParaRPr>
          </a:p>
        </p:txBody>
      </p:sp>
      <p:sp>
        <p:nvSpPr>
          <p:cNvPr id="4" name="文本框 3"/>
          <p:cNvSpPr txBox="1"/>
          <p:nvPr/>
        </p:nvSpPr>
        <p:spPr>
          <a:xfrm>
            <a:off x="1460823" y="1600101"/>
            <a:ext cx="10657184" cy="3416320"/>
          </a:xfrm>
          <a:prstGeom prst="rect">
            <a:avLst/>
          </a:prstGeom>
          <a:noFill/>
        </p:spPr>
        <p:txBody>
          <a:bodyPr wrap="square" rtlCol="0">
            <a:spAutoFit/>
          </a:bodyPr>
          <a:lstStyle/>
          <a:p>
            <a:r>
              <a:rPr lang="en-US" altLang="zh-CN" sz="3600" dirty="0"/>
              <a:t>4</a:t>
            </a:r>
            <a:r>
              <a:rPr lang="zh-CN" altLang="en-US" sz="3600" dirty="0"/>
              <a:t>、注意点：</a:t>
            </a:r>
            <a:endParaRPr lang="en-US" altLang="zh-CN" sz="3600" dirty="0"/>
          </a:p>
          <a:p>
            <a:r>
              <a:rPr lang="zh-CN" altLang="en-US" sz="3600" dirty="0"/>
              <a:t>若对全部元素赋值，则</a:t>
            </a:r>
            <a:r>
              <a:rPr lang="zh-CN" altLang="en-US" sz="3600" b="1" dirty="0">
                <a:solidFill>
                  <a:srgbClr val="FF0000"/>
                </a:solidFill>
              </a:rPr>
              <a:t>第一维</a:t>
            </a:r>
            <a:r>
              <a:rPr lang="zh-CN" altLang="en-US" sz="3600" dirty="0"/>
              <a:t>的长度可以不给出。</a:t>
            </a:r>
            <a:endParaRPr lang="en-US" altLang="zh-CN" sz="3600" dirty="0"/>
          </a:p>
          <a:p>
            <a:r>
              <a:rPr lang="zh-CN" altLang="en-US" sz="3600" dirty="0"/>
              <a:t>例如：</a:t>
            </a:r>
            <a:endParaRPr lang="en-US" altLang="zh-CN" sz="3600" dirty="0"/>
          </a:p>
          <a:p>
            <a:r>
              <a:rPr lang="en-US" altLang="zh-CN" sz="3600" dirty="0"/>
              <a:t>	</a:t>
            </a:r>
            <a:r>
              <a:rPr lang="en-US" altLang="zh-CN" sz="3600" dirty="0" err="1"/>
              <a:t>int</a:t>
            </a:r>
            <a:r>
              <a:rPr lang="en-US" altLang="zh-CN" sz="3600" dirty="0"/>
              <a:t>  a[3][3] = {1,2,3,4,5,6,7,8,9};</a:t>
            </a:r>
            <a:endParaRPr lang="en-US" altLang="zh-CN" sz="3600" dirty="0"/>
          </a:p>
          <a:p>
            <a:r>
              <a:rPr lang="en-US" altLang="zh-CN" sz="3600" dirty="0"/>
              <a:t>	</a:t>
            </a:r>
            <a:r>
              <a:rPr lang="zh-CN" altLang="en-US" sz="3600" dirty="0"/>
              <a:t>可以写成：</a:t>
            </a:r>
            <a:endParaRPr lang="en-US" altLang="zh-CN" sz="3600" dirty="0"/>
          </a:p>
          <a:p>
            <a:r>
              <a:rPr lang="en-US" altLang="zh-CN" sz="3600" dirty="0"/>
              <a:t>	</a:t>
            </a:r>
            <a:r>
              <a:rPr lang="en-US" altLang="zh-CN" sz="3600" dirty="0" err="1"/>
              <a:t>int</a:t>
            </a:r>
            <a:r>
              <a:rPr lang="en-US" altLang="zh-CN" sz="3600" dirty="0"/>
              <a:t>  a[ ][3] = {1,2,3,4,5,6,7,8,9}; </a:t>
            </a:r>
            <a:endParaRPr lang="zh-CN" altLang="en-US"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二维数组的遍历</a:t>
            </a:r>
            <a:endParaRPr lang="zh-CN" altLang="zh-CN" sz="2400" b="1" dirty="0">
              <a:solidFill>
                <a:srgbClr val="FF0000"/>
              </a:solidFill>
            </a:endParaRPr>
          </a:p>
        </p:txBody>
      </p:sp>
      <p:sp>
        <p:nvSpPr>
          <p:cNvPr id="4" name="文本框 3"/>
          <p:cNvSpPr txBox="1"/>
          <p:nvPr/>
        </p:nvSpPr>
        <p:spPr>
          <a:xfrm>
            <a:off x="1460823" y="1635234"/>
            <a:ext cx="7992888" cy="2308324"/>
          </a:xfrm>
          <a:prstGeom prst="rect">
            <a:avLst/>
          </a:prstGeom>
          <a:noFill/>
        </p:spPr>
        <p:txBody>
          <a:bodyPr wrap="square" rtlCol="0">
            <a:spAutoFit/>
          </a:bodyPr>
          <a:lstStyle/>
          <a:p>
            <a:r>
              <a:rPr lang="zh-CN" altLang="en-US" sz="3600" dirty="0"/>
              <a:t>二维数组的行数：</a:t>
            </a:r>
            <a:endParaRPr lang="en-US" altLang="zh-CN" sz="3600" dirty="0"/>
          </a:p>
          <a:p>
            <a:r>
              <a:rPr lang="en-US" altLang="zh-CN" sz="3600" dirty="0"/>
              <a:t>	</a:t>
            </a:r>
            <a:r>
              <a:rPr lang="en-US" altLang="zh-CN" sz="3600" dirty="0" err="1"/>
              <a:t>hlen</a:t>
            </a:r>
            <a:r>
              <a:rPr lang="en-US" altLang="zh-CN" sz="3600" dirty="0"/>
              <a:t> = </a:t>
            </a:r>
            <a:r>
              <a:rPr lang="en-US" altLang="zh-CN" sz="3600" dirty="0" err="1"/>
              <a:t>sizeof</a:t>
            </a:r>
            <a:r>
              <a:rPr lang="en-US" altLang="zh-CN" sz="3600" dirty="0"/>
              <a:t>(</a:t>
            </a:r>
            <a:r>
              <a:rPr lang="en-US" altLang="zh-CN" sz="3600" dirty="0" err="1"/>
              <a:t>arr</a:t>
            </a:r>
            <a:r>
              <a:rPr lang="en-US" altLang="zh-CN" sz="3600" dirty="0"/>
              <a:t>) / </a:t>
            </a:r>
            <a:r>
              <a:rPr lang="en-US" altLang="zh-CN" sz="3600" dirty="0" err="1"/>
              <a:t>sizeof</a:t>
            </a:r>
            <a:r>
              <a:rPr lang="en-US" altLang="zh-CN" sz="3600" dirty="0"/>
              <a:t>(</a:t>
            </a:r>
            <a:r>
              <a:rPr lang="en-US" altLang="zh-CN" sz="3600" dirty="0" err="1"/>
              <a:t>arr</a:t>
            </a:r>
            <a:r>
              <a:rPr lang="en-US" altLang="zh-CN" sz="3600" dirty="0"/>
              <a:t>[0]);</a:t>
            </a:r>
            <a:endParaRPr lang="en-US" altLang="zh-CN" sz="3600" dirty="0"/>
          </a:p>
          <a:p>
            <a:r>
              <a:rPr lang="zh-CN" altLang="en-US" sz="3600" dirty="0"/>
              <a:t>二维数组的列数：</a:t>
            </a:r>
            <a:endParaRPr lang="en-US" altLang="zh-CN" sz="3600" dirty="0"/>
          </a:p>
          <a:p>
            <a:r>
              <a:rPr lang="en-US" altLang="zh-CN" sz="3600" dirty="0"/>
              <a:t>	</a:t>
            </a:r>
            <a:r>
              <a:rPr lang="en-US" altLang="zh-CN" sz="3600" dirty="0" err="1"/>
              <a:t>llen</a:t>
            </a:r>
            <a:r>
              <a:rPr lang="en-US" altLang="zh-CN" sz="3600" dirty="0"/>
              <a:t> = </a:t>
            </a:r>
            <a:r>
              <a:rPr lang="en-US" altLang="zh-CN" sz="3600" dirty="0" err="1"/>
              <a:t>sizeof</a:t>
            </a:r>
            <a:r>
              <a:rPr lang="en-US" altLang="zh-CN" sz="3600" dirty="0"/>
              <a:t>(</a:t>
            </a:r>
            <a:r>
              <a:rPr lang="en-US" altLang="zh-CN" sz="3600" dirty="0" err="1"/>
              <a:t>arr</a:t>
            </a:r>
            <a:r>
              <a:rPr lang="en-US" altLang="zh-CN" sz="3600" dirty="0"/>
              <a:t>[0])/</a:t>
            </a:r>
            <a:r>
              <a:rPr lang="en-US" altLang="zh-CN" sz="3600" dirty="0" err="1"/>
              <a:t>sizeof</a:t>
            </a:r>
            <a:r>
              <a:rPr lang="en-US" altLang="zh-CN" sz="3600" dirty="0"/>
              <a:t>(</a:t>
            </a:r>
            <a:r>
              <a:rPr lang="en-US" altLang="zh-CN" sz="3600" dirty="0" err="1"/>
              <a:t>arr</a:t>
            </a:r>
            <a:r>
              <a:rPr lang="en-US" altLang="zh-CN" sz="3600" dirty="0"/>
              <a:t>[0][0]);</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二维数组的遍历</a:t>
            </a:r>
            <a:endParaRPr lang="zh-CN" altLang="zh-CN" sz="2400" b="1" dirty="0">
              <a:solidFill>
                <a:srgbClr val="FF0000"/>
              </a:solidFill>
            </a:endParaRPr>
          </a:p>
        </p:txBody>
      </p:sp>
      <p:sp>
        <p:nvSpPr>
          <p:cNvPr id="2" name="文本框 1"/>
          <p:cNvSpPr txBox="1"/>
          <p:nvPr/>
        </p:nvSpPr>
        <p:spPr>
          <a:xfrm>
            <a:off x="1460823" y="1693667"/>
            <a:ext cx="8280920" cy="830997"/>
          </a:xfrm>
          <a:prstGeom prst="rect">
            <a:avLst/>
          </a:prstGeom>
          <a:noFill/>
        </p:spPr>
        <p:txBody>
          <a:bodyPr wrap="square" rtlCol="0">
            <a:spAutoFit/>
          </a:bodyPr>
          <a:lstStyle/>
          <a:p>
            <a:r>
              <a:rPr lang="en-US" altLang="zh-CN" sz="4800" dirty="0"/>
              <a:t>int  a[3][3] = {1,2,3,4,5,6,7,8,9};</a:t>
            </a:r>
            <a:endParaRPr lang="en-US" altLang="zh-CN" sz="4800" dirty="0"/>
          </a:p>
        </p:txBody>
      </p:sp>
      <p:sp>
        <p:nvSpPr>
          <p:cNvPr id="6" name="文本框 5"/>
          <p:cNvSpPr txBox="1"/>
          <p:nvPr/>
        </p:nvSpPr>
        <p:spPr>
          <a:xfrm>
            <a:off x="1467446" y="2847995"/>
            <a:ext cx="8280920" cy="1569660"/>
          </a:xfrm>
          <a:prstGeom prst="rect">
            <a:avLst/>
          </a:prstGeom>
          <a:noFill/>
        </p:spPr>
        <p:txBody>
          <a:bodyPr wrap="square" rtlCol="0">
            <a:spAutoFit/>
          </a:bodyPr>
          <a:lstStyle/>
          <a:p>
            <a:r>
              <a:rPr lang="en-US" altLang="zh-CN" sz="4800" dirty="0"/>
              <a:t>int  a[3][3] = {{1,2,3},{4,5,6},{7,8,9}};</a:t>
            </a:r>
            <a:endParaRPr lang="en-US" altLang="zh-CN" sz="4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heel(1)">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889487" y="95392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二维数组的初始化</a:t>
            </a:r>
            <a:endParaRPr lang="zh-CN" altLang="zh-CN" sz="2400" b="1" dirty="0">
              <a:solidFill>
                <a:srgbClr val="FF0000"/>
              </a:solidFill>
            </a:endParaRPr>
          </a:p>
        </p:txBody>
      </p:sp>
      <p:sp>
        <p:nvSpPr>
          <p:cNvPr id="4" name="文本框 3"/>
          <p:cNvSpPr txBox="1"/>
          <p:nvPr/>
        </p:nvSpPr>
        <p:spPr>
          <a:xfrm>
            <a:off x="1460823" y="1600101"/>
            <a:ext cx="10657184" cy="3970318"/>
          </a:xfrm>
          <a:prstGeom prst="rect">
            <a:avLst/>
          </a:prstGeom>
          <a:noFill/>
        </p:spPr>
        <p:txBody>
          <a:bodyPr wrap="square" rtlCol="0">
            <a:spAutoFit/>
          </a:bodyPr>
          <a:lstStyle/>
          <a:p>
            <a:r>
              <a:rPr lang="zh-CN" altLang="en-US" sz="3600" dirty="0"/>
              <a:t>注意点：</a:t>
            </a:r>
            <a:endParaRPr lang="en-US" altLang="zh-CN" sz="3600" dirty="0"/>
          </a:p>
          <a:p>
            <a:r>
              <a:rPr lang="en-US" altLang="zh-CN" sz="3600" dirty="0"/>
              <a:t>	</a:t>
            </a:r>
            <a:r>
              <a:rPr lang="zh-CN" altLang="en-US" sz="3600" dirty="0"/>
              <a:t>数组是一种构造类型的数据。</a:t>
            </a:r>
            <a:endParaRPr lang="en-US" altLang="zh-CN" sz="3600" dirty="0"/>
          </a:p>
          <a:p>
            <a:r>
              <a:rPr lang="en-US" altLang="zh-CN" sz="3600" dirty="0"/>
              <a:t>	</a:t>
            </a:r>
            <a:r>
              <a:rPr lang="zh-CN" altLang="en-US" sz="3600" dirty="0"/>
              <a:t>二维数组可以看作是由一维数组的嵌套而构成的。设一维数组的每个元素又都是一个数组，就组成了二维数组。当然前提是各个元素类型必须相同。</a:t>
            </a:r>
            <a:endParaRPr lang="en-US" altLang="zh-CN" sz="3600" dirty="0"/>
          </a:p>
          <a:p>
            <a:r>
              <a:rPr lang="zh-CN" altLang="en-US" sz="3600" dirty="0"/>
              <a:t>根据这样的分析，一个二维数组也可以分解为多个一维数组。</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903786" y="70715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五</a:t>
            </a:r>
            <a:r>
              <a:rPr lang="zh-CN" altLang="zh-CN" sz="2400" dirty="0"/>
              <a:t>、</a:t>
            </a:r>
            <a:r>
              <a:rPr lang="zh-CN" altLang="en-US" sz="2400" b="1" dirty="0">
                <a:solidFill>
                  <a:srgbClr val="FF0000"/>
                </a:solidFill>
              </a:rPr>
              <a:t>二维数组的初始化</a:t>
            </a:r>
            <a:endParaRPr lang="zh-CN" altLang="zh-CN" sz="2400" b="1" dirty="0">
              <a:solidFill>
                <a:srgbClr val="FF0000"/>
              </a:solidFill>
            </a:endParaRPr>
          </a:p>
        </p:txBody>
      </p:sp>
      <p:sp>
        <p:nvSpPr>
          <p:cNvPr id="4" name="文本框 3"/>
          <p:cNvSpPr txBox="1"/>
          <p:nvPr/>
        </p:nvSpPr>
        <p:spPr>
          <a:xfrm>
            <a:off x="903786" y="1103012"/>
            <a:ext cx="11646269" cy="5078313"/>
          </a:xfrm>
          <a:prstGeom prst="rect">
            <a:avLst/>
          </a:prstGeom>
          <a:noFill/>
        </p:spPr>
        <p:txBody>
          <a:bodyPr wrap="square" rtlCol="0">
            <a:spAutoFit/>
          </a:bodyPr>
          <a:lstStyle/>
          <a:p>
            <a:r>
              <a:rPr lang="en-US" altLang="zh-CN" sz="3600" dirty="0" err="1"/>
              <a:t>int</a:t>
            </a:r>
            <a:r>
              <a:rPr lang="en-US" altLang="zh-CN" sz="3600" dirty="0"/>
              <a:t>  a[3][4];</a:t>
            </a:r>
            <a:r>
              <a:rPr lang="zh-CN" altLang="en-US" sz="3600" dirty="0"/>
              <a:t>可以分解为三个一维数组，其数组名分别为：</a:t>
            </a:r>
            <a:endParaRPr lang="en-US" altLang="zh-CN" sz="3600" dirty="0"/>
          </a:p>
          <a:p>
            <a:r>
              <a:rPr lang="en-US" altLang="zh-CN" sz="3600" dirty="0"/>
              <a:t>	a[0]</a:t>
            </a:r>
            <a:endParaRPr lang="en-US" altLang="zh-CN" sz="3600" dirty="0"/>
          </a:p>
          <a:p>
            <a:r>
              <a:rPr lang="en-US" altLang="zh-CN" sz="3600" dirty="0"/>
              <a:t>	a[1]</a:t>
            </a:r>
            <a:endParaRPr lang="en-US" altLang="zh-CN" sz="3600" dirty="0"/>
          </a:p>
          <a:p>
            <a:r>
              <a:rPr lang="en-US" altLang="zh-CN" sz="3600" dirty="0"/>
              <a:t>	a[2]</a:t>
            </a:r>
            <a:endParaRPr lang="en-US" altLang="zh-CN" sz="3600" dirty="0"/>
          </a:p>
          <a:p>
            <a:r>
              <a:rPr lang="zh-CN" altLang="en-US" sz="3600" dirty="0"/>
              <a:t>对这三个数组不需要另做说明即可使用。</a:t>
            </a:r>
            <a:endParaRPr lang="en-US" altLang="zh-CN" sz="3600" dirty="0"/>
          </a:p>
          <a:p>
            <a:r>
              <a:rPr lang="zh-CN" altLang="en-US" sz="3600" dirty="0"/>
              <a:t>这</a:t>
            </a:r>
            <a:r>
              <a:rPr lang="en-US" altLang="zh-CN" sz="3600" dirty="0"/>
              <a:t>3</a:t>
            </a:r>
            <a:r>
              <a:rPr lang="zh-CN" altLang="en-US" sz="3600" dirty="0"/>
              <a:t>个一维数组都有</a:t>
            </a:r>
            <a:r>
              <a:rPr lang="en-US" altLang="zh-CN" sz="3600" dirty="0"/>
              <a:t>4</a:t>
            </a:r>
            <a:r>
              <a:rPr lang="zh-CN" altLang="en-US" sz="3600" dirty="0"/>
              <a:t>个元素，如一维数组</a:t>
            </a:r>
            <a:r>
              <a:rPr lang="en-US" altLang="zh-CN" sz="3600" dirty="0"/>
              <a:t>a[0]</a:t>
            </a:r>
            <a:r>
              <a:rPr lang="zh-CN" altLang="en-US" sz="3600" dirty="0"/>
              <a:t>的元素：</a:t>
            </a:r>
            <a:endParaRPr lang="en-US" altLang="zh-CN" sz="3600" dirty="0"/>
          </a:p>
          <a:p>
            <a:r>
              <a:rPr lang="en-US" altLang="zh-CN" sz="3600" dirty="0"/>
              <a:t>a[0][0], a[0][1], a[0][2], a[0][3]</a:t>
            </a:r>
            <a:r>
              <a:rPr lang="zh-CN" altLang="en-US" sz="3600" dirty="0"/>
              <a:t>。</a:t>
            </a:r>
            <a:endParaRPr lang="en-US" altLang="zh-CN" sz="3600" dirty="0"/>
          </a:p>
          <a:p>
            <a:r>
              <a:rPr lang="zh-CN" altLang="en-US" sz="3600" dirty="0"/>
              <a:t>必须强调的是</a:t>
            </a:r>
            <a:r>
              <a:rPr lang="en-US" altLang="zh-CN" sz="3600" dirty="0"/>
              <a:t>a[0],a[1],a[2]</a:t>
            </a:r>
            <a:r>
              <a:rPr lang="zh-CN" altLang="en-US" sz="3600" dirty="0"/>
              <a:t>不能当作下标变量使用，它们是数组名，不是单纯的下标变量。</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en-US" altLang="zh-CN" dirty="0"/>
              <a:t>C</a:t>
            </a:r>
            <a:r>
              <a:rPr kumimoji="1" lang="zh-CN" altLang="en-US" dirty="0"/>
              <a:t>语言</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a:t>
            </a:r>
            <a:r>
              <a:rPr lang="zh-CN" altLang="en-US" sz="2000" b="1" dirty="0">
                <a:solidFill>
                  <a:schemeClr val="bg1"/>
                </a:solidFill>
              </a:rPr>
              <a:t>新授</a:t>
            </a:r>
            <a:r>
              <a:rPr lang="zh-CN" altLang="en-US" sz="2000" b="1" dirty="0"/>
              <a:t> </a:t>
            </a:r>
            <a:r>
              <a:rPr lang="zh-CN" altLang="en-US" b="1" dirty="0"/>
              <a:t>总结与合作探究  作业  限时检测</a:t>
            </a:r>
            <a:endParaRPr lang="zh-CN" altLang="en-US" b="1" dirty="0"/>
          </a:p>
        </p:txBody>
      </p:sp>
      <p:sp>
        <p:nvSpPr>
          <p:cNvPr id="10" name="箭头: 上 9"/>
          <p:cNvSpPr/>
          <p:nvPr/>
        </p:nvSpPr>
        <p:spPr>
          <a:xfrm>
            <a:off x="3693071"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3" name="Rectangle 2"/>
          <p:cNvSpPr txBox="1">
            <a:spLocks noChangeArrowheads="1"/>
          </p:cNvSpPr>
          <p:nvPr/>
        </p:nvSpPr>
        <p:spPr>
          <a:xfrm>
            <a:off x="903786" y="707156"/>
            <a:ext cx="6039215" cy="471698"/>
          </a:xfrm>
          <a:prstGeom prst="rect">
            <a:avLst/>
          </a:prstGeom>
        </p:spPr>
        <p:txBody>
          <a:bodyPr/>
          <a:lstStyle>
            <a:lvl1pPr algn="l" defTabSz="964565" rtl="0" eaLnBrk="1" latinLnBrk="0" hangingPunct="1">
              <a:lnSpc>
                <a:spcPct val="90000"/>
              </a:lnSpc>
              <a:spcBef>
                <a:spcPct val="0"/>
              </a:spcBef>
              <a:buNone/>
              <a:defRPr sz="4640" kern="1200">
                <a:solidFill>
                  <a:schemeClr val="tx1"/>
                </a:solidFill>
                <a:latin typeface="印品黑体" panose="00000500000000000000" pitchFamily="2" charset="-122"/>
                <a:ea typeface="+mj-ea"/>
                <a:cs typeface="+mj-cs"/>
              </a:defRPr>
            </a:lvl1pPr>
          </a:lstStyle>
          <a:p>
            <a:pPr fontAlgn="auto">
              <a:spcAft>
                <a:spcPts val="0"/>
              </a:spcAft>
            </a:pPr>
            <a:r>
              <a:rPr lang="zh-CN" altLang="en-US" sz="2400" dirty="0"/>
              <a:t>六</a:t>
            </a:r>
            <a:r>
              <a:rPr lang="zh-CN" altLang="zh-CN" sz="2400" dirty="0"/>
              <a:t>、</a:t>
            </a:r>
            <a:r>
              <a:rPr lang="zh-CN" altLang="en-US" sz="2400" b="1" dirty="0">
                <a:solidFill>
                  <a:srgbClr val="FF0000"/>
                </a:solidFill>
              </a:rPr>
              <a:t>课堂练习</a:t>
            </a:r>
            <a:endParaRPr lang="zh-CN" altLang="zh-CN" sz="2400" b="1" dirty="0">
              <a:solidFill>
                <a:srgbClr val="FF0000"/>
              </a:solidFill>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5363" y="1393428"/>
            <a:ext cx="9937104" cy="44457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50730" y="159941"/>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总结</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5" name="矩形 4"/>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a:t>
            </a:r>
            <a:r>
              <a:rPr lang="zh-CN" altLang="en-US" sz="2000" b="1" dirty="0">
                <a:solidFill>
                  <a:schemeClr val="bg1"/>
                </a:solidFill>
              </a:rPr>
              <a:t>总结与合作探究</a:t>
            </a:r>
            <a:r>
              <a:rPr lang="zh-CN" altLang="en-US" b="1" dirty="0"/>
              <a:t>  作业  限时检测</a:t>
            </a:r>
            <a:endParaRPr lang="zh-CN" altLang="en-US" b="1" dirty="0"/>
          </a:p>
        </p:txBody>
      </p:sp>
      <p:sp>
        <p:nvSpPr>
          <p:cNvPr id="10" name="箭头: 上 9"/>
          <p:cNvSpPr/>
          <p:nvPr/>
        </p:nvSpPr>
        <p:spPr>
          <a:xfrm>
            <a:off x="4845199" y="6553641"/>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11" name="文本占位符 2"/>
          <p:cNvSpPr>
            <a:spLocks noGrp="1"/>
          </p:cNvSpPr>
          <p:nvPr/>
        </p:nvSpPr>
        <p:spPr>
          <a:xfrm>
            <a:off x="3837087" y="1672109"/>
            <a:ext cx="5472608" cy="381642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charset="-122"/>
                <a:ea typeface="黑体" panose="02010609060101010101" charset="-122"/>
                <a:cs typeface="+mn-cs"/>
              </a:defRPr>
            </a:lvl2pPr>
            <a:lvl3pPr marL="1219200" indent="0" algn="l" rtl="0" eaLnBrk="0" fontAlgn="base" hangingPunct="0">
              <a:spcBef>
                <a:spcPct val="20000"/>
              </a:spcBef>
              <a:spcAft>
                <a:spcPct val="0"/>
              </a:spcAft>
              <a:buFont typeface="Arial" panose="020B0604020202020204" pitchFamily="34" charset="0"/>
              <a:buNone/>
              <a:defRPr sz="1865" b="1" kern="1200">
                <a:solidFill>
                  <a:schemeClr val="tx1"/>
                </a:solidFill>
                <a:latin typeface="黑体" panose="02010609060101010101" charset="-122"/>
                <a:ea typeface="黑体" panose="02010609060101010101" charset="-122"/>
                <a:cs typeface="+mn-cs"/>
              </a:defRPr>
            </a:lvl3pPr>
            <a:lvl4pPr marL="1828800" indent="0" algn="l" rtl="0" eaLnBrk="0" fontAlgn="base" hangingPunct="0">
              <a:spcBef>
                <a:spcPct val="20000"/>
              </a:spcBef>
              <a:spcAft>
                <a:spcPct val="0"/>
              </a:spcAft>
              <a:buFont typeface="Arial" panose="020B0604020202020204" pitchFamily="34" charset="0"/>
              <a:buNone/>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indent="0">
              <a:lnSpc>
                <a:spcPct val="100000"/>
              </a:lnSpc>
              <a:buNone/>
            </a:pPr>
            <a:r>
              <a:rPr lang="zh-CN" altLang="en-US" sz="4800" dirty="0"/>
              <a:t>概念</a:t>
            </a:r>
            <a:endParaRPr lang="en-US" altLang="zh-CN" sz="4800" dirty="0"/>
          </a:p>
          <a:p>
            <a:pPr marL="0" indent="0">
              <a:lnSpc>
                <a:spcPct val="100000"/>
              </a:lnSpc>
              <a:buNone/>
            </a:pPr>
            <a:r>
              <a:rPr lang="zh-CN" altLang="en-US" sz="4800" dirty="0"/>
              <a:t>定义及初始化</a:t>
            </a:r>
            <a:endParaRPr lang="en-US" altLang="zh-CN" sz="4800" dirty="0"/>
          </a:p>
          <a:p>
            <a:pPr marL="0" indent="0">
              <a:lnSpc>
                <a:spcPct val="100000"/>
              </a:lnSpc>
              <a:buNone/>
            </a:pPr>
            <a:r>
              <a:rPr lang="zh-CN" altLang="en-US" sz="4800" dirty="0"/>
              <a:t>遍历</a:t>
            </a:r>
            <a:endParaRPr lang="en-US" altLang="zh-CN" sz="48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作业</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2" name="矩形 1"/>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0" y="6826660"/>
            <a:ext cx="8373591" cy="427681"/>
          </a:xfrm>
          <a:prstGeom prst="rect">
            <a:avLst/>
          </a:prstGeom>
          <a:noFill/>
        </p:spPr>
        <p:txBody>
          <a:bodyPr wrap="square" rtlCol="0">
            <a:spAutoFit/>
          </a:bodyPr>
          <a:lstStyle/>
          <a:p>
            <a:pPr>
              <a:lnSpc>
                <a:spcPts val="2900"/>
              </a:lnSpc>
            </a:pPr>
            <a:r>
              <a:rPr lang="zh-CN" altLang="en-US" b="1" dirty="0"/>
              <a:t>知识回顾 新课导入  目标及重难点  新授 总结与合作探究  </a:t>
            </a:r>
            <a:r>
              <a:rPr lang="zh-CN" altLang="en-US" sz="2000" b="1" dirty="0">
                <a:solidFill>
                  <a:schemeClr val="bg1"/>
                </a:solidFill>
              </a:rPr>
              <a:t>作业</a:t>
            </a:r>
            <a:r>
              <a:rPr lang="zh-CN" altLang="en-US" b="1" dirty="0"/>
              <a:t>  限时检测</a:t>
            </a:r>
            <a:endParaRPr lang="zh-CN" altLang="en-US" b="1" dirty="0"/>
          </a:p>
        </p:txBody>
      </p:sp>
      <p:sp>
        <p:nvSpPr>
          <p:cNvPr id="9" name="箭头: 上 8"/>
          <p:cNvSpPr/>
          <p:nvPr/>
        </p:nvSpPr>
        <p:spPr>
          <a:xfrm>
            <a:off x="5925319"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4" name="文本框 3"/>
          <p:cNvSpPr txBox="1"/>
          <p:nvPr/>
        </p:nvSpPr>
        <p:spPr>
          <a:xfrm>
            <a:off x="956767" y="1156337"/>
            <a:ext cx="10712193" cy="1754326"/>
          </a:xfrm>
          <a:prstGeom prst="rect">
            <a:avLst/>
          </a:prstGeom>
          <a:noFill/>
        </p:spPr>
        <p:txBody>
          <a:bodyPr wrap="square" rtlCol="0">
            <a:spAutoFit/>
          </a:bodyPr>
          <a:lstStyle/>
          <a:p>
            <a:r>
              <a:rPr lang="zh-CN" altLang="en-US" sz="3600" b="0" i="0" dirty="0">
                <a:effectLst/>
                <a:latin typeface="Inter"/>
              </a:rPr>
              <a:t>编写一个 </a:t>
            </a:r>
            <a:r>
              <a:rPr lang="en-US" altLang="zh-CN" sz="3600" b="0" i="0" dirty="0">
                <a:effectLst/>
                <a:latin typeface="Inter"/>
              </a:rPr>
              <a:t>C </a:t>
            </a:r>
            <a:r>
              <a:rPr lang="zh-CN" altLang="en-US" sz="3600" b="0" i="0" dirty="0">
                <a:effectLst/>
                <a:latin typeface="Inter"/>
              </a:rPr>
              <a:t>程序，定义一个 </a:t>
            </a:r>
            <a:r>
              <a:rPr lang="en-US" altLang="zh-CN" sz="3600" b="0" i="0" dirty="0">
                <a:effectLst/>
                <a:latin typeface="Inter"/>
              </a:rPr>
              <a:t>3 </a:t>
            </a:r>
            <a:r>
              <a:rPr lang="zh-CN" altLang="en-US" sz="3600" b="0" i="0" dirty="0">
                <a:effectLst/>
                <a:latin typeface="Inter"/>
              </a:rPr>
              <a:t>行 </a:t>
            </a:r>
            <a:r>
              <a:rPr lang="en-US" altLang="zh-CN" sz="3600" b="0" i="0" dirty="0">
                <a:effectLst/>
                <a:latin typeface="Inter"/>
              </a:rPr>
              <a:t>4 </a:t>
            </a:r>
            <a:r>
              <a:rPr lang="zh-CN" altLang="en-US" sz="3600" b="0" i="0" dirty="0">
                <a:effectLst/>
                <a:latin typeface="Inter"/>
              </a:rPr>
              <a:t>列的二维整数数组，从键盘输入数组元素的值，然后计算并输出该二维数组中所有元素的平均值以及每一行元素的和。</a:t>
            </a:r>
            <a:endParaRPr lang="en-US" altLang="zh-CN" sz="36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作业</a:t>
            </a:r>
            <a:endParaRPr kumimoji="1" lang="zh-CN" altLang="en-US" dirty="0"/>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2" name="矩形 1"/>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0" y="6826660"/>
            <a:ext cx="8373591" cy="427681"/>
          </a:xfrm>
          <a:prstGeom prst="rect">
            <a:avLst/>
          </a:prstGeom>
          <a:noFill/>
        </p:spPr>
        <p:txBody>
          <a:bodyPr wrap="square" rtlCol="0">
            <a:spAutoFit/>
          </a:bodyPr>
          <a:lstStyle/>
          <a:p>
            <a:pPr>
              <a:lnSpc>
                <a:spcPts val="2900"/>
              </a:lnSpc>
            </a:pPr>
            <a:r>
              <a:rPr lang="zh-CN" altLang="en-US" b="1" dirty="0"/>
              <a:t>知识回顾 新课导入  目标及重难点  新授 总结与合作探究  </a:t>
            </a:r>
            <a:r>
              <a:rPr lang="zh-CN" altLang="en-US" sz="2000" b="1" dirty="0">
                <a:solidFill>
                  <a:schemeClr val="bg1"/>
                </a:solidFill>
              </a:rPr>
              <a:t>作业</a:t>
            </a:r>
            <a:r>
              <a:rPr lang="zh-CN" altLang="en-US" b="1" dirty="0"/>
              <a:t>  限时检测</a:t>
            </a:r>
            <a:endParaRPr lang="zh-CN" altLang="en-US" b="1" dirty="0"/>
          </a:p>
        </p:txBody>
      </p:sp>
      <p:sp>
        <p:nvSpPr>
          <p:cNvPr id="9" name="箭头: 上 8"/>
          <p:cNvSpPr/>
          <p:nvPr/>
        </p:nvSpPr>
        <p:spPr>
          <a:xfrm>
            <a:off x="5925319"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4" name="文本框 3"/>
          <p:cNvSpPr txBox="1"/>
          <p:nvPr/>
        </p:nvSpPr>
        <p:spPr>
          <a:xfrm>
            <a:off x="1820864" y="341661"/>
            <a:ext cx="6984776" cy="6463308"/>
          </a:xfrm>
          <a:prstGeom prst="rect">
            <a:avLst/>
          </a:prstGeom>
          <a:noFill/>
        </p:spPr>
        <p:txBody>
          <a:bodyPr wrap="square" rtlCol="0">
            <a:spAutoFit/>
          </a:bodyPr>
          <a:lstStyle/>
          <a:p>
            <a:r>
              <a:rPr lang="en-US" altLang="zh-CN" dirty="0"/>
              <a:t>int </a:t>
            </a:r>
            <a:r>
              <a:rPr lang="en-US" altLang="zh-CN" dirty="0" err="1"/>
              <a:t>arr</a:t>
            </a:r>
            <a:r>
              <a:rPr lang="en-US" altLang="zh-CN" dirty="0"/>
              <a:t>[3][4];</a:t>
            </a:r>
            <a:br>
              <a:rPr lang="en-US" altLang="zh-CN" dirty="0"/>
            </a:br>
            <a:r>
              <a:rPr lang="en-US" altLang="zh-CN" dirty="0"/>
              <a:t>    int i, j;</a:t>
            </a:r>
            <a:br>
              <a:rPr lang="en-US" altLang="zh-CN" dirty="0"/>
            </a:br>
            <a:r>
              <a:rPr lang="en-US" altLang="zh-CN" dirty="0"/>
              <a:t>    int sum = 0;</a:t>
            </a:r>
            <a:br>
              <a:rPr lang="en-US" altLang="zh-CN" dirty="0"/>
            </a:br>
            <a:r>
              <a:rPr lang="en-US" altLang="zh-CN" dirty="0"/>
              <a:t>    // </a:t>
            </a:r>
            <a:r>
              <a:rPr lang="zh-CN" altLang="en-US" dirty="0"/>
              <a:t>输入二维数组元素</a:t>
            </a:r>
            <a:br>
              <a:rPr lang="zh-CN" altLang="en-US" dirty="0"/>
            </a:br>
            <a:r>
              <a:rPr lang="zh-CN" altLang="en-US" dirty="0"/>
              <a:t>    </a:t>
            </a:r>
            <a:r>
              <a:rPr lang="en-US" altLang="zh-CN" dirty="0" err="1"/>
              <a:t>printf</a:t>
            </a:r>
            <a:r>
              <a:rPr lang="en-US" altLang="zh-CN" dirty="0"/>
              <a:t>("</a:t>
            </a:r>
            <a:r>
              <a:rPr lang="zh-CN" altLang="en-US" dirty="0"/>
              <a:t>请输入 </a:t>
            </a:r>
            <a:r>
              <a:rPr lang="en-US" altLang="zh-CN" dirty="0"/>
              <a:t>3 </a:t>
            </a:r>
            <a:r>
              <a:rPr lang="zh-CN" altLang="en-US" dirty="0"/>
              <a:t>行 </a:t>
            </a:r>
            <a:r>
              <a:rPr lang="en-US" altLang="zh-CN" dirty="0"/>
              <a:t>4 </a:t>
            </a:r>
            <a:r>
              <a:rPr lang="zh-CN" altLang="en-US" dirty="0"/>
              <a:t>列的二维数组元素：</a:t>
            </a:r>
            <a:r>
              <a:rPr lang="en-US" altLang="zh-CN" dirty="0"/>
              <a:t>\n");</a:t>
            </a:r>
            <a:br>
              <a:rPr lang="en-US" altLang="zh-CN" dirty="0"/>
            </a:br>
            <a:r>
              <a:rPr lang="en-US" altLang="zh-CN" dirty="0"/>
              <a:t>    for (i = 0; i &lt; 3; i++) {</a:t>
            </a:r>
            <a:br>
              <a:rPr lang="en-US" altLang="zh-CN" dirty="0"/>
            </a:br>
            <a:r>
              <a:rPr lang="en-US" altLang="zh-CN" dirty="0"/>
              <a:t>        for (j = 0; j &lt; 4; </a:t>
            </a:r>
            <a:r>
              <a:rPr lang="en-US" altLang="zh-CN" dirty="0" err="1"/>
              <a:t>j++</a:t>
            </a:r>
            <a:r>
              <a:rPr lang="en-US" altLang="zh-CN" dirty="0"/>
              <a:t>) {</a:t>
            </a:r>
            <a:br>
              <a:rPr lang="en-US" altLang="zh-CN" dirty="0"/>
            </a:br>
            <a:r>
              <a:rPr lang="en-US" altLang="zh-CN" dirty="0"/>
              <a:t>            </a:t>
            </a:r>
            <a:r>
              <a:rPr lang="en-US" altLang="zh-CN" dirty="0" err="1"/>
              <a:t>scanf</a:t>
            </a:r>
            <a:r>
              <a:rPr lang="en-US" altLang="zh-CN" dirty="0"/>
              <a:t>("%d", &amp;</a:t>
            </a:r>
            <a:r>
              <a:rPr lang="en-US" altLang="zh-CN" dirty="0" err="1"/>
              <a:t>arr</a:t>
            </a:r>
            <a:r>
              <a:rPr lang="en-US" altLang="zh-CN" dirty="0"/>
              <a:t>[i][j]);</a:t>
            </a:r>
            <a:br>
              <a:rPr lang="en-US" altLang="zh-CN" dirty="0"/>
            </a:br>
            <a:r>
              <a:rPr lang="en-US" altLang="zh-CN" dirty="0"/>
              <a:t>            sum += </a:t>
            </a:r>
            <a:r>
              <a:rPr lang="en-US" altLang="zh-CN" dirty="0" err="1"/>
              <a:t>arr</a:t>
            </a:r>
            <a:r>
              <a:rPr lang="en-US" altLang="zh-CN" dirty="0"/>
              <a:t>[i][j];</a:t>
            </a:r>
            <a:br>
              <a:rPr lang="en-US" altLang="zh-CN" dirty="0"/>
            </a:br>
            <a:r>
              <a:rPr lang="en-US" altLang="zh-CN" dirty="0"/>
              <a:t>        }</a:t>
            </a:r>
            <a:br>
              <a:rPr lang="en-US" altLang="zh-CN" dirty="0"/>
            </a:br>
            <a:r>
              <a:rPr lang="en-US" altLang="zh-CN" dirty="0"/>
              <a:t>    }</a:t>
            </a:r>
            <a:br>
              <a:rPr lang="en-US" altLang="zh-CN" dirty="0"/>
            </a:br>
            <a:r>
              <a:rPr lang="en-US" altLang="zh-CN" dirty="0"/>
              <a:t>    // </a:t>
            </a:r>
            <a:r>
              <a:rPr lang="zh-CN" altLang="en-US" dirty="0"/>
              <a:t>计算平均值</a:t>
            </a:r>
            <a:br>
              <a:rPr lang="zh-CN" altLang="en-US" dirty="0"/>
            </a:br>
            <a:r>
              <a:rPr lang="zh-CN" altLang="en-US" dirty="0"/>
              <a:t>    </a:t>
            </a:r>
            <a:r>
              <a:rPr lang="en-US" altLang="zh-CN" dirty="0"/>
              <a:t>double average = (double)sum / (3 * 4);</a:t>
            </a:r>
            <a:br>
              <a:rPr lang="en-US" altLang="zh-CN" dirty="0"/>
            </a:br>
            <a:r>
              <a:rPr lang="en-US" altLang="zh-CN" dirty="0"/>
              <a:t>    // </a:t>
            </a:r>
            <a:r>
              <a:rPr lang="zh-CN" altLang="en-US" dirty="0"/>
              <a:t>输出平均值</a:t>
            </a:r>
            <a:br>
              <a:rPr lang="zh-CN" altLang="en-US" dirty="0"/>
            </a:br>
            <a:r>
              <a:rPr lang="zh-CN" altLang="en-US" dirty="0"/>
              <a:t>    </a:t>
            </a:r>
            <a:r>
              <a:rPr lang="en-US" altLang="zh-CN" dirty="0" err="1"/>
              <a:t>printf</a:t>
            </a:r>
            <a:r>
              <a:rPr lang="en-US" altLang="zh-CN" dirty="0"/>
              <a:t>("</a:t>
            </a:r>
            <a:r>
              <a:rPr lang="zh-CN" altLang="en-US" dirty="0"/>
              <a:t>该二维数组所有元素的平均值为：</a:t>
            </a:r>
            <a:r>
              <a:rPr lang="en-US" altLang="zh-CN" dirty="0"/>
              <a:t>%.2f\n", average);</a:t>
            </a:r>
            <a:br>
              <a:rPr lang="en-US" altLang="zh-CN" dirty="0"/>
            </a:br>
            <a:r>
              <a:rPr lang="en-US" altLang="zh-CN" dirty="0"/>
              <a:t>    // </a:t>
            </a:r>
            <a:r>
              <a:rPr lang="zh-CN" altLang="en-US" dirty="0"/>
              <a:t>计算并输出每一行的和</a:t>
            </a:r>
            <a:br>
              <a:rPr lang="zh-CN" altLang="en-US" dirty="0"/>
            </a:br>
            <a:r>
              <a:rPr lang="zh-CN" altLang="en-US" dirty="0"/>
              <a:t>    </a:t>
            </a:r>
            <a:r>
              <a:rPr lang="en-US" altLang="zh-CN" dirty="0"/>
              <a:t>for (i = 0; i &lt; 3; i++) {</a:t>
            </a:r>
            <a:br>
              <a:rPr lang="en-US" altLang="zh-CN" dirty="0"/>
            </a:br>
            <a:r>
              <a:rPr lang="en-US" altLang="zh-CN" dirty="0"/>
              <a:t>        int </a:t>
            </a:r>
            <a:r>
              <a:rPr lang="en-US" altLang="zh-CN" dirty="0" err="1"/>
              <a:t>rowSum</a:t>
            </a:r>
            <a:r>
              <a:rPr lang="en-US" altLang="zh-CN" dirty="0"/>
              <a:t> = 0;</a:t>
            </a:r>
            <a:br>
              <a:rPr lang="en-US" altLang="zh-CN" dirty="0"/>
            </a:br>
            <a:r>
              <a:rPr lang="en-US" altLang="zh-CN" dirty="0"/>
              <a:t>        for (j = 0; j &lt; 4; </a:t>
            </a:r>
            <a:r>
              <a:rPr lang="en-US" altLang="zh-CN" dirty="0" err="1"/>
              <a:t>j++</a:t>
            </a:r>
            <a:r>
              <a:rPr lang="en-US" altLang="zh-CN" dirty="0"/>
              <a:t>) {</a:t>
            </a:r>
            <a:br>
              <a:rPr lang="en-US" altLang="zh-CN" dirty="0"/>
            </a:br>
            <a:r>
              <a:rPr lang="en-US" altLang="zh-CN" dirty="0"/>
              <a:t>            </a:t>
            </a:r>
            <a:r>
              <a:rPr lang="en-US" altLang="zh-CN" dirty="0" err="1"/>
              <a:t>rowSum</a:t>
            </a:r>
            <a:r>
              <a:rPr lang="en-US" altLang="zh-CN" dirty="0"/>
              <a:t> += </a:t>
            </a:r>
            <a:r>
              <a:rPr lang="en-US" altLang="zh-CN" dirty="0" err="1"/>
              <a:t>arr</a:t>
            </a:r>
            <a:r>
              <a:rPr lang="en-US" altLang="zh-CN" dirty="0"/>
              <a:t>[i][j];</a:t>
            </a:r>
            <a:br>
              <a:rPr lang="en-US" altLang="zh-CN" dirty="0"/>
            </a:br>
            <a:r>
              <a:rPr lang="en-US" altLang="zh-CN" dirty="0"/>
              <a:t>        }</a:t>
            </a:r>
            <a:br>
              <a:rPr lang="en-US" altLang="zh-CN" dirty="0"/>
            </a:br>
            <a:r>
              <a:rPr lang="en-US" altLang="zh-CN" dirty="0"/>
              <a:t>        </a:t>
            </a:r>
            <a:r>
              <a:rPr lang="en-US" altLang="zh-CN" dirty="0" err="1"/>
              <a:t>printf</a:t>
            </a:r>
            <a:r>
              <a:rPr lang="en-US" altLang="zh-CN" dirty="0"/>
              <a:t>("</a:t>
            </a:r>
            <a:r>
              <a:rPr lang="zh-CN" altLang="en-US" dirty="0"/>
              <a:t>第 </a:t>
            </a:r>
            <a:r>
              <a:rPr lang="en-US" altLang="zh-CN" dirty="0"/>
              <a:t>%d </a:t>
            </a:r>
            <a:r>
              <a:rPr lang="zh-CN" altLang="en-US" dirty="0"/>
              <a:t>行元素的和为：</a:t>
            </a:r>
            <a:r>
              <a:rPr lang="en-US" altLang="zh-CN" dirty="0"/>
              <a:t>%d\n", i + 1, </a:t>
            </a:r>
            <a:r>
              <a:rPr lang="en-US" altLang="zh-CN" dirty="0" err="1"/>
              <a:t>rowSum</a:t>
            </a:r>
            <a:r>
              <a:rPr lang="en-US" altLang="zh-CN" dirty="0"/>
              <a:t>);</a:t>
            </a:r>
            <a:br>
              <a:rPr lang="en-US" altLang="zh-CN" dirty="0"/>
            </a:br>
            <a:r>
              <a:rPr lang="en-US" altLang="zh-CN" dirty="0"/>
              <a:t>    }</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nvSpPr>
        <p:spPr>
          <a:xfrm>
            <a:off x="710881" y="1646134"/>
            <a:ext cx="10749598" cy="4462058"/>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p>
        </p:txBody>
      </p:sp>
      <p:sp>
        <p:nvSpPr>
          <p:cNvPr id="3" name="标题 2"/>
          <p:cNvSpPr>
            <a:spLocks noGrp="1"/>
          </p:cNvSpPr>
          <p:nvPr/>
        </p:nvSpPr>
        <p:spPr>
          <a:xfrm>
            <a:off x="883823" y="201777"/>
            <a:ext cx="8771021" cy="517190"/>
          </a:xfrm>
          <a:prstGeom prst="rect">
            <a:avLst/>
          </a:prstGeom>
        </p:spPr>
        <p:txBody>
          <a:bodyPr anchor="ctr" anchorCtr="0"/>
          <a:lstStyle>
            <a:lvl1pPr algn="l" rtl="0" eaLnBrk="0" fontAlgn="base" hangingPunct="0">
              <a:spcBef>
                <a:spcPct val="0"/>
              </a:spcBef>
              <a:spcAft>
                <a:spcPct val="0"/>
              </a:spcAft>
              <a:defRPr lang="zh-CN" altLang="en-US" sz="2400" b="1" i="0" kern="120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vl2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2pPr>
            <a:lvl3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3pPr>
            <a:lvl4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4pPr>
            <a:lvl5pPr algn="l" rtl="0" eaLnBrk="0" fontAlgn="base" hangingPunct="0">
              <a:spcBef>
                <a:spcPct val="0"/>
              </a:spcBef>
              <a:spcAft>
                <a:spcPct val="0"/>
              </a:spcAft>
              <a:defRPr sz="3200" b="1">
                <a:solidFill>
                  <a:schemeClr val="tx1"/>
                </a:solidFill>
                <a:latin typeface="黑体" panose="02010609060101010101" charset="-122"/>
                <a:ea typeface="黑体" panose="02010609060101010101" charset="-122"/>
              </a:defRPr>
            </a:lvl5pPr>
            <a:lvl6pPr marL="609600" algn="l" rtl="0" fontAlgn="base">
              <a:spcBef>
                <a:spcPct val="0"/>
              </a:spcBef>
              <a:spcAft>
                <a:spcPct val="0"/>
              </a:spcAft>
              <a:defRPr sz="3200" b="1">
                <a:solidFill>
                  <a:schemeClr val="tx1"/>
                </a:solidFill>
                <a:latin typeface="黑体" panose="02010609060101010101" charset="-122"/>
                <a:ea typeface="黑体" panose="02010609060101010101" charset="-122"/>
              </a:defRPr>
            </a:lvl6pPr>
            <a:lvl7pPr marL="1219200" algn="l" rtl="0" fontAlgn="base">
              <a:spcBef>
                <a:spcPct val="0"/>
              </a:spcBef>
              <a:spcAft>
                <a:spcPct val="0"/>
              </a:spcAft>
              <a:defRPr sz="3200" b="1">
                <a:solidFill>
                  <a:schemeClr val="tx1"/>
                </a:solidFill>
                <a:latin typeface="黑体" panose="02010609060101010101" charset="-122"/>
                <a:ea typeface="黑体" panose="02010609060101010101" charset="-122"/>
              </a:defRPr>
            </a:lvl7pPr>
            <a:lvl8pPr marL="1828800" algn="l" rtl="0" fontAlgn="base">
              <a:spcBef>
                <a:spcPct val="0"/>
              </a:spcBef>
              <a:spcAft>
                <a:spcPct val="0"/>
              </a:spcAft>
              <a:defRPr sz="3200" b="1">
                <a:solidFill>
                  <a:schemeClr val="tx1"/>
                </a:solidFill>
                <a:latin typeface="黑体" panose="02010609060101010101" charset="-122"/>
                <a:ea typeface="黑体" panose="02010609060101010101" charset="-122"/>
              </a:defRPr>
            </a:lvl8pPr>
            <a:lvl9pPr marL="2438400" algn="l" rtl="0" fontAlgn="base">
              <a:spcBef>
                <a:spcPct val="0"/>
              </a:spcBef>
              <a:spcAft>
                <a:spcPct val="0"/>
              </a:spcAft>
              <a:defRPr sz="3200" b="1">
                <a:solidFill>
                  <a:schemeClr val="tx1"/>
                </a:solidFill>
                <a:latin typeface="黑体" panose="02010609060101010101" charset="-122"/>
                <a:ea typeface="黑体" panose="02010609060101010101" charset="-122"/>
              </a:defRPr>
            </a:lvl9pPr>
          </a:lstStyle>
          <a:p>
            <a:r>
              <a:rPr kumimoji="1" lang="zh-CN" altLang="en-US" dirty="0"/>
              <a:t>限时检测</a:t>
            </a:r>
            <a:endParaRPr kumimoji="1" lang="zh-CN" altLang="en-US" dirty="0"/>
          </a:p>
        </p:txBody>
      </p:sp>
      <p:sp>
        <p:nvSpPr>
          <p:cNvPr id="4" name="文本占位符 3"/>
          <p:cNvSpPr>
            <a:spLocks noGrp="1"/>
          </p:cNvSpPr>
          <p:nvPr/>
        </p:nvSpPr>
        <p:spPr>
          <a:xfrm>
            <a:off x="884869" y="855626"/>
            <a:ext cx="10749599"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18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charset="-122"/>
                <a:ea typeface="黑体" panose="02010609060101010101"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charset="-122"/>
                <a:ea typeface="黑体" panose="02010609060101010101"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kumimoji="1" lang="zh-CN" altLang="en-US" dirty="0">
              <a:solidFill>
                <a:srgbClr val="FF0000"/>
              </a:solidFill>
            </a:endParaRPr>
          </a:p>
        </p:txBody>
      </p:sp>
      <p:pic>
        <p:nvPicPr>
          <p:cNvPr id="8" name="图片 7"/>
          <p:cNvPicPr>
            <a:picLocks noChangeAspect="1"/>
          </p:cNvPicPr>
          <p:nvPr/>
        </p:nvPicPr>
        <p:blipFill>
          <a:blip r:embed="rId1"/>
          <a:stretch>
            <a:fillRect/>
          </a:stretch>
        </p:blipFill>
        <p:spPr>
          <a:xfrm>
            <a:off x="10712193" y="6784677"/>
            <a:ext cx="2131747" cy="432048"/>
          </a:xfrm>
          <a:prstGeom prst="rect">
            <a:avLst/>
          </a:prstGeom>
        </p:spPr>
      </p:pic>
      <p:sp>
        <p:nvSpPr>
          <p:cNvPr id="9" name="矩形 8"/>
          <p:cNvSpPr/>
          <p:nvPr/>
        </p:nvSpPr>
        <p:spPr>
          <a:xfrm>
            <a:off x="0" y="6856685"/>
            <a:ext cx="10712193" cy="375965"/>
          </a:xfrm>
          <a:prstGeom prst="rect">
            <a:avLst/>
          </a:prstGeom>
          <a:solidFill>
            <a:srgbClr val="066197"/>
          </a:solidFill>
          <a:ln>
            <a:solidFill>
              <a:srgbClr val="0661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0" y="6826660"/>
            <a:ext cx="8373591" cy="433965"/>
          </a:xfrm>
          <a:prstGeom prst="rect">
            <a:avLst/>
          </a:prstGeom>
          <a:noFill/>
        </p:spPr>
        <p:txBody>
          <a:bodyPr wrap="square" rtlCol="0">
            <a:spAutoFit/>
          </a:bodyPr>
          <a:lstStyle/>
          <a:p>
            <a:pPr>
              <a:lnSpc>
                <a:spcPts val="2900"/>
              </a:lnSpc>
            </a:pPr>
            <a:r>
              <a:rPr lang="zh-CN" altLang="en-US" b="1" dirty="0"/>
              <a:t>知识回顾 新课导入  目标及重难点  新授 总结与合作探究  作业  </a:t>
            </a:r>
            <a:r>
              <a:rPr lang="zh-CN" altLang="en-US" sz="2000" b="1" dirty="0">
                <a:solidFill>
                  <a:srgbClr val="FFFFFF"/>
                </a:solidFill>
              </a:rPr>
              <a:t>限时检测</a:t>
            </a:r>
            <a:endParaRPr lang="zh-CN" altLang="en-US" sz="2000" b="1" dirty="0">
              <a:solidFill>
                <a:srgbClr val="FFFFFF"/>
              </a:solidFill>
            </a:endParaRPr>
          </a:p>
        </p:txBody>
      </p:sp>
      <p:sp>
        <p:nvSpPr>
          <p:cNvPr id="2" name="箭头: 上 1"/>
          <p:cNvSpPr/>
          <p:nvPr/>
        </p:nvSpPr>
        <p:spPr>
          <a:xfrm>
            <a:off x="6717407" y="6568653"/>
            <a:ext cx="216024" cy="288032"/>
          </a:xfrm>
          <a:prstGeom prst="upArrow">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FFC000"/>
                </a:solidFill>
              </a:ln>
              <a:solidFill>
                <a:srgbClr val="FFC000"/>
              </a:solidFill>
            </a:endParaRPr>
          </a:p>
        </p:txBody>
      </p:sp>
      <p:sp>
        <p:nvSpPr>
          <p:cNvPr id="6" name="文本框 5"/>
          <p:cNvSpPr txBox="1"/>
          <p:nvPr/>
        </p:nvSpPr>
        <p:spPr>
          <a:xfrm>
            <a:off x="1066726" y="2049301"/>
            <a:ext cx="10533685" cy="2308324"/>
          </a:xfrm>
          <a:prstGeom prst="rect">
            <a:avLst/>
          </a:prstGeom>
          <a:noFill/>
        </p:spPr>
        <p:txBody>
          <a:bodyPr wrap="square" rtlCol="0">
            <a:spAutoFit/>
          </a:bodyPr>
          <a:lstStyle/>
          <a:p>
            <a:r>
              <a:rPr lang="zh-CN" altLang="en-US" sz="7200" dirty="0"/>
              <a:t>定义一个</a:t>
            </a:r>
            <a:r>
              <a:rPr lang="en-US" altLang="zh-CN" sz="7200" dirty="0"/>
              <a:t>double</a:t>
            </a:r>
            <a:r>
              <a:rPr lang="zh-CN" altLang="en-US" sz="7200" dirty="0"/>
              <a:t>类型的二维数组</a:t>
            </a:r>
            <a:r>
              <a:rPr lang="en-US" altLang="zh-CN" sz="7200" dirty="0"/>
              <a:t>3</a:t>
            </a:r>
            <a:r>
              <a:rPr lang="zh-CN" altLang="en-US" sz="7200" dirty="0"/>
              <a:t>行</a:t>
            </a:r>
            <a:r>
              <a:rPr lang="en-US" altLang="zh-CN" sz="7200" dirty="0"/>
              <a:t>4</a:t>
            </a:r>
            <a:r>
              <a:rPr lang="zh-CN" altLang="en-US" sz="7200" dirty="0"/>
              <a:t>列。</a:t>
            </a:r>
            <a:endParaRPr lang="zh-CN" altLang="en-US" sz="7200" dirty="0"/>
          </a:p>
        </p:txBody>
      </p:sp>
    </p:spTree>
  </p:cSld>
  <p:clrMapOvr>
    <a:masterClrMapping/>
  </p:clrMapOvr>
  <mc:AlternateContent xmlns:mc="http://schemas.openxmlformats.org/markup-compatibility/2006">
    <mc:Choice xmlns:p14="http://schemas.microsoft.com/office/powerpoint/2010/main" Requires="p14">
      <p:transition spd="slow" p14:dur="2000" advClick="0" advTm="2000"/>
    </mc:Choice>
    <mc:Fallback>
      <p:transition spd="slow" advClick="0" advTm="2000"/>
    </mc:Fallback>
  </mc:AlternateContent>
</p:sld>
</file>

<file path=ppt/tags/tag1.xml><?xml version="1.0" encoding="utf-8"?>
<p:tagLst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UUID" val="{C1A8F295-47DC-48FB-81BD-666766343352}"/>
  <p:tag name="ISPRING_RESOURCE_FOLDER" val="E:\素材\正版图-卖\PPT\0变色龙\0包图网\bt369\ppt\bt369\"/>
  <p:tag name="ISPRING_PRESENTATION_PATH" val="E:\素材\正版图-卖\PPT\0变色龙\0包图网\bt369\ppt\bt369.pptx"/>
  <p:tag name="ISPRING_PROJECT_FOLDER_UPDATED" val="1"/>
  <p:tag name="ISPRING_SCREEN_RECS_UPDATED" val="E:\素材\正版图-卖\PPT\0变色龙\0包图网\bt369\ppt\bt369"/>
  <p:tag name="ISPRING_SCORM_ENDPOINT" val="&lt;endpoint&gt;&lt;enable&gt;0&lt;/enable&gt;&lt;lrs&gt;http://&lt;/lrs&gt;&lt;auth&gt;0&lt;/auth&gt;&lt;login&gt;&lt;/login&gt;&lt;password&gt;&lt;/password&gt;&lt;key&gt;&lt;/key&gt;&lt;name&gt;&lt;/name&gt;&lt;email&gt;&lt;/email&gt;&lt;/endpoint&gt;&#10;"/>
  <p:tag name="ISPRING_PRESENTATION_TITLE" val="bt730"/>
</p:tagLst>
</file>

<file path=ppt/theme/theme1.xml><?xml version="1.0" encoding="utf-8"?>
<a:theme xmlns:a="http://schemas.openxmlformats.org/drawingml/2006/main" name="Office Theme">
  <a:themeElements>
    <a:clrScheme name="自定义 447">
      <a:dk1>
        <a:sysClr val="windowText" lastClr="000000"/>
      </a:dk1>
      <a:lt1>
        <a:sysClr val="window" lastClr="FFFFFF"/>
      </a:lt1>
      <a:dk2>
        <a:srgbClr val="006E67"/>
      </a:dk2>
      <a:lt2>
        <a:srgbClr val="E7E6E6"/>
      </a:lt2>
      <a:accent1>
        <a:srgbClr val="006E67"/>
      </a:accent1>
      <a:accent2>
        <a:srgbClr val="A5A5A5"/>
      </a:accent2>
      <a:accent3>
        <a:srgbClr val="006E67"/>
      </a:accent3>
      <a:accent4>
        <a:srgbClr val="A5A5A5"/>
      </a:accent4>
      <a:accent5>
        <a:srgbClr val="006E67"/>
      </a:accent5>
      <a:accent6>
        <a:srgbClr val="A5A5A5"/>
      </a:accent6>
      <a:hlink>
        <a:srgbClr val="006E67"/>
      </a:hlink>
      <a:folHlink>
        <a:srgbClr val="A5A5A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3181</Words>
  <Application>WPS 演示</Application>
  <PresentationFormat>自定义</PresentationFormat>
  <Paragraphs>236</Paragraphs>
  <Slides>21</Slides>
  <Notes>16</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Arial</vt:lpstr>
      <vt:lpstr>宋体</vt:lpstr>
      <vt:lpstr>Wingdings</vt:lpstr>
      <vt:lpstr>Calibri</vt:lpstr>
      <vt:lpstr>印品黑体</vt:lpstr>
      <vt:lpstr>黑体</vt:lpstr>
      <vt:lpstr>微软雅黑</vt:lpstr>
      <vt:lpstr>字魂73号-江南手书</vt:lpstr>
      <vt:lpstr>Alibaba PuHuiTi B</vt:lpstr>
      <vt:lpstr>阿里巴巴普惠体</vt:lpstr>
      <vt:lpstr>Arial Unicode MS</vt:lpstr>
      <vt:lpstr>Inter</vt:lpstr>
      <vt:lpstr>Segoe Print</vt:lpstr>
      <vt:lpstr>Alibaba PuHuiTi 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bt730</dc:title>
  <dc:creator/>
  <cp:lastModifiedBy>周磊</cp:lastModifiedBy>
  <cp:revision>655</cp:revision>
  <dcterms:created xsi:type="dcterms:W3CDTF">2024-04-10T13:53:00Z</dcterms:created>
  <dcterms:modified xsi:type="dcterms:W3CDTF">2025-11-28T00:14:26Z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FCA88555D3D44735BAA1F56722F3B997</vt:lpwstr>
  </property>
</Properties>
</file>