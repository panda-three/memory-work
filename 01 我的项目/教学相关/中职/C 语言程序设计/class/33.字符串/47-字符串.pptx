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4"/>
  </p:handoutMasterIdLst>
  <p:sldIdLst>
    <p:sldId id="3705" r:id="rId3"/>
    <p:sldId id="3706" r:id="rId4"/>
    <p:sldId id="3646" r:id="rId5"/>
    <p:sldId id="3798" r:id="rId7"/>
    <p:sldId id="3800" r:id="rId8"/>
    <p:sldId id="3799" r:id="rId9"/>
    <p:sldId id="3801" r:id="rId10"/>
    <p:sldId id="3802" r:id="rId11"/>
    <p:sldId id="3811" r:id="rId12"/>
    <p:sldId id="3803" r:id="rId13"/>
    <p:sldId id="3816" r:id="rId14"/>
    <p:sldId id="3821" r:id="rId15"/>
    <p:sldId id="3817" r:id="rId16"/>
    <p:sldId id="3806" r:id="rId17"/>
    <p:sldId id="3813" r:id="rId18"/>
    <p:sldId id="3810" r:id="rId19"/>
    <p:sldId id="3809" r:id="rId20"/>
    <p:sldId id="3712" r:id="rId21"/>
    <p:sldId id="3793" r:id="rId22"/>
    <p:sldId id="3702" r:id="rId23"/>
  </p:sldIdLst>
  <p:sldSz cx="12858750" cy="7232650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60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38"/>
        <p:guide pos="4075"/>
        <p:guide pos="560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只要被双引号</a:t>
            </a:r>
            <a:r>
              <a:rPr lang="en-US" altLang="zh-CN" sz="6600" dirty="0">
                <a:solidFill>
                  <a:schemeClr val="tx1"/>
                </a:solidFill>
              </a:rPr>
              <a:t>”</a:t>
            </a:r>
            <a:r>
              <a:rPr lang="zh-CN" altLang="en-US" sz="6600" dirty="0">
                <a:solidFill>
                  <a:schemeClr val="tx1"/>
                </a:solidFill>
              </a:rPr>
              <a:t>引起来的叫什么呢？</a:t>
            </a:r>
            <a:endParaRPr lang="en-US" altLang="zh-CN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49685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字符串定义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注意点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5" y="2206625"/>
            <a:ext cx="1647825" cy="2819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3" y="1035050"/>
            <a:ext cx="5105400" cy="5162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99" y="1791917"/>
            <a:ext cx="10706100" cy="4286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36670" y="1744260"/>
            <a:ext cx="4286250" cy="64516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600" b="1">
                <a:latin typeface="Arial" panose="020B0604020202020204" pitchFamily="34" charset="0"/>
                <a:ea typeface="微软雅黑" panose="020B0503020204020204" pitchFamily="34" charset="-122"/>
              </a:rPr>
              <a:t>“zhoulaoshi”</a:t>
            </a:r>
            <a:endParaRPr lang="en-US" altLang="zh-CN" sz="36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72435" y="3112770"/>
            <a:ext cx="6546215" cy="9067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</a:rPr>
              <a:t>‘z’ ‘h’ ‘o’ ‘u’ ‘l’ ‘a’ ‘o’ ‘s’ ‘h’ ‘i’ ‘\0’</a:t>
            </a:r>
            <a:endParaRPr lang="en-US" altLang="zh-CN" sz="32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6807" y="1960141"/>
            <a:ext cx="101531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定义：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zh-CN" dirty="0"/>
              <a:t>	</a:t>
            </a:r>
            <a:r>
              <a:rPr lang="en-US" altLang="zh-CN" sz="3600" dirty="0">
                <a:latin typeface="+mj-ea"/>
                <a:ea typeface="+mj-ea"/>
              </a:rPr>
              <a:t>char  str[4] = {‘a’,‘b’,‘c’, ‘\0’};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 rot="20634531">
            <a:off x="4737187" y="3744439"/>
            <a:ext cx="3384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太麻烦了</a:t>
            </a:r>
            <a:endParaRPr lang="zh-CN" altLang="en-US" sz="60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61175" y="5144770"/>
            <a:ext cx="5686425" cy="14224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900"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1900">
                <a:latin typeface="Arial" panose="020B0604020202020204" pitchFamily="34" charset="0"/>
                <a:ea typeface="微软雅黑" panose="020B0503020204020204" pitchFamily="34" charset="-122"/>
              </a:rPr>
              <a:t>C</a:t>
            </a:r>
            <a:r>
              <a:rPr lang="zh-CN" altLang="en-US" sz="1900">
                <a:latin typeface="Arial" panose="020B0604020202020204" pitchFamily="34" charset="0"/>
                <a:ea typeface="微软雅黑" panose="020B0503020204020204" pitchFamily="34" charset="-122"/>
              </a:rPr>
              <a:t>语言中，字符串的本质是字符数组，而末尾的</a:t>
            </a:r>
            <a:r>
              <a:rPr lang="en-US" altLang="zh-CN" sz="1900">
                <a:latin typeface="Arial" panose="020B0604020202020204" pitchFamily="34" charset="0"/>
                <a:ea typeface="微软雅黑" panose="020B0503020204020204" pitchFamily="34" charset="-122"/>
              </a:rPr>
              <a:t> \0</a:t>
            </a:r>
            <a:r>
              <a:rPr lang="zh-CN" altLang="en-US" sz="1900">
                <a:latin typeface="Arial" panose="020B0604020202020204" pitchFamily="34" charset="0"/>
                <a:ea typeface="微软雅黑" panose="020B0503020204020204" pitchFamily="34" charset="-122"/>
              </a:rPr>
              <a:t>（空字符，</a:t>
            </a:r>
            <a:r>
              <a:rPr lang="en-US" altLang="zh-CN" sz="1900">
                <a:latin typeface="Arial" panose="020B0604020202020204" pitchFamily="34" charset="0"/>
                <a:ea typeface="微软雅黑" panose="020B0503020204020204" pitchFamily="34" charset="-122"/>
              </a:rPr>
              <a:t>NULL</a:t>
            </a:r>
            <a:r>
              <a:rPr lang="zh-CN" altLang="en-US" sz="1900">
                <a:latin typeface="Arial" panose="020B0604020202020204" pitchFamily="34" charset="0"/>
                <a:ea typeface="微软雅黑" panose="020B0503020204020204" pitchFamily="34" charset="-122"/>
              </a:rPr>
              <a:t>字符）是字符串结束标记。</a:t>
            </a:r>
            <a:endParaRPr lang="zh-CN" altLang="en-US" sz="19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8774" y="1510040"/>
            <a:ext cx="107121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定义字符串的两种方式：</a:t>
            </a:r>
            <a:endParaRPr lang="en-US" altLang="zh-CN" sz="2800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en-US" altLang="zh-CN" dirty="0">
                <a:latin typeface="+mj-ea"/>
                <a:ea typeface="+mj-ea"/>
              </a:rPr>
              <a:t>	</a:t>
            </a:r>
            <a:r>
              <a:rPr lang="en-US" altLang="zh-CN" sz="3600" b="1" dirty="0">
                <a:latin typeface="+mj-ea"/>
                <a:ea typeface="+mj-ea"/>
              </a:rPr>
              <a:t>char  str[4] = “abc”;   //</a:t>
            </a:r>
            <a:r>
              <a:rPr lang="zh-CN" altLang="en-US" sz="3600" b="1" dirty="0">
                <a:latin typeface="+mj-ea"/>
                <a:ea typeface="+mj-ea"/>
              </a:rPr>
              <a:t>方式</a:t>
            </a:r>
            <a:r>
              <a:rPr lang="en-US" altLang="zh-CN" sz="3600" b="1" dirty="0">
                <a:latin typeface="+mj-ea"/>
                <a:ea typeface="+mj-ea"/>
              </a:rPr>
              <a:t>1</a:t>
            </a:r>
            <a:endParaRPr lang="en-US" altLang="zh-CN" sz="3600" b="1" dirty="0">
              <a:latin typeface="+mj-ea"/>
              <a:ea typeface="+mj-ea"/>
            </a:endParaRPr>
          </a:p>
          <a:p>
            <a:r>
              <a:rPr lang="en-US" altLang="zh-CN" sz="3600" b="1" dirty="0">
                <a:latin typeface="+mj-ea"/>
                <a:ea typeface="+mj-ea"/>
              </a:rPr>
              <a:t>	char*  str = “abc”;     //</a:t>
            </a:r>
            <a:r>
              <a:rPr lang="zh-CN" altLang="en-US" sz="3600" b="1" dirty="0">
                <a:latin typeface="+mj-ea"/>
                <a:ea typeface="+mj-ea"/>
              </a:rPr>
              <a:t> 方式</a:t>
            </a:r>
            <a:r>
              <a:rPr lang="en-US" altLang="zh-CN" sz="3600" b="1" dirty="0">
                <a:latin typeface="+mj-ea"/>
                <a:ea typeface="+mj-ea"/>
              </a:rPr>
              <a:t>2</a:t>
            </a:r>
            <a:r>
              <a:rPr lang="zh-CN" altLang="en-US" sz="3600" b="1" dirty="0">
                <a:latin typeface="+mj-ea"/>
                <a:ea typeface="+mj-ea"/>
              </a:rPr>
              <a:t>，指针定义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60823" y="1501808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j-ea"/>
                <a:ea typeface="+mj-ea"/>
              </a:rPr>
              <a:t>如何获取字符数组里的</a:t>
            </a:r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</a:rPr>
              <a:t>某个字符</a:t>
            </a:r>
            <a:r>
              <a:rPr lang="zh-CN" altLang="en-US" sz="3600" b="1" dirty="0">
                <a:latin typeface="+mj-ea"/>
                <a:ea typeface="+mj-ea"/>
              </a:rPr>
              <a:t>呢？</a:t>
            </a:r>
            <a:endParaRPr lang="en-US" altLang="zh-CN" sz="3600" b="1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225" y="2349761"/>
            <a:ext cx="9123670" cy="182684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839" y="4378229"/>
            <a:ext cx="10113648" cy="1725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字符串注意点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9487" y="1509323"/>
            <a:ext cx="1177133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B0F0"/>
                </a:solidFill>
                <a:latin typeface="+mj-ea"/>
                <a:ea typeface="+mj-ea"/>
              </a:rPr>
              <a:t>char str1[4] = “abc”;</a:t>
            </a:r>
            <a:endParaRPr lang="en-US" altLang="zh-CN" sz="2800" dirty="0">
              <a:solidFill>
                <a:srgbClr val="00B0F0"/>
              </a:solidFill>
              <a:latin typeface="+mj-ea"/>
              <a:ea typeface="+mj-ea"/>
            </a:endParaRPr>
          </a:p>
          <a:p>
            <a:endParaRPr lang="en-US" altLang="zh-CN" sz="16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zh-CN" altLang="en-US" sz="3200" dirty="0">
                <a:latin typeface="+mj-ea"/>
                <a:ea typeface="+mj-ea"/>
              </a:rPr>
              <a:t>使用字符数组</a:t>
            </a:r>
            <a:r>
              <a:rPr lang="en-US" altLang="zh-CN" sz="3200" dirty="0">
                <a:latin typeface="+mj-ea"/>
                <a:ea typeface="+mj-ea"/>
              </a:rPr>
              <a:t>+</a:t>
            </a:r>
            <a:r>
              <a:rPr lang="zh-CN" altLang="en-US" sz="3200" dirty="0">
                <a:latin typeface="+mj-ea"/>
                <a:ea typeface="+mj-ea"/>
              </a:rPr>
              <a:t>双引号定义字符串时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注意点：</a:t>
            </a:r>
            <a:endParaRPr lang="en-US" altLang="zh-CN" sz="3200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     </a:t>
            </a:r>
            <a:r>
              <a:rPr lang="en-US" altLang="zh-CN" sz="2800" dirty="0">
                <a:latin typeface="+mj-ea"/>
                <a:ea typeface="+mj-ea"/>
              </a:rPr>
              <a:t>1</a:t>
            </a:r>
            <a:r>
              <a:rPr lang="zh-CN" altLang="en-US" sz="2800" dirty="0">
                <a:latin typeface="+mj-ea"/>
                <a:ea typeface="+mj-ea"/>
              </a:rPr>
              <a:t>、</a:t>
            </a:r>
            <a:r>
              <a:rPr lang="en-US" altLang="zh-CN" sz="2800" dirty="0">
                <a:latin typeface="+mj-ea"/>
                <a:ea typeface="+mj-ea"/>
              </a:rPr>
              <a:t>C</a:t>
            </a:r>
            <a:r>
              <a:rPr lang="zh-CN" altLang="en-US" sz="2800" dirty="0">
                <a:latin typeface="+mj-ea"/>
                <a:ea typeface="+mj-ea"/>
              </a:rPr>
              <a:t>语言的底层会把</a:t>
            </a:r>
            <a:r>
              <a:rPr lang="en-US" altLang="zh-CN" sz="2800" dirty="0">
                <a:latin typeface="+mj-ea"/>
                <a:ea typeface="+mj-ea"/>
              </a:rPr>
              <a:t>”abc”</a:t>
            </a:r>
            <a:r>
              <a:rPr lang="zh-CN" altLang="en-US" sz="2800" dirty="0">
                <a:latin typeface="+mj-ea"/>
                <a:ea typeface="+mj-ea"/>
              </a:rPr>
              <a:t>转成字符数组进行保存，并且在末尾还要再加上</a:t>
            </a:r>
            <a:r>
              <a:rPr lang="en-US" altLang="zh-CN" sz="2800" dirty="0">
                <a:latin typeface="+mj-ea"/>
                <a:ea typeface="+mj-ea"/>
              </a:rPr>
              <a:t>’\0’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2</a:t>
            </a:r>
            <a:r>
              <a:rPr lang="zh-CN" altLang="en-US" sz="2800" dirty="0">
                <a:latin typeface="+mj-ea"/>
                <a:ea typeface="+mj-ea"/>
              </a:rPr>
              <a:t>、数组的长度，要么不写，如果写，要把结束标记的空间预留出来。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3</a:t>
            </a:r>
            <a:r>
              <a:rPr lang="zh-CN" altLang="en-US" sz="2800" dirty="0">
                <a:latin typeface="+mj-ea"/>
                <a:ea typeface="+mj-ea"/>
              </a:rPr>
              <a:t>、字符串的内容是可以修改的。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4</a:t>
            </a:r>
            <a:r>
              <a:rPr lang="zh-CN" altLang="en-US" sz="2800" dirty="0">
                <a:latin typeface="+mj-ea"/>
                <a:ea typeface="+mj-ea"/>
              </a:rPr>
              <a:t>、初始化字符串时，只能使用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字符串常量</a:t>
            </a:r>
            <a:r>
              <a:rPr lang="zh-CN" altLang="en-US" sz="2800" dirty="0">
                <a:latin typeface="+mj-ea"/>
                <a:ea typeface="+mj-ea"/>
              </a:rPr>
              <a:t>，字符串常量：用双引号 </a:t>
            </a: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+mj-ea"/>
                <a:ea typeface="+mj-ea"/>
              </a:rPr>
              <a:t>““</a:t>
            </a:r>
            <a:r>
              <a:rPr lang="en-US" altLang="zh-CN" sz="2800" dirty="0">
                <a:latin typeface="+mj-ea"/>
                <a:ea typeface="+mj-ea"/>
              </a:rPr>
              <a:t>  </a:t>
            </a:r>
            <a:r>
              <a:rPr lang="zh-CN" altLang="en-US" sz="2800" dirty="0">
                <a:latin typeface="+mj-ea"/>
                <a:ea typeface="+mj-ea"/>
              </a:rPr>
              <a:t>引起来的字符序列。例如 </a:t>
            </a:r>
            <a:r>
              <a:rPr lang="en-US" altLang="zh-CN" sz="2800" dirty="0">
                <a:latin typeface="+mj-ea"/>
                <a:ea typeface="+mj-ea"/>
              </a:rPr>
              <a:t>”Hello, world!“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5</a:t>
            </a:r>
            <a:r>
              <a:rPr lang="zh-CN" altLang="en-US" sz="2800" dirty="0">
                <a:latin typeface="+mj-ea"/>
                <a:ea typeface="+mj-ea"/>
              </a:rPr>
              <a:t>、在</a:t>
            </a:r>
            <a:r>
              <a:rPr lang="en-US" altLang="zh-CN" sz="2800" dirty="0">
                <a:latin typeface="+mj-ea"/>
                <a:ea typeface="+mj-ea"/>
              </a:rPr>
              <a:t>C</a:t>
            </a:r>
            <a:r>
              <a:rPr lang="zh-CN" altLang="en-US" sz="2800" dirty="0">
                <a:latin typeface="+mj-ea"/>
                <a:ea typeface="+mj-ea"/>
              </a:rPr>
              <a:t>语言中数组不能直接赋值给另一个数组来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进行初始化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72791" y="1659207"/>
            <a:ext cx="5755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B0F0"/>
                </a:solidFill>
                <a:latin typeface="+mj-ea"/>
                <a:ea typeface="+mj-ea"/>
              </a:rPr>
              <a:t>初始化字符数组错误情况：</a:t>
            </a:r>
            <a:endParaRPr lang="en-US" altLang="zh-CN" sz="3600" b="1" dirty="0">
              <a:solidFill>
                <a:srgbClr val="00B0F0"/>
              </a:solidFill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717" y="2413651"/>
            <a:ext cx="10584063" cy="1376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1800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sz="1800" b="1" dirty="0"/>
              <a:t>总结与合作探究  作业  限时检测</a:t>
            </a:r>
            <a:endParaRPr lang="zh-CN" altLang="en-US" sz="1800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字符串的输入和</a:t>
            </a:r>
            <a:r>
              <a:rPr lang="zh-CN" altLang="en-US" sz="2400" b="1" dirty="0">
                <a:solidFill>
                  <a:srgbClr val="FF0000"/>
                </a:solidFill>
              </a:rPr>
              <a:t>输出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45" y="1816100"/>
            <a:ext cx="8559800" cy="387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1650723"/>
            <a:ext cx="10945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键盘录入一个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字符串</a:t>
            </a:r>
            <a:r>
              <a:rPr lang="zh-CN" altLang="en-US" sz="3200" dirty="0">
                <a:latin typeface="+mj-ea"/>
                <a:ea typeface="+mj-ea"/>
              </a:rPr>
              <a:t>，使用程序实现在控制台遍历该字符串。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72258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 </a:t>
            </a:r>
            <a:r>
              <a:rPr lang="en-US" altLang="zh-CN" sz="2400" b="1" dirty="0">
                <a:solidFill>
                  <a:srgbClr val="FF0000"/>
                </a:solidFill>
              </a:rPr>
              <a:t>– </a:t>
            </a:r>
            <a:r>
              <a:rPr lang="zh-CN" altLang="en-US" sz="2400" b="1" dirty="0">
                <a:solidFill>
                  <a:srgbClr val="FF0000"/>
                </a:solidFill>
              </a:rPr>
              <a:t>答案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333" y="1210817"/>
            <a:ext cx="7629525" cy="5438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09542" y="1706512"/>
            <a:ext cx="8839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j-ea"/>
                <a:ea typeface="+mj-ea"/>
              </a:rPr>
              <a:t>如何定义一个数组存储班级学生的名字呢？</a:t>
            </a:r>
            <a:endParaRPr lang="zh-CN" altLang="en-US" sz="3600" dirty="0">
              <a:latin typeface="+mj-ea"/>
              <a:ea typeface="+mj-ea"/>
            </a:endParaRP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08895" y="2548556"/>
            <a:ext cx="1015312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定义字符串的两种方式：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en-US" altLang="zh-CN" dirty="0">
                <a:latin typeface="+mj-ea"/>
                <a:ea typeface="+mj-ea"/>
              </a:rPr>
              <a:t>	</a:t>
            </a:r>
            <a:r>
              <a:rPr lang="en-US" altLang="zh-CN" sz="3200" b="1" dirty="0">
                <a:latin typeface="+mj-ea"/>
                <a:ea typeface="+mj-ea"/>
              </a:rPr>
              <a:t>char  str[4] = “abc”;   //</a:t>
            </a:r>
            <a:r>
              <a:rPr lang="zh-CN" altLang="en-US" sz="3200" b="1" dirty="0">
                <a:latin typeface="+mj-ea"/>
                <a:ea typeface="+mj-ea"/>
              </a:rPr>
              <a:t>方式</a:t>
            </a:r>
            <a:r>
              <a:rPr lang="en-US" altLang="zh-CN" sz="3200" b="1" dirty="0">
                <a:latin typeface="+mj-ea"/>
                <a:ea typeface="+mj-ea"/>
              </a:rPr>
              <a:t>1</a:t>
            </a:r>
            <a:endParaRPr lang="en-US" altLang="zh-CN" sz="3200" b="1" dirty="0">
              <a:latin typeface="+mj-ea"/>
              <a:ea typeface="+mj-ea"/>
            </a:endParaRPr>
          </a:p>
          <a:p>
            <a:r>
              <a:rPr lang="en-US" altLang="zh-CN" sz="3200" b="1" dirty="0">
                <a:latin typeface="+mj-ea"/>
                <a:ea typeface="+mj-ea"/>
              </a:rPr>
              <a:t>	char*  str = “abc”;     //</a:t>
            </a:r>
            <a:r>
              <a:rPr lang="zh-CN" altLang="en-US" sz="3200" b="1" dirty="0">
                <a:latin typeface="+mj-ea"/>
                <a:ea typeface="+mj-ea"/>
              </a:rPr>
              <a:t> 方式</a:t>
            </a:r>
            <a:r>
              <a:rPr lang="en-US" altLang="zh-CN" sz="3200" b="1" dirty="0">
                <a:latin typeface="+mj-ea"/>
                <a:ea typeface="+mj-ea"/>
              </a:rPr>
              <a:t>2</a:t>
            </a:r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20863" y="4128669"/>
            <a:ext cx="81369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00B0F0"/>
                </a:solidFill>
                <a:latin typeface="+mn-ea"/>
                <a:ea typeface="+mn-ea"/>
              </a:rPr>
              <a:t>二维数组</a:t>
            </a:r>
            <a:endParaRPr lang="en-US" altLang="zh-CN" sz="4400" dirty="0">
              <a:solidFill>
                <a:srgbClr val="00B0F0"/>
              </a:solidFill>
              <a:latin typeface="+mn-ea"/>
              <a:ea typeface="+mn-ea"/>
            </a:endParaRPr>
          </a:p>
          <a:p>
            <a:pPr algn="ctr"/>
            <a:r>
              <a:rPr lang="zh-CN" altLang="en-US" sz="4400" dirty="0">
                <a:solidFill>
                  <a:srgbClr val="00B0F0"/>
                </a:solidFill>
                <a:latin typeface="+mn-ea"/>
                <a:ea typeface="+mn-ea"/>
              </a:rPr>
              <a:t>指针数组</a:t>
            </a:r>
            <a:endParaRPr lang="zh-CN" altLang="en-US" sz="4400" dirty="0">
              <a:solidFill>
                <a:srgbClr val="00B0F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字符串数组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案例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816125"/>
            <a:ext cx="11233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需求：定义一个数组存储</a:t>
            </a:r>
            <a:r>
              <a:rPr lang="en-US" altLang="zh-CN" sz="4000" dirty="0"/>
              <a:t>5</a:t>
            </a:r>
            <a:r>
              <a:rPr lang="zh-CN" altLang="en-US" sz="4000" dirty="0"/>
              <a:t>个学生的名字并遍历。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68" y="1473514"/>
            <a:ext cx="6571456" cy="47892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4341143" y="1960141"/>
            <a:ext cx="3744416" cy="237626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字符串定义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注意点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0783" y="1672109"/>
            <a:ext cx="10945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+mj-ea"/>
                <a:ea typeface="+mj-ea"/>
              </a:rPr>
              <a:t>1</a:t>
            </a:r>
            <a:r>
              <a:rPr lang="zh-CN" altLang="en-US" sz="3200" dirty="0">
                <a:latin typeface="+mj-ea"/>
                <a:ea typeface="+mj-ea"/>
              </a:rPr>
              <a:t>、键盘录入一个字符串，使用程序实现在控制台遍历该字符串。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2</a:t>
            </a:r>
            <a:r>
              <a:rPr lang="zh-CN" altLang="en-US" sz="3200" dirty="0">
                <a:latin typeface="+mj-ea"/>
                <a:ea typeface="+mj-ea"/>
              </a:rPr>
              <a:t>、定义一个数组存储</a:t>
            </a:r>
            <a:r>
              <a:rPr lang="en-US" altLang="zh-CN" sz="3200" dirty="0">
                <a:latin typeface="+mj-ea"/>
                <a:ea typeface="+mj-ea"/>
              </a:rPr>
              <a:t>5</a:t>
            </a:r>
            <a:r>
              <a:rPr lang="zh-CN" altLang="en-US" sz="3200" dirty="0">
                <a:latin typeface="+mj-ea"/>
                <a:ea typeface="+mj-ea"/>
              </a:rPr>
              <a:t>个最好朋友的名字并遍历。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346" y="1808109"/>
            <a:ext cx="10575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/>
              <a:t>如何定义字符串？</a:t>
            </a:r>
            <a:endParaRPr lang="zh-CN" alt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1629</Words>
  <Application>WPS 演示</Application>
  <PresentationFormat>自定义</PresentationFormat>
  <Paragraphs>166</Paragraphs>
  <Slides>20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隶书</vt:lpstr>
      <vt:lpstr>Arial Unicode MS</vt:lpstr>
      <vt:lpstr>Alibaba PuHuiTi 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659</cp:revision>
  <dcterms:created xsi:type="dcterms:W3CDTF">2024-04-10T13:53:00Z</dcterms:created>
  <dcterms:modified xsi:type="dcterms:W3CDTF">2025-12-11T06:21:03Z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FCA88555D3D44735BAA1F56722F3B997</vt:lpwstr>
  </property>
</Properties>
</file>