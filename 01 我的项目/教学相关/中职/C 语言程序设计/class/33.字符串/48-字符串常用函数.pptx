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5"/>
  </p:handoutMasterIdLst>
  <p:sldIdLst>
    <p:sldId id="3705" r:id="rId3"/>
    <p:sldId id="3706" r:id="rId4"/>
    <p:sldId id="3807" r:id="rId5"/>
    <p:sldId id="3646" r:id="rId6"/>
    <p:sldId id="3798" r:id="rId8"/>
    <p:sldId id="3800" r:id="rId9"/>
    <p:sldId id="3815" r:id="rId10"/>
    <p:sldId id="3799" r:id="rId11"/>
    <p:sldId id="3808" r:id="rId12"/>
    <p:sldId id="3809" r:id="rId13"/>
    <p:sldId id="3810" r:id="rId14"/>
    <p:sldId id="3811" r:id="rId15"/>
    <p:sldId id="3812" r:id="rId16"/>
    <p:sldId id="3813" r:id="rId17"/>
    <p:sldId id="3814" r:id="rId18"/>
    <p:sldId id="3816" r:id="rId19"/>
    <p:sldId id="3817" r:id="rId20"/>
    <p:sldId id="3818" r:id="rId21"/>
    <p:sldId id="3712" r:id="rId22"/>
    <p:sldId id="3793" r:id="rId23"/>
    <p:sldId id="3702" r:id="rId24"/>
  </p:sldIdLst>
  <p:sldSz cx="12858750" cy="7232650"/>
  <p:notesSz cx="6858000" cy="914400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87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87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字符串常用函数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3103397" y="1823239"/>
            <a:ext cx="763284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如何定义字符串？</a:t>
            </a:r>
            <a:endParaRPr lang="en-US" altLang="zh-CN" sz="66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>
                <a:solidFill>
                  <a:schemeClr val="tx1"/>
                </a:solidFill>
              </a:rPr>
              <a:t>有什么区别呢？</a:t>
            </a:r>
            <a:endParaRPr lang="en-US" altLang="zh-CN" sz="6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31" y="1133367"/>
            <a:ext cx="10636072" cy="1097480"/>
          </a:xfrm>
          <a:prstGeom prst="rect">
            <a:avLst/>
          </a:prstGeom>
        </p:spPr>
      </p:pic>
      <p:cxnSp>
        <p:nvCxnSpPr>
          <p:cNvPr id="13" name="直接箭头连接符 12"/>
          <p:cNvCxnSpPr/>
          <p:nvPr/>
        </p:nvCxnSpPr>
        <p:spPr>
          <a:xfrm flipH="1">
            <a:off x="6573391" y="2032149"/>
            <a:ext cx="2304256" cy="14841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2108895" y="3544317"/>
            <a:ext cx="8603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/>
              <a:t>可以把他全部转为小写吗？</a:t>
            </a:r>
            <a:endParaRPr lang="zh-CN" altLang="en-US" sz="4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982880"/>
            <a:ext cx="7092788" cy="278481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7200" dirty="0"/>
              <a:t>string</a:t>
            </a:r>
            <a:r>
              <a:rPr lang="zh-CN" altLang="en-US" sz="7200" dirty="0"/>
              <a:t>常用函数</a:t>
            </a:r>
            <a:endParaRPr lang="en-US" altLang="zh-CN" sz="72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7200" dirty="0"/>
              <a:t>注意点</a:t>
            </a:r>
            <a:endParaRPr lang="en-US" altLang="zh-CN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string-</a:t>
            </a:r>
            <a:r>
              <a:rPr lang="zh-CN" altLang="en-US" sz="2400" b="1" dirty="0">
                <a:solidFill>
                  <a:srgbClr val="FF0000"/>
                </a:solidFill>
              </a:rPr>
              <a:t>常见函数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33" y="1437626"/>
            <a:ext cx="4562475" cy="5143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53310" y="1672109"/>
            <a:ext cx="699062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在使用这些函数之前，必须先引入头文件：</a:t>
            </a:r>
            <a:endParaRPr lang="en-US" altLang="zh-CN" sz="4400" dirty="0"/>
          </a:p>
          <a:p>
            <a:r>
              <a:rPr lang="en-US" altLang="zh-CN" sz="4400" dirty="0">
                <a:solidFill>
                  <a:srgbClr val="00B050"/>
                </a:solidFill>
              </a:rPr>
              <a:t>#include &lt;string.h&gt;</a:t>
            </a:r>
            <a:endParaRPr lang="zh-CN" altLang="en-US" sz="4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879" y="303956"/>
            <a:ext cx="8891798" cy="6522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815" y="880021"/>
            <a:ext cx="10262317" cy="3528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247119"/>
            <a:ext cx="109452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strlen(  )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获取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字符串长度</a:t>
            </a:r>
            <a:r>
              <a:rPr lang="zh-CN" altLang="en-US" sz="2800" dirty="0">
                <a:latin typeface="+mj-ea"/>
                <a:ea typeface="+mj-ea"/>
              </a:rPr>
              <a:t>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</a:t>
            </a:r>
            <a:r>
              <a:rPr lang="en-US" altLang="zh-CN" sz="2800" dirty="0">
                <a:latin typeface="+mj-ea"/>
                <a:ea typeface="+mj-ea"/>
              </a:rPr>
              <a:t>strlen</a:t>
            </a:r>
            <a:r>
              <a:rPr lang="zh-CN" altLang="en-US" sz="2800" dirty="0">
                <a:latin typeface="+mj-ea"/>
                <a:ea typeface="+mj-ea"/>
              </a:rPr>
              <a:t>这个函数在统计长度的时候，是不计算结束标记的。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2</a:t>
            </a:r>
            <a:r>
              <a:rPr lang="zh-CN" altLang="en-US" sz="2800" dirty="0">
                <a:latin typeface="+mj-ea"/>
                <a:ea typeface="+mj-ea"/>
              </a:rPr>
              <a:t>、在</a:t>
            </a:r>
            <a:r>
              <a:rPr lang="en-US" altLang="zh-CN" sz="2800" dirty="0">
                <a:latin typeface="+mj-ea"/>
                <a:ea typeface="+mj-ea"/>
              </a:rPr>
              <a:t>windows</a:t>
            </a:r>
            <a:r>
              <a:rPr lang="zh-CN" altLang="en-US" sz="2800" dirty="0">
                <a:latin typeface="+mj-ea"/>
                <a:ea typeface="+mj-ea"/>
              </a:rPr>
              <a:t>中，默认情况下，一个中文占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r>
              <a:rPr lang="zh-CN" altLang="en-US" sz="2800" dirty="0">
                <a:latin typeface="+mj-ea"/>
                <a:ea typeface="+mj-ea"/>
              </a:rPr>
              <a:t>个字节</a:t>
            </a:r>
            <a:endParaRPr lang="en-US" altLang="zh-CN" sz="2800" dirty="0">
              <a:latin typeface="+mj-ea"/>
              <a:ea typeface="+mj-ea"/>
            </a:endParaRPr>
          </a:p>
          <a:p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4118" y="3069496"/>
            <a:ext cx="109452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strcat(  )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拼接</a:t>
            </a:r>
            <a:r>
              <a:rPr lang="zh-CN" altLang="en-US" sz="2800" dirty="0">
                <a:latin typeface="+mj-ea"/>
                <a:ea typeface="+mj-ea"/>
              </a:rPr>
              <a:t>两个字符串细节：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、把第二个字符串中全部的内容，拷贝到第一个字符串的末尾。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  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前提</a:t>
            </a:r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sz="2800" dirty="0">
                <a:latin typeface="+mj-ea"/>
                <a:ea typeface="+mj-ea"/>
              </a:rPr>
              <a:t>第一个字符串是可以被修改的。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  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前提</a:t>
            </a:r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2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sz="2800" dirty="0">
                <a:latin typeface="+mj-ea"/>
                <a:ea typeface="+mj-ea"/>
              </a:rPr>
              <a:t>第一个字符串中剩余的空间可以容纳拼接的字符串。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6767" y="1478844"/>
            <a:ext cx="109452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strcpy</a:t>
            </a:r>
            <a:r>
              <a:rPr lang="zh-CN" altLang="en-US" sz="2800" dirty="0">
                <a:latin typeface="+mj-ea"/>
                <a:ea typeface="+mj-ea"/>
              </a:rPr>
              <a:t>（ ）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复制</a:t>
            </a:r>
            <a:r>
              <a:rPr lang="zh-CN" altLang="en-US" sz="2800" dirty="0">
                <a:latin typeface="+mj-ea"/>
                <a:ea typeface="+mj-ea"/>
              </a:rPr>
              <a:t>两个字符串细节：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、把第二个字符串中全部的内容，拷贝到第一个字符串中，把第一个字符串里原有的内容给覆盖了。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 </a:t>
            </a:r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 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前提</a:t>
            </a:r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sz="2800" dirty="0">
                <a:latin typeface="+mj-ea"/>
                <a:ea typeface="+mj-ea"/>
              </a:rPr>
              <a:t>第一个字符串是可以被修改的。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      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前提</a:t>
            </a:r>
            <a:r>
              <a:rPr lang="en-US" altLang="zh-CN" sz="2800" dirty="0">
                <a:solidFill>
                  <a:srgbClr val="00B0F0"/>
                </a:solidFill>
                <a:latin typeface="+mj-ea"/>
                <a:ea typeface="+mj-ea"/>
              </a:rPr>
              <a:t>2</a:t>
            </a:r>
            <a:r>
              <a:rPr lang="zh-CN" altLang="en-US" sz="280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sz="2800" dirty="0">
                <a:latin typeface="+mj-ea"/>
                <a:ea typeface="+mj-ea"/>
              </a:rPr>
              <a:t>第一个字符串中空间可以容纳第二个字符串的完整内容。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9487" y="4110189"/>
            <a:ext cx="109452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strcmp</a:t>
            </a:r>
            <a:r>
              <a:rPr lang="zh-CN" altLang="en-US" sz="2800" dirty="0">
                <a:latin typeface="+mj-ea"/>
                <a:ea typeface="+mj-ea"/>
              </a:rPr>
              <a:t>（ ）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比较</a:t>
            </a:r>
            <a:r>
              <a:rPr lang="zh-CN" altLang="en-US" sz="2800" dirty="0">
                <a:latin typeface="+mj-ea"/>
                <a:ea typeface="+mj-ea"/>
              </a:rPr>
              <a:t>两个字符串细节：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、在比较的时候，要求顺序和内容完全一致，才叫字符串一样。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功能：完全一样：</a:t>
            </a:r>
            <a:r>
              <a:rPr lang="en-US" altLang="zh-CN" sz="2800" dirty="0">
                <a:latin typeface="+mj-ea"/>
                <a:ea typeface="+mj-ea"/>
              </a:rPr>
              <a:t>0</a:t>
            </a:r>
            <a:r>
              <a:rPr lang="zh-CN" altLang="en-US" sz="2800" dirty="0">
                <a:latin typeface="+mj-ea"/>
                <a:ea typeface="+mj-ea"/>
              </a:rPr>
              <a:t>；只要有一个不一样：非</a:t>
            </a:r>
            <a:r>
              <a:rPr lang="en-US" altLang="zh-CN" sz="2800" dirty="0">
                <a:latin typeface="+mj-ea"/>
                <a:ea typeface="+mj-ea"/>
              </a:rPr>
              <a:t>0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28775" y="1600101"/>
            <a:ext cx="10945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strlwr( )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变小写</a:t>
            </a:r>
            <a:r>
              <a:rPr lang="zh-CN" altLang="en-US" sz="2800" dirty="0">
                <a:latin typeface="+mj-ea"/>
                <a:ea typeface="+mj-ea"/>
              </a:rPr>
              <a:t>字符串细节：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、只能转换英文的大小写，不能修改中文的大小写。</a:t>
            </a:r>
            <a:endParaRPr lang="en-US" altLang="zh-CN" sz="2800" dirty="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775" y="3036541"/>
            <a:ext cx="10945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strupr( )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变大写</a:t>
            </a:r>
            <a:r>
              <a:rPr lang="zh-CN" altLang="en-US" sz="2800" dirty="0">
                <a:latin typeface="+mj-ea"/>
                <a:ea typeface="+mj-ea"/>
              </a:rPr>
              <a:t>字符串细节：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1</a:t>
            </a:r>
            <a:r>
              <a:rPr lang="zh-CN" altLang="en-US" sz="2800" dirty="0">
                <a:latin typeface="+mj-ea"/>
                <a:ea typeface="+mj-ea"/>
              </a:rPr>
              <a:t>、只能转换英文的大小写，不能修改中文的大小写。</a:t>
            </a:r>
            <a:endParaRPr lang="en-US" altLang="zh-CN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783" y="1456085"/>
            <a:ext cx="10585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需求</a:t>
            </a:r>
            <a:r>
              <a:rPr lang="zh-CN" altLang="en-US" sz="3200" dirty="0">
                <a:latin typeface="+mj-ea"/>
                <a:ea typeface="+mj-ea"/>
              </a:rPr>
              <a:t>：已知正确的用户名和密码，请用程序实现模拟登录。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          </a:t>
            </a:r>
            <a:r>
              <a:rPr lang="zh-CN" altLang="en-US" sz="3200" dirty="0">
                <a:latin typeface="+mj-ea"/>
                <a:ea typeface="+mj-ea"/>
              </a:rPr>
              <a:t>总共给三次机会，登录之后，给出相应的提示。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5" y="1199548"/>
            <a:ext cx="11479545" cy="50447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87" y="1605658"/>
            <a:ext cx="10442004" cy="522100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02166" y="677131"/>
            <a:ext cx="5256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输入错误时，增加三次输入机会。</a:t>
            </a:r>
            <a:endParaRPr lang="zh-CN" altLang="en-US" sz="36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4485159" y="2104157"/>
            <a:ext cx="4032448" cy="22322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27" y="767131"/>
            <a:ext cx="11763375" cy="591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字符串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6767" y="1432520"/>
            <a:ext cx="11161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统计字符次数：</a:t>
            </a:r>
            <a:endParaRPr lang="en-US" altLang="zh-CN" sz="3200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zh-CN" altLang="en-US" sz="3200" dirty="0">
                <a:latin typeface="+mj-ea"/>
                <a:ea typeface="+mj-ea"/>
              </a:rPr>
              <a:t>键盘录入一个字符，统计该字符串中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大写</a:t>
            </a:r>
            <a:r>
              <a:rPr lang="zh-CN" altLang="en-US" sz="3200" dirty="0">
                <a:latin typeface="+mj-ea"/>
                <a:ea typeface="+mj-ea"/>
              </a:rPr>
              <a:t>字母字符，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小写</a:t>
            </a:r>
            <a:r>
              <a:rPr lang="zh-CN" altLang="en-US" sz="3200" dirty="0">
                <a:latin typeface="+mj-ea"/>
                <a:ea typeface="+mj-ea"/>
              </a:rPr>
              <a:t>字母字符，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数字</a:t>
            </a:r>
            <a:r>
              <a:rPr lang="zh-CN" altLang="en-US" sz="3200" dirty="0">
                <a:latin typeface="+mj-ea"/>
                <a:ea typeface="+mj-ea"/>
              </a:rPr>
              <a:t>字符出现的次数。（不考虑其他字符）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71" y="145933"/>
            <a:ext cx="7179644" cy="6422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补充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91" y="1220838"/>
            <a:ext cx="8393700" cy="5131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89487" y="749139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补充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783" y="1528093"/>
            <a:ext cx="11089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B0F0"/>
                </a:solidFill>
              </a:rPr>
              <a:t>练习：</a:t>
            </a:r>
            <a:endParaRPr lang="en-US" altLang="zh-CN" sz="3200" dirty="0">
              <a:solidFill>
                <a:srgbClr val="00B0F0"/>
              </a:solidFill>
            </a:endParaRPr>
          </a:p>
          <a:p>
            <a:r>
              <a:rPr lang="en-US" altLang="zh-CN" sz="3200" dirty="0"/>
              <a:t>     </a:t>
            </a:r>
            <a:r>
              <a:rPr lang="zh-CN" altLang="en-US" sz="3200" dirty="0"/>
              <a:t>请遍历字符数组</a:t>
            </a:r>
            <a:r>
              <a:rPr lang="en-US" altLang="zh-CN" sz="3200" dirty="0"/>
              <a:t>str</a:t>
            </a:r>
            <a:r>
              <a:rPr lang="zh-CN" altLang="en-US" sz="3200" dirty="0"/>
              <a:t>，</a:t>
            </a:r>
            <a:r>
              <a:rPr lang="en-US" altLang="zh-CN" sz="3200" dirty="0"/>
              <a:t>char  str[] = “\ab\0663\x45\n0\0”;</a:t>
            </a:r>
            <a:endParaRPr lang="en-US" altLang="zh-CN" sz="3200" dirty="0"/>
          </a:p>
          <a:p>
            <a:endParaRPr lang="zh-CN" altLang="en-US" sz="3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60" y="2752725"/>
            <a:ext cx="4894580" cy="3672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文本占位符 2"/>
          <p:cNvSpPr>
            <a:spLocks noGrp="1"/>
          </p:cNvSpPr>
          <p:nvPr/>
        </p:nvSpPr>
        <p:spPr>
          <a:xfrm>
            <a:off x="4341143" y="1960141"/>
            <a:ext cx="3744416" cy="237626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字符串定义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注意点</a:t>
            </a:r>
            <a:endParaRPr lang="en-US" altLang="zh-CN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00783" y="1672109"/>
            <a:ext cx="10945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键盘录入一个字符串，使用程序实现在控制台遍历该字符串。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346" y="1808109"/>
            <a:ext cx="10575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/>
              <a:t>字符串拷贝如何使用？</a:t>
            </a:r>
            <a:endParaRPr lang="zh-CN" alt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1711</Words>
  <Application>WPS 演示</Application>
  <PresentationFormat>自定义</PresentationFormat>
  <Paragraphs>169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Arial Unicode MS</vt:lpstr>
      <vt:lpstr>Alibaba PuHuiTi R</vt:lpstr>
      <vt:lpstr>Alibaba PuHuiTi B</vt:lpstr>
      <vt:lpstr>Alibaba PuHuiTi R</vt:lpstr>
      <vt:lpstr>印品黑体</vt:lpstr>
      <vt:lpstr>字魂73号-江南手书</vt:lpstr>
      <vt:lpstr>阿里巴巴普惠体</vt:lpstr>
      <vt:lpstr>印品酷黑体</vt:lpstr>
      <vt:lpstr>字魂江南手书</vt:lpstr>
      <vt:lpstr>The best part</vt:lpstr>
      <vt:lpstr>阿里巴巴和七个小矮人</vt:lpstr>
      <vt:lpstr>Retro Cute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655</cp:revision>
  <dcterms:created xsi:type="dcterms:W3CDTF">2024-04-10T13:53:00Z</dcterms:created>
  <dcterms:modified xsi:type="dcterms:W3CDTF">2025-12-10T01:28:06Z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FCA88555D3D44735BAA1F56722F3B997</vt:lpwstr>
  </property>
</Properties>
</file>