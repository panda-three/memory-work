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6"/>
  </p:notesMasterIdLst>
  <p:handoutMasterIdLst>
    <p:handoutMasterId r:id="rId24"/>
  </p:handoutMasterIdLst>
  <p:sldIdLst>
    <p:sldId id="3705" r:id="rId3"/>
    <p:sldId id="3807" r:id="rId4"/>
    <p:sldId id="3646" r:id="rId5"/>
    <p:sldId id="3798" r:id="rId7"/>
    <p:sldId id="3800" r:id="rId8"/>
    <p:sldId id="3808" r:id="rId9"/>
    <p:sldId id="3809" r:id="rId10"/>
    <p:sldId id="3810" r:id="rId11"/>
    <p:sldId id="3811" r:id="rId12"/>
    <p:sldId id="3818" r:id="rId13"/>
    <p:sldId id="3819" r:id="rId14"/>
    <p:sldId id="3812" r:id="rId15"/>
    <p:sldId id="3813" r:id="rId16"/>
    <p:sldId id="3814" r:id="rId17"/>
    <p:sldId id="3815" r:id="rId18"/>
    <p:sldId id="3816" r:id="rId19"/>
    <p:sldId id="3817" r:id="rId20"/>
    <p:sldId id="3712" r:id="rId21"/>
    <p:sldId id="3793" r:id="rId22"/>
    <p:sldId id="3702" r:id="rId23"/>
  </p:sldIdLst>
  <p:sldSz cx="12858750" cy="7232650"/>
  <p:notesSz cx="6858000" cy="9144000"/>
  <p:custDataLst>
    <p:tags r:id="rId29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52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57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FF"/>
    <a:srgbClr val="7030A0"/>
    <a:srgbClr val="AF4436"/>
    <a:srgbClr val="1542FF"/>
    <a:srgbClr val="FFBF00"/>
    <a:srgbClr val="0C6AC7"/>
    <a:srgbClr val="FFC000"/>
    <a:srgbClr val="066197"/>
    <a:srgbClr val="262626"/>
    <a:srgbClr val="0767A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94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34" y="53"/>
      </p:cViewPr>
      <p:guideLst>
        <p:guide orient="horz" pos="218"/>
        <p:guide orient="horz" pos="4152"/>
        <p:guide pos="4075"/>
        <p:guide pos="557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tags" Target="tags/tag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流：指的是程序和文件之间的</a:t>
            </a:r>
            <a:r>
              <a:rPr lang="zh-CN" altLang="en-US" dirty="0"/>
              <a:t>流动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1.</a:t>
            </a:r>
            <a:r>
              <a:rPr lang="zh-CN" altLang="en-US" dirty="0"/>
              <a:t>需要详细讲解一下路径怎么</a:t>
            </a:r>
            <a:r>
              <a:rPr lang="zh-CN" altLang="en-US" dirty="0"/>
              <a:t>看</a:t>
            </a:r>
            <a:endParaRPr lang="zh-CN" altLang="en-US" dirty="0"/>
          </a:p>
          <a:p>
            <a:r>
              <a:rPr lang="en-US" altLang="zh-CN" dirty="0"/>
              <a:t>2.</a:t>
            </a:r>
            <a:r>
              <a:rPr lang="zh-CN" altLang="en-US" dirty="0"/>
              <a:t>相对路径的</a:t>
            </a:r>
            <a:r>
              <a:rPr lang="zh-CN" altLang="en-US" dirty="0"/>
              <a:t>概念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如何找这个</a:t>
            </a:r>
            <a:r>
              <a:rPr lang="zh-CN" altLang="en-US" dirty="0"/>
              <a:t>路径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9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9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5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8.png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文件</a:t>
            </a:r>
            <a:r>
              <a:rPr lang="en-US" altLang="zh-CN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-</a:t>
            </a:r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读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rgbClr val="FFFFFF"/>
                </a:solidFill>
              </a:rPr>
              <a:t>新课导入</a:t>
            </a:r>
            <a:r>
              <a:rPr lang="zh-CN" altLang="en-US" b="1" dirty="0"/>
              <a:t>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1388815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055" y="936155"/>
            <a:ext cx="5384692" cy="36959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文件概述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文件路径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转义字符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fgetc</a:t>
            </a:r>
            <a:r>
              <a:rPr lang="zh-CN" altLang="en-US" sz="3600" dirty="0"/>
              <a:t>使用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94668" y="723227"/>
            <a:ext cx="2078323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585" y="1833333"/>
            <a:ext cx="11163300" cy="3867150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6096" y="4196365"/>
            <a:ext cx="1743075" cy="176212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5279" y="1348022"/>
            <a:ext cx="1162050" cy="561975"/>
          </a:xfrm>
          <a:prstGeom prst="rect">
            <a:avLst/>
          </a:prstGeom>
        </p:spPr>
      </p:pic>
      <p:pic>
        <p:nvPicPr>
          <p:cNvPr id="19" name="图片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4954" y="5786441"/>
            <a:ext cx="1114425" cy="55245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0167" y="1347263"/>
            <a:ext cx="1714500" cy="1524000"/>
          </a:xfrm>
          <a:prstGeom prst="rect">
            <a:avLst/>
          </a:prstGeom>
        </p:spPr>
      </p:pic>
      <p:cxnSp>
        <p:nvCxnSpPr>
          <p:cNvPr id="23" name="直接箭头连接符 22"/>
          <p:cNvCxnSpPr/>
          <p:nvPr/>
        </p:nvCxnSpPr>
        <p:spPr>
          <a:xfrm flipV="1">
            <a:off x="2036887" y="1194925"/>
            <a:ext cx="5544616" cy="2853448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653511" y="303957"/>
            <a:ext cx="489654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是程序在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往外写</a:t>
            </a:r>
            <a:r>
              <a:rPr lang="zh-CN" altLang="en-US" sz="2800" dirty="0">
                <a:latin typeface="+mj-ea"/>
                <a:ea typeface="+mj-ea"/>
              </a:rPr>
              <a:t>，就是输出流。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是程序在</a:t>
            </a:r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往里读</a:t>
            </a:r>
            <a:r>
              <a:rPr lang="zh-CN" altLang="en-US" sz="2800" dirty="0">
                <a:latin typeface="+mj-ea"/>
                <a:ea typeface="+mj-ea"/>
              </a:rPr>
              <a:t>，就是输入流。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0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b="1" dirty="0">
                <a:solidFill>
                  <a:srgbClr val="FF0000"/>
                </a:solidFill>
              </a:rPr>
              <a:t>文件概述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28775" y="1528093"/>
            <a:ext cx="10873208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latin typeface="+mj-ea"/>
                <a:ea typeface="+mj-ea"/>
              </a:rPr>
              <a:t>所以我们在学习文件操作，只需要学习两大部分就可以了。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en-US" altLang="zh-CN" sz="3200" dirty="0">
                <a:latin typeface="+mj-ea"/>
                <a:ea typeface="+mj-ea"/>
              </a:rPr>
              <a:t>	1</a:t>
            </a:r>
            <a:r>
              <a:rPr lang="zh-CN" altLang="en-US" sz="3200" dirty="0">
                <a:latin typeface="+mj-ea"/>
                <a:ea typeface="+mj-ea"/>
              </a:rPr>
              <a:t>、如何把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文件中</a:t>
            </a:r>
            <a:r>
              <a:rPr lang="zh-CN" altLang="en-US" sz="3200" dirty="0">
                <a:latin typeface="+mj-ea"/>
                <a:ea typeface="+mj-ea"/>
              </a:rPr>
              <a:t>的数据读到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内存当中</a:t>
            </a:r>
            <a:r>
              <a:rPr lang="zh-CN" altLang="en-US" sz="3200" dirty="0">
                <a:latin typeface="+mj-ea"/>
                <a:ea typeface="+mj-ea"/>
              </a:rPr>
              <a:t>。</a:t>
            </a:r>
            <a:endParaRPr lang="en-US" altLang="zh-CN" sz="3200" dirty="0">
              <a:latin typeface="+mj-ea"/>
              <a:ea typeface="+mj-ea"/>
            </a:endParaRPr>
          </a:p>
          <a:p>
            <a:r>
              <a:rPr lang="en-US" altLang="zh-CN" sz="3200" dirty="0">
                <a:latin typeface="+mj-ea"/>
                <a:ea typeface="+mj-ea"/>
              </a:rPr>
              <a:t>	2</a:t>
            </a:r>
            <a:r>
              <a:rPr lang="zh-CN" altLang="en-US" sz="3200" dirty="0">
                <a:latin typeface="+mj-ea"/>
                <a:ea typeface="+mj-ea"/>
              </a:rPr>
              <a:t>、如何把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内存中</a:t>
            </a:r>
            <a:r>
              <a:rPr lang="zh-CN" altLang="en-US" sz="3200" dirty="0">
                <a:latin typeface="+mj-ea"/>
                <a:ea typeface="+mj-ea"/>
              </a:rPr>
              <a:t>的数据写到</a:t>
            </a:r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文件当中</a:t>
            </a:r>
            <a:r>
              <a:rPr lang="zh-CN" altLang="en-US" sz="3200" dirty="0">
                <a:latin typeface="+mj-ea"/>
                <a:ea typeface="+mj-ea"/>
              </a:rPr>
              <a:t>，进行永久化的存储。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72791" y="1528093"/>
            <a:ext cx="55450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文件在电脑上的位置。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72791" y="2320181"/>
            <a:ext cx="107121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dirty="0"/>
              <a:t>‪C:\Users\Administrator\Desktop\123.txt</a:t>
            </a:r>
            <a:endParaRPr lang="zh-CN" altLang="en-US" sz="36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244799" y="3157855"/>
            <a:ext cx="28083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FF0000"/>
                </a:solidFill>
                <a:latin typeface="+mj-ea"/>
                <a:ea typeface="+mj-ea"/>
              </a:rPr>
              <a:t>两种表示方式：</a:t>
            </a:r>
            <a:endParaRPr lang="zh-CN" altLang="en-US" sz="2800" b="1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799" y="3976365"/>
            <a:ext cx="1857375" cy="153352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3333031" y="3904357"/>
            <a:ext cx="6480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C:\Users\Administrator\Desktop\123.txt</a:t>
            </a:r>
            <a:endParaRPr lang="zh-CN" altLang="en-US" sz="2800" dirty="0"/>
          </a:p>
        </p:txBody>
      </p:sp>
      <p:sp>
        <p:nvSpPr>
          <p:cNvPr id="15" name="文本框 14"/>
          <p:cNvSpPr txBox="1"/>
          <p:nvPr/>
        </p:nvSpPr>
        <p:spPr>
          <a:xfrm>
            <a:off x="3333031" y="5013090"/>
            <a:ext cx="28803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/>
              <a:t>aaa\123.txt</a:t>
            </a:r>
            <a:endParaRPr lang="zh-CN" altLang="en-US" sz="2800" dirty="0"/>
          </a:p>
        </p:txBody>
      </p:sp>
      <p:cxnSp>
        <p:nvCxnSpPr>
          <p:cNvPr id="4" name="直接箭头连接符 3"/>
          <p:cNvCxnSpPr>
            <a:stCxn id="13" idx="2"/>
          </p:cNvCxnSpPr>
          <p:nvPr/>
        </p:nvCxnSpPr>
        <p:spPr>
          <a:xfrm>
            <a:off x="2173605" y="5509895"/>
            <a:ext cx="583565" cy="554990"/>
          </a:xfrm>
          <a:prstGeom prst="straightConnector1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2" name="文本框 11"/>
          <p:cNvSpPr txBox="1"/>
          <p:nvPr/>
        </p:nvSpPr>
        <p:spPr>
          <a:xfrm>
            <a:off x="2934970" y="5895975"/>
            <a:ext cx="4286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rgbClr val="FF0000"/>
                </a:solidFill>
              </a:rPr>
              <a:t>相对：当前文件夹</a:t>
            </a:r>
            <a:endParaRPr lang="zh-CN" altLang="en-US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  <p:bldP spid="14" grpId="0"/>
      <p:bldP spid="1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72791" y="1533448"/>
            <a:ext cx="100811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+mj-ea"/>
                <a:ea typeface="+mj-ea"/>
              </a:rPr>
              <a:t>练习一下：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绝对路径：以盘符开始： </a:t>
            </a:r>
            <a:r>
              <a:rPr lang="en-US" altLang="zh-CN" sz="2800" dirty="0">
                <a:latin typeface="+mj-ea"/>
                <a:ea typeface="+mj-ea"/>
              </a:rPr>
              <a:t>C:\aaa\a.txt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相对路径：不以盘符开始： </a:t>
            </a:r>
            <a:r>
              <a:rPr lang="en-US" altLang="zh-CN" sz="2800" dirty="0">
                <a:latin typeface="+mj-ea"/>
                <a:ea typeface="+mj-ea"/>
              </a:rPr>
              <a:t>aaa\a.txt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72791" y="1533448"/>
            <a:ext cx="27363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B0F0"/>
                </a:solidFill>
                <a:latin typeface="+mj-ea"/>
                <a:ea typeface="+mj-ea"/>
              </a:rPr>
              <a:t>代码表示路径</a:t>
            </a:r>
            <a:endParaRPr lang="en-US" altLang="zh-CN" sz="2800" b="1" dirty="0">
              <a:solidFill>
                <a:srgbClr val="00B0F0"/>
              </a:solidFill>
              <a:latin typeface="+mj-ea"/>
              <a:ea typeface="+mj-ea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5596" y="2087751"/>
            <a:ext cx="8001000" cy="175260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 rot="1810902">
            <a:off x="6989804" y="3857315"/>
            <a:ext cx="1800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>
                <a:solidFill>
                  <a:srgbClr val="FF0000"/>
                </a:solidFill>
                <a:latin typeface="+mj-ea"/>
                <a:ea typeface="+mj-ea"/>
              </a:rPr>
              <a:t>对吗？</a:t>
            </a:r>
            <a:endParaRPr lang="zh-CN" altLang="en-US" sz="40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75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88815" y="1511909"/>
            <a:ext cx="1080120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FF0000"/>
                </a:solidFill>
                <a:latin typeface="+mj-ea"/>
                <a:ea typeface="+mj-ea"/>
              </a:rPr>
              <a:t>\ </a:t>
            </a:r>
            <a:r>
              <a:rPr lang="en-US" altLang="zh-CN" sz="2800" dirty="0">
                <a:latin typeface="+mj-ea"/>
                <a:ea typeface="+mj-ea"/>
              </a:rPr>
              <a:t>:</a:t>
            </a:r>
            <a:r>
              <a:rPr lang="zh-CN" altLang="en-US" sz="2800" dirty="0">
                <a:latin typeface="+mj-ea"/>
                <a:ea typeface="+mj-ea"/>
              </a:rPr>
              <a:t>   转义字符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例如：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打印双引号“，为：</a:t>
            </a:r>
            <a:r>
              <a:rPr lang="en-US" altLang="zh-CN" sz="2800" dirty="0">
                <a:latin typeface="+mj-ea"/>
                <a:ea typeface="+mj-ea"/>
              </a:rPr>
              <a:t>\”</a:t>
            </a:r>
            <a:r>
              <a:rPr lang="zh-CN" altLang="en-US" sz="2800" dirty="0">
                <a:latin typeface="+mj-ea"/>
                <a:ea typeface="+mj-ea"/>
              </a:rPr>
              <a:t>。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打印一个斜杠</a:t>
            </a:r>
            <a:r>
              <a:rPr lang="en-US" altLang="zh-CN" sz="2800" dirty="0">
                <a:latin typeface="+mj-ea"/>
                <a:ea typeface="+mj-ea"/>
              </a:rPr>
              <a:t>\</a:t>
            </a:r>
            <a:r>
              <a:rPr lang="zh-CN" altLang="en-US" sz="2800" dirty="0">
                <a:latin typeface="+mj-ea"/>
                <a:ea typeface="+mj-ea"/>
              </a:rPr>
              <a:t>，为：</a:t>
            </a:r>
            <a:r>
              <a:rPr lang="en-US" altLang="zh-CN" sz="2800" dirty="0">
                <a:latin typeface="+mj-ea"/>
                <a:ea typeface="+mj-ea"/>
              </a:rPr>
              <a:t>\\</a:t>
            </a:r>
            <a:r>
              <a:rPr lang="zh-CN" altLang="en-US" sz="2800" dirty="0">
                <a:latin typeface="+mj-ea"/>
                <a:ea typeface="+mj-ea"/>
              </a:rPr>
              <a:t>。</a:t>
            </a:r>
            <a:endParaRPr lang="en-US" altLang="zh-CN" sz="2800" dirty="0">
              <a:latin typeface="+mj-ea"/>
              <a:ea typeface="+mj-ea"/>
            </a:endParaRPr>
          </a:p>
          <a:p>
            <a:endParaRPr lang="zh-CN" altLang="en-US" sz="2800" dirty="0">
              <a:latin typeface="+mj-ea"/>
              <a:ea typeface="+mj-ea"/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43" y="3912744"/>
            <a:ext cx="8001000" cy="1752600"/>
          </a:xfrm>
          <a:prstGeom prst="rect">
            <a:avLst/>
          </a:prstGeom>
        </p:spPr>
      </p:pic>
      <p:cxnSp>
        <p:nvCxnSpPr>
          <p:cNvPr id="14" name="直接箭头连接符 13"/>
          <p:cNvCxnSpPr/>
          <p:nvPr/>
        </p:nvCxnSpPr>
        <p:spPr>
          <a:xfrm flipV="1">
            <a:off x="7797527" y="2751428"/>
            <a:ext cx="944216" cy="120236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8537706" y="1749264"/>
            <a:ext cx="32403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FF0000"/>
                </a:solidFill>
                <a:latin typeface="+mj-ea"/>
                <a:ea typeface="+mj-ea"/>
              </a:rPr>
              <a:t>应该怎么该呢？</a:t>
            </a:r>
            <a:endParaRPr lang="zh-CN" altLang="en-US" sz="32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1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转义字符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830" y="1210564"/>
            <a:ext cx="9185841" cy="561609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文件路径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转义字符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00783" y="1528093"/>
            <a:ext cx="1108923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>
                <a:solidFill>
                  <a:srgbClr val="00B0F0"/>
                </a:solidFill>
              </a:rPr>
              <a:t>练习：</a:t>
            </a:r>
            <a:endParaRPr lang="en-US" altLang="zh-CN" sz="3200" dirty="0">
              <a:solidFill>
                <a:srgbClr val="00B0F0"/>
              </a:solidFill>
            </a:endParaRPr>
          </a:p>
          <a:p>
            <a:r>
              <a:rPr lang="en-US" altLang="zh-CN" sz="3200" dirty="0"/>
              <a:t>     </a:t>
            </a:r>
            <a:r>
              <a:rPr lang="zh-CN" altLang="en-US" sz="3200" dirty="0"/>
              <a:t>请遍历字符数组</a:t>
            </a:r>
            <a:r>
              <a:rPr lang="en-US" altLang="zh-CN" sz="3200" dirty="0"/>
              <a:t>str</a:t>
            </a:r>
            <a:r>
              <a:rPr lang="zh-CN" altLang="en-US" sz="3200" dirty="0"/>
              <a:t>，</a:t>
            </a:r>
            <a:r>
              <a:rPr lang="en-US" altLang="zh-CN" sz="3200" dirty="0"/>
              <a:t>char  str[] = “\ab\0663\x45\n0\0”;</a:t>
            </a:r>
            <a:endParaRPr lang="en-US" altLang="zh-CN" sz="3200" dirty="0"/>
          </a:p>
          <a:p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166054" y="2159876"/>
            <a:ext cx="90077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就是把本地文件中的数据，读到程序中来。</a:t>
            </a:r>
            <a:endParaRPr lang="zh-CN" altLang="en-US" sz="3600" dirty="0">
              <a:latin typeface="+mj-ea"/>
              <a:ea typeface="+mj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155064" y="1343872"/>
            <a:ext cx="45365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  <a:latin typeface="方正舒体" panose="02010601030101010101" pitchFamily="2" charset="-122"/>
                <a:ea typeface="方正舒体" panose="02010601030101010101" pitchFamily="2" charset="-122"/>
              </a:rPr>
              <a:t>什么叫读取数据呢？</a:t>
            </a:r>
            <a:endParaRPr lang="zh-CN" altLang="en-US" sz="3600" b="1" dirty="0">
              <a:solidFill>
                <a:srgbClr val="FF0000"/>
              </a:solidFill>
              <a:latin typeface="方正舒体" panose="02010601030101010101" pitchFamily="2" charset="-122"/>
              <a:ea typeface="方正舒体" panose="02010601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208795" y="3064214"/>
            <a:ext cx="259228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  <a:latin typeface="+mj-ea"/>
                <a:ea typeface="+mj-ea"/>
              </a:rPr>
              <a:t>代码书写步骤：</a:t>
            </a:r>
            <a:endParaRPr lang="zh-CN" altLang="en-US" sz="2800" dirty="0">
              <a:solidFill>
                <a:srgbClr val="FF0000"/>
              </a:solidFill>
              <a:latin typeface="+mj-ea"/>
              <a:ea typeface="+mj-ea"/>
            </a:endParaRPr>
          </a:p>
        </p:txBody>
      </p:sp>
      <p:sp>
        <p:nvSpPr>
          <p:cNvPr id="13" name="矩形: 圆角 12"/>
          <p:cNvSpPr/>
          <p:nvPr/>
        </p:nvSpPr>
        <p:spPr>
          <a:xfrm>
            <a:off x="1892871" y="3738819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①打开文件</a:t>
            </a:r>
            <a:endParaRPr lang="zh-CN" altLang="en-US" sz="2400" dirty="0"/>
          </a:p>
        </p:txBody>
      </p:sp>
      <p:sp>
        <p:nvSpPr>
          <p:cNvPr id="15" name="文本框 14"/>
          <p:cNvSpPr txBox="1"/>
          <p:nvPr/>
        </p:nvSpPr>
        <p:spPr>
          <a:xfrm>
            <a:off x="4917659" y="3762100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fopen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6" name="矩形: 圆角 15"/>
          <p:cNvSpPr/>
          <p:nvPr/>
        </p:nvSpPr>
        <p:spPr>
          <a:xfrm>
            <a:off x="1892871" y="4567953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②   读数据       </a:t>
            </a:r>
            <a:endParaRPr lang="zh-CN" altLang="en-US" sz="2400" dirty="0"/>
          </a:p>
        </p:txBody>
      </p:sp>
      <p:sp>
        <p:nvSpPr>
          <p:cNvPr id="18" name="文本框 17"/>
          <p:cNvSpPr txBox="1"/>
          <p:nvPr/>
        </p:nvSpPr>
        <p:spPr>
          <a:xfrm>
            <a:off x="4917659" y="4571733"/>
            <a:ext cx="40324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fgetc     fgets   fread</a:t>
            </a:r>
            <a:endParaRPr lang="zh-CN" altLang="en-US" sz="2800" dirty="0">
              <a:latin typeface="+mj-ea"/>
              <a:ea typeface="+mj-ea"/>
            </a:endParaRPr>
          </a:p>
        </p:txBody>
      </p:sp>
      <p:sp>
        <p:nvSpPr>
          <p:cNvPr id="19" name="矩形: 圆角 18"/>
          <p:cNvSpPr/>
          <p:nvPr/>
        </p:nvSpPr>
        <p:spPr>
          <a:xfrm>
            <a:off x="1892871" y="5370828"/>
            <a:ext cx="2376264" cy="523220"/>
          </a:xfrm>
          <a:prstGeom prst="roundRect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400" dirty="0"/>
              <a:t>③  关闭文件      </a:t>
            </a:r>
            <a:endParaRPr lang="zh-CN" altLang="en-US" sz="2400" dirty="0"/>
          </a:p>
        </p:txBody>
      </p:sp>
      <p:sp>
        <p:nvSpPr>
          <p:cNvPr id="20" name="文本框 19"/>
          <p:cNvSpPr txBox="1"/>
          <p:nvPr/>
        </p:nvSpPr>
        <p:spPr>
          <a:xfrm>
            <a:off x="4917659" y="5377572"/>
            <a:ext cx="158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dirty="0">
                <a:latin typeface="+mj-ea"/>
                <a:ea typeface="+mj-ea"/>
              </a:rPr>
              <a:t>fclose</a:t>
            </a:r>
            <a:endParaRPr lang="zh-CN" altLang="en-US" sz="28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7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0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7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6" dur="7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1" grpId="0"/>
      <p:bldP spid="13" grpId="0" animBg="1"/>
      <p:bldP spid="15" grpId="0"/>
      <p:bldP spid="16" grpId="0" animBg="1"/>
      <p:bldP spid="18" grpId="0"/>
      <p:bldP spid="19" grpId="0" animBg="1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练习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532831" y="1507249"/>
            <a:ext cx="1087320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latin typeface="+mj-ea"/>
                <a:ea typeface="+mj-ea"/>
              </a:rPr>
              <a:t>练习：</a:t>
            </a:r>
            <a:endParaRPr lang="en-US" altLang="zh-CN" sz="2400" b="1" dirty="0">
              <a:latin typeface="+mj-ea"/>
              <a:ea typeface="+mj-ea"/>
            </a:endParaRPr>
          </a:p>
          <a:p>
            <a:r>
              <a:rPr lang="en-US" altLang="zh-CN" dirty="0"/>
              <a:t>	</a:t>
            </a:r>
            <a:r>
              <a:rPr lang="zh-CN" altLang="en-US" sz="2800" dirty="0">
                <a:latin typeface="+mj-ea"/>
                <a:ea typeface="+mj-ea"/>
              </a:rPr>
              <a:t>打开文件：</a:t>
            </a:r>
            <a:r>
              <a:rPr lang="en-US" altLang="zh-CN" sz="2800" dirty="0">
                <a:latin typeface="+mj-ea"/>
                <a:ea typeface="+mj-ea"/>
              </a:rPr>
              <a:t>fopen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</a:t>
            </a:r>
            <a:r>
              <a:rPr lang="zh-CN" altLang="en-US" sz="2800" dirty="0">
                <a:latin typeface="+mj-ea"/>
                <a:ea typeface="+mj-ea"/>
              </a:rPr>
              <a:t>写出数据：</a:t>
            </a:r>
            <a:r>
              <a:rPr lang="en-US" altLang="zh-CN" sz="2800" dirty="0">
                <a:latin typeface="+mj-ea"/>
                <a:ea typeface="+mj-ea"/>
              </a:rPr>
              <a:t>fgetc </a:t>
            </a:r>
            <a:r>
              <a:rPr lang="zh-CN" altLang="en-US" sz="2800" dirty="0">
                <a:latin typeface="+mj-ea"/>
                <a:ea typeface="+mj-ea"/>
              </a:rPr>
              <a:t>一次读一个字符，读不到返回</a:t>
            </a:r>
            <a:r>
              <a:rPr lang="en-US" altLang="zh-CN" sz="2800" b="1" dirty="0">
                <a:solidFill>
                  <a:srgbClr val="FF0000"/>
                </a:solidFill>
                <a:latin typeface="+mj-ea"/>
                <a:ea typeface="+mj-ea"/>
              </a:rPr>
              <a:t>-1</a:t>
            </a:r>
            <a:endParaRPr lang="en-US" altLang="zh-CN" sz="2800" b="1" dirty="0">
              <a:solidFill>
                <a:srgbClr val="FF0000"/>
              </a:solidFill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		  fgets </a:t>
            </a:r>
            <a:r>
              <a:rPr lang="zh-CN" altLang="en-US" sz="2800" dirty="0">
                <a:latin typeface="+mj-ea"/>
                <a:ea typeface="+mj-ea"/>
              </a:rPr>
              <a:t>一次读一行，读不到返回</a:t>
            </a:r>
            <a:r>
              <a:rPr lang="en-US" altLang="zh-CN" sz="2800" dirty="0">
                <a:latin typeface="+mj-ea"/>
                <a:ea typeface="+mj-ea"/>
              </a:rPr>
              <a:t>null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		  fread </a:t>
            </a:r>
            <a:r>
              <a:rPr lang="zh-CN" altLang="en-US" sz="2800" dirty="0">
                <a:latin typeface="+mj-ea"/>
                <a:ea typeface="+mj-ea"/>
              </a:rPr>
              <a:t>一次读多个</a:t>
            </a:r>
            <a:endParaRPr lang="zh-CN" altLang="en-US" sz="2800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	关闭文件：</a:t>
            </a:r>
            <a:r>
              <a:rPr lang="en-US" altLang="zh-CN" sz="2800" dirty="0">
                <a:latin typeface="+mj-ea"/>
                <a:ea typeface="+mj-ea"/>
              </a:rPr>
              <a:t>fclose</a:t>
            </a:r>
            <a:endParaRPr lang="en-US" altLang="zh-CN" sz="2800" dirty="0">
              <a:latin typeface="+mj-ea"/>
              <a:ea typeface="+mj-ea"/>
            </a:endParaRPr>
          </a:p>
          <a:p>
            <a:r>
              <a:rPr lang="en-US" altLang="zh-CN" sz="2800" dirty="0">
                <a:latin typeface="+mj-ea"/>
                <a:ea typeface="+mj-ea"/>
              </a:rPr>
              <a:t>	C:\\Users\\Administrator\\Desktop\\a.txt</a:t>
            </a:r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400209" y="1404105"/>
            <a:ext cx="10513168" cy="2487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dirty="0">
                <a:latin typeface="+mj-ea"/>
                <a:ea typeface="+mj-ea"/>
              </a:rPr>
              <a:t>fopen(</a:t>
            </a:r>
            <a:r>
              <a:rPr lang="zh-CN" altLang="en-US" sz="3600" dirty="0">
                <a:solidFill>
                  <a:srgbClr val="00B0F0"/>
                </a:solidFill>
                <a:latin typeface="+mj-ea"/>
                <a:ea typeface="+mj-ea"/>
              </a:rPr>
              <a:t>参数</a:t>
            </a:r>
            <a:r>
              <a:rPr lang="en-US" altLang="zh-CN" sz="3600" dirty="0">
                <a:solidFill>
                  <a:srgbClr val="00B0F0"/>
                </a:solidFill>
                <a:latin typeface="+mj-ea"/>
                <a:ea typeface="+mj-ea"/>
              </a:rPr>
              <a:t>1</a:t>
            </a:r>
            <a:r>
              <a:rPr lang="zh-CN" altLang="en-US" sz="3600" dirty="0">
                <a:latin typeface="+mj-ea"/>
                <a:ea typeface="+mj-ea"/>
              </a:rPr>
              <a:t>，</a:t>
            </a:r>
            <a:r>
              <a:rPr lang="zh-CN" altLang="en-US" sz="3600" dirty="0">
                <a:solidFill>
                  <a:srgbClr val="C00000"/>
                </a:solidFill>
                <a:latin typeface="+mj-ea"/>
                <a:ea typeface="+mj-ea"/>
              </a:rPr>
              <a:t>参数</a:t>
            </a:r>
            <a:r>
              <a:rPr lang="en-US" altLang="zh-CN" sz="3600" dirty="0">
                <a:solidFill>
                  <a:srgbClr val="C00000"/>
                </a:solidFill>
                <a:latin typeface="+mj-ea"/>
                <a:ea typeface="+mj-ea"/>
              </a:rPr>
              <a:t>2</a:t>
            </a:r>
            <a:r>
              <a:rPr lang="en-US" altLang="zh-CN" sz="3600" dirty="0">
                <a:latin typeface="+mj-ea"/>
                <a:ea typeface="+mj-ea"/>
              </a:rPr>
              <a:t>)</a:t>
            </a:r>
            <a:endParaRPr lang="en-US" altLang="zh-CN" sz="3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00B0F0"/>
                </a:solidFill>
                <a:latin typeface="+mj-ea"/>
                <a:ea typeface="+mj-ea"/>
              </a:rPr>
              <a:t>参数</a:t>
            </a:r>
            <a:r>
              <a:rPr lang="en-US" altLang="zh-CN" sz="3600" dirty="0">
                <a:solidFill>
                  <a:srgbClr val="00B0F0"/>
                </a:solidFill>
                <a:latin typeface="+mj-ea"/>
                <a:ea typeface="+mj-ea"/>
              </a:rPr>
              <a:t>1</a:t>
            </a:r>
            <a:r>
              <a:rPr lang="en-US" altLang="zh-CN" sz="3600" dirty="0">
                <a:latin typeface="+mj-ea"/>
                <a:ea typeface="+mj-ea"/>
              </a:rPr>
              <a:t>:   </a:t>
            </a:r>
            <a:r>
              <a:rPr lang="zh-CN" altLang="en-US" sz="3600" dirty="0">
                <a:latin typeface="+mj-ea"/>
                <a:ea typeface="+mj-ea"/>
              </a:rPr>
              <a:t>文件的路径</a:t>
            </a:r>
            <a:endParaRPr lang="en-US" altLang="zh-CN" sz="3600" dirty="0">
              <a:latin typeface="+mj-ea"/>
              <a:ea typeface="+mj-ea"/>
            </a:endParaRPr>
          </a:p>
          <a:p>
            <a:pPr>
              <a:lnSpc>
                <a:spcPct val="150000"/>
              </a:lnSpc>
            </a:pPr>
            <a:r>
              <a:rPr lang="zh-CN" altLang="en-US" sz="3600" dirty="0">
                <a:solidFill>
                  <a:srgbClr val="C00000"/>
                </a:solidFill>
                <a:latin typeface="+mj-ea"/>
                <a:ea typeface="+mj-ea"/>
              </a:rPr>
              <a:t>参数</a:t>
            </a:r>
            <a:r>
              <a:rPr lang="en-US" altLang="zh-CN" sz="3600" dirty="0">
                <a:solidFill>
                  <a:srgbClr val="C00000"/>
                </a:solidFill>
                <a:latin typeface="+mj-ea"/>
                <a:ea typeface="+mj-ea"/>
              </a:rPr>
              <a:t>2</a:t>
            </a:r>
            <a:r>
              <a:rPr lang="zh-CN" altLang="en-US" sz="3600" dirty="0">
                <a:latin typeface="+mj-ea"/>
                <a:ea typeface="+mj-ea"/>
              </a:rPr>
              <a:t>：模式</a:t>
            </a:r>
            <a:endParaRPr lang="zh-CN" altLang="en-US" sz="36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927" y="1162034"/>
            <a:ext cx="8164148" cy="523120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1618205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2668" y="1245230"/>
            <a:ext cx="10253414" cy="528741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Rectangle 2"/>
          <p:cNvSpPr txBox="1">
            <a:spLocks noChangeArrowheads="1"/>
          </p:cNvSpPr>
          <p:nvPr/>
        </p:nvSpPr>
        <p:spPr>
          <a:xfrm>
            <a:off x="894668" y="723227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b="1" dirty="0">
                <a:solidFill>
                  <a:srgbClr val="FF0000"/>
                </a:solidFill>
              </a:rPr>
              <a:t>读取数据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28775" y="1177952"/>
            <a:ext cx="10513168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	</a:t>
            </a:r>
            <a:r>
              <a:rPr lang="zh-CN" altLang="en-US" sz="2000" dirty="0">
                <a:latin typeface="+mj-ea"/>
                <a:ea typeface="+mj-ea"/>
              </a:rPr>
              <a:t>打开文件：</a:t>
            </a:r>
            <a:r>
              <a:rPr lang="en-US" altLang="zh-CN" sz="2000" dirty="0">
                <a:latin typeface="+mj-ea"/>
                <a:ea typeface="+mj-ea"/>
              </a:rPr>
              <a:t>fopen</a:t>
            </a:r>
            <a:endParaRPr lang="en-US" altLang="zh-CN" sz="2000" dirty="0">
              <a:latin typeface="+mj-ea"/>
              <a:ea typeface="+mj-ea"/>
            </a:endParaRPr>
          </a:p>
          <a:p>
            <a:r>
              <a:rPr lang="en-US" altLang="zh-CN" sz="2000" dirty="0">
                <a:latin typeface="+mj-ea"/>
                <a:ea typeface="+mj-ea"/>
              </a:rPr>
              <a:t>	</a:t>
            </a:r>
            <a:r>
              <a:rPr lang="zh-CN" altLang="en-US" sz="2000" dirty="0">
                <a:latin typeface="+mj-ea"/>
                <a:ea typeface="+mj-ea"/>
              </a:rPr>
              <a:t>写出数据：</a:t>
            </a:r>
            <a:r>
              <a:rPr lang="en-US" altLang="zh-CN" sz="2000" dirty="0">
                <a:latin typeface="+mj-ea"/>
                <a:ea typeface="+mj-ea"/>
              </a:rPr>
              <a:t>fgetc </a:t>
            </a:r>
            <a:r>
              <a:rPr lang="zh-CN" altLang="en-US" sz="2000" dirty="0">
                <a:latin typeface="+mj-ea"/>
                <a:ea typeface="+mj-ea"/>
              </a:rPr>
              <a:t>一次读一个字符，读不到返回</a:t>
            </a:r>
            <a:r>
              <a:rPr lang="en-US" altLang="zh-CN" sz="2000" dirty="0">
                <a:latin typeface="+mj-ea"/>
                <a:ea typeface="+mj-ea"/>
              </a:rPr>
              <a:t>-1</a:t>
            </a:r>
            <a:endParaRPr lang="en-US" altLang="zh-CN" sz="2000" dirty="0">
              <a:latin typeface="+mj-ea"/>
              <a:ea typeface="+mj-ea"/>
            </a:endParaRPr>
          </a:p>
          <a:p>
            <a:r>
              <a:rPr lang="en-US" altLang="zh-CN" sz="2000" dirty="0">
                <a:latin typeface="+mj-ea"/>
                <a:ea typeface="+mj-ea"/>
              </a:rPr>
              <a:t>			  fgets </a:t>
            </a:r>
            <a:r>
              <a:rPr lang="zh-CN" altLang="en-US" sz="2000" dirty="0">
                <a:latin typeface="+mj-ea"/>
                <a:ea typeface="+mj-ea"/>
              </a:rPr>
              <a:t>一次读一行，读不到返回</a:t>
            </a:r>
            <a:r>
              <a:rPr lang="en-US" altLang="zh-CN" sz="2000" dirty="0">
                <a:latin typeface="+mj-ea"/>
                <a:ea typeface="+mj-ea"/>
              </a:rPr>
              <a:t>null</a:t>
            </a:r>
            <a:endParaRPr lang="en-US" altLang="zh-CN" sz="2000" dirty="0">
              <a:latin typeface="+mj-ea"/>
              <a:ea typeface="+mj-ea"/>
            </a:endParaRPr>
          </a:p>
          <a:p>
            <a:r>
              <a:rPr lang="en-US" altLang="zh-CN" sz="2000" dirty="0">
                <a:latin typeface="+mj-ea"/>
                <a:ea typeface="+mj-ea"/>
              </a:rPr>
              <a:t>			  fread </a:t>
            </a:r>
            <a:r>
              <a:rPr lang="zh-CN" altLang="en-US" sz="2000" dirty="0">
                <a:latin typeface="+mj-ea"/>
                <a:ea typeface="+mj-ea"/>
              </a:rPr>
              <a:t>一次读多个</a:t>
            </a:r>
            <a:endParaRPr lang="zh-CN" altLang="en-US" sz="2000" dirty="0">
              <a:latin typeface="+mj-ea"/>
              <a:ea typeface="+mj-ea"/>
            </a:endParaRPr>
          </a:p>
          <a:p>
            <a:r>
              <a:rPr lang="zh-CN" altLang="en-US" sz="2000" dirty="0">
                <a:latin typeface="+mj-ea"/>
                <a:ea typeface="+mj-ea"/>
              </a:rPr>
              <a:t>	关闭文件：</a:t>
            </a:r>
            <a:r>
              <a:rPr lang="en-US" altLang="zh-CN" sz="2000" dirty="0">
                <a:latin typeface="+mj-ea"/>
                <a:ea typeface="+mj-ea"/>
              </a:rPr>
              <a:t>fclose</a:t>
            </a:r>
            <a:endParaRPr lang="en-US" altLang="zh-CN" sz="2000" dirty="0">
              <a:latin typeface="+mj-ea"/>
              <a:ea typeface="+mj-ea"/>
            </a:endParaRPr>
          </a:p>
          <a:p>
            <a:r>
              <a:rPr lang="en-US" altLang="zh-CN" sz="2000" dirty="0">
                <a:latin typeface="+mj-ea"/>
                <a:ea typeface="+mj-ea"/>
              </a:rPr>
              <a:t>	C:\\Users\\Administrator\\Desktop\\a.txt</a:t>
            </a:r>
            <a:endParaRPr lang="en-US" altLang="zh-CN" sz="2000" dirty="0">
              <a:latin typeface="+mj-ea"/>
              <a:ea typeface="+mj-ea"/>
            </a:endParaRPr>
          </a:p>
          <a:p>
            <a:r>
              <a:rPr lang="en-US" altLang="zh-CN" dirty="0"/>
              <a:t>	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//1</a:t>
            </a:r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、打开文件 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fopen</a:t>
            </a:r>
            <a:endParaRPr lang="en-US" altLang="zh-CN" sz="2000" dirty="0">
              <a:solidFill>
                <a:srgbClr val="00B0F0"/>
              </a:solidFill>
              <a:latin typeface="+mj-ea"/>
              <a:ea typeface="+mj-ea"/>
            </a:endParaRP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FILE* file = fopen("C:\\Users\\Administrator\\Desktop\\a.txt","r");</a:t>
            </a:r>
            <a:endParaRPr lang="en-US" altLang="zh-CN" sz="2000" dirty="0">
              <a:solidFill>
                <a:srgbClr val="00B0F0"/>
              </a:solidFill>
              <a:latin typeface="+mj-ea"/>
              <a:ea typeface="+mj-ea"/>
            </a:endParaRP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//2</a:t>
            </a:r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、读取数据 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fgetc</a:t>
            </a:r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一次读一个字符，读不到返回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-1</a:t>
            </a:r>
            <a:endParaRPr lang="en-US" altLang="zh-CN" sz="2000" dirty="0">
              <a:solidFill>
                <a:srgbClr val="00B0F0"/>
              </a:solidFill>
              <a:latin typeface="+mj-ea"/>
              <a:ea typeface="+mj-ea"/>
            </a:endParaRP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// </a:t>
            </a:r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细节：一次读取一个字节，如果读到了，就返回读到的字节，否则返回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-1 </a:t>
            </a:r>
            <a:endParaRPr lang="en-US" altLang="zh-CN" sz="2000" dirty="0">
              <a:solidFill>
                <a:srgbClr val="00B0F0"/>
              </a:solidFill>
              <a:latin typeface="+mj-ea"/>
              <a:ea typeface="+mj-ea"/>
            </a:endParaRP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char c = fgetc(file);</a:t>
            </a:r>
            <a:endParaRPr lang="en-US" altLang="zh-CN" sz="2000" dirty="0">
              <a:solidFill>
                <a:srgbClr val="00B0F0"/>
              </a:solidFill>
              <a:latin typeface="+mj-ea"/>
              <a:ea typeface="+mj-ea"/>
            </a:endParaRP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printf("%c\</a:t>
            </a:r>
            <a:r>
              <a:rPr lang="en-US" altLang="zh-CN" sz="2000" dirty="0" err="1">
                <a:solidFill>
                  <a:srgbClr val="00B0F0"/>
                </a:solidFill>
                <a:latin typeface="+mj-ea"/>
                <a:ea typeface="+mj-ea"/>
              </a:rPr>
              <a:t>n",c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);</a:t>
            </a:r>
            <a:endParaRPr lang="en-US" altLang="zh-CN" sz="2000" dirty="0">
              <a:solidFill>
                <a:srgbClr val="00B0F0"/>
              </a:solidFill>
              <a:latin typeface="+mj-ea"/>
              <a:ea typeface="+mj-ea"/>
            </a:endParaRPr>
          </a:p>
          <a:p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	// 3</a:t>
            </a:r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、关闭文件</a:t>
            </a:r>
            <a:endParaRPr lang="zh-CN" altLang="en-US" sz="2000" dirty="0">
              <a:solidFill>
                <a:srgbClr val="00B0F0"/>
              </a:solidFill>
              <a:latin typeface="+mj-ea"/>
              <a:ea typeface="+mj-ea"/>
            </a:endParaRPr>
          </a:p>
          <a:p>
            <a:r>
              <a:rPr lang="zh-CN" altLang="en-US" sz="2000" dirty="0">
                <a:solidFill>
                  <a:srgbClr val="00B0F0"/>
                </a:solidFill>
                <a:latin typeface="+mj-ea"/>
                <a:ea typeface="+mj-ea"/>
              </a:rPr>
              <a:t>	</a:t>
            </a:r>
            <a:r>
              <a:rPr lang="en-US" altLang="zh-CN" sz="2000" dirty="0">
                <a:solidFill>
                  <a:srgbClr val="00B0F0"/>
                </a:solidFill>
                <a:latin typeface="+mj-ea"/>
                <a:ea typeface="+mj-ea"/>
              </a:rPr>
              <a:t>fclose(file); </a:t>
            </a:r>
            <a:endParaRPr lang="zh-CN" altLang="en-US" dirty="0">
              <a:solidFill>
                <a:srgbClr val="00B0F0"/>
              </a:solidFill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占位符 2"/>
          <p:cNvSpPr>
            <a:spLocks noGrp="1"/>
          </p:cNvSpPr>
          <p:nvPr/>
        </p:nvSpPr>
        <p:spPr>
          <a:xfrm>
            <a:off x="3945099" y="1874868"/>
            <a:ext cx="4968552" cy="3000839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文件概述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文件路径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3600" dirty="0"/>
              <a:t>转义字符</a:t>
            </a:r>
            <a:endParaRPr lang="en-US" altLang="zh-CN" sz="3600" dirty="0"/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3600" dirty="0"/>
              <a:t>fgetc</a:t>
            </a:r>
            <a:r>
              <a:rPr lang="zh-CN" altLang="en-US" sz="3600" dirty="0"/>
              <a:t>使用</a:t>
            </a:r>
            <a:endParaRPr lang="en-US" altLang="zh-CN" sz="3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388815" y="1816125"/>
            <a:ext cx="90730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 dirty="0">
                <a:latin typeface="+mj-ea"/>
                <a:ea typeface="+mj-ea"/>
              </a:rPr>
              <a:t>课堂案例自己写一遍</a:t>
            </a:r>
            <a:endParaRPr lang="zh-CN" altLang="en-US" sz="3200" dirty="0">
              <a:latin typeface="+mj-ea"/>
              <a:ea typeface="+mj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9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9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  <p:tag name="commondata" val="eyJoZGlkIjoiN2QzODcyNGFhZmEzNjVhZTY5ZjNiMTM1MDZiMzE4OWMifQ==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1942</Words>
  <Application>WPS 演示</Application>
  <PresentationFormat>自定义</PresentationFormat>
  <Paragraphs>206</Paragraphs>
  <Slides>20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41" baseType="lpstr">
      <vt:lpstr>Arial</vt:lpstr>
      <vt:lpstr>宋体</vt:lpstr>
      <vt:lpstr>Wingdings</vt:lpstr>
      <vt:lpstr>Calibri</vt:lpstr>
      <vt:lpstr>Helvetica Neue</vt:lpstr>
      <vt:lpstr>汉仪书宋二KW</vt:lpstr>
      <vt:lpstr>印品黑体</vt:lpstr>
      <vt:lpstr>汉仪中黑KW</vt:lpstr>
      <vt:lpstr>微软雅黑</vt:lpstr>
      <vt:lpstr>汉仪旗黑</vt:lpstr>
      <vt:lpstr>字魂73号-江南手书</vt:lpstr>
      <vt:lpstr>Alibaba PuHuiTi B</vt:lpstr>
      <vt:lpstr>苹方-简</vt:lpstr>
      <vt:lpstr>黑体</vt:lpstr>
      <vt:lpstr>阿里巴巴普惠体</vt:lpstr>
      <vt:lpstr>宋体</vt:lpstr>
      <vt:lpstr>Arial Unicode MS</vt:lpstr>
      <vt:lpstr>方正舒体</vt:lpstr>
      <vt:lpstr>华文宋体</vt:lpstr>
      <vt:lpstr>Alibaba PuHuiTi R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657</cp:revision>
  <dcterms:created xsi:type="dcterms:W3CDTF">2026-03-04T02:48:06Z</dcterms:created>
  <dcterms:modified xsi:type="dcterms:W3CDTF">2026-03-04T02:48:06Z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2052-6.9.0.8865</vt:lpwstr>
  </property>
  <property fmtid="{D5CDD505-2E9C-101B-9397-08002B2CF9AE}" pid="3" name="ICV">
    <vt:lpwstr>FCA88555D3D44735BAA1F56722F3B997</vt:lpwstr>
  </property>
</Properties>
</file>