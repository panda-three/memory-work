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7"/>
  </p:notesMasterIdLst>
  <p:handoutMasterIdLst>
    <p:handoutMasterId r:id="rId28"/>
  </p:handoutMasterIdLst>
  <p:sldIdLst>
    <p:sldId id="3705" r:id="rId3"/>
    <p:sldId id="3706" r:id="rId4"/>
    <p:sldId id="3807" r:id="rId5"/>
    <p:sldId id="3646" r:id="rId6"/>
    <p:sldId id="3798" r:id="rId8"/>
    <p:sldId id="3811" r:id="rId9"/>
    <p:sldId id="3809" r:id="rId10"/>
    <p:sldId id="3810" r:id="rId11"/>
    <p:sldId id="3812" r:id="rId12"/>
    <p:sldId id="3813" r:id="rId13"/>
    <p:sldId id="3815" r:id="rId14"/>
    <p:sldId id="3814" r:id="rId15"/>
    <p:sldId id="3816" r:id="rId16"/>
    <p:sldId id="3817" r:id="rId17"/>
    <p:sldId id="3818" r:id="rId18"/>
    <p:sldId id="3819" r:id="rId19"/>
    <p:sldId id="3820" r:id="rId20"/>
    <p:sldId id="3821" r:id="rId21"/>
    <p:sldId id="3822" r:id="rId22"/>
    <p:sldId id="3823" r:id="rId23"/>
    <p:sldId id="3824" r:id="rId24"/>
    <p:sldId id="3712" r:id="rId25"/>
    <p:sldId id="3793" r:id="rId26"/>
    <p:sldId id="3702" r:id="rId27"/>
  </p:sldIdLst>
  <p:sldSz cx="12858750" cy="7232650"/>
  <p:notesSz cx="6858000" cy="9144000"/>
  <p:custDataLst>
    <p:tags r:id="rId3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52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7030A0"/>
    <a:srgbClr val="AF4436"/>
    <a:srgbClr val="1542FF"/>
    <a:srgbClr val="FFBF00"/>
    <a:srgbClr val="0C6AC7"/>
    <a:srgbClr val="FFC000"/>
    <a:srgbClr val="066197"/>
    <a:srgbClr val="262626"/>
    <a:srgbClr val="076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63" d="100"/>
          <a:sy n="63" d="100"/>
        </p:scale>
        <p:origin x="67" y="490"/>
      </p:cViewPr>
      <p:guideLst>
        <p:guide orient="horz" pos="218"/>
        <p:guide orient="horz" pos="4152"/>
        <p:guide pos="4075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gs" Target="tags/tag1.xml"/><Relationship Id="rId32" Type="http://schemas.openxmlformats.org/officeDocument/2006/relationships/commentAuthors" Target="commentAuthors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9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</a:t>
            </a:r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写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926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  <a:endParaRPr lang="zh-CN" altLang="en-US" b="1" dirty="0"/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2972991" y="1312069"/>
            <a:ext cx="6480720" cy="3896981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altLang="zh-CN" sz="6600" dirty="0"/>
          </a:p>
        </p:txBody>
      </p:sp>
      <p:sp>
        <p:nvSpPr>
          <p:cNvPr id="7" name="文本占位符 2"/>
          <p:cNvSpPr>
            <a:spLocks noGrp="1"/>
          </p:cNvSpPr>
          <p:nvPr/>
        </p:nvSpPr>
        <p:spPr>
          <a:xfrm>
            <a:off x="2612951" y="1829259"/>
            <a:ext cx="7632848" cy="22195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altLang="zh-CN" sz="6600" dirty="0"/>
              <a:t>fgetc</a:t>
            </a:r>
            <a:r>
              <a:rPr lang="zh-CN" altLang="en-US" sz="6600" dirty="0"/>
              <a:t>使用</a:t>
            </a:r>
            <a:endParaRPr lang="en-US" altLang="zh-CN" sz="6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rgbClr val="FFFFFF"/>
                </a:solidFill>
              </a:rPr>
              <a:t>新课导入</a:t>
            </a:r>
            <a:r>
              <a:rPr lang="zh-CN" altLang="en-US" b="1" dirty="0"/>
              <a:t>  目标及重难点  新授 总结与合作探究  作业  限时检测</a:t>
            </a:r>
            <a:endParaRPr lang="zh-CN" altLang="en-US" b="1" dirty="0"/>
          </a:p>
        </p:txBody>
      </p:sp>
      <p:sp>
        <p:nvSpPr>
          <p:cNvPr id="6" name="箭头: 上 5"/>
          <p:cNvSpPr/>
          <p:nvPr/>
        </p:nvSpPr>
        <p:spPr>
          <a:xfrm>
            <a:off x="1388815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88815" y="1372816"/>
            <a:ext cx="10009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一个一个字符读太慢了，有快一点的方法吗？</a:t>
            </a:r>
            <a:endParaRPr lang="zh-CN" altLang="en-US" sz="4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945099" y="1874868"/>
            <a:ext cx="4968552" cy="300083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3600" dirty="0"/>
              <a:t>fgets</a:t>
            </a:r>
            <a:r>
              <a:rPr lang="zh-CN" altLang="en-US" sz="3600" dirty="0"/>
              <a:t>读数据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3600" dirty="0"/>
              <a:t>fread</a:t>
            </a:r>
            <a:r>
              <a:rPr lang="zh-CN" altLang="en-US" sz="3600" dirty="0"/>
              <a:t>读数据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b="1" dirty="0">
                <a:solidFill>
                  <a:srgbClr val="FF0000"/>
                </a:solidFill>
              </a:rPr>
              <a:t>写</a:t>
            </a:r>
            <a:r>
              <a:rPr lang="zh-CN" altLang="en-US" sz="3600" dirty="0"/>
              <a:t>数据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练习</a:t>
            </a:r>
            <a:endParaRPr lang="en-US" altLang="zh-CN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2942419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-fgets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00783" y="1452932"/>
            <a:ext cx="3240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fgets</a:t>
            </a:r>
            <a:r>
              <a:rPr lang="zh-CN" altLang="en-US" sz="3600" dirty="0"/>
              <a:t>使用</a:t>
            </a:r>
            <a:endParaRPr lang="zh-CN" altLang="en-US" sz="3600" dirty="0"/>
          </a:p>
        </p:txBody>
      </p:sp>
      <p:sp>
        <p:nvSpPr>
          <p:cNvPr id="4" name="文本框 3"/>
          <p:cNvSpPr txBox="1"/>
          <p:nvPr/>
        </p:nvSpPr>
        <p:spPr>
          <a:xfrm>
            <a:off x="1100783" y="2443518"/>
            <a:ext cx="2592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+mj-ea"/>
                <a:ea typeface="+mj-ea"/>
              </a:rPr>
              <a:t>步骤：</a:t>
            </a:r>
            <a:endParaRPr lang="zh-CN" altLang="en-US" sz="28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1784859" y="3118123"/>
            <a:ext cx="2376264" cy="52322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①打开文件</a:t>
            </a:r>
            <a:endParaRPr lang="zh-CN" altLang="en-US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4809647" y="3141404"/>
            <a:ext cx="403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fopen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1784859" y="3947257"/>
            <a:ext cx="2376264" cy="52322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②   读数据       </a:t>
            </a:r>
            <a:endParaRPr lang="zh-CN" altLang="en-US" sz="2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4809647" y="3936042"/>
            <a:ext cx="403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fgets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1784859" y="4750132"/>
            <a:ext cx="2376264" cy="52322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③  关闭文件      </a:t>
            </a:r>
            <a:endParaRPr lang="zh-CN" altLang="en-US" sz="2400" dirty="0"/>
          </a:p>
        </p:txBody>
      </p:sp>
      <p:sp>
        <p:nvSpPr>
          <p:cNvPr id="15" name="文本框 14"/>
          <p:cNvSpPr txBox="1"/>
          <p:nvPr/>
        </p:nvSpPr>
        <p:spPr>
          <a:xfrm>
            <a:off x="4809647" y="4756876"/>
            <a:ext cx="1583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fclose</a:t>
            </a:r>
            <a:endParaRPr lang="zh-CN" altLang="en-US" sz="2800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/>
      <p:bldP spid="11" grpId="0" animBg="1"/>
      <p:bldP spid="12" grpId="0"/>
      <p:bldP spid="14" grpId="0" animBg="1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2942419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-fread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00783" y="1452932"/>
            <a:ext cx="103691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打开文件：</a:t>
            </a:r>
            <a:r>
              <a:rPr lang="en-US" altLang="zh-CN" sz="3600" dirty="0"/>
              <a:t>open</a:t>
            </a:r>
            <a:endParaRPr lang="en-US" altLang="zh-CN" sz="3600" dirty="0"/>
          </a:p>
          <a:p>
            <a:r>
              <a:rPr lang="zh-CN" altLang="en-US" sz="3600" dirty="0"/>
              <a:t>读取书库：</a:t>
            </a:r>
            <a:r>
              <a:rPr lang="en-US" altLang="zh-CN" sz="3600" dirty="0"/>
              <a:t>fgets</a:t>
            </a:r>
            <a:r>
              <a:rPr lang="zh-CN" altLang="en-US" sz="3600" dirty="0"/>
              <a:t>第一次读一行，读不到返回</a:t>
            </a:r>
            <a:r>
              <a:rPr lang="en-US" altLang="zh-CN" sz="3600" dirty="0"/>
              <a:t>null</a:t>
            </a:r>
            <a:endParaRPr lang="en-US" altLang="zh-CN" sz="3600" dirty="0"/>
          </a:p>
          <a:p>
            <a:r>
              <a:rPr lang="zh-CN" altLang="en-US" sz="3600" dirty="0"/>
              <a:t>关闭文件：</a:t>
            </a:r>
            <a:r>
              <a:rPr lang="en-US" altLang="zh-CN" sz="3600" dirty="0"/>
              <a:t>fclose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一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-fgets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072" y="1600101"/>
            <a:ext cx="10101783" cy="34207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2942419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-fread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00783" y="1452932"/>
            <a:ext cx="6120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fread</a:t>
            </a:r>
            <a:r>
              <a:rPr lang="zh-CN" altLang="en-US" sz="3600" dirty="0"/>
              <a:t>使用</a:t>
            </a:r>
            <a:r>
              <a:rPr lang="en-US" altLang="zh-CN" sz="3600" dirty="0"/>
              <a:t>-</a:t>
            </a:r>
            <a:r>
              <a:rPr lang="zh-CN" altLang="en-US" sz="3600" dirty="0"/>
              <a:t>第一次读多个</a:t>
            </a:r>
            <a:endParaRPr lang="zh-CN" altLang="en-US" sz="3600" dirty="0"/>
          </a:p>
        </p:txBody>
      </p:sp>
      <p:sp>
        <p:nvSpPr>
          <p:cNvPr id="4" name="文本框 3"/>
          <p:cNvSpPr txBox="1"/>
          <p:nvPr/>
        </p:nvSpPr>
        <p:spPr>
          <a:xfrm>
            <a:off x="1100783" y="2443518"/>
            <a:ext cx="2592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+mj-ea"/>
                <a:ea typeface="+mj-ea"/>
              </a:rPr>
              <a:t>步骤：</a:t>
            </a:r>
            <a:endParaRPr lang="zh-CN" altLang="en-US" sz="28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1784859" y="3118123"/>
            <a:ext cx="2376264" cy="52322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①打开文件</a:t>
            </a:r>
            <a:endParaRPr lang="zh-CN" altLang="en-US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4809647" y="3141404"/>
            <a:ext cx="403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fopen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1784859" y="3947257"/>
            <a:ext cx="2376264" cy="52322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②   读数据       </a:t>
            </a:r>
            <a:endParaRPr lang="zh-CN" altLang="en-US" sz="2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4809647" y="3936042"/>
            <a:ext cx="403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fread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1784859" y="4750132"/>
            <a:ext cx="2376264" cy="52322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③  关闭文件      </a:t>
            </a:r>
            <a:endParaRPr lang="zh-CN" altLang="en-US" sz="2400" dirty="0"/>
          </a:p>
        </p:txBody>
      </p:sp>
      <p:sp>
        <p:nvSpPr>
          <p:cNvPr id="15" name="文本框 14"/>
          <p:cNvSpPr txBox="1"/>
          <p:nvPr/>
        </p:nvSpPr>
        <p:spPr>
          <a:xfrm>
            <a:off x="4809647" y="4756876"/>
            <a:ext cx="1583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fclose</a:t>
            </a:r>
            <a:endParaRPr lang="zh-CN" altLang="en-US" sz="2800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/>
      <p:bldP spid="11" grpId="0" animBg="1"/>
      <p:bldP spid="12" grpId="0"/>
      <p:bldP spid="14" grpId="0" animBg="1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2942419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-fread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16807" y="1250300"/>
            <a:ext cx="65527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打开文件：</a:t>
            </a:r>
            <a:r>
              <a:rPr lang="en-US" altLang="zh-CN" sz="3600" dirty="0"/>
              <a:t>open</a:t>
            </a:r>
            <a:endParaRPr lang="en-US" altLang="zh-CN" sz="3600" dirty="0"/>
          </a:p>
          <a:p>
            <a:r>
              <a:rPr lang="zh-CN" altLang="en-US" sz="3600" dirty="0"/>
              <a:t>读取书库：</a:t>
            </a:r>
            <a:r>
              <a:rPr lang="en-US" altLang="zh-CN" sz="3600" dirty="0"/>
              <a:t>fread</a:t>
            </a:r>
            <a:r>
              <a:rPr lang="zh-CN" altLang="en-US" sz="3600" dirty="0"/>
              <a:t>第一次读多个</a:t>
            </a:r>
            <a:endParaRPr lang="en-US" altLang="zh-CN" sz="3600" dirty="0"/>
          </a:p>
          <a:p>
            <a:r>
              <a:rPr lang="zh-CN" altLang="en-US" sz="3600" dirty="0"/>
              <a:t>关闭文件：</a:t>
            </a:r>
            <a:r>
              <a:rPr lang="en-US" altLang="zh-CN" sz="3600" dirty="0"/>
              <a:t>fclose</a:t>
            </a:r>
            <a:endParaRPr lang="zh-CN" altLang="en-US" sz="3600" dirty="0"/>
          </a:p>
        </p:txBody>
      </p:sp>
      <p:sp>
        <p:nvSpPr>
          <p:cNvPr id="4" name="文本框 3"/>
          <p:cNvSpPr txBox="1"/>
          <p:nvPr/>
        </p:nvSpPr>
        <p:spPr>
          <a:xfrm>
            <a:off x="1316807" y="3184277"/>
            <a:ext cx="1071219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fread(</a:t>
            </a:r>
            <a:r>
              <a:rPr lang="zh-CN" altLang="en-US" sz="2800" dirty="0">
                <a:solidFill>
                  <a:srgbClr val="FF0000"/>
                </a:solidFill>
              </a:rPr>
              <a:t>参数</a:t>
            </a:r>
            <a:r>
              <a:rPr lang="en-US" altLang="zh-CN" sz="2800" dirty="0">
                <a:solidFill>
                  <a:srgbClr val="FF0000"/>
                </a:solidFill>
              </a:rPr>
              <a:t>1</a:t>
            </a:r>
            <a:r>
              <a:rPr lang="zh-CN" altLang="en-US" sz="2800" dirty="0"/>
              <a:t>，</a:t>
            </a:r>
            <a:r>
              <a:rPr lang="zh-CN" altLang="en-US" sz="2800" dirty="0">
                <a:solidFill>
                  <a:srgbClr val="FF0000"/>
                </a:solidFill>
              </a:rPr>
              <a:t>参数</a:t>
            </a:r>
            <a:r>
              <a:rPr lang="en-US" altLang="zh-CN" sz="2800" dirty="0">
                <a:solidFill>
                  <a:srgbClr val="FF0000"/>
                </a:solidFill>
              </a:rPr>
              <a:t>2</a:t>
            </a:r>
            <a:r>
              <a:rPr lang="zh-CN" altLang="en-US" sz="2800" dirty="0"/>
              <a:t>，</a:t>
            </a:r>
            <a:r>
              <a:rPr lang="zh-CN" altLang="en-US" sz="2800" dirty="0">
                <a:solidFill>
                  <a:srgbClr val="FF0000"/>
                </a:solidFill>
              </a:rPr>
              <a:t>参数</a:t>
            </a:r>
            <a:r>
              <a:rPr lang="en-US" altLang="zh-CN" sz="2800" dirty="0">
                <a:solidFill>
                  <a:srgbClr val="FF0000"/>
                </a:solidFill>
              </a:rPr>
              <a:t>3</a:t>
            </a:r>
            <a:r>
              <a:rPr lang="zh-CN" altLang="en-US" sz="2800" dirty="0"/>
              <a:t>，</a:t>
            </a:r>
            <a:r>
              <a:rPr lang="zh-CN" altLang="en-US" sz="2800" dirty="0">
                <a:solidFill>
                  <a:srgbClr val="FF0000"/>
                </a:solidFill>
              </a:rPr>
              <a:t>参数</a:t>
            </a:r>
            <a:r>
              <a:rPr lang="en-US" altLang="zh-CN" sz="2800" dirty="0">
                <a:solidFill>
                  <a:srgbClr val="FF0000"/>
                </a:solidFill>
              </a:rPr>
              <a:t>4</a:t>
            </a:r>
            <a:r>
              <a:rPr lang="en-US" altLang="zh-CN" sz="2800" dirty="0"/>
              <a:t>);</a:t>
            </a:r>
            <a:endParaRPr lang="en-US" altLang="zh-CN" sz="2800" dirty="0"/>
          </a:p>
          <a:p>
            <a:r>
              <a:rPr lang="zh-CN" altLang="en-US" sz="2800" b="1" dirty="0">
                <a:solidFill>
                  <a:srgbClr val="00B050"/>
                </a:solidFill>
              </a:rPr>
              <a:t>参数</a:t>
            </a:r>
            <a:r>
              <a:rPr lang="en-US" altLang="zh-CN" sz="2800" b="1" dirty="0">
                <a:solidFill>
                  <a:srgbClr val="00B050"/>
                </a:solidFill>
              </a:rPr>
              <a:t>1</a:t>
            </a:r>
            <a:r>
              <a:rPr lang="zh-CN" altLang="en-US" sz="2800" dirty="0"/>
              <a:t>：数组，表示我要用一个数组去装现在读到的数据</a:t>
            </a:r>
            <a:endParaRPr lang="zh-CN" altLang="en-US" sz="2800" dirty="0"/>
          </a:p>
          <a:p>
            <a:r>
              <a:rPr lang="zh-CN" altLang="en-US" sz="2800" b="1" dirty="0">
                <a:solidFill>
                  <a:srgbClr val="00B050"/>
                </a:solidFill>
              </a:rPr>
              <a:t>参数</a:t>
            </a:r>
            <a:r>
              <a:rPr lang="en-US" altLang="zh-CN" sz="2800" b="1" dirty="0">
                <a:solidFill>
                  <a:srgbClr val="00B050"/>
                </a:solidFill>
              </a:rPr>
              <a:t>2</a:t>
            </a:r>
            <a:r>
              <a:rPr lang="zh-CN" altLang="en-US" sz="2800" dirty="0"/>
              <a:t>：数组里的每一个数据占多少个字节 ，一般定义</a:t>
            </a:r>
            <a:r>
              <a:rPr lang="en-US" altLang="zh-CN" sz="2800" dirty="0"/>
              <a:t>char</a:t>
            </a:r>
            <a:r>
              <a:rPr lang="zh-CN" altLang="en-US" sz="2800" dirty="0"/>
              <a:t>类型，占一个字节</a:t>
            </a:r>
            <a:endParaRPr lang="zh-CN" altLang="en-US" sz="2800" dirty="0"/>
          </a:p>
          <a:p>
            <a:r>
              <a:rPr lang="zh-CN" altLang="en-US" sz="2800" b="1" dirty="0">
                <a:solidFill>
                  <a:srgbClr val="00B050"/>
                </a:solidFill>
              </a:rPr>
              <a:t>参数</a:t>
            </a:r>
            <a:r>
              <a:rPr lang="en-US" altLang="zh-CN" sz="2800" b="1" dirty="0">
                <a:solidFill>
                  <a:srgbClr val="00B050"/>
                </a:solidFill>
              </a:rPr>
              <a:t>3</a:t>
            </a:r>
            <a:r>
              <a:rPr lang="zh-CN" altLang="en-US" sz="2800" dirty="0"/>
              <a:t>：数组的长度 ，表示：要用数组的整体去装读到的数据</a:t>
            </a:r>
            <a:endParaRPr lang="zh-CN" altLang="en-US" sz="2800" dirty="0"/>
          </a:p>
          <a:p>
            <a:r>
              <a:rPr lang="zh-CN" altLang="en-US" sz="2800" b="1" dirty="0">
                <a:solidFill>
                  <a:srgbClr val="00B050"/>
                </a:solidFill>
              </a:rPr>
              <a:t>参数</a:t>
            </a:r>
            <a:r>
              <a:rPr lang="en-US" altLang="zh-CN" sz="2800" b="1" dirty="0">
                <a:solidFill>
                  <a:srgbClr val="00B050"/>
                </a:solidFill>
              </a:rPr>
              <a:t>4</a:t>
            </a:r>
            <a:r>
              <a:rPr lang="zh-CN" altLang="en-US" sz="2800" dirty="0"/>
              <a:t>： 我要读取的文件</a:t>
            </a:r>
            <a:r>
              <a:rPr lang="en-US" altLang="zh-CN" sz="2800" dirty="0"/>
              <a:t>file </a:t>
            </a:r>
            <a:endParaRPr lang="en-US" altLang="zh-CN" sz="2800" dirty="0"/>
          </a:p>
          <a:p>
            <a:r>
              <a:rPr lang="zh-CN" altLang="en-US" sz="2800" b="1" dirty="0">
                <a:solidFill>
                  <a:srgbClr val="C00000"/>
                </a:solidFill>
              </a:rPr>
              <a:t>最终返回当前读到的字节个数，最终读不到返回</a:t>
            </a:r>
            <a:r>
              <a:rPr lang="en-US" altLang="zh-CN" sz="2800" b="1" dirty="0">
                <a:solidFill>
                  <a:srgbClr val="C00000"/>
                </a:solidFill>
              </a:rPr>
              <a:t>0</a:t>
            </a:r>
            <a:r>
              <a:rPr lang="zh-CN" altLang="en-US" sz="2800" b="1" dirty="0">
                <a:solidFill>
                  <a:srgbClr val="C00000"/>
                </a:solidFill>
              </a:rPr>
              <a:t>。 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2942419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-fread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98" y="1166742"/>
            <a:ext cx="7852767" cy="288830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898" y="4230346"/>
            <a:ext cx="2838450" cy="9525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119" y="4237108"/>
            <a:ext cx="8277225" cy="1828800"/>
          </a:xfrm>
          <a:prstGeom prst="rect">
            <a:avLst/>
          </a:prstGeom>
        </p:spPr>
      </p:pic>
      <p:cxnSp>
        <p:nvCxnSpPr>
          <p:cNvPr id="4" name="直接箭头连接符 3"/>
          <p:cNvCxnSpPr/>
          <p:nvPr/>
        </p:nvCxnSpPr>
        <p:spPr>
          <a:xfrm flipV="1">
            <a:off x="2365877" y="1194925"/>
            <a:ext cx="7087834" cy="357352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621751" y="320428"/>
            <a:ext cx="3072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原因：因为没有换行符，所以读取到了一些乱七八糟的数据。</a:t>
            </a:r>
            <a:endParaRPr lang="zh-CN" altLang="en-US" dirty="0"/>
          </a:p>
        </p:txBody>
      </p:sp>
      <p:cxnSp>
        <p:nvCxnSpPr>
          <p:cNvPr id="11" name="直接箭头连接符 10"/>
          <p:cNvCxnSpPr/>
          <p:nvPr/>
        </p:nvCxnSpPr>
        <p:spPr>
          <a:xfrm flipH="1" flipV="1">
            <a:off x="821981" y="2769850"/>
            <a:ext cx="494826" cy="146725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16770" y="1831508"/>
            <a:ext cx="11521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因为第一行后面有换行符。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2942419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-fread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21614" y="1477489"/>
            <a:ext cx="30723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第一种解决方式：</a:t>
            </a:r>
            <a:endParaRPr lang="en-US" altLang="zh-CN" sz="2800" dirty="0"/>
          </a:p>
          <a:p>
            <a:r>
              <a:rPr lang="pt-BR" altLang="zh-CN" sz="2800" dirty="0"/>
              <a:t>if(n &gt; 0){</a:t>
            </a:r>
            <a:endParaRPr lang="pt-BR" altLang="zh-CN" sz="2800" dirty="0"/>
          </a:p>
          <a:p>
            <a:r>
              <a:rPr lang="pt-BR" altLang="zh-CN" sz="2800" dirty="0"/>
              <a:t>        arr[n] = '\0';</a:t>
            </a:r>
            <a:endParaRPr lang="pt-BR" altLang="zh-CN" sz="2800" dirty="0"/>
          </a:p>
          <a:p>
            <a:r>
              <a:rPr lang="pt-BR" altLang="zh-CN" sz="2800" dirty="0"/>
              <a:t>}</a:t>
            </a:r>
            <a:endParaRPr lang="zh-CN" altLang="en-US" sz="2800" dirty="0"/>
          </a:p>
        </p:txBody>
      </p:sp>
      <p:sp>
        <p:nvSpPr>
          <p:cNvPr id="14" name="文本框 13"/>
          <p:cNvSpPr txBox="1"/>
          <p:nvPr/>
        </p:nvSpPr>
        <p:spPr>
          <a:xfrm>
            <a:off x="5342590" y="1477489"/>
            <a:ext cx="645583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第二种解决方式：</a:t>
            </a:r>
            <a:endParaRPr lang="en-US" altLang="zh-CN" sz="2800" dirty="0"/>
          </a:p>
          <a:p>
            <a:r>
              <a:rPr lang="pt-BR" altLang="zh-CN" sz="2800" dirty="0"/>
              <a:t>while((n = fread(arr,1,4,file)) != 0){</a:t>
            </a:r>
            <a:endParaRPr lang="pt-BR" altLang="zh-CN" sz="2800" dirty="0"/>
          </a:p>
          <a:p>
            <a:r>
              <a:rPr lang="pt-BR" altLang="zh-CN" sz="2800" dirty="0"/>
              <a:t>        int i;</a:t>
            </a:r>
            <a:endParaRPr lang="pt-BR" altLang="zh-CN" sz="2800" dirty="0"/>
          </a:p>
          <a:p>
            <a:r>
              <a:rPr lang="pt-BR" altLang="zh-CN" sz="2800" dirty="0"/>
              <a:t>        for(i = 0;i &lt; n;i++){</a:t>
            </a:r>
            <a:endParaRPr lang="pt-BR" altLang="zh-CN" sz="2800" dirty="0"/>
          </a:p>
          <a:p>
            <a:r>
              <a:rPr lang="pt-BR" altLang="zh-CN" sz="2800" dirty="0"/>
              <a:t>                printf("%c",arr[i]);</a:t>
            </a:r>
            <a:endParaRPr lang="pt-BR" altLang="zh-CN" sz="2800" dirty="0"/>
          </a:p>
          <a:p>
            <a:r>
              <a:rPr lang="pt-BR" altLang="zh-CN" sz="2800" dirty="0"/>
              <a:t>        }</a:t>
            </a:r>
            <a:endParaRPr lang="pt-BR" altLang="zh-CN" sz="2800" dirty="0"/>
          </a:p>
          <a:p>
            <a:r>
              <a:rPr lang="pt-BR" altLang="zh-CN" sz="2800" dirty="0"/>
              <a:t>}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2942419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-fread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50730" y="1456085"/>
            <a:ext cx="11267277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B050"/>
                </a:solidFill>
                <a:latin typeface="+mj-ea"/>
                <a:ea typeface="+mj-ea"/>
              </a:rPr>
              <a:t>fread</a:t>
            </a:r>
            <a:r>
              <a:rPr lang="zh-CN" altLang="en-US" sz="3200" b="1" dirty="0">
                <a:solidFill>
                  <a:srgbClr val="00B050"/>
                </a:solidFill>
                <a:latin typeface="+mj-ea"/>
                <a:ea typeface="+mj-ea"/>
              </a:rPr>
              <a:t>读取数据的细节：</a:t>
            </a:r>
            <a:endParaRPr lang="en-US" altLang="zh-CN" sz="3200" b="1" dirty="0">
              <a:solidFill>
                <a:srgbClr val="00B050"/>
              </a:solidFill>
              <a:latin typeface="+mj-ea"/>
              <a:ea typeface="+mj-ea"/>
            </a:endParaRPr>
          </a:p>
          <a:p>
            <a:r>
              <a:rPr lang="en-US" altLang="zh-CN" sz="2400" dirty="0"/>
              <a:t>    </a:t>
            </a:r>
            <a:r>
              <a:rPr lang="zh-CN" altLang="en-US" sz="2400" dirty="0"/>
              <a:t>⭐️在读取的时候，每次尽可能会把数组给装满，返回当前读取到的有效字节个数。</a:t>
            </a:r>
            <a:endParaRPr lang="en-US" altLang="zh-CN" sz="2400" dirty="0"/>
          </a:p>
          <a:p>
            <a:r>
              <a:rPr lang="en-US" altLang="zh-CN" sz="2400" dirty="0"/>
              <a:t>    </a:t>
            </a:r>
            <a:r>
              <a:rPr lang="zh-CN" altLang="en-US" sz="2400" dirty="0"/>
              <a:t>比如：文件里有</a:t>
            </a:r>
            <a:r>
              <a:rPr lang="en-US" altLang="zh-CN" sz="2400" dirty="0"/>
              <a:t>100</a:t>
            </a:r>
            <a:r>
              <a:rPr lang="zh-CN" altLang="en-US" sz="2400" dirty="0"/>
              <a:t>个字节</a:t>
            </a:r>
            <a:endParaRPr lang="en-US" altLang="zh-CN" sz="2400" dirty="0"/>
          </a:p>
          <a:p>
            <a:r>
              <a:rPr lang="en-US" altLang="zh-CN" sz="2400" dirty="0"/>
              <a:t>    </a:t>
            </a:r>
            <a:r>
              <a:rPr lang="zh-CN" altLang="en-US" sz="2400" dirty="0"/>
              <a:t>但是数组的长度是：</a:t>
            </a:r>
            <a:r>
              <a:rPr lang="en-US" altLang="zh-CN" sz="2400" dirty="0"/>
              <a:t>30</a:t>
            </a:r>
            <a:r>
              <a:rPr lang="zh-CN" altLang="en-US" sz="2400" dirty="0"/>
              <a:t>，那么在读取的时候，就是下面的情况</a:t>
            </a:r>
            <a:endParaRPr lang="en-US" altLang="zh-CN" sz="2400" dirty="0"/>
          </a:p>
          <a:p>
            <a:r>
              <a:rPr lang="en-US" altLang="zh-CN" sz="2400" dirty="0"/>
              <a:t>    </a:t>
            </a:r>
            <a:r>
              <a:rPr lang="zh-CN" altLang="en-US" sz="2400" dirty="0"/>
              <a:t>第一次读取：读取前面</a:t>
            </a:r>
            <a:r>
              <a:rPr lang="en-US" altLang="zh-CN" sz="2400" dirty="0"/>
              <a:t>30</a:t>
            </a:r>
            <a:r>
              <a:rPr lang="zh-CN" altLang="en-US" sz="2400" dirty="0"/>
              <a:t>个字节，把数组给装满，此时这个函数就会返回</a:t>
            </a:r>
            <a:r>
              <a:rPr lang="en-US" altLang="zh-CN" sz="2400" dirty="0"/>
              <a:t>30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en-US" altLang="zh-CN" sz="2400" dirty="0"/>
              <a:t>    </a:t>
            </a:r>
            <a:r>
              <a:rPr lang="zh-CN" altLang="en-US" sz="2400" dirty="0"/>
              <a:t>第二次读取：读取后面</a:t>
            </a:r>
            <a:r>
              <a:rPr lang="en-US" altLang="zh-CN" sz="2400" dirty="0"/>
              <a:t>30</a:t>
            </a:r>
            <a:r>
              <a:rPr lang="zh-CN" altLang="en-US" sz="2400" dirty="0"/>
              <a:t>个字节，把数组给装满，此时这个函数就会返回</a:t>
            </a:r>
            <a:r>
              <a:rPr lang="en-US" altLang="zh-CN" sz="2400" dirty="0"/>
              <a:t>30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zh-CN" altLang="en-US" sz="2400" dirty="0"/>
              <a:t>    第三次读取：读取后面</a:t>
            </a:r>
            <a:r>
              <a:rPr lang="en-US" altLang="zh-CN" sz="2400" dirty="0"/>
              <a:t>30</a:t>
            </a:r>
            <a:r>
              <a:rPr lang="zh-CN" altLang="en-US" sz="2400" dirty="0"/>
              <a:t>个字节，把数组给装满，此时这个函数就会返回</a:t>
            </a:r>
            <a:r>
              <a:rPr lang="en-US" altLang="zh-CN" sz="2400" dirty="0"/>
              <a:t>30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en-US" altLang="zh-CN" sz="2400" dirty="0"/>
              <a:t>    </a:t>
            </a:r>
            <a:r>
              <a:rPr lang="zh-CN" altLang="en-US" sz="2400" dirty="0"/>
              <a:t>第四次读取：读取剩余的</a:t>
            </a:r>
            <a:r>
              <a:rPr lang="en-US" altLang="zh-CN" sz="2400" dirty="0"/>
              <a:t>10</a:t>
            </a:r>
            <a:r>
              <a:rPr lang="zh-CN" altLang="en-US" sz="2400" dirty="0"/>
              <a:t>个字节，会把数据放在数组当中，此时函数返回</a:t>
            </a:r>
            <a:r>
              <a:rPr lang="en-US" altLang="zh-CN" sz="2400" dirty="0"/>
              <a:t>10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en-US" altLang="zh-CN" sz="2400" dirty="0"/>
              <a:t>    </a:t>
            </a:r>
            <a:r>
              <a:rPr lang="zh-CN" altLang="en-US" sz="2400" dirty="0"/>
              <a:t>第五次读取：没有数据可以读取了，函数会返回</a:t>
            </a:r>
            <a:r>
              <a:rPr lang="en-US" altLang="zh-CN" sz="2400" dirty="0"/>
              <a:t>0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2942419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写出数据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00783" y="1600101"/>
            <a:ext cx="1080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+mj-ea"/>
                <a:ea typeface="+mj-ea"/>
              </a:rPr>
              <a:t>把程序当中的数据，写到本地文件当中永久存储。</a:t>
            </a:r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00783" y="2443518"/>
            <a:ext cx="2592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+mj-ea"/>
                <a:ea typeface="+mj-ea"/>
              </a:rPr>
              <a:t>步骤：</a:t>
            </a:r>
            <a:endParaRPr lang="zh-CN" altLang="en-US" sz="28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1784859" y="3118123"/>
            <a:ext cx="2376264" cy="52322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①打开文件</a:t>
            </a:r>
            <a:endParaRPr lang="zh-CN" altLang="en-US" sz="2400" dirty="0"/>
          </a:p>
        </p:txBody>
      </p:sp>
      <p:sp>
        <p:nvSpPr>
          <p:cNvPr id="11" name="文本框 10"/>
          <p:cNvSpPr txBox="1"/>
          <p:nvPr/>
        </p:nvSpPr>
        <p:spPr>
          <a:xfrm>
            <a:off x="4809647" y="3141404"/>
            <a:ext cx="403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fopen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1784859" y="3947257"/>
            <a:ext cx="2376264" cy="52322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②   写数据       </a:t>
            </a:r>
            <a:endParaRPr lang="zh-CN" altLang="en-US" sz="2400" dirty="0"/>
          </a:p>
        </p:txBody>
      </p:sp>
      <p:sp>
        <p:nvSpPr>
          <p:cNvPr id="14" name="文本框 13"/>
          <p:cNvSpPr txBox="1"/>
          <p:nvPr/>
        </p:nvSpPr>
        <p:spPr>
          <a:xfrm>
            <a:off x="4809647" y="3936042"/>
            <a:ext cx="4500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fputc     fputs       fwrite  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1784859" y="4750132"/>
            <a:ext cx="2376264" cy="52322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③  关闭文件      </a:t>
            </a:r>
            <a:endParaRPr lang="zh-CN" altLang="en-US" sz="2400" dirty="0"/>
          </a:p>
        </p:txBody>
      </p:sp>
      <p:sp>
        <p:nvSpPr>
          <p:cNvPr id="16" name="文本框 15"/>
          <p:cNvSpPr txBox="1"/>
          <p:nvPr/>
        </p:nvSpPr>
        <p:spPr>
          <a:xfrm>
            <a:off x="4809647" y="4756876"/>
            <a:ext cx="1583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fclose</a:t>
            </a:r>
            <a:endParaRPr lang="zh-CN" altLang="en-US" sz="2800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1" grpId="0"/>
      <p:bldP spid="12" grpId="0" animBg="1"/>
      <p:bldP spid="14" grpId="0"/>
      <p:bldP spid="15" grpId="0" animBg="1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2942419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写出数据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919" y="1282894"/>
            <a:ext cx="8164148" cy="52312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2942419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代码演示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8735" y="1427350"/>
            <a:ext cx="1195332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打开文件： </a:t>
            </a:r>
            <a:r>
              <a:rPr lang="en-US" altLang="zh-CN" sz="3200" dirty="0"/>
              <a:t>open</a:t>
            </a:r>
            <a:endParaRPr lang="en-US" altLang="zh-CN" sz="3200" dirty="0"/>
          </a:p>
          <a:p>
            <a:r>
              <a:rPr lang="zh-CN" altLang="en-US" sz="3200" dirty="0"/>
              <a:t>写出数据：</a:t>
            </a:r>
            <a:r>
              <a:rPr lang="en-US" altLang="zh-CN" sz="3200" dirty="0"/>
              <a:t>fputc </a:t>
            </a:r>
            <a:r>
              <a:rPr lang="zh-CN" altLang="en-US" sz="3200" dirty="0"/>
              <a:t>一次写一个字符，返回写出的字符</a:t>
            </a:r>
            <a:endParaRPr lang="en-US" altLang="zh-CN" sz="3200" dirty="0"/>
          </a:p>
          <a:p>
            <a:r>
              <a:rPr lang="en-US" altLang="zh-CN" sz="3200" dirty="0"/>
              <a:t>	fputs</a:t>
            </a:r>
            <a:r>
              <a:rPr lang="zh-CN" altLang="en-US" sz="3200" dirty="0"/>
              <a:t>一次写一个字符串，写出成功返回非负数，一般忽略返回值</a:t>
            </a:r>
            <a:endParaRPr lang="en-US" altLang="zh-CN" sz="3200" dirty="0"/>
          </a:p>
          <a:p>
            <a:r>
              <a:rPr lang="en-US" altLang="zh-CN" sz="3200" dirty="0"/>
              <a:t>	fwrite </a:t>
            </a:r>
            <a:r>
              <a:rPr lang="zh-CN" altLang="en-US" sz="3200" dirty="0"/>
              <a:t>一次写多个，返回写出的个数</a:t>
            </a:r>
            <a:endParaRPr lang="en-US" altLang="zh-CN" sz="3200" dirty="0"/>
          </a:p>
          <a:p>
            <a:r>
              <a:rPr lang="zh-CN" altLang="en-US" sz="3200" dirty="0"/>
              <a:t>关闭文件：</a:t>
            </a:r>
            <a:r>
              <a:rPr lang="en-US" altLang="zh-CN" sz="3200" dirty="0"/>
              <a:t>close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en-US" altLang="zh-CN" sz="3200" dirty="0"/>
              <a:t>‪C:\\Users\\Administrator\\Desktop\\123.txt</a:t>
            </a:r>
            <a:endParaRPr lang="zh-CN" alt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4094547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代码演示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</a:rPr>
              <a:t>fputc</a:t>
            </a:r>
            <a:endParaRPr lang="zh-CN" altLang="zh-CN" sz="2400" b="1" dirty="0">
              <a:solidFill>
                <a:srgbClr val="00B050"/>
              </a:solidFill>
              <a:latin typeface="+mj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74" y="1672109"/>
            <a:ext cx="11613951" cy="28004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4094547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代码演示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</a:rPr>
              <a:t>fputs</a:t>
            </a:r>
            <a:endParaRPr lang="zh-CN" altLang="zh-CN" sz="2400" b="1" dirty="0">
              <a:solidFill>
                <a:srgbClr val="00B050"/>
              </a:solidFill>
              <a:latin typeface="+mj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68" y="1526898"/>
            <a:ext cx="11541943" cy="36521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4094547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代码演示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</a:rPr>
              <a:t>fwrite</a:t>
            </a:r>
            <a:endParaRPr lang="zh-CN" altLang="zh-CN" sz="2400" b="1" dirty="0">
              <a:solidFill>
                <a:srgbClr val="00B050"/>
              </a:solidFill>
              <a:latin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06054" y="1358507"/>
            <a:ext cx="8771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fwrite(</a:t>
            </a:r>
            <a:r>
              <a:rPr lang="zh-CN" altLang="en-US" sz="3600" dirty="0"/>
              <a:t>参数</a:t>
            </a:r>
            <a:r>
              <a:rPr lang="en-US" altLang="zh-CN" sz="3600" dirty="0"/>
              <a:t>1</a:t>
            </a:r>
            <a:r>
              <a:rPr lang="zh-CN" altLang="en-US" sz="3600" dirty="0"/>
              <a:t>，参数</a:t>
            </a:r>
            <a:r>
              <a:rPr lang="en-US" altLang="zh-CN" sz="3600" dirty="0"/>
              <a:t>2</a:t>
            </a:r>
            <a:r>
              <a:rPr lang="zh-CN" altLang="en-US" sz="3600" dirty="0"/>
              <a:t>，参数</a:t>
            </a:r>
            <a:r>
              <a:rPr lang="en-US" altLang="zh-CN" sz="3600" dirty="0"/>
              <a:t>3</a:t>
            </a:r>
            <a:r>
              <a:rPr lang="zh-CN" altLang="en-US" sz="3600" dirty="0"/>
              <a:t>，参数</a:t>
            </a:r>
            <a:r>
              <a:rPr lang="en-US" altLang="zh-CN" sz="3600" dirty="0"/>
              <a:t>4)</a:t>
            </a:r>
            <a:endParaRPr lang="zh-CN" altLang="en-US" sz="3600" dirty="0"/>
          </a:p>
        </p:txBody>
      </p:sp>
      <p:sp>
        <p:nvSpPr>
          <p:cNvPr id="2" name="文本框 1"/>
          <p:cNvSpPr txBox="1"/>
          <p:nvPr/>
        </p:nvSpPr>
        <p:spPr>
          <a:xfrm>
            <a:off x="1006054" y="2500436"/>
            <a:ext cx="106571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00B050"/>
                </a:solidFill>
                <a:latin typeface="+mj-ea"/>
                <a:ea typeface="+mj-ea"/>
              </a:rPr>
              <a:t>参数</a:t>
            </a:r>
            <a:r>
              <a:rPr lang="en-US" altLang="zh-CN" sz="3200" dirty="0">
                <a:solidFill>
                  <a:srgbClr val="00B050"/>
                </a:solidFill>
                <a:latin typeface="+mj-ea"/>
                <a:ea typeface="+mj-ea"/>
              </a:rPr>
              <a:t>1</a:t>
            </a:r>
            <a:r>
              <a:rPr lang="zh-CN" altLang="en-US" sz="3200" dirty="0">
                <a:solidFill>
                  <a:srgbClr val="00B050"/>
                </a:solidFill>
                <a:latin typeface="+mj-ea"/>
                <a:ea typeface="+mj-ea"/>
              </a:rPr>
              <a:t>：</a:t>
            </a:r>
            <a:r>
              <a:rPr lang="zh-CN" altLang="en-US" sz="3200" dirty="0"/>
              <a:t>是一个数组，数组里存着需要写入的数据，必须是</a:t>
            </a:r>
            <a:r>
              <a:rPr lang="en-US" altLang="zh-CN" sz="3200" dirty="0"/>
              <a:t>ASCII</a:t>
            </a:r>
            <a:r>
              <a:rPr lang="zh-CN" altLang="en-US" sz="3200" dirty="0"/>
              <a:t>表里对应的数字。</a:t>
            </a:r>
            <a:endParaRPr lang="en-US" altLang="zh-CN" sz="3200" dirty="0"/>
          </a:p>
          <a:p>
            <a:r>
              <a:rPr lang="zh-CN" altLang="en-US" sz="3200" dirty="0">
                <a:solidFill>
                  <a:srgbClr val="00B050"/>
                </a:solidFill>
                <a:latin typeface="+mj-ea"/>
                <a:ea typeface="+mj-ea"/>
              </a:rPr>
              <a:t>参数</a:t>
            </a:r>
            <a:r>
              <a:rPr lang="en-US" altLang="zh-CN" sz="3200" dirty="0">
                <a:solidFill>
                  <a:srgbClr val="00B050"/>
                </a:solidFill>
                <a:latin typeface="+mj-ea"/>
                <a:ea typeface="+mj-ea"/>
              </a:rPr>
              <a:t>2</a:t>
            </a:r>
            <a:r>
              <a:rPr lang="zh-CN" altLang="en-US" sz="3200" dirty="0">
                <a:solidFill>
                  <a:srgbClr val="00B050"/>
                </a:solidFill>
                <a:latin typeface="+mj-ea"/>
                <a:ea typeface="+mj-ea"/>
              </a:rPr>
              <a:t>：</a:t>
            </a:r>
            <a:r>
              <a:rPr lang="zh-CN" altLang="en-US" sz="3200" dirty="0"/>
              <a:t>数组里的每一个元素占多少个字节。</a:t>
            </a:r>
            <a:endParaRPr lang="en-US" altLang="zh-CN" sz="3200" dirty="0"/>
          </a:p>
          <a:p>
            <a:r>
              <a:rPr lang="zh-CN" altLang="en-US" sz="3200" dirty="0">
                <a:solidFill>
                  <a:srgbClr val="00B050"/>
                </a:solidFill>
                <a:latin typeface="+mj-ea"/>
                <a:ea typeface="+mj-ea"/>
              </a:rPr>
              <a:t>参数</a:t>
            </a:r>
            <a:r>
              <a:rPr lang="en-US" altLang="zh-CN" sz="3200" dirty="0">
                <a:solidFill>
                  <a:srgbClr val="00B050"/>
                </a:solidFill>
                <a:latin typeface="+mj-ea"/>
                <a:ea typeface="+mj-ea"/>
              </a:rPr>
              <a:t>3</a:t>
            </a:r>
            <a:r>
              <a:rPr lang="zh-CN" altLang="en-US" sz="3200" dirty="0">
                <a:solidFill>
                  <a:srgbClr val="00B050"/>
                </a:solidFill>
                <a:latin typeface="+mj-ea"/>
                <a:ea typeface="+mj-ea"/>
              </a:rPr>
              <a:t>：</a:t>
            </a:r>
            <a:r>
              <a:rPr lang="zh-CN" altLang="en-US" sz="3200" dirty="0"/>
              <a:t>需要写多少个数据，一般都是把数组里的所有数据都写出。</a:t>
            </a:r>
            <a:endParaRPr lang="en-US" altLang="zh-CN" sz="3200" dirty="0"/>
          </a:p>
          <a:p>
            <a:r>
              <a:rPr lang="zh-CN" altLang="en-US" sz="3200" dirty="0">
                <a:solidFill>
                  <a:srgbClr val="00B050"/>
                </a:solidFill>
                <a:latin typeface="+mj-ea"/>
                <a:ea typeface="+mj-ea"/>
              </a:rPr>
              <a:t>参数</a:t>
            </a:r>
            <a:r>
              <a:rPr lang="en-US" altLang="zh-CN" sz="3200" dirty="0">
                <a:solidFill>
                  <a:srgbClr val="00B050"/>
                </a:solidFill>
                <a:latin typeface="+mj-ea"/>
                <a:ea typeface="+mj-ea"/>
              </a:rPr>
              <a:t>4</a:t>
            </a:r>
            <a:r>
              <a:rPr lang="zh-CN" altLang="en-US" sz="3200" dirty="0">
                <a:solidFill>
                  <a:srgbClr val="00B050"/>
                </a:solidFill>
                <a:latin typeface="+mj-ea"/>
                <a:ea typeface="+mj-ea"/>
              </a:rPr>
              <a:t>：</a:t>
            </a:r>
            <a:r>
              <a:rPr lang="zh-CN" altLang="en-US" sz="3200" dirty="0"/>
              <a:t>数据要写入的文件。</a:t>
            </a:r>
            <a:endParaRPr lang="zh-CN" alt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4094547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代码演示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</a:rPr>
              <a:t>fwrite</a:t>
            </a:r>
            <a:endParaRPr lang="zh-CN" altLang="zh-CN" sz="2400" b="1" dirty="0">
              <a:solidFill>
                <a:srgbClr val="00B050"/>
              </a:solidFill>
              <a:latin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767" y="1369703"/>
            <a:ext cx="11397927" cy="46811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4094547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endParaRPr lang="zh-CN" altLang="zh-CN" sz="2400" b="1" dirty="0">
              <a:solidFill>
                <a:srgbClr val="00B050"/>
              </a:solidFill>
              <a:latin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85094" y="1306510"/>
            <a:ext cx="11089232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练习：</a:t>
            </a:r>
            <a:endParaRPr lang="en-US" altLang="zh-CN" sz="3600" dirty="0">
              <a:latin typeface="+mj-ea"/>
              <a:ea typeface="+mj-ea"/>
            </a:endParaRPr>
          </a:p>
          <a:p>
            <a:r>
              <a:rPr lang="en-US" altLang="zh-CN" sz="3600" dirty="0">
                <a:latin typeface="+mj-ea"/>
                <a:ea typeface="+mj-ea"/>
              </a:rPr>
              <a:t>    </a:t>
            </a:r>
            <a:r>
              <a:rPr lang="zh-CN" altLang="en-US" sz="3600" dirty="0">
                <a:latin typeface="+mj-ea"/>
                <a:ea typeface="+mj-ea"/>
              </a:rPr>
              <a:t>利用代码拷贝文件</a:t>
            </a:r>
            <a:endParaRPr lang="en-US" altLang="zh-CN" sz="3600" dirty="0">
              <a:latin typeface="+mj-ea"/>
              <a:ea typeface="+mj-ea"/>
            </a:endParaRPr>
          </a:p>
          <a:p>
            <a:r>
              <a:rPr lang="zh-CN" altLang="en-US" sz="3600" dirty="0">
                <a:latin typeface="+mj-ea"/>
                <a:ea typeface="+mj-ea"/>
              </a:rPr>
              <a:t>要求：</a:t>
            </a:r>
            <a:endParaRPr lang="en-US" altLang="zh-CN" sz="3600" dirty="0">
              <a:latin typeface="+mj-ea"/>
              <a:ea typeface="+mj-ea"/>
            </a:endParaRPr>
          </a:p>
          <a:p>
            <a:r>
              <a:rPr lang="en-US" altLang="zh-CN" sz="3600" dirty="0">
                <a:latin typeface="+mj-ea"/>
                <a:ea typeface="+mj-ea"/>
              </a:rPr>
              <a:t>     </a:t>
            </a:r>
            <a:r>
              <a:rPr lang="zh-CN" altLang="en-US" sz="3600" dirty="0">
                <a:latin typeface="+mj-ea"/>
                <a:ea typeface="+mj-ea"/>
              </a:rPr>
              <a:t>把桌面上的</a:t>
            </a:r>
            <a:r>
              <a:rPr lang="en-US" altLang="zh-CN" sz="3600" dirty="0">
                <a:latin typeface="+mj-ea"/>
                <a:ea typeface="+mj-ea"/>
              </a:rPr>
              <a:t>bug.mp4</a:t>
            </a:r>
            <a:r>
              <a:rPr lang="zh-CN" altLang="en-US" sz="3600" dirty="0">
                <a:latin typeface="+mj-ea"/>
                <a:ea typeface="+mj-ea"/>
              </a:rPr>
              <a:t>拷贝到桌面的</a:t>
            </a:r>
            <a:r>
              <a:rPr lang="en-US" altLang="zh-CN" sz="3600" dirty="0">
                <a:latin typeface="+mj-ea"/>
                <a:ea typeface="+mj-ea"/>
              </a:rPr>
              <a:t>aaa</a:t>
            </a:r>
            <a:r>
              <a:rPr lang="zh-CN" altLang="en-US" sz="3600" dirty="0">
                <a:latin typeface="+mj-ea"/>
                <a:ea typeface="+mj-ea"/>
              </a:rPr>
              <a:t>文夹件中</a:t>
            </a:r>
            <a:endParaRPr lang="zh-CN" altLang="en-US" sz="3600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4094547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endParaRPr lang="zh-CN" altLang="zh-CN" sz="2400" b="1" dirty="0">
              <a:solidFill>
                <a:srgbClr val="00B050"/>
              </a:solidFill>
              <a:latin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767" y="1483358"/>
            <a:ext cx="11541943" cy="42659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7" name="文本占位符 2"/>
          <p:cNvSpPr>
            <a:spLocks noGrp="1"/>
          </p:cNvSpPr>
          <p:nvPr/>
        </p:nvSpPr>
        <p:spPr>
          <a:xfrm>
            <a:off x="3945099" y="1874868"/>
            <a:ext cx="4968552" cy="300083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3600" dirty="0"/>
              <a:t>fgets</a:t>
            </a:r>
            <a:r>
              <a:rPr lang="zh-CN" altLang="en-US" sz="3600" dirty="0"/>
              <a:t>读数据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3600" dirty="0"/>
              <a:t>fread</a:t>
            </a:r>
            <a:r>
              <a:rPr lang="zh-CN" altLang="en-US" sz="3600" dirty="0"/>
              <a:t>读数据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b="1" dirty="0">
                <a:solidFill>
                  <a:srgbClr val="FF0000"/>
                </a:solidFill>
              </a:rPr>
              <a:t>写</a:t>
            </a:r>
            <a:r>
              <a:rPr lang="zh-CN" altLang="en-US" sz="3600" dirty="0"/>
              <a:t>数据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练习</a:t>
            </a:r>
            <a:endParaRPr lang="en-US" altLang="zh-CN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88815" y="1816125"/>
            <a:ext cx="907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+mj-ea"/>
                <a:ea typeface="+mj-ea"/>
              </a:rPr>
              <a:t>课堂案例自己写一遍</a:t>
            </a:r>
            <a:endParaRPr lang="zh-CN" altLang="en-US" sz="3200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  <p:tag name="commondata" val="eyJoZGlkIjoiN2QzODcyNGFhZmEzNjVhZTY5ZjNiMTM1MDZiMzE4OWMifQ==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2517</Words>
  <Application>WPS 演示</Application>
  <PresentationFormat>自定义</PresentationFormat>
  <Paragraphs>258</Paragraphs>
  <Slides>24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4" baseType="lpstr">
      <vt:lpstr>Arial</vt:lpstr>
      <vt:lpstr>宋体</vt:lpstr>
      <vt:lpstr>Wingdings</vt:lpstr>
      <vt:lpstr>Calibri</vt:lpstr>
      <vt:lpstr>Helvetica Neue</vt:lpstr>
      <vt:lpstr>汉仪书宋二KW</vt:lpstr>
      <vt:lpstr>印品黑体</vt:lpstr>
      <vt:lpstr>汉仪中黑KW</vt:lpstr>
      <vt:lpstr>微软雅黑</vt:lpstr>
      <vt:lpstr>汉仪旗黑</vt:lpstr>
      <vt:lpstr>字魂73号-江南手书</vt:lpstr>
      <vt:lpstr>Alibaba PuHuiTi B</vt:lpstr>
      <vt:lpstr>苹方-简</vt:lpstr>
      <vt:lpstr>黑体</vt:lpstr>
      <vt:lpstr>阿里巴巴普惠体</vt:lpstr>
      <vt:lpstr>宋体</vt:lpstr>
      <vt:lpstr>Arial Unicode MS</vt:lpstr>
      <vt:lpstr>Alibaba PuHuiTi R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657</cp:revision>
  <dcterms:created xsi:type="dcterms:W3CDTF">2026-03-03T23:53:59Z</dcterms:created>
  <dcterms:modified xsi:type="dcterms:W3CDTF">2026-03-03T23:53:59Z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2052-6.9.0.8865</vt:lpwstr>
  </property>
  <property fmtid="{D5CDD505-2E9C-101B-9397-08002B2CF9AE}" pid="3" name="ICV">
    <vt:lpwstr>FCA88555D3D44735BAA1F56722F3B997</vt:lpwstr>
  </property>
</Properties>
</file>