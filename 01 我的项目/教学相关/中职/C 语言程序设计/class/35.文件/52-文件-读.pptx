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705" r:id="rId2"/>
    <p:sldId id="3706" r:id="rId3"/>
    <p:sldId id="3807" r:id="rId4"/>
    <p:sldId id="3646" r:id="rId5"/>
    <p:sldId id="3798" r:id="rId6"/>
    <p:sldId id="3800" r:id="rId7"/>
    <p:sldId id="3808" r:id="rId8"/>
    <p:sldId id="3809" r:id="rId9"/>
    <p:sldId id="3810" r:id="rId10"/>
    <p:sldId id="3811" r:id="rId11"/>
    <p:sldId id="3818" r:id="rId12"/>
    <p:sldId id="3819" r:id="rId13"/>
    <p:sldId id="3812" r:id="rId14"/>
    <p:sldId id="3813" r:id="rId15"/>
    <p:sldId id="3814" r:id="rId16"/>
    <p:sldId id="3815" r:id="rId17"/>
    <p:sldId id="3816" r:id="rId18"/>
    <p:sldId id="3817" r:id="rId19"/>
    <p:sldId id="3712" r:id="rId20"/>
    <p:sldId id="3793" r:id="rId21"/>
    <p:sldId id="3702" r:id="rId22"/>
  </p:sldIdLst>
  <p:sldSz cx="12858750" cy="7232650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7030A0"/>
    <a:srgbClr val="AF4436"/>
    <a:srgbClr val="1542FF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34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2025-01-09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2025-01-09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9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4DBD-7F33-3C99-9730-7D713F54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1AFF8C-A6E6-FA8D-E32B-B42C7278F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A4D1EC-DBBF-70CA-FA44-C797AECC5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F73206-78E5-6C4F-5010-097CB506C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1146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29D6-3D3E-18C7-E8A6-EC6846B8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41BD28-B021-63FB-2B76-3FE9C203E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91E9BD-CC80-5913-6F89-E36918D68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400EA2-5649-4D42-F94A-B41561ACA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0040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ACC6-DCD5-BA39-E34C-B9B3EB7F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88514F-F8F5-2D60-FAD3-6593F4023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F275E9-4800-DBAF-D123-15292D4DA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46E26F-1C23-1081-D5F9-E5B68C178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8704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1B7C4-281B-4F2F-EB0D-D431426E3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4D2DE-3FFA-C77A-E9C2-25378CADE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31E9BB-1748-AE50-E1DB-14220F9BF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B7C597-4930-E074-65C9-9054E9016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6469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00A0D-5B5B-96AF-D223-CE8378BF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F1C27B-652F-FA3A-BB70-C94ED1045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C8A843-CBEC-8FCD-1601-CD0215533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8F8375-2BBB-CAB4-DDB3-49ECED4F4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1450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2204C-5F68-3F91-782A-B6098B3C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1F1C81-9DF7-9D15-16D6-7E2B0EC68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49642B-E9F1-4824-2A86-6E108FA29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33FD8-C428-BAC8-FF40-DD0E75AF9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3082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EE4AF-D1C6-0F3D-8712-007F3B85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889210-85EB-BA2F-4F03-4B8AF84C6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B1EC92-98B5-D1F0-E9EA-D118FD474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6AFCD1-4B72-38C4-B4F7-4287083BA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096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06ABA-DBFE-A86E-5CB6-7886D93A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E11CEE-1197-79CE-55D4-051CB7D03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3DDA4C-7A30-817C-58E9-6FDA2754B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738E94-402B-707E-CD58-1DBB04046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6991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B4D36-1F5C-16E2-C9E0-6E1933EB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C9BA62-D114-DC02-05A5-AC3D0CA42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C8BDF9-A048-2D32-98AD-1D05D0999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CCEACD-2762-0336-FB68-8AEE58BF1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976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ECCAE-C2E7-12A0-272E-1B5DB1346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BEC059-32E4-60A7-37AE-D394D561B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B00C84-DA6D-07BE-3DD5-D4B272282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F80CA-FC42-60EE-DF5C-E2A3C2B11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4954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29D4F-BD9F-2AB3-C08E-4279B15B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B0C39C-9D85-CA42-51FA-A4EA9DD7E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B57DDA-D07E-06F0-DD05-917BA8A92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386734-520D-5380-F7F5-722BC7788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1971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AAFAF-4E8D-3F90-2FE7-9874EA64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CFFBD1-4F8F-006A-BD47-6D0D1754A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FEAAB0-90FC-320C-8817-FCA00CD53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B5E02C-3601-EA57-C65A-7F8132643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9334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F50F-F2FB-A738-E514-21BE5732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1F1F01-5762-D4DA-6132-20D1C6D2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670C6C-047E-11FE-743D-A2ACC07E9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091264-E216-09B7-83B9-A8B942B22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8085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19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2025-01-09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2025-01-09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2025-01-09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2025-01-09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984257D-0BD9-E786-C437-0839FFDFEFF2}"/>
              </a:ext>
            </a:extLst>
          </p:cNvPr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278EE72-DA65-C554-87A9-0A7834775D4E}"/>
              </a:ext>
            </a:extLst>
          </p:cNvPr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6600" dirty="0">
                <a:solidFill>
                  <a:schemeClr val="tx1"/>
                </a:solidFill>
              </a:rPr>
              <a:t>共用体</a:t>
            </a:r>
            <a:endParaRPr lang="en-US" altLang="zh-CN" sz="6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0603-6C25-34BD-D771-CA65492C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ADA5700-EF27-15D5-24FA-51BD82F8E7FC}"/>
              </a:ext>
            </a:extLst>
          </p:cNvPr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B50AE9-8C57-D1F0-B2A7-6F6FAA876110}"/>
              </a:ext>
            </a:extLst>
          </p:cNvPr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6856AA-E69F-FDE4-06CD-5747B3691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C05884A-3A3E-8A73-EAD4-C6F752DE1B39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C416AA-B0AE-46F8-5356-6652791CAF2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rgbClr val="FFFFFF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</a:p>
        </p:txBody>
      </p:sp>
      <p:sp>
        <p:nvSpPr>
          <p:cNvPr id="6" name="箭头: 上 5">
            <a:extLst>
              <a:ext uri="{FF2B5EF4-FFF2-40B4-BE49-F238E27FC236}">
                <a16:creationId xmlns:a16="http://schemas.microsoft.com/office/drawing/2014/main" id="{F8C58563-8935-5EE9-AD8F-E801C28C5867}"/>
              </a:ext>
            </a:extLst>
          </p:cNvPr>
          <p:cNvSpPr/>
          <p:nvPr/>
        </p:nvSpPr>
        <p:spPr>
          <a:xfrm>
            <a:off x="1388815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3F7728E-F5E3-6CC3-A12B-6A4EE5EAE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055" y="936155"/>
            <a:ext cx="5384692" cy="36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8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文件概述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文件路径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转义字符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fgetc</a:t>
            </a:r>
            <a:r>
              <a:rPr lang="zh-CN" altLang="en-US" sz="3600" dirty="0"/>
              <a:t>使用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2078323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文件概述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863824A-4A86-60E2-D53D-674BEFD3F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85" y="1833333"/>
            <a:ext cx="11163300" cy="38671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BDACB2B-B12D-DE77-7D26-624B43634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096" y="4196365"/>
            <a:ext cx="1743075" cy="17621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B263F82-2E7E-30A5-670E-22624F58E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5279" y="1348022"/>
            <a:ext cx="1162050" cy="5619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2101CE7-B67C-3CF3-7652-FD25CF0ECC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4954" y="5786441"/>
            <a:ext cx="1114425" cy="5524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EC5D44B-406A-9C85-2D2C-E590A166A4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167" y="1347263"/>
            <a:ext cx="1714500" cy="1524000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BE4AC24-35D5-B817-9F09-C34C6956005C}"/>
              </a:ext>
            </a:extLst>
          </p:cNvPr>
          <p:cNvCxnSpPr/>
          <p:nvPr/>
        </p:nvCxnSpPr>
        <p:spPr>
          <a:xfrm flipV="1">
            <a:off x="2036887" y="1194925"/>
            <a:ext cx="5544616" cy="285344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0A338CB-3CFB-D766-352B-919CD39AB5A7}"/>
              </a:ext>
            </a:extLst>
          </p:cNvPr>
          <p:cNvSpPr txBox="1"/>
          <p:nvPr/>
        </p:nvSpPr>
        <p:spPr>
          <a:xfrm>
            <a:off x="7653511" y="303957"/>
            <a:ext cx="48965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是程序在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往外写</a:t>
            </a:r>
            <a:r>
              <a:rPr lang="zh-CN" altLang="en-US" sz="2800" dirty="0">
                <a:latin typeface="+mj-ea"/>
                <a:ea typeface="+mj-ea"/>
              </a:rPr>
              <a:t>，就是输出流。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是程序在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往里读</a:t>
            </a:r>
            <a:r>
              <a:rPr lang="zh-CN" altLang="en-US" sz="2800" dirty="0">
                <a:latin typeface="+mj-ea"/>
                <a:ea typeface="+mj-ea"/>
              </a:rPr>
              <a:t>，就是输入流。</a:t>
            </a:r>
          </a:p>
        </p:txBody>
      </p:sp>
    </p:spTree>
    <p:extLst>
      <p:ext uri="{BB962C8B-B14F-4D97-AF65-F5344CB8AC3E}">
        <p14:creationId xmlns:p14="http://schemas.microsoft.com/office/powerpoint/2010/main" val="256453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4E60-1E21-AEB3-A7F0-38BC53AF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3C10EBE-426B-563B-4FE5-F1A7FE6CAC65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1C03AB-08E1-9C9B-CF57-09FD436E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22A207C-7D95-6639-DB50-E0048FEE72E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723CDC-E4A9-F563-5523-D74843903EA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7CFEC045-4552-2FAE-302E-36421B5FA6C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61736D8-2471-A569-BABC-611C94293629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文件概述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89EBE6-1060-9CF5-0D17-250DB95E52E4}"/>
              </a:ext>
            </a:extLst>
          </p:cNvPr>
          <p:cNvSpPr txBox="1"/>
          <p:nvPr/>
        </p:nvSpPr>
        <p:spPr>
          <a:xfrm>
            <a:off x="1028775" y="1528093"/>
            <a:ext cx="1087320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所以我们在学习文件操作，只需要学习两大部分就可以了。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en-US" altLang="zh-CN" sz="3200" dirty="0">
                <a:latin typeface="+mj-ea"/>
                <a:ea typeface="+mj-ea"/>
              </a:rPr>
              <a:t>	1</a:t>
            </a:r>
            <a:r>
              <a:rPr lang="zh-CN" altLang="en-US" sz="3200" dirty="0">
                <a:latin typeface="+mj-ea"/>
                <a:ea typeface="+mj-ea"/>
              </a:rPr>
              <a:t>、如何把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文件中</a:t>
            </a:r>
            <a:r>
              <a:rPr lang="zh-CN" altLang="en-US" sz="3200" dirty="0">
                <a:latin typeface="+mj-ea"/>
                <a:ea typeface="+mj-ea"/>
              </a:rPr>
              <a:t>的数据读到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内存当中</a:t>
            </a:r>
            <a:r>
              <a:rPr lang="zh-CN" altLang="en-US" sz="3200" dirty="0">
                <a:latin typeface="+mj-ea"/>
                <a:ea typeface="+mj-ea"/>
              </a:rPr>
              <a:t>。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en-US" altLang="zh-CN" sz="3200" dirty="0">
                <a:latin typeface="+mj-ea"/>
                <a:ea typeface="+mj-ea"/>
              </a:rPr>
              <a:t>	2</a:t>
            </a:r>
            <a:r>
              <a:rPr lang="zh-CN" altLang="en-US" sz="3200" dirty="0">
                <a:latin typeface="+mj-ea"/>
                <a:ea typeface="+mj-ea"/>
              </a:rPr>
              <a:t>、如何把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内存中</a:t>
            </a:r>
            <a:r>
              <a:rPr lang="zh-CN" altLang="en-US" sz="3200" dirty="0">
                <a:latin typeface="+mj-ea"/>
                <a:ea typeface="+mj-ea"/>
              </a:rPr>
              <a:t>的数据写到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文件当中</a:t>
            </a:r>
            <a:r>
              <a:rPr lang="zh-CN" altLang="en-US" sz="3200" dirty="0">
                <a:latin typeface="+mj-ea"/>
                <a:ea typeface="+mj-ea"/>
              </a:rPr>
              <a:t>，进行永久化的存储。</a:t>
            </a:r>
          </a:p>
        </p:txBody>
      </p:sp>
    </p:spTree>
    <p:extLst>
      <p:ext uri="{BB962C8B-B14F-4D97-AF65-F5344CB8AC3E}">
        <p14:creationId xmlns:p14="http://schemas.microsoft.com/office/powerpoint/2010/main" val="428904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CB8D3-C859-6780-5AD6-5F40E637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00EA5FA-2F9B-DFC4-08FB-2A9A58F10B9B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99DCFAC-C410-ABC7-4396-D6AF09E3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567D7B1-6091-473D-4BDE-E0B25FF6DDBF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B203B2-DB99-3FE0-DC6B-16644C719655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C05EE653-542A-CD22-3A75-EE16150E2535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08C87ED-792F-CD66-E3FE-3C7F261853D2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D06E79-C1D5-C1DF-2F18-7603A34920DD}"/>
              </a:ext>
            </a:extLst>
          </p:cNvPr>
          <p:cNvSpPr txBox="1"/>
          <p:nvPr/>
        </p:nvSpPr>
        <p:spPr>
          <a:xfrm>
            <a:off x="1172791" y="1528093"/>
            <a:ext cx="5545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文件在电脑上的位置。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A3EC68-6345-5D16-E5CE-E03740BCBDB1}"/>
              </a:ext>
            </a:extLst>
          </p:cNvPr>
          <p:cNvSpPr txBox="1"/>
          <p:nvPr/>
        </p:nvSpPr>
        <p:spPr>
          <a:xfrm>
            <a:off x="1172791" y="2320181"/>
            <a:ext cx="10712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‪C:\Users\Administrator\Desktop\123.txt</a:t>
            </a:r>
            <a:endParaRPr lang="zh-CN" altLang="en-US" sz="3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F5BA9B-C5C4-269F-5CC0-D12BC1A1068C}"/>
              </a:ext>
            </a:extLst>
          </p:cNvPr>
          <p:cNvSpPr txBox="1"/>
          <p:nvPr/>
        </p:nvSpPr>
        <p:spPr>
          <a:xfrm>
            <a:off x="1244799" y="3157855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两种表示方式：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6078E21-3A47-15BE-6AC6-DF6538AF1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799" y="3976365"/>
            <a:ext cx="1857375" cy="153352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41CD5B7-0BB7-7BC9-C8C4-1A817D69DDA5}"/>
              </a:ext>
            </a:extLst>
          </p:cNvPr>
          <p:cNvSpPr txBox="1"/>
          <p:nvPr/>
        </p:nvSpPr>
        <p:spPr>
          <a:xfrm>
            <a:off x="3333031" y="3904357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C:\Users\Administrator\Desktop\123.txt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D259C8-5C6B-869C-B75C-E1CE8A19A5BA}"/>
              </a:ext>
            </a:extLst>
          </p:cNvPr>
          <p:cNvSpPr txBox="1"/>
          <p:nvPr/>
        </p:nvSpPr>
        <p:spPr>
          <a:xfrm>
            <a:off x="3333031" y="5013090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aaa\123.txt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7340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ACB8-F28B-CFB2-65F5-81BA126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9F0CAD-62C2-DAB9-153E-0CCA01C5EC11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3D327C-1317-70D8-F57A-E58E7AE1F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19CDC01-561D-7E41-7ACB-58BEAAAA788F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AFB2D6-8575-674C-E4F2-B912DF51FB21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C5589D57-D5F4-ADCB-F083-52738D34F7F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C8F2312-D9E0-66FB-BAD3-4028905B8AB2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A46E33-9FE4-113F-2F7C-8E2FF68D004C}"/>
              </a:ext>
            </a:extLst>
          </p:cNvPr>
          <p:cNvSpPr txBox="1"/>
          <p:nvPr/>
        </p:nvSpPr>
        <p:spPr>
          <a:xfrm>
            <a:off x="1172791" y="1533448"/>
            <a:ext cx="10081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练习一下：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绝对路径：以盘符开始： </a:t>
            </a:r>
            <a:r>
              <a:rPr lang="en-US" altLang="zh-CN" sz="2800" dirty="0">
                <a:latin typeface="+mj-ea"/>
                <a:ea typeface="+mj-ea"/>
              </a:rPr>
              <a:t>C:\aaa\a.txt</a:t>
            </a: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相对路径：不以盘符开始： </a:t>
            </a:r>
            <a:r>
              <a:rPr lang="en-US" altLang="zh-CN" sz="2800" dirty="0">
                <a:latin typeface="+mj-ea"/>
                <a:ea typeface="+mj-ea"/>
              </a:rPr>
              <a:t>aaa\a.txt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0972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4D8C-193D-D0A5-2096-DACF71B0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40C01DA-8A96-EC86-3BA5-D3699CC5C51B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A48B07-7F32-0264-FEAB-22685C789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8A59F06-2626-28E9-E9BE-674F9F6E9154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6A1992-701A-D406-9473-A238B93ADEA9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0F12DDC-723D-F66B-E2E7-0791F4BCD975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23896A0-CB32-E6F8-1DE4-59817A94E7BF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23E914-CE02-037B-6BAF-B3132454FC5B}"/>
              </a:ext>
            </a:extLst>
          </p:cNvPr>
          <p:cNvSpPr txBox="1"/>
          <p:nvPr/>
        </p:nvSpPr>
        <p:spPr>
          <a:xfrm>
            <a:off x="1172791" y="1533448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F0"/>
                </a:solidFill>
                <a:latin typeface="+mj-ea"/>
                <a:ea typeface="+mj-ea"/>
              </a:rPr>
              <a:t>代码表示路径</a:t>
            </a:r>
            <a:endParaRPr lang="en-US" altLang="zh-CN" sz="2800" b="1" dirty="0">
              <a:solidFill>
                <a:srgbClr val="00B0F0"/>
              </a:solidFill>
              <a:latin typeface="+mj-ea"/>
              <a:ea typeface="+mj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F0D530-94E0-20FC-F41C-C2A376E0C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596" y="2087751"/>
            <a:ext cx="8001000" cy="17526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53BF42D-61B5-9C68-B3AA-7914FE614D66}"/>
              </a:ext>
            </a:extLst>
          </p:cNvPr>
          <p:cNvSpPr txBox="1"/>
          <p:nvPr/>
        </p:nvSpPr>
        <p:spPr>
          <a:xfrm rot="1810902">
            <a:off x="6989804" y="3857315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+mj-ea"/>
                <a:ea typeface="+mj-ea"/>
              </a:rPr>
              <a:t>对吗？</a:t>
            </a:r>
          </a:p>
        </p:txBody>
      </p:sp>
    </p:spTree>
    <p:extLst>
      <p:ext uri="{BB962C8B-B14F-4D97-AF65-F5344CB8AC3E}">
        <p14:creationId xmlns:p14="http://schemas.microsoft.com/office/powerpoint/2010/main" val="384603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B251B-B755-BC66-7DA2-5E054867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A59A84E-C870-32C2-A54E-47CA9B7A644A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840BC4C-A544-D6B4-5CF7-F67A746EE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64E2485-80E9-90D9-C9FD-93AAE843D26D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EA66D5-D28B-B1B9-68FD-C1599A5D42CA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7839EC2C-8D5E-17E3-8AE7-FA677BBBB44E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8BDD620-820E-33CA-D47A-580A703E286E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4B0A54-A2B4-C9D5-730D-0D324DD5A49C}"/>
              </a:ext>
            </a:extLst>
          </p:cNvPr>
          <p:cNvSpPr txBox="1"/>
          <p:nvPr/>
        </p:nvSpPr>
        <p:spPr>
          <a:xfrm>
            <a:off x="1388815" y="1511909"/>
            <a:ext cx="108012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+mj-ea"/>
                <a:ea typeface="+mj-ea"/>
              </a:rPr>
              <a:t>\ 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  <a:r>
              <a:rPr lang="zh-CN" altLang="en-US" sz="2800" dirty="0">
                <a:latin typeface="+mj-ea"/>
                <a:ea typeface="+mj-ea"/>
              </a:rPr>
              <a:t>   转义字符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例如：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打印双引号“，为：</a:t>
            </a:r>
            <a:r>
              <a:rPr lang="en-US" altLang="zh-CN" sz="2800" dirty="0">
                <a:latin typeface="+mj-ea"/>
                <a:ea typeface="+mj-ea"/>
              </a:rPr>
              <a:t>\”</a:t>
            </a:r>
            <a:r>
              <a:rPr lang="zh-CN" altLang="en-US" sz="2800" dirty="0">
                <a:latin typeface="+mj-ea"/>
                <a:ea typeface="+mj-ea"/>
              </a:rPr>
              <a:t>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打印一个斜杠</a:t>
            </a:r>
            <a:r>
              <a:rPr lang="en-US" altLang="zh-CN" sz="2800" dirty="0">
                <a:latin typeface="+mj-ea"/>
                <a:ea typeface="+mj-ea"/>
              </a:rPr>
              <a:t>\</a:t>
            </a:r>
            <a:r>
              <a:rPr lang="zh-CN" altLang="en-US" sz="2800" dirty="0">
                <a:latin typeface="+mj-ea"/>
                <a:ea typeface="+mj-ea"/>
              </a:rPr>
              <a:t>，为：</a:t>
            </a:r>
            <a:r>
              <a:rPr lang="en-US" altLang="zh-CN" sz="2800" dirty="0">
                <a:latin typeface="+mj-ea"/>
                <a:ea typeface="+mj-ea"/>
              </a:rPr>
              <a:t>\\</a:t>
            </a:r>
            <a:r>
              <a:rPr lang="zh-CN" altLang="en-US" sz="2800" dirty="0">
                <a:latin typeface="+mj-ea"/>
                <a:ea typeface="+mj-ea"/>
              </a:rPr>
              <a:t>。</a:t>
            </a:r>
            <a:endParaRPr lang="en-US" altLang="zh-CN" sz="2800" dirty="0">
              <a:latin typeface="+mj-ea"/>
              <a:ea typeface="+mj-ea"/>
            </a:endParaRPr>
          </a:p>
          <a:p>
            <a:endParaRPr lang="zh-CN" altLang="en-US" sz="2800" dirty="0">
              <a:latin typeface="+mj-ea"/>
              <a:ea typeface="+mj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2AA6884-049B-6916-C842-EE3F8CB97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43" y="3912744"/>
            <a:ext cx="8001000" cy="175260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923750D-CEA2-ECF3-4E16-134F09F8604C}"/>
              </a:ext>
            </a:extLst>
          </p:cNvPr>
          <p:cNvCxnSpPr>
            <a:cxnSpLocks/>
          </p:cNvCxnSpPr>
          <p:nvPr/>
        </p:nvCxnSpPr>
        <p:spPr>
          <a:xfrm flipV="1">
            <a:off x="7797527" y="2751428"/>
            <a:ext cx="944216" cy="12023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7F2CF13-F11F-5F9F-30BA-9E145DDC9AF1}"/>
              </a:ext>
            </a:extLst>
          </p:cNvPr>
          <p:cNvSpPr txBox="1"/>
          <p:nvPr/>
        </p:nvSpPr>
        <p:spPr>
          <a:xfrm>
            <a:off x="8537706" y="1749264"/>
            <a:ext cx="3240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应该怎么该呢？</a:t>
            </a:r>
          </a:p>
        </p:txBody>
      </p:sp>
    </p:spTree>
    <p:extLst>
      <p:ext uri="{BB962C8B-B14F-4D97-AF65-F5344CB8AC3E}">
        <p14:creationId xmlns:p14="http://schemas.microsoft.com/office/powerpoint/2010/main" val="77347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0BF3-5258-9C6E-A1D6-FFDC6428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239E99B-6CF1-F094-5741-780F4227E6C6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B7B37A-94B9-42C1-E1BB-E4BAE3982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23B90AC-FBB2-1DE0-6442-4680937E043A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3215CF-BCFE-F1F9-069C-63135FC892B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49EC7815-265D-ED90-F688-6B1E400F8725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ECD928C-46F6-C40D-1A22-00EB86F14E3F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转义字符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D928B-144A-ECE1-C7C1-E4C5A437F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830" y="1210564"/>
            <a:ext cx="9185841" cy="561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1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57DB0-DC48-4D5A-71E0-7C631DD21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E10146-87E8-6CC0-3428-C9617257E4C8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62E592-A3BA-9113-B66A-B5FF2E7CC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B34310F-5B09-7C44-1DF3-25193C481069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C75483-2BC3-0A6B-E327-EC327BB5BE1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BB4DC9A-C6E4-6B91-71B6-0778CC82F52C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6ADAACF-C468-4EF4-2E5C-9699B07177D4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转义字符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C6428A-CE8C-98D1-FCAE-BC138069F92F}"/>
              </a:ext>
            </a:extLst>
          </p:cNvPr>
          <p:cNvSpPr txBox="1"/>
          <p:nvPr/>
        </p:nvSpPr>
        <p:spPr>
          <a:xfrm>
            <a:off x="1100783" y="1528093"/>
            <a:ext cx="110892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00B0F0"/>
                </a:solidFill>
              </a:rPr>
              <a:t>练习：</a:t>
            </a:r>
            <a:endParaRPr lang="en-US" altLang="zh-CN" sz="3200" dirty="0">
              <a:solidFill>
                <a:srgbClr val="00B0F0"/>
              </a:solidFill>
            </a:endParaRPr>
          </a:p>
          <a:p>
            <a:r>
              <a:rPr lang="en-US" altLang="zh-CN" sz="3200" dirty="0"/>
              <a:t>     </a:t>
            </a:r>
            <a:r>
              <a:rPr lang="zh-CN" altLang="en-US" sz="3200" dirty="0"/>
              <a:t>请遍历字符数组</a:t>
            </a:r>
            <a:r>
              <a:rPr lang="en-US" altLang="zh-CN" sz="3200" dirty="0"/>
              <a:t>str</a:t>
            </a:r>
            <a:r>
              <a:rPr lang="zh-CN" altLang="en-US" sz="3200" dirty="0"/>
              <a:t>，</a:t>
            </a:r>
            <a:r>
              <a:rPr lang="en-US" altLang="zh-CN" sz="3200" dirty="0"/>
              <a:t>char  str[] = “\ab\0663\x45\n0\0”;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8596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42B36-DD15-907B-BBD8-EFEC4CFB4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297AADE-5688-2A20-A6B7-7253AB2FEFA8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A2EA79A-2228-57A3-1713-882EBF361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B99E3BE-1D52-62FD-55D5-91DE80761A4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D8739B-FAC9-7E6D-BA4F-9E75EAD90B38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97909359-0C4F-4A53-3460-56D6C9000BB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A3EC5B6-89F9-6B7A-3465-4F622F07A425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D42249-DE6A-1C91-E223-9D51F59ADACF}"/>
              </a:ext>
            </a:extLst>
          </p:cNvPr>
          <p:cNvSpPr txBox="1"/>
          <p:nvPr/>
        </p:nvSpPr>
        <p:spPr>
          <a:xfrm>
            <a:off x="1166054" y="2159876"/>
            <a:ext cx="9007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就是把本地文件中的数据，读到程序中来。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F3BFBE-8DCF-D311-9C7C-27B195672D81}"/>
              </a:ext>
            </a:extLst>
          </p:cNvPr>
          <p:cNvSpPr txBox="1"/>
          <p:nvPr/>
        </p:nvSpPr>
        <p:spPr>
          <a:xfrm>
            <a:off x="1155064" y="1343872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什么叫读取数据呢？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A188A9-4BFF-949D-0CB9-8E4821EC7C02}"/>
              </a:ext>
            </a:extLst>
          </p:cNvPr>
          <p:cNvSpPr txBox="1"/>
          <p:nvPr/>
        </p:nvSpPr>
        <p:spPr>
          <a:xfrm>
            <a:off x="1208795" y="3064214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代码书写步骤：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5DA4A11-80DA-F1BF-6883-E27592C02CEF}"/>
              </a:ext>
            </a:extLst>
          </p:cNvPr>
          <p:cNvSpPr/>
          <p:nvPr/>
        </p:nvSpPr>
        <p:spPr>
          <a:xfrm>
            <a:off x="1892871" y="3738819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①打开文件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71F00A-4534-DE83-6502-3B4038861630}"/>
              </a:ext>
            </a:extLst>
          </p:cNvPr>
          <p:cNvSpPr txBox="1"/>
          <p:nvPr/>
        </p:nvSpPr>
        <p:spPr>
          <a:xfrm>
            <a:off x="4917659" y="3762100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fopen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B2F0385-FB1B-E722-83E9-CE5AFB86FA87}"/>
              </a:ext>
            </a:extLst>
          </p:cNvPr>
          <p:cNvSpPr/>
          <p:nvPr/>
        </p:nvSpPr>
        <p:spPr>
          <a:xfrm>
            <a:off x="1892871" y="4567953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②   读数据      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BEC877-369C-9293-FB47-3A7C21A88057}"/>
              </a:ext>
            </a:extLst>
          </p:cNvPr>
          <p:cNvSpPr txBox="1"/>
          <p:nvPr/>
        </p:nvSpPr>
        <p:spPr>
          <a:xfrm>
            <a:off x="4917659" y="4571733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fgetc     fgets   fread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9F09241-C388-C65D-C0E7-E1FF51695303}"/>
              </a:ext>
            </a:extLst>
          </p:cNvPr>
          <p:cNvSpPr/>
          <p:nvPr/>
        </p:nvSpPr>
        <p:spPr>
          <a:xfrm>
            <a:off x="1892871" y="5370828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③  关闭文件     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F4F183-E104-2D2D-3A7A-B03B98FBEC9A}"/>
              </a:ext>
            </a:extLst>
          </p:cNvPr>
          <p:cNvSpPr txBox="1"/>
          <p:nvPr/>
        </p:nvSpPr>
        <p:spPr>
          <a:xfrm>
            <a:off x="4917659" y="5377572"/>
            <a:ext cx="15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fclose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6862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 animBg="1"/>
      <p:bldP spid="15" grpId="0"/>
      <p:bldP spid="16" grpId="0" animBg="1"/>
      <p:bldP spid="18" grpId="0"/>
      <p:bldP spid="19" grpId="0" animBg="1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720E7-0E1F-4368-CC46-96061DA42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FC55806-606B-A38B-BE3F-90F176A47FE9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D34EFC-A32B-F5AD-51B7-320464907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8536A6C-71E0-8902-9DA4-51CAC085F7F8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AC42CC-A14D-E56D-B9CD-68E2469F2A70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B7524486-6200-F6C9-75CA-D63495F8266B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9E10EA7-0533-4DD4-510D-14B5A49A0F27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3EF92D-E4E9-2E5E-9823-D15AD87E4E99}"/>
              </a:ext>
            </a:extLst>
          </p:cNvPr>
          <p:cNvSpPr txBox="1"/>
          <p:nvPr/>
        </p:nvSpPr>
        <p:spPr>
          <a:xfrm>
            <a:off x="1532831" y="1507249"/>
            <a:ext cx="108732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练习：</a:t>
            </a:r>
            <a:endParaRPr lang="en-US" altLang="zh-CN" sz="2400" b="1" dirty="0">
              <a:latin typeface="+mj-ea"/>
              <a:ea typeface="+mj-ea"/>
            </a:endParaRPr>
          </a:p>
          <a:p>
            <a:r>
              <a:rPr lang="en-US" altLang="zh-CN" dirty="0"/>
              <a:t>	</a:t>
            </a:r>
            <a:r>
              <a:rPr lang="zh-CN" altLang="en-US" sz="2800" dirty="0">
                <a:latin typeface="+mj-ea"/>
                <a:ea typeface="+mj-ea"/>
              </a:rPr>
              <a:t>打开文件：</a:t>
            </a:r>
            <a:r>
              <a:rPr lang="en-US" altLang="zh-CN" sz="2800" dirty="0">
                <a:latin typeface="+mj-ea"/>
                <a:ea typeface="+mj-ea"/>
              </a:rPr>
              <a:t>fopen</a:t>
            </a: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写出数据：</a:t>
            </a:r>
            <a:r>
              <a:rPr lang="en-US" altLang="zh-CN" sz="2800" dirty="0">
                <a:latin typeface="+mj-ea"/>
                <a:ea typeface="+mj-ea"/>
              </a:rPr>
              <a:t>fgetc </a:t>
            </a:r>
            <a:r>
              <a:rPr lang="zh-CN" altLang="en-US" sz="2800" dirty="0">
                <a:latin typeface="+mj-ea"/>
                <a:ea typeface="+mj-ea"/>
              </a:rPr>
              <a:t>一次读一个字符，读不到返回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-1</a:t>
            </a:r>
          </a:p>
          <a:p>
            <a:r>
              <a:rPr lang="en-US" altLang="zh-CN" sz="2800" dirty="0">
                <a:latin typeface="+mj-ea"/>
                <a:ea typeface="+mj-ea"/>
              </a:rPr>
              <a:t>			  fgets </a:t>
            </a:r>
            <a:r>
              <a:rPr lang="zh-CN" altLang="en-US" sz="2800" dirty="0">
                <a:latin typeface="+mj-ea"/>
                <a:ea typeface="+mj-ea"/>
              </a:rPr>
              <a:t>一次读一行，读不到返回</a:t>
            </a:r>
            <a:r>
              <a:rPr lang="en-US" altLang="zh-CN" sz="2800" dirty="0">
                <a:latin typeface="+mj-ea"/>
                <a:ea typeface="+mj-ea"/>
              </a:rPr>
              <a:t>null</a:t>
            </a:r>
          </a:p>
          <a:p>
            <a:r>
              <a:rPr lang="en-US" altLang="zh-CN" sz="2800" dirty="0">
                <a:latin typeface="+mj-ea"/>
                <a:ea typeface="+mj-ea"/>
              </a:rPr>
              <a:t>			  fread </a:t>
            </a:r>
            <a:r>
              <a:rPr lang="zh-CN" altLang="en-US" sz="2800" dirty="0">
                <a:latin typeface="+mj-ea"/>
                <a:ea typeface="+mj-ea"/>
              </a:rPr>
              <a:t>一次读多个</a:t>
            </a:r>
          </a:p>
          <a:p>
            <a:r>
              <a:rPr lang="zh-CN" altLang="en-US" sz="2800" dirty="0">
                <a:latin typeface="+mj-ea"/>
                <a:ea typeface="+mj-ea"/>
              </a:rPr>
              <a:t>	关闭文件：</a:t>
            </a:r>
            <a:r>
              <a:rPr lang="en-US" altLang="zh-CN" sz="2800" dirty="0">
                <a:latin typeface="+mj-ea"/>
                <a:ea typeface="+mj-ea"/>
              </a:rPr>
              <a:t>fclose</a:t>
            </a:r>
          </a:p>
          <a:p>
            <a:r>
              <a:rPr lang="en-US" altLang="zh-CN" sz="2800" dirty="0">
                <a:latin typeface="+mj-ea"/>
                <a:ea typeface="+mj-ea"/>
              </a:rPr>
              <a:t>	C:\\Users\\Administrator\\Desktop\\a.txt</a:t>
            </a:r>
            <a:endParaRPr lang="zh-CN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7666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AF6B-754B-2D0A-79B1-2B462257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9922C1F-371E-756C-D8A8-7A532CCD5A4E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E964F74-7494-3DC1-7B6E-DC4B82A87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C46BBDB-3690-F9C5-456C-40294E5E73B4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5DC5E4-B274-72D3-898D-0F209F0FB26F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D0317A14-11B1-B251-EB23-D7662A60B2AB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4C13377-955A-899D-5D07-4E9E7F340F20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FDB470-4126-9661-41F9-9210536F30A5}"/>
              </a:ext>
            </a:extLst>
          </p:cNvPr>
          <p:cNvSpPr txBox="1"/>
          <p:nvPr/>
        </p:nvSpPr>
        <p:spPr>
          <a:xfrm>
            <a:off x="1400209" y="1404105"/>
            <a:ext cx="10513168" cy="2487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>
                <a:latin typeface="+mj-ea"/>
                <a:ea typeface="+mj-ea"/>
              </a:rPr>
              <a:t>fopen(</a:t>
            </a:r>
            <a:r>
              <a:rPr lang="zh-CN" altLang="en-US" sz="3600" dirty="0">
                <a:solidFill>
                  <a:srgbClr val="00B0F0"/>
                </a:solidFill>
                <a:latin typeface="+mj-ea"/>
                <a:ea typeface="+mj-ea"/>
              </a:rPr>
              <a:t>参数</a:t>
            </a:r>
            <a:r>
              <a:rPr lang="en-US" altLang="zh-CN" sz="3600" dirty="0">
                <a:solidFill>
                  <a:srgbClr val="00B0F0"/>
                </a:solidFill>
                <a:latin typeface="+mj-ea"/>
                <a:ea typeface="+mj-ea"/>
              </a:rPr>
              <a:t>1</a:t>
            </a:r>
            <a:r>
              <a:rPr lang="zh-CN" altLang="en-US" sz="3600" dirty="0">
                <a:latin typeface="+mj-ea"/>
                <a:ea typeface="+mj-ea"/>
              </a:rPr>
              <a:t>，</a:t>
            </a:r>
            <a:r>
              <a:rPr lang="zh-CN" altLang="en-US" sz="3600" dirty="0">
                <a:solidFill>
                  <a:srgbClr val="C00000"/>
                </a:solidFill>
                <a:latin typeface="+mj-ea"/>
                <a:ea typeface="+mj-ea"/>
              </a:rPr>
              <a:t>参数</a:t>
            </a:r>
            <a:r>
              <a:rPr lang="en-US" altLang="zh-CN" sz="3600" dirty="0">
                <a:solidFill>
                  <a:srgbClr val="C00000"/>
                </a:solidFill>
                <a:latin typeface="+mj-ea"/>
                <a:ea typeface="+mj-ea"/>
              </a:rPr>
              <a:t>2</a:t>
            </a:r>
            <a:r>
              <a:rPr lang="en-US" altLang="zh-CN" sz="3600" dirty="0"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00B0F0"/>
                </a:solidFill>
                <a:latin typeface="+mj-ea"/>
                <a:ea typeface="+mj-ea"/>
              </a:rPr>
              <a:t>参数</a:t>
            </a:r>
            <a:r>
              <a:rPr lang="en-US" altLang="zh-CN" sz="3600" dirty="0">
                <a:solidFill>
                  <a:srgbClr val="00B0F0"/>
                </a:solidFill>
                <a:latin typeface="+mj-ea"/>
                <a:ea typeface="+mj-ea"/>
              </a:rPr>
              <a:t>1</a:t>
            </a:r>
            <a:r>
              <a:rPr lang="en-US" altLang="zh-CN" sz="3600" dirty="0">
                <a:latin typeface="+mj-ea"/>
                <a:ea typeface="+mj-ea"/>
              </a:rPr>
              <a:t>:   </a:t>
            </a:r>
            <a:r>
              <a:rPr lang="zh-CN" altLang="en-US" sz="3600" dirty="0">
                <a:latin typeface="+mj-ea"/>
                <a:ea typeface="+mj-ea"/>
              </a:rPr>
              <a:t>文件的路径</a:t>
            </a:r>
            <a:endParaRPr lang="en-US" altLang="zh-CN" sz="3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C00000"/>
                </a:solidFill>
                <a:latin typeface="+mj-ea"/>
                <a:ea typeface="+mj-ea"/>
              </a:rPr>
              <a:t>参数</a:t>
            </a:r>
            <a:r>
              <a:rPr lang="en-US" altLang="zh-CN" sz="3600" dirty="0">
                <a:solidFill>
                  <a:srgbClr val="C00000"/>
                </a:solidFill>
                <a:latin typeface="+mj-ea"/>
                <a:ea typeface="+mj-ea"/>
              </a:rPr>
              <a:t>2</a:t>
            </a:r>
            <a:r>
              <a:rPr lang="zh-CN" altLang="en-US" sz="3600" dirty="0">
                <a:latin typeface="+mj-ea"/>
                <a:ea typeface="+mj-ea"/>
              </a:rPr>
              <a:t>：模式</a:t>
            </a:r>
          </a:p>
        </p:txBody>
      </p:sp>
    </p:spTree>
    <p:extLst>
      <p:ext uri="{BB962C8B-B14F-4D97-AF65-F5344CB8AC3E}">
        <p14:creationId xmlns:p14="http://schemas.microsoft.com/office/powerpoint/2010/main" val="261747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6D40-6C44-D3D8-2260-332B25CA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431D907-8751-15F7-A8B5-8B459C7560A0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51F45EB-D4DE-9D0E-5783-76DCFD8A4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BAA1BEE-CB0D-B4F4-A5F1-87299071402D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F1FBA5-56C4-A408-67FA-DF52C1EBABE1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63C69B66-9061-D727-FC62-A765F8CDD0AF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2794FC5-5F93-CC0A-3A15-F400C16199A8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1F27A30-B2B8-37F4-5B02-C0FD8ABAE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927" y="1162034"/>
            <a:ext cx="8164148" cy="523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6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B5581-0757-F6BE-0E0C-824487E5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A7A55E3-5CEE-52D6-0F01-147493ACCE2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1618205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783FD22-8218-61D0-91A5-3DBCE0817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E5CF24A-0D1D-3D58-2573-6F3E8966B637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99CC442-0F29-E83D-9AA0-35BD07EDD56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F9F707B-728E-DB04-6820-14AE6CE9B856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F66149F-EA67-62E1-7B12-58FD9857084D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353C7A-515F-7300-464B-D2CDC718B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668" y="1245230"/>
            <a:ext cx="10253414" cy="528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4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D6C0E-F332-8E70-F5E9-9D14D3DB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3EC822B-4F9D-DF2D-BCA2-48841CD8F7F1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85F8F5D-33BA-C8AA-DDAC-E43A283A2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A1BB8FC-8352-A581-A964-AEF776100A97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B77F4C-2A0D-271F-1CB9-94A0FC7BE5B4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965A9-9076-4EE6-6D1F-5B0510C1D3A9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D62DEDC-49BC-FA51-89A5-81421550C5A9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5627A2-49A3-C669-21E3-230EFB310869}"/>
              </a:ext>
            </a:extLst>
          </p:cNvPr>
          <p:cNvSpPr txBox="1"/>
          <p:nvPr/>
        </p:nvSpPr>
        <p:spPr>
          <a:xfrm>
            <a:off x="1028775" y="1177952"/>
            <a:ext cx="105131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sz="2000" dirty="0">
                <a:latin typeface="+mj-ea"/>
                <a:ea typeface="+mj-ea"/>
              </a:rPr>
              <a:t>打开文件：</a:t>
            </a:r>
            <a:r>
              <a:rPr lang="en-US" altLang="zh-CN" sz="2000" dirty="0">
                <a:latin typeface="+mj-ea"/>
                <a:ea typeface="+mj-ea"/>
              </a:rPr>
              <a:t>fopen</a:t>
            </a:r>
          </a:p>
          <a:p>
            <a:r>
              <a:rPr lang="en-US" altLang="zh-CN" sz="2000" dirty="0">
                <a:latin typeface="+mj-ea"/>
                <a:ea typeface="+mj-ea"/>
              </a:rPr>
              <a:t>	</a:t>
            </a:r>
            <a:r>
              <a:rPr lang="zh-CN" altLang="en-US" sz="2000" dirty="0">
                <a:latin typeface="+mj-ea"/>
                <a:ea typeface="+mj-ea"/>
              </a:rPr>
              <a:t>写出数据：</a:t>
            </a:r>
            <a:r>
              <a:rPr lang="en-US" altLang="zh-CN" sz="2000" dirty="0">
                <a:latin typeface="+mj-ea"/>
                <a:ea typeface="+mj-ea"/>
              </a:rPr>
              <a:t>fgetc </a:t>
            </a:r>
            <a:r>
              <a:rPr lang="zh-CN" altLang="en-US" sz="2000" dirty="0">
                <a:latin typeface="+mj-ea"/>
                <a:ea typeface="+mj-ea"/>
              </a:rPr>
              <a:t>一次读一个字符，读不到返回</a:t>
            </a:r>
            <a:r>
              <a:rPr lang="en-US" altLang="zh-CN" sz="2000" dirty="0">
                <a:latin typeface="+mj-ea"/>
                <a:ea typeface="+mj-ea"/>
              </a:rPr>
              <a:t>-1</a:t>
            </a:r>
          </a:p>
          <a:p>
            <a:r>
              <a:rPr lang="en-US" altLang="zh-CN" sz="2000" dirty="0">
                <a:latin typeface="+mj-ea"/>
                <a:ea typeface="+mj-ea"/>
              </a:rPr>
              <a:t>			  fgets </a:t>
            </a:r>
            <a:r>
              <a:rPr lang="zh-CN" altLang="en-US" sz="2000" dirty="0">
                <a:latin typeface="+mj-ea"/>
                <a:ea typeface="+mj-ea"/>
              </a:rPr>
              <a:t>一次读一行，读不到返回</a:t>
            </a:r>
            <a:r>
              <a:rPr lang="en-US" altLang="zh-CN" sz="2000" dirty="0">
                <a:latin typeface="+mj-ea"/>
                <a:ea typeface="+mj-ea"/>
              </a:rPr>
              <a:t>null</a:t>
            </a:r>
          </a:p>
          <a:p>
            <a:r>
              <a:rPr lang="en-US" altLang="zh-CN" sz="2000" dirty="0">
                <a:latin typeface="+mj-ea"/>
                <a:ea typeface="+mj-ea"/>
              </a:rPr>
              <a:t>			  fread </a:t>
            </a:r>
            <a:r>
              <a:rPr lang="zh-CN" altLang="en-US" sz="2000" dirty="0">
                <a:latin typeface="+mj-ea"/>
                <a:ea typeface="+mj-ea"/>
              </a:rPr>
              <a:t>一次读多个</a:t>
            </a:r>
          </a:p>
          <a:p>
            <a:r>
              <a:rPr lang="zh-CN" altLang="en-US" sz="2000" dirty="0">
                <a:latin typeface="+mj-ea"/>
                <a:ea typeface="+mj-ea"/>
              </a:rPr>
              <a:t>	关闭文件：</a:t>
            </a:r>
            <a:r>
              <a:rPr lang="en-US" altLang="zh-CN" sz="2000" dirty="0">
                <a:latin typeface="+mj-ea"/>
                <a:ea typeface="+mj-ea"/>
              </a:rPr>
              <a:t>fclose</a:t>
            </a:r>
          </a:p>
          <a:p>
            <a:r>
              <a:rPr lang="en-US" altLang="zh-CN" sz="2000" dirty="0">
                <a:latin typeface="+mj-ea"/>
                <a:ea typeface="+mj-ea"/>
              </a:rPr>
              <a:t>	C:\\Users\\Administrator\\Desktop\\a.txt</a:t>
            </a:r>
          </a:p>
          <a:p>
            <a:r>
              <a:rPr lang="en-US" altLang="zh-CN" dirty="0"/>
              <a:t>	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//1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、打开文件 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fopen</a:t>
            </a: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FILE* file = fopen("C:\\Users\\Administrator\\Desktop\\a.txt","r");</a:t>
            </a: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//2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、读取数据 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fgetc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一次读一个字符，读不到返回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-1</a:t>
            </a: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// 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细节：一次读取一个字节，如果读到了，就返回读到的字节，否则返回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-1 </a:t>
            </a: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char c = fgetc(file);</a:t>
            </a: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printf("%c\</a:t>
            </a:r>
            <a:r>
              <a:rPr lang="en-US" altLang="zh-CN" sz="2000" dirty="0" err="1">
                <a:solidFill>
                  <a:srgbClr val="00B0F0"/>
                </a:solidFill>
                <a:latin typeface="+mj-ea"/>
                <a:ea typeface="+mj-ea"/>
              </a:rPr>
              <a:t>n",c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);</a:t>
            </a: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// 3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、关闭文件</a:t>
            </a:r>
          </a:p>
          <a:p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	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fclose(file); </a:t>
            </a:r>
            <a:endParaRPr lang="zh-CN" altLang="en-US" dirty="0">
              <a:solidFill>
                <a:srgbClr val="00B0F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8466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05E1DE58-9450-CE0E-D93B-BD4A8F577948}"/>
              </a:ext>
            </a:extLst>
          </p:cNvPr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文件概述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文件路径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转义字符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fgetc</a:t>
            </a:r>
            <a:r>
              <a:rPr lang="zh-CN" altLang="en-US" sz="3600" dirty="0"/>
              <a:t>使用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955-F7CC-017D-8847-7F12828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642C5D-0E11-77B0-5686-30946C018A5D}"/>
              </a:ext>
            </a:extLst>
          </p:cNvPr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25C71-6E8C-D2A1-CB3B-54A17D87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5E6205-40B3-9832-5E50-848BA4CB611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0447C1-A1E3-8A97-CEBF-720766CA1809}"/>
              </a:ext>
            </a:extLst>
          </p:cNvPr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00B740DE-6B40-9680-D07F-35D5F0E1AC83}"/>
              </a:ext>
            </a:extLst>
          </p:cNvPr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3E1D41-D3CB-0C60-5F41-8EFC401547F5}"/>
              </a:ext>
            </a:extLst>
          </p:cNvPr>
          <p:cNvSpPr txBox="1"/>
          <p:nvPr/>
        </p:nvSpPr>
        <p:spPr>
          <a:xfrm>
            <a:off x="1388815" y="1816125"/>
            <a:ext cx="907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+mj-ea"/>
                <a:ea typeface="+mj-ea"/>
              </a:rPr>
              <a:t>课堂案例自己写一遍</a:t>
            </a:r>
          </a:p>
        </p:txBody>
      </p:sp>
    </p:spTree>
    <p:extLst>
      <p:ext uri="{BB962C8B-B14F-4D97-AF65-F5344CB8AC3E}">
        <p14:creationId xmlns:p14="http://schemas.microsoft.com/office/powerpoint/2010/main" val="59786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1017</Words>
  <Application>Microsoft Office PowerPoint</Application>
  <PresentationFormat>自定义</PresentationFormat>
  <Paragraphs>138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方正舒体</vt:lpstr>
      <vt:lpstr>微软雅黑</vt:lpstr>
      <vt:lpstr>印品黑体</vt:lpstr>
      <vt:lpstr>字魂73号-江南手书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653</cp:revision>
  <dcterms:created xsi:type="dcterms:W3CDTF">2024-04-10T13:53:55Z</dcterms:created>
  <dcterms:modified xsi:type="dcterms:W3CDTF">2025-01-09T03:33:11Z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FCA88555D3D44735BAA1F56722F3B997</vt:lpwstr>
  </property>
</Properties>
</file>