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3705" r:id="rId2"/>
    <p:sldId id="3706" r:id="rId3"/>
    <p:sldId id="3807" r:id="rId4"/>
    <p:sldId id="3646" r:id="rId5"/>
    <p:sldId id="3798" r:id="rId6"/>
    <p:sldId id="3811" r:id="rId7"/>
    <p:sldId id="3809" r:id="rId8"/>
    <p:sldId id="3810" r:id="rId9"/>
    <p:sldId id="3812" r:id="rId10"/>
    <p:sldId id="3813" r:id="rId11"/>
    <p:sldId id="3815" r:id="rId12"/>
    <p:sldId id="3814" r:id="rId13"/>
    <p:sldId id="3816" r:id="rId14"/>
    <p:sldId id="3817" r:id="rId15"/>
    <p:sldId id="3818" r:id="rId16"/>
    <p:sldId id="3819" r:id="rId17"/>
    <p:sldId id="3820" r:id="rId18"/>
    <p:sldId id="3821" r:id="rId19"/>
    <p:sldId id="3822" r:id="rId20"/>
    <p:sldId id="3823" r:id="rId21"/>
    <p:sldId id="3824" r:id="rId22"/>
    <p:sldId id="3712" r:id="rId23"/>
    <p:sldId id="3793" r:id="rId24"/>
    <p:sldId id="3702" r:id="rId25"/>
  </p:sldIdLst>
  <p:sldSz cx="12858750" cy="7232650"/>
  <p:notesSz cx="6858000" cy="9144000"/>
  <p:custDataLst>
    <p:tags r:id="rId28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640080" indent="-18288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282700" indent="-3683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925955" indent="-55435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568575" indent="-7397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">
          <p15:clr>
            <a:srgbClr val="A4A3A4"/>
          </p15:clr>
        </p15:guide>
        <p15:guide id="2" orient="horz" pos="4152">
          <p15:clr>
            <a:srgbClr val="A4A3A4"/>
          </p15:clr>
        </p15:guide>
        <p15:guide id="3" pos="4075">
          <p15:clr>
            <a:srgbClr val="A4A3A4"/>
          </p15:clr>
        </p15:guide>
        <p15:guide id="4" pos="557">
          <p15:clr>
            <a:srgbClr val="A4A3A4"/>
          </p15:clr>
        </p15:guide>
        <p15:guide id="5" pos="7544">
          <p15:clr>
            <a:srgbClr val="A4A3A4"/>
          </p15:clr>
        </p15:guide>
        <p15:guide id="6" pos="68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114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FF"/>
    <a:srgbClr val="7030A0"/>
    <a:srgbClr val="AF4436"/>
    <a:srgbClr val="1542FF"/>
    <a:srgbClr val="FFBF00"/>
    <a:srgbClr val="0C6AC7"/>
    <a:srgbClr val="FFC000"/>
    <a:srgbClr val="066197"/>
    <a:srgbClr val="262626"/>
    <a:srgbClr val="0767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41" autoAdjust="0"/>
    <p:restoredTop sz="96327" autoAdjust="0"/>
  </p:normalViewPr>
  <p:slideViewPr>
    <p:cSldViewPr showGuides="1">
      <p:cViewPr varScale="1">
        <p:scale>
          <a:sx n="63" d="100"/>
          <a:sy n="63" d="100"/>
        </p:scale>
        <p:origin x="67" y="490"/>
      </p:cViewPr>
      <p:guideLst>
        <p:guide orient="horz" pos="218"/>
        <p:guide orient="horz" pos="4152"/>
        <p:guide pos="4075"/>
        <p:guide pos="557"/>
        <p:guide pos="7544"/>
        <p:guide pos="6858"/>
      </p:guideLst>
    </p:cSldViewPr>
  </p:slideViewPr>
  <p:outlineViewPr>
    <p:cViewPr>
      <p:scale>
        <a:sx n="100" d="100"/>
        <a:sy n="100" d="100"/>
      </p:scale>
      <p:origin x="0" y="-99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384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30DBF-D010-4114-9DE3-41E342A27C18}" type="datetimeFigureOut">
              <a:rPr lang="zh-CN" altLang="en-US" smtClean="0">
                <a:latin typeface="印品黑体" panose="00000500000000000000" pitchFamily="2" charset="-122"/>
              </a:rPr>
              <a:t>2025-01-09</a:t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D1D107-4CC9-43CA-8CA8-36E1DF70D5F2}" type="slidenum">
              <a:rPr lang="zh-CN" altLang="en-US" smtClean="0">
                <a:latin typeface="印品黑体" panose="00000500000000000000" pitchFamily="2" charset="-122"/>
              </a:rPr>
              <a:t>‹#›</a:t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fld id="{06024D97-E667-405D-B634-E583E2108D71}" type="datetimeFigureOut">
              <a:rPr lang="zh-CN" altLang="en-US" smtClean="0"/>
              <a:t>2025-01-09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dirty="0"/>
              <a:t>单击此处编辑母版文本样式</a:t>
            </a:r>
          </a:p>
          <a:p>
            <a:pPr lvl="1"/>
            <a:r>
              <a:rPr lang="zh-CN" altLang="en-US" noProof="0" dirty="0"/>
              <a:t>第二级</a:t>
            </a:r>
          </a:p>
          <a:p>
            <a:pPr lvl="2"/>
            <a:r>
              <a:rPr lang="zh-CN" altLang="en-US" noProof="0" dirty="0"/>
              <a:t>第三级</a:t>
            </a:r>
          </a:p>
          <a:p>
            <a:pPr lvl="3"/>
            <a:r>
              <a:rPr lang="zh-CN" altLang="en-US" noProof="0" dirty="0"/>
              <a:t>第四级</a:t>
            </a:r>
          </a:p>
          <a:p>
            <a:pPr lvl="4"/>
            <a:r>
              <a:rPr lang="zh-CN" altLang="en-US" noProof="0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fld id="{418F03C3-53C1-4F10-8DAF-D1F318E96C6E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1pPr>
    <a:lvl2pPr marL="4559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2pPr>
    <a:lvl3pPr marL="9131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3pPr>
    <a:lvl4pPr marL="13703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4pPr>
    <a:lvl5pPr marL="18275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5pPr>
    <a:lvl6pPr marL="22853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4</a:t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5</a:t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6</a:t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7</a:t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8</a:t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9</a:t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10</a:t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11</a:t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12</a:t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13</a:t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14</a:t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15</a:t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16</a:t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17</a:t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18</a:t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19</a:t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20</a:t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21</a:t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22</a:t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  <a:t>2025-01-09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25" y="635"/>
            <a:ext cx="12849225" cy="72320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  <a:t>2025-01-09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70"/>
            <a:ext cx="12858750" cy="72313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4984477"/>
            <a:ext cx="3161905" cy="6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25119" y="4804672"/>
            <a:ext cx="3161905" cy="6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17207" y="5282442"/>
            <a:ext cx="3161905" cy="6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4804672"/>
            <a:ext cx="3161905" cy="6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21338" y="5337044"/>
            <a:ext cx="3161905" cy="6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991155" y="4781605"/>
            <a:ext cx="3161905" cy="619048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20821" y="5346680"/>
            <a:ext cx="3161905" cy="619048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2692" y="4781605"/>
            <a:ext cx="3161905" cy="619048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1366761"/>
            <a:ext cx="3161905" cy="619048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75773" y="1359987"/>
            <a:ext cx="3161905" cy="619048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4039" y="1359987"/>
            <a:ext cx="1580953" cy="619048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3501" y="4781605"/>
            <a:ext cx="764270" cy="619048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59461" y="1262924"/>
            <a:ext cx="860873" cy="619048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60390" y="1354452"/>
            <a:ext cx="356817" cy="6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017"/>
            <a:ext cx="12858750" cy="72853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1528093"/>
            <a:ext cx="2857143" cy="141904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77047" y="1518648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09175" y="1528093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1600101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2751" y="4624437"/>
            <a:ext cx="2857143" cy="14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69135" y="4407232"/>
            <a:ext cx="2857143" cy="14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96947" y="4416677"/>
            <a:ext cx="2857143" cy="14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37687" y="4474217"/>
            <a:ext cx="2857143" cy="14190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箭头: V 形 3"/>
          <p:cNvSpPr/>
          <p:nvPr userDrawn="1"/>
        </p:nvSpPr>
        <p:spPr>
          <a:xfrm>
            <a:off x="435610" y="224155"/>
            <a:ext cx="405130" cy="405130"/>
          </a:xfrm>
          <a:prstGeom prst="chevro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6" name="等腰三角形 75"/>
          <p:cNvSpPr/>
          <p:nvPr userDrawn="1"/>
        </p:nvSpPr>
        <p:spPr>
          <a:xfrm rot="5400000">
            <a:off x="-146685" y="156845"/>
            <a:ext cx="852805" cy="540385"/>
          </a:xfrm>
          <a:prstGeom prst="triangle">
            <a:avLst/>
          </a:prstGeom>
          <a:solidFill>
            <a:srgbClr val="0767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16656" y="5177155"/>
            <a:ext cx="752744" cy="2098793"/>
            <a:chOff x="13891297" y="2075351"/>
            <a:chExt cx="1066248" cy="2972900"/>
          </a:xfrm>
        </p:grpSpPr>
        <p:sp>
          <p:nvSpPr>
            <p:cNvPr id="14" name="椭圆 13"/>
            <p:cNvSpPr/>
            <p:nvPr/>
          </p:nvSpPr>
          <p:spPr>
            <a:xfrm>
              <a:off x="13891297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14142396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14393495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14644594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14895693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13891297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14142396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14393495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4644594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14895693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13891297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14142396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14393495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/>
            <p:cNvSpPr/>
            <p:nvPr/>
          </p:nvSpPr>
          <p:spPr>
            <a:xfrm>
              <a:off x="14644594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椭圆 27"/>
            <p:cNvSpPr/>
            <p:nvPr/>
          </p:nvSpPr>
          <p:spPr>
            <a:xfrm>
              <a:off x="14895693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/>
            <p:cNvSpPr/>
            <p:nvPr/>
          </p:nvSpPr>
          <p:spPr>
            <a:xfrm>
              <a:off x="13891297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/>
            <p:cNvSpPr/>
            <p:nvPr/>
          </p:nvSpPr>
          <p:spPr>
            <a:xfrm>
              <a:off x="14142396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/>
            <p:cNvSpPr/>
            <p:nvPr/>
          </p:nvSpPr>
          <p:spPr>
            <a:xfrm>
              <a:off x="14393495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/>
            <p:cNvSpPr/>
            <p:nvPr/>
          </p:nvSpPr>
          <p:spPr>
            <a:xfrm>
              <a:off x="14644594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14895693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>
            <a:xfrm>
              <a:off x="13891297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14142396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>
              <a:off x="14393495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/>
            <p:cNvSpPr/>
            <p:nvPr/>
          </p:nvSpPr>
          <p:spPr>
            <a:xfrm>
              <a:off x="14644594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/>
            <p:cNvSpPr/>
            <p:nvPr/>
          </p:nvSpPr>
          <p:spPr>
            <a:xfrm>
              <a:off x="14895693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/>
          </p:nvSpPr>
          <p:spPr>
            <a:xfrm>
              <a:off x="13891297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/>
          </p:nvSpPr>
          <p:spPr>
            <a:xfrm>
              <a:off x="14142396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/>
          </p:nvSpPr>
          <p:spPr>
            <a:xfrm>
              <a:off x="14393495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/>
          </p:nvSpPr>
          <p:spPr>
            <a:xfrm>
              <a:off x="14644594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/>
            <p:cNvSpPr/>
            <p:nvPr/>
          </p:nvSpPr>
          <p:spPr>
            <a:xfrm>
              <a:off x="14895693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/>
          </p:nvSpPr>
          <p:spPr>
            <a:xfrm>
              <a:off x="13891297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/>
          </p:nvSpPr>
          <p:spPr>
            <a:xfrm>
              <a:off x="14142396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/>
            <p:cNvSpPr/>
            <p:nvPr/>
          </p:nvSpPr>
          <p:spPr>
            <a:xfrm>
              <a:off x="14393495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/>
            <p:cNvSpPr/>
            <p:nvPr/>
          </p:nvSpPr>
          <p:spPr>
            <a:xfrm>
              <a:off x="14644594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/>
            <p:cNvSpPr/>
            <p:nvPr/>
          </p:nvSpPr>
          <p:spPr>
            <a:xfrm>
              <a:off x="14895693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/>
            <p:cNvSpPr/>
            <p:nvPr/>
          </p:nvSpPr>
          <p:spPr>
            <a:xfrm>
              <a:off x="13891297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14142396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/>
            <p:cNvSpPr/>
            <p:nvPr/>
          </p:nvSpPr>
          <p:spPr>
            <a:xfrm>
              <a:off x="14393495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/>
            <p:cNvSpPr/>
            <p:nvPr/>
          </p:nvSpPr>
          <p:spPr>
            <a:xfrm>
              <a:off x="14644594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椭圆 52"/>
            <p:cNvSpPr/>
            <p:nvPr/>
          </p:nvSpPr>
          <p:spPr>
            <a:xfrm>
              <a:off x="14895693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>
              <a:off x="13891297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54"/>
            <p:cNvSpPr/>
            <p:nvPr/>
          </p:nvSpPr>
          <p:spPr>
            <a:xfrm>
              <a:off x="14142396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椭圆 55"/>
            <p:cNvSpPr/>
            <p:nvPr/>
          </p:nvSpPr>
          <p:spPr>
            <a:xfrm>
              <a:off x="14393495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/>
          </p:nvSpPr>
          <p:spPr>
            <a:xfrm>
              <a:off x="14644594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/>
          </p:nvSpPr>
          <p:spPr>
            <a:xfrm>
              <a:off x="14895693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/>
            <p:cNvSpPr/>
            <p:nvPr/>
          </p:nvSpPr>
          <p:spPr>
            <a:xfrm>
              <a:off x="13891297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椭圆 59"/>
            <p:cNvSpPr/>
            <p:nvPr/>
          </p:nvSpPr>
          <p:spPr>
            <a:xfrm>
              <a:off x="14142396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椭圆 60"/>
            <p:cNvSpPr/>
            <p:nvPr/>
          </p:nvSpPr>
          <p:spPr>
            <a:xfrm>
              <a:off x="14393495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椭圆 61"/>
            <p:cNvSpPr/>
            <p:nvPr/>
          </p:nvSpPr>
          <p:spPr>
            <a:xfrm>
              <a:off x="14644594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椭圆 62"/>
            <p:cNvSpPr/>
            <p:nvPr/>
          </p:nvSpPr>
          <p:spPr>
            <a:xfrm>
              <a:off x="14895693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椭圆 63"/>
            <p:cNvSpPr/>
            <p:nvPr/>
          </p:nvSpPr>
          <p:spPr>
            <a:xfrm>
              <a:off x="13891297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椭圆 64"/>
            <p:cNvSpPr/>
            <p:nvPr/>
          </p:nvSpPr>
          <p:spPr>
            <a:xfrm>
              <a:off x="14142396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椭圆 65"/>
            <p:cNvSpPr/>
            <p:nvPr/>
          </p:nvSpPr>
          <p:spPr>
            <a:xfrm>
              <a:off x="14393495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椭圆 66"/>
            <p:cNvSpPr/>
            <p:nvPr/>
          </p:nvSpPr>
          <p:spPr>
            <a:xfrm>
              <a:off x="14644594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椭圆 67"/>
            <p:cNvSpPr/>
            <p:nvPr/>
          </p:nvSpPr>
          <p:spPr>
            <a:xfrm>
              <a:off x="14895693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椭圆 68"/>
            <p:cNvSpPr/>
            <p:nvPr/>
          </p:nvSpPr>
          <p:spPr>
            <a:xfrm>
              <a:off x="13891297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椭圆 69"/>
            <p:cNvSpPr/>
            <p:nvPr/>
          </p:nvSpPr>
          <p:spPr>
            <a:xfrm>
              <a:off x="14142396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椭圆 70"/>
            <p:cNvSpPr/>
            <p:nvPr/>
          </p:nvSpPr>
          <p:spPr>
            <a:xfrm>
              <a:off x="14393495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椭圆 71"/>
            <p:cNvSpPr/>
            <p:nvPr/>
          </p:nvSpPr>
          <p:spPr>
            <a:xfrm>
              <a:off x="14644594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椭圆 72"/>
            <p:cNvSpPr/>
            <p:nvPr/>
          </p:nvSpPr>
          <p:spPr>
            <a:xfrm>
              <a:off x="14895693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椭圆 73"/>
            <p:cNvSpPr/>
            <p:nvPr/>
          </p:nvSpPr>
          <p:spPr>
            <a:xfrm>
              <a:off x="13891297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椭圆 80"/>
            <p:cNvSpPr/>
            <p:nvPr/>
          </p:nvSpPr>
          <p:spPr>
            <a:xfrm>
              <a:off x="14142396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椭圆 81"/>
            <p:cNvSpPr/>
            <p:nvPr/>
          </p:nvSpPr>
          <p:spPr>
            <a:xfrm>
              <a:off x="14393495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椭圆 82"/>
            <p:cNvSpPr/>
            <p:nvPr/>
          </p:nvSpPr>
          <p:spPr>
            <a:xfrm>
              <a:off x="14644594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椭圆 83"/>
            <p:cNvSpPr/>
            <p:nvPr/>
          </p:nvSpPr>
          <p:spPr>
            <a:xfrm>
              <a:off x="14895693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5" name="矩形 134"/>
          <p:cNvSpPr/>
          <p:nvPr userDrawn="1"/>
        </p:nvSpPr>
        <p:spPr>
          <a:xfrm>
            <a:off x="635" y="7160260"/>
            <a:ext cx="12858750" cy="87630"/>
          </a:xfrm>
          <a:prstGeom prst="rect">
            <a:avLst/>
          </a:prstGeom>
          <a:solidFill>
            <a:srgbClr val="0767A3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3475" y="1461770"/>
            <a:ext cx="1497330" cy="1257935"/>
          </a:xfrm>
          <a:prstGeom prst="rect">
            <a:avLst/>
          </a:prstGeom>
        </p:spPr>
      </p:pic>
      <p:pic>
        <p:nvPicPr>
          <p:cNvPr id="77" name="图片 7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73215" y="1393190"/>
            <a:ext cx="1497330" cy="1257935"/>
          </a:xfrm>
          <a:prstGeom prst="rect">
            <a:avLst/>
          </a:prstGeom>
        </p:spPr>
      </p:pic>
      <p:pic>
        <p:nvPicPr>
          <p:cNvPr id="78" name="图片 77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1461770"/>
            <a:ext cx="1497330" cy="1257935"/>
          </a:xfrm>
          <a:prstGeom prst="rect">
            <a:avLst/>
          </a:prstGeom>
        </p:spPr>
      </p:pic>
      <p:pic>
        <p:nvPicPr>
          <p:cNvPr id="79" name="图片 78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1290955"/>
            <a:ext cx="1497330" cy="1257935"/>
          </a:xfrm>
          <a:prstGeom prst="rect">
            <a:avLst/>
          </a:prstGeom>
        </p:spPr>
      </p:pic>
      <p:pic>
        <p:nvPicPr>
          <p:cNvPr id="80" name="图片 79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71600" y="4476750"/>
            <a:ext cx="1497330" cy="1257935"/>
          </a:xfrm>
          <a:prstGeom prst="rect">
            <a:avLst/>
          </a:prstGeom>
        </p:spPr>
      </p:pic>
      <p:pic>
        <p:nvPicPr>
          <p:cNvPr id="85" name="图片 84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12280" y="4305300"/>
            <a:ext cx="1497330" cy="1257935"/>
          </a:xfrm>
          <a:prstGeom prst="rect">
            <a:avLst/>
          </a:prstGeom>
        </p:spPr>
      </p:pic>
      <p:pic>
        <p:nvPicPr>
          <p:cNvPr id="86" name="图片 85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4305300"/>
            <a:ext cx="1497330" cy="1257935"/>
          </a:xfrm>
          <a:prstGeom prst="rect">
            <a:avLst/>
          </a:prstGeom>
        </p:spPr>
      </p:pic>
      <p:pic>
        <p:nvPicPr>
          <p:cNvPr id="87" name="图片 8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4305300"/>
            <a:ext cx="1497330" cy="1257935"/>
          </a:xfrm>
          <a:prstGeom prst="rect">
            <a:avLst/>
          </a:prstGeom>
        </p:spPr>
      </p:pic>
      <p:sp>
        <p:nvSpPr>
          <p:cNvPr id="4" name="任意多边形: 形状 50"/>
          <p:cNvSpPr/>
          <p:nvPr userDrawn="1"/>
        </p:nvSpPr>
        <p:spPr>
          <a:xfrm rot="18932100">
            <a:off x="9102985" y="1473268"/>
            <a:ext cx="1159449" cy="1159449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0767A3">
              <a:alpha val="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51"/>
          <p:cNvSpPr/>
          <p:nvPr userDrawn="1"/>
        </p:nvSpPr>
        <p:spPr>
          <a:xfrm rot="18958199">
            <a:off x="10136715" y="3266146"/>
            <a:ext cx="462942" cy="462942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FFC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文本框 1"/>
          <p:cNvSpPr txBox="1"/>
          <p:nvPr userDrawn="1"/>
        </p:nvSpPr>
        <p:spPr>
          <a:xfrm>
            <a:off x="3907790" y="2265045"/>
            <a:ext cx="50374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0661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You!</a:t>
            </a:r>
          </a:p>
        </p:txBody>
      </p:sp>
      <p:cxnSp>
        <p:nvCxnSpPr>
          <p:cNvPr id="89" name="直接连接符 88"/>
          <p:cNvCxnSpPr/>
          <p:nvPr userDrawn="1"/>
        </p:nvCxnSpPr>
        <p:spPr>
          <a:xfrm>
            <a:off x="3900805" y="3392170"/>
            <a:ext cx="5051425" cy="0"/>
          </a:xfrm>
          <a:prstGeom prst="line">
            <a:avLst/>
          </a:prstGeom>
          <a:ln>
            <a:solidFill>
              <a:srgbClr val="53535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0" name="文本框 6"/>
          <p:cNvSpPr txBox="1"/>
          <p:nvPr userDrawn="1"/>
        </p:nvSpPr>
        <p:spPr>
          <a:xfrm>
            <a:off x="4038600" y="3468370"/>
            <a:ext cx="47758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45" algn="dist" eaLnBrk="1" latinLnBrk="0" hangingPunct="1"/>
            <a:r>
              <a:rPr lang="zh-CN" altLang="en-US" sz="3200">
                <a:solidFill>
                  <a:schemeClr val="accent4">
                    <a:lumMod val="50000"/>
                  </a:schemeClr>
                </a:solidFill>
                <a:latin typeface="字魂73号-江南手书" panose="00000500000000000000" charset="-122"/>
                <a:ea typeface="字魂73号-江南手书" panose="00000500000000000000" charset="-122"/>
                <a:cs typeface="字魂73号-江南手书" panose="00000500000000000000" charset="-122"/>
              </a:rPr>
              <a:t>力学笃行  志存高远</a:t>
            </a: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3729" y="4375800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16072" y="4410145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92013" y="4278768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4238224"/>
            <a:ext cx="2857143" cy="1419048"/>
          </a:xfrm>
          <a:prstGeom prst="rect">
            <a:avLst/>
          </a:prstGeom>
        </p:spPr>
      </p:pic>
      <p:pic>
        <p:nvPicPr>
          <p:cNvPr id="92" name="图片 9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66302" y="1013956"/>
            <a:ext cx="2857143" cy="1419048"/>
          </a:xfrm>
          <a:prstGeom prst="rect">
            <a:avLst/>
          </a:prstGeom>
        </p:spPr>
      </p:pic>
      <p:pic>
        <p:nvPicPr>
          <p:cNvPr id="94" name="图片 9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069" y="1173658"/>
            <a:ext cx="2857143" cy="1419048"/>
          </a:xfrm>
          <a:prstGeom prst="rect">
            <a:avLst/>
          </a:prstGeom>
        </p:spPr>
      </p:pic>
      <p:pic>
        <p:nvPicPr>
          <p:cNvPr id="128" name="图片 1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77818" y="1024383"/>
            <a:ext cx="2857143" cy="1419048"/>
          </a:xfrm>
          <a:prstGeom prst="rect">
            <a:avLst/>
          </a:prstGeom>
        </p:spPr>
      </p:pic>
      <p:pic>
        <p:nvPicPr>
          <p:cNvPr id="130" name="图片 1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957292" y="995663"/>
            <a:ext cx="2857143" cy="14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  <a:t>2025-01-09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4039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2BF82D2-7A68-459D-A996-9BDDA2518FA4}" type="datetimeFigureOut">
              <a:rPr lang="zh-CN" altLang="en-US" smtClean="0"/>
              <a:t>2025-01-09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59461" y="6703595"/>
            <a:ext cx="4339828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81492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E01EE5D-26FB-46D5-A381-ECFB35BF1D3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64565" rtl="0" eaLnBrk="1" latinLnBrk="0" hangingPunct="1">
        <a:lnSpc>
          <a:spcPct val="90000"/>
        </a:lnSpc>
        <a:spcBef>
          <a:spcPct val="0"/>
        </a:spcBef>
        <a:buNone/>
        <a:defRPr sz="4640" kern="1200">
          <a:solidFill>
            <a:schemeClr val="tx1"/>
          </a:solidFill>
          <a:latin typeface="印品黑体" panose="00000500000000000000" pitchFamily="2" charset="-122"/>
          <a:ea typeface="+mj-ea"/>
          <a:cs typeface="+mj-cs"/>
        </a:defRPr>
      </a:lvl1pPr>
    </p:titleStyle>
    <p:bodyStyle>
      <a:lvl1pPr marL="241300" indent="-241300" algn="l" defTabSz="964565" rtl="0" eaLnBrk="1" latinLnBrk="0" hangingPunct="1">
        <a:lnSpc>
          <a:spcPct val="90000"/>
        </a:lnSpc>
        <a:spcBef>
          <a:spcPts val="1055"/>
        </a:spcBef>
        <a:buFont typeface="Arial" panose="020B0604020202020204" pitchFamily="34" charset="0"/>
        <a:buChar char="•"/>
        <a:defRPr sz="2955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1pPr>
      <a:lvl2pPr marL="72326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3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2pPr>
      <a:lvl3pPr marL="12052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1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3pPr>
      <a:lvl4pPr marL="16878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4pPr>
      <a:lvl5pPr marL="216979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5pPr>
      <a:lvl6pPr marL="26517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343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61632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9829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819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645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4653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284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4110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9306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7502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5699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684959" y="1498476"/>
            <a:ext cx="76060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文件</a:t>
            </a:r>
            <a:r>
              <a:rPr lang="en-US" altLang="zh-CN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写</a:t>
            </a:r>
            <a:endParaRPr lang="en-US" altLang="zh-CN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TextBox 7"/>
          <p:cNvSpPr txBox="1"/>
          <p:nvPr/>
        </p:nvSpPr>
        <p:spPr>
          <a:xfrm>
            <a:off x="4125119" y="3400301"/>
            <a:ext cx="4968552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葛以伟</a:t>
            </a:r>
            <a:endParaRPr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1103" y="5272509"/>
            <a:ext cx="5582514" cy="108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84870" y="159734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>
                <a:solidFill>
                  <a:srgbClr val="FFC000"/>
                </a:solidFill>
              </a:rPr>
              <a:t>C</a:t>
            </a:r>
            <a:r>
              <a:rPr kumimoji="1" lang="zh-CN" altLang="en-US" dirty="0">
                <a:solidFill>
                  <a:srgbClr val="FFC000"/>
                </a:solidFill>
              </a:rPr>
              <a:t>语言</a:t>
            </a:r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70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sz="2000" b="1" dirty="0">
                <a:solidFill>
                  <a:srgbClr val="FFFFFF"/>
                </a:solidFill>
              </a:rPr>
              <a:t>知识回顾 </a:t>
            </a:r>
            <a:r>
              <a:rPr lang="zh-CN" altLang="en-US" b="1" dirty="0"/>
              <a:t>新课导入  目标及重难点  新授 总结与合作探究  作业  限时检测</a:t>
            </a:r>
          </a:p>
        </p:txBody>
      </p:sp>
      <p:sp>
        <p:nvSpPr>
          <p:cNvPr id="6" name="箭头: 上 5"/>
          <p:cNvSpPr/>
          <p:nvPr/>
        </p:nvSpPr>
        <p:spPr>
          <a:xfrm>
            <a:off x="45271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文本占位符 2"/>
          <p:cNvSpPr>
            <a:spLocks noGrp="1"/>
          </p:cNvSpPr>
          <p:nvPr/>
        </p:nvSpPr>
        <p:spPr>
          <a:xfrm>
            <a:off x="2972991" y="1312069"/>
            <a:ext cx="6480720" cy="3896981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endParaRPr lang="en-US" altLang="zh-CN" sz="6600" dirty="0"/>
          </a:p>
        </p:txBody>
      </p:sp>
      <p:sp>
        <p:nvSpPr>
          <p:cNvPr id="7" name="文本占位符 2"/>
          <p:cNvSpPr>
            <a:spLocks noGrp="1"/>
          </p:cNvSpPr>
          <p:nvPr/>
        </p:nvSpPr>
        <p:spPr>
          <a:xfrm>
            <a:off x="2612951" y="1829259"/>
            <a:ext cx="7632848" cy="221950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altLang="zh-CN" sz="6600" dirty="0"/>
              <a:t>fgetc</a:t>
            </a:r>
            <a:r>
              <a:rPr lang="zh-CN" altLang="en-US" sz="6600" dirty="0"/>
              <a:t>使用</a:t>
            </a:r>
            <a:endParaRPr lang="en-US" altLang="zh-CN" sz="6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84870" y="159734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>
                <a:solidFill>
                  <a:srgbClr val="FFC000"/>
                </a:solidFill>
              </a:rPr>
              <a:t>C</a:t>
            </a:r>
            <a:r>
              <a:rPr kumimoji="1" lang="zh-CN" altLang="en-US" dirty="0">
                <a:solidFill>
                  <a:srgbClr val="FFC000"/>
                </a:solidFill>
              </a:rPr>
              <a:t>语言</a:t>
            </a:r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70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</a:t>
            </a:r>
            <a:r>
              <a:rPr lang="zh-CN" altLang="en-US" sz="2000" b="1" dirty="0">
                <a:solidFill>
                  <a:srgbClr val="FFFFFF"/>
                </a:solidFill>
              </a:rPr>
              <a:t>新课导入</a:t>
            </a:r>
            <a:r>
              <a:rPr lang="zh-CN" altLang="en-US" b="1" dirty="0"/>
              <a:t>  目标及重难点  新授 总结与合作探究  作业  限时检测</a:t>
            </a:r>
          </a:p>
        </p:txBody>
      </p:sp>
      <p:sp>
        <p:nvSpPr>
          <p:cNvPr id="6" name="箭头: 上 5"/>
          <p:cNvSpPr/>
          <p:nvPr/>
        </p:nvSpPr>
        <p:spPr>
          <a:xfrm>
            <a:off x="1388815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88815" y="1372816"/>
            <a:ext cx="10009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/>
              <a:t>一个一个字符读太慢了，有快一点的方法吗？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</a:t>
            </a:r>
            <a:r>
              <a:rPr lang="zh-CN" altLang="en-US" sz="2000" b="1" dirty="0">
                <a:solidFill>
                  <a:schemeClr val="bg1"/>
                </a:solidFill>
              </a:rPr>
              <a:t>目标及重难点  </a:t>
            </a:r>
            <a:r>
              <a:rPr lang="zh-CN" altLang="en-US" b="1" dirty="0"/>
              <a:t>新授 总结与合作探究  作业  限时检测</a:t>
            </a:r>
          </a:p>
        </p:txBody>
      </p:sp>
      <p:sp>
        <p:nvSpPr>
          <p:cNvPr id="10" name="箭头: 上 9"/>
          <p:cNvSpPr/>
          <p:nvPr/>
        </p:nvSpPr>
        <p:spPr>
          <a:xfrm>
            <a:off x="275696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标题 3"/>
          <p:cNvSpPr>
            <a:spLocks noGrp="1"/>
          </p:cNvSpPr>
          <p:nvPr/>
        </p:nvSpPr>
        <p:spPr>
          <a:xfrm>
            <a:off x="2026555" y="2968253"/>
            <a:ext cx="2160240" cy="81407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lang="zh-CN" altLang="en-US" sz="4800" dirty="0"/>
              <a:t>目标：</a:t>
            </a:r>
            <a:endParaRPr lang="en-US" altLang="zh-CN" sz="4800" dirty="0"/>
          </a:p>
        </p:txBody>
      </p:sp>
      <p:sp>
        <p:nvSpPr>
          <p:cNvPr id="4" name="文本占位符 2"/>
          <p:cNvSpPr>
            <a:spLocks noGrp="1"/>
          </p:cNvSpPr>
          <p:nvPr/>
        </p:nvSpPr>
        <p:spPr>
          <a:xfrm>
            <a:off x="3945099" y="1874868"/>
            <a:ext cx="4968552" cy="3000839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3600" dirty="0"/>
              <a:t>fgets</a:t>
            </a:r>
            <a:r>
              <a:rPr lang="zh-CN" altLang="en-US" sz="3600" dirty="0"/>
              <a:t>读数据</a:t>
            </a:r>
            <a:endParaRPr lang="en-US" altLang="zh-CN" sz="36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3600" dirty="0"/>
              <a:t>fread</a:t>
            </a:r>
            <a:r>
              <a:rPr lang="zh-CN" altLang="en-US" sz="3600" dirty="0"/>
              <a:t>读数据</a:t>
            </a:r>
            <a:endParaRPr lang="en-US" altLang="zh-CN" sz="36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3600" b="1" dirty="0">
                <a:solidFill>
                  <a:srgbClr val="FF0000"/>
                </a:solidFill>
              </a:rPr>
              <a:t>写</a:t>
            </a:r>
            <a:r>
              <a:rPr lang="zh-CN" altLang="en-US" sz="3600" dirty="0"/>
              <a:t>数据</a:t>
            </a:r>
            <a:endParaRPr lang="en-US" altLang="zh-CN" sz="36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3600" dirty="0"/>
              <a:t>练习</a:t>
            </a:r>
            <a:endParaRPr lang="en-US" altLang="zh-CN" sz="3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94668" y="723227"/>
            <a:ext cx="2942419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b="1" dirty="0">
                <a:solidFill>
                  <a:srgbClr val="FF0000"/>
                </a:solidFill>
              </a:rPr>
              <a:t>文件</a:t>
            </a:r>
            <a:r>
              <a:rPr lang="en-US" altLang="zh-CN" sz="2400" b="1" dirty="0">
                <a:solidFill>
                  <a:srgbClr val="FF0000"/>
                </a:solidFill>
              </a:rPr>
              <a:t>-fgets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00783" y="1452932"/>
            <a:ext cx="3240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fgets</a:t>
            </a:r>
            <a:r>
              <a:rPr lang="zh-CN" altLang="en-US" sz="3600" dirty="0"/>
              <a:t>使用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100783" y="2443518"/>
            <a:ext cx="25922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  <a:latin typeface="+mj-ea"/>
                <a:ea typeface="+mj-ea"/>
              </a:rPr>
              <a:t>步骤：</a:t>
            </a:r>
          </a:p>
        </p:txBody>
      </p:sp>
      <p:sp>
        <p:nvSpPr>
          <p:cNvPr id="6" name="矩形: 圆角 5"/>
          <p:cNvSpPr/>
          <p:nvPr/>
        </p:nvSpPr>
        <p:spPr>
          <a:xfrm>
            <a:off x="1784859" y="3118123"/>
            <a:ext cx="2376264" cy="52322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①打开文件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809647" y="3141404"/>
            <a:ext cx="4032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+mj-ea"/>
                <a:ea typeface="+mj-ea"/>
              </a:rPr>
              <a:t>fopen</a:t>
            </a:r>
            <a:endParaRPr lang="zh-CN" altLang="en-US" sz="2800" dirty="0">
              <a:latin typeface="+mj-ea"/>
              <a:ea typeface="+mj-ea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1784859" y="3947257"/>
            <a:ext cx="2376264" cy="52322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②   读数据       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4809647" y="3936042"/>
            <a:ext cx="4032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+mj-ea"/>
                <a:ea typeface="+mj-ea"/>
              </a:rPr>
              <a:t>fgets</a:t>
            </a:r>
            <a:endParaRPr lang="zh-CN" altLang="en-US" sz="2800" dirty="0">
              <a:latin typeface="+mj-ea"/>
              <a:ea typeface="+mj-ea"/>
            </a:endParaRPr>
          </a:p>
        </p:txBody>
      </p:sp>
      <p:sp>
        <p:nvSpPr>
          <p:cNvPr id="14" name="矩形: 圆角 13"/>
          <p:cNvSpPr/>
          <p:nvPr/>
        </p:nvSpPr>
        <p:spPr>
          <a:xfrm>
            <a:off x="1784859" y="4750132"/>
            <a:ext cx="2376264" cy="52322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③  关闭文件      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4809647" y="4756876"/>
            <a:ext cx="15837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+mj-ea"/>
                <a:ea typeface="+mj-ea"/>
              </a:rPr>
              <a:t>fclose</a:t>
            </a:r>
            <a:endParaRPr lang="zh-CN" altLang="en-US" sz="2800" dirty="0">
              <a:latin typeface="+mj-ea"/>
              <a:ea typeface="+mj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7" grpId="0"/>
      <p:bldP spid="11" grpId="0" animBg="1"/>
      <p:bldP spid="12" grpId="0"/>
      <p:bldP spid="14" grpId="0" animBg="1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94668" y="723227"/>
            <a:ext cx="2942419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b="1" dirty="0">
                <a:solidFill>
                  <a:srgbClr val="FF0000"/>
                </a:solidFill>
              </a:rPr>
              <a:t>文件</a:t>
            </a:r>
            <a:r>
              <a:rPr lang="en-US" altLang="zh-CN" sz="2400" b="1" dirty="0">
                <a:solidFill>
                  <a:srgbClr val="FF0000"/>
                </a:solidFill>
              </a:rPr>
              <a:t>-fread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00783" y="1452932"/>
            <a:ext cx="1036915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打开文件：</a:t>
            </a:r>
            <a:r>
              <a:rPr lang="en-US" altLang="zh-CN" sz="3600" dirty="0"/>
              <a:t>open</a:t>
            </a:r>
          </a:p>
          <a:p>
            <a:r>
              <a:rPr lang="zh-CN" altLang="en-US" sz="3600" dirty="0"/>
              <a:t>读取书库：</a:t>
            </a:r>
            <a:r>
              <a:rPr lang="en-US" altLang="zh-CN" sz="3600" dirty="0"/>
              <a:t>fgets</a:t>
            </a:r>
            <a:r>
              <a:rPr lang="zh-CN" altLang="en-US" sz="3600" dirty="0"/>
              <a:t>第一次读一行，读不到返回</a:t>
            </a:r>
            <a:r>
              <a:rPr lang="en-US" altLang="zh-CN" sz="3600" dirty="0"/>
              <a:t>null</a:t>
            </a:r>
          </a:p>
          <a:p>
            <a:r>
              <a:rPr lang="zh-CN" altLang="en-US" sz="3600" dirty="0"/>
              <a:t>关闭文件：</a:t>
            </a:r>
            <a:r>
              <a:rPr lang="en-US" altLang="zh-CN" sz="3600" dirty="0"/>
              <a:t>fclose</a:t>
            </a:r>
            <a:endParaRPr lang="zh-CN" altLang="en-US" sz="3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894668" y="723227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一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文件</a:t>
            </a:r>
            <a:r>
              <a:rPr lang="en-US" altLang="zh-CN" sz="2400" b="1" dirty="0">
                <a:solidFill>
                  <a:srgbClr val="FF0000"/>
                </a:solidFill>
              </a:rPr>
              <a:t>-fgets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072" y="1600101"/>
            <a:ext cx="10101783" cy="34207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94668" y="723227"/>
            <a:ext cx="2942419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b="1" dirty="0">
                <a:solidFill>
                  <a:srgbClr val="FF0000"/>
                </a:solidFill>
              </a:rPr>
              <a:t>文件</a:t>
            </a:r>
            <a:r>
              <a:rPr lang="en-US" altLang="zh-CN" sz="2400" b="1" dirty="0">
                <a:solidFill>
                  <a:srgbClr val="FF0000"/>
                </a:solidFill>
              </a:rPr>
              <a:t>-fread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00783" y="1452932"/>
            <a:ext cx="6120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fread</a:t>
            </a:r>
            <a:r>
              <a:rPr lang="zh-CN" altLang="en-US" sz="3600" dirty="0"/>
              <a:t>使用</a:t>
            </a:r>
            <a:r>
              <a:rPr lang="en-US" altLang="zh-CN" sz="3600" dirty="0"/>
              <a:t>-</a:t>
            </a:r>
            <a:r>
              <a:rPr lang="zh-CN" altLang="en-US" sz="3600" dirty="0"/>
              <a:t>第一次读多个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100783" y="2443518"/>
            <a:ext cx="25922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  <a:latin typeface="+mj-ea"/>
                <a:ea typeface="+mj-ea"/>
              </a:rPr>
              <a:t>步骤：</a:t>
            </a:r>
          </a:p>
        </p:txBody>
      </p:sp>
      <p:sp>
        <p:nvSpPr>
          <p:cNvPr id="6" name="矩形: 圆角 5"/>
          <p:cNvSpPr/>
          <p:nvPr/>
        </p:nvSpPr>
        <p:spPr>
          <a:xfrm>
            <a:off x="1784859" y="3118123"/>
            <a:ext cx="2376264" cy="52322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①打开文件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809647" y="3141404"/>
            <a:ext cx="4032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+mj-ea"/>
                <a:ea typeface="+mj-ea"/>
              </a:rPr>
              <a:t>fopen</a:t>
            </a:r>
            <a:endParaRPr lang="zh-CN" altLang="en-US" sz="2800" dirty="0">
              <a:latin typeface="+mj-ea"/>
              <a:ea typeface="+mj-ea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1784859" y="3947257"/>
            <a:ext cx="2376264" cy="52322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②   读数据       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4809647" y="3936042"/>
            <a:ext cx="4032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+mj-ea"/>
                <a:ea typeface="+mj-ea"/>
              </a:rPr>
              <a:t>fread</a:t>
            </a:r>
            <a:endParaRPr lang="zh-CN" altLang="en-US" sz="2800" dirty="0">
              <a:latin typeface="+mj-ea"/>
              <a:ea typeface="+mj-ea"/>
            </a:endParaRPr>
          </a:p>
        </p:txBody>
      </p:sp>
      <p:sp>
        <p:nvSpPr>
          <p:cNvPr id="14" name="矩形: 圆角 13"/>
          <p:cNvSpPr/>
          <p:nvPr/>
        </p:nvSpPr>
        <p:spPr>
          <a:xfrm>
            <a:off x="1784859" y="4750132"/>
            <a:ext cx="2376264" cy="52322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③  关闭文件      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4809647" y="4756876"/>
            <a:ext cx="15837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+mj-ea"/>
                <a:ea typeface="+mj-ea"/>
              </a:rPr>
              <a:t>fclose</a:t>
            </a:r>
            <a:endParaRPr lang="zh-CN" altLang="en-US" sz="2800" dirty="0">
              <a:latin typeface="+mj-ea"/>
              <a:ea typeface="+mj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7" grpId="0"/>
      <p:bldP spid="11" grpId="0" animBg="1"/>
      <p:bldP spid="12" grpId="0"/>
      <p:bldP spid="14" grpId="0" animBg="1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94668" y="723227"/>
            <a:ext cx="2942419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b="1" dirty="0">
                <a:solidFill>
                  <a:srgbClr val="FF0000"/>
                </a:solidFill>
              </a:rPr>
              <a:t>文件</a:t>
            </a:r>
            <a:r>
              <a:rPr lang="en-US" altLang="zh-CN" sz="2400" b="1" dirty="0">
                <a:solidFill>
                  <a:srgbClr val="FF0000"/>
                </a:solidFill>
              </a:rPr>
              <a:t>-fread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16807" y="1250300"/>
            <a:ext cx="655272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打开文件：</a:t>
            </a:r>
            <a:r>
              <a:rPr lang="en-US" altLang="zh-CN" sz="3600" dirty="0"/>
              <a:t>open</a:t>
            </a:r>
          </a:p>
          <a:p>
            <a:r>
              <a:rPr lang="zh-CN" altLang="en-US" sz="3600" dirty="0"/>
              <a:t>读取书库：</a:t>
            </a:r>
            <a:r>
              <a:rPr lang="en-US" altLang="zh-CN" sz="3600" dirty="0"/>
              <a:t>fread</a:t>
            </a:r>
            <a:r>
              <a:rPr lang="zh-CN" altLang="en-US" sz="3600" dirty="0"/>
              <a:t>第一次读多个</a:t>
            </a:r>
            <a:endParaRPr lang="en-US" altLang="zh-CN" sz="3600" dirty="0"/>
          </a:p>
          <a:p>
            <a:r>
              <a:rPr lang="zh-CN" altLang="en-US" sz="3600" dirty="0"/>
              <a:t>关闭文件：</a:t>
            </a:r>
            <a:r>
              <a:rPr lang="en-US" altLang="zh-CN" sz="3600" dirty="0"/>
              <a:t>fclose</a:t>
            </a:r>
            <a:endParaRPr lang="zh-CN" altLang="en-US" sz="3600" dirty="0"/>
          </a:p>
        </p:txBody>
      </p:sp>
      <p:sp>
        <p:nvSpPr>
          <p:cNvPr id="4" name="文本框 3"/>
          <p:cNvSpPr txBox="1"/>
          <p:nvPr/>
        </p:nvSpPr>
        <p:spPr>
          <a:xfrm>
            <a:off x="1316807" y="3184277"/>
            <a:ext cx="1071219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fread(</a:t>
            </a:r>
            <a:r>
              <a:rPr lang="zh-CN" altLang="en-US" sz="2800" dirty="0">
                <a:solidFill>
                  <a:srgbClr val="FF0000"/>
                </a:solidFill>
              </a:rPr>
              <a:t>参数</a:t>
            </a:r>
            <a:r>
              <a:rPr lang="en-US" altLang="zh-CN" sz="2800" dirty="0">
                <a:solidFill>
                  <a:srgbClr val="FF0000"/>
                </a:solidFill>
              </a:rPr>
              <a:t>1</a:t>
            </a:r>
            <a:r>
              <a:rPr lang="zh-CN" altLang="en-US" sz="2800" dirty="0"/>
              <a:t>，</a:t>
            </a:r>
            <a:r>
              <a:rPr lang="zh-CN" altLang="en-US" sz="2800" dirty="0">
                <a:solidFill>
                  <a:srgbClr val="FF0000"/>
                </a:solidFill>
              </a:rPr>
              <a:t>参数</a:t>
            </a:r>
            <a:r>
              <a:rPr lang="en-US" altLang="zh-CN" sz="2800" dirty="0">
                <a:solidFill>
                  <a:srgbClr val="FF0000"/>
                </a:solidFill>
              </a:rPr>
              <a:t>2</a:t>
            </a:r>
            <a:r>
              <a:rPr lang="zh-CN" altLang="en-US" sz="2800" dirty="0"/>
              <a:t>，</a:t>
            </a:r>
            <a:r>
              <a:rPr lang="zh-CN" altLang="en-US" sz="2800" dirty="0">
                <a:solidFill>
                  <a:srgbClr val="FF0000"/>
                </a:solidFill>
              </a:rPr>
              <a:t>参数</a:t>
            </a:r>
            <a:r>
              <a:rPr lang="en-US" altLang="zh-CN" sz="2800" dirty="0">
                <a:solidFill>
                  <a:srgbClr val="FF0000"/>
                </a:solidFill>
              </a:rPr>
              <a:t>3</a:t>
            </a:r>
            <a:r>
              <a:rPr lang="zh-CN" altLang="en-US" sz="2800" dirty="0"/>
              <a:t>，</a:t>
            </a:r>
            <a:r>
              <a:rPr lang="zh-CN" altLang="en-US" sz="2800" dirty="0">
                <a:solidFill>
                  <a:srgbClr val="FF0000"/>
                </a:solidFill>
              </a:rPr>
              <a:t>参数</a:t>
            </a:r>
            <a:r>
              <a:rPr lang="en-US" altLang="zh-CN" sz="2800" dirty="0">
                <a:solidFill>
                  <a:srgbClr val="FF0000"/>
                </a:solidFill>
              </a:rPr>
              <a:t>4</a:t>
            </a:r>
            <a:r>
              <a:rPr lang="en-US" altLang="zh-CN" sz="2800" dirty="0"/>
              <a:t>);</a:t>
            </a:r>
          </a:p>
          <a:p>
            <a:r>
              <a:rPr lang="zh-CN" altLang="en-US" sz="2800" b="1" dirty="0">
                <a:solidFill>
                  <a:srgbClr val="00B050"/>
                </a:solidFill>
              </a:rPr>
              <a:t>参数</a:t>
            </a:r>
            <a:r>
              <a:rPr lang="en-US" altLang="zh-CN" sz="2800" b="1" dirty="0">
                <a:solidFill>
                  <a:srgbClr val="00B050"/>
                </a:solidFill>
              </a:rPr>
              <a:t>1</a:t>
            </a:r>
            <a:r>
              <a:rPr lang="zh-CN" altLang="en-US" sz="2800" dirty="0"/>
              <a:t>：数组，表示我要用一个数组去装现在读到的数据</a:t>
            </a:r>
          </a:p>
          <a:p>
            <a:r>
              <a:rPr lang="zh-CN" altLang="en-US" sz="2800" b="1" dirty="0">
                <a:solidFill>
                  <a:srgbClr val="00B050"/>
                </a:solidFill>
              </a:rPr>
              <a:t>参数</a:t>
            </a:r>
            <a:r>
              <a:rPr lang="en-US" altLang="zh-CN" sz="2800" b="1" dirty="0">
                <a:solidFill>
                  <a:srgbClr val="00B050"/>
                </a:solidFill>
              </a:rPr>
              <a:t>2</a:t>
            </a:r>
            <a:r>
              <a:rPr lang="zh-CN" altLang="en-US" sz="2800" dirty="0"/>
              <a:t>：数组里的每一个数据占多少个字节 ，一般定义</a:t>
            </a:r>
            <a:r>
              <a:rPr lang="en-US" altLang="zh-CN" sz="2800" dirty="0"/>
              <a:t>char</a:t>
            </a:r>
            <a:r>
              <a:rPr lang="zh-CN" altLang="en-US" sz="2800" dirty="0"/>
              <a:t>类型，占一个字节</a:t>
            </a:r>
          </a:p>
          <a:p>
            <a:r>
              <a:rPr lang="zh-CN" altLang="en-US" sz="2800" b="1" dirty="0">
                <a:solidFill>
                  <a:srgbClr val="00B050"/>
                </a:solidFill>
              </a:rPr>
              <a:t>参数</a:t>
            </a:r>
            <a:r>
              <a:rPr lang="en-US" altLang="zh-CN" sz="2800" b="1" dirty="0">
                <a:solidFill>
                  <a:srgbClr val="00B050"/>
                </a:solidFill>
              </a:rPr>
              <a:t>3</a:t>
            </a:r>
            <a:r>
              <a:rPr lang="zh-CN" altLang="en-US" sz="2800" dirty="0"/>
              <a:t>：数组的长度 ，表示：要用数组的整体去装读到的数据</a:t>
            </a:r>
          </a:p>
          <a:p>
            <a:r>
              <a:rPr lang="zh-CN" altLang="en-US" sz="2800" b="1" dirty="0">
                <a:solidFill>
                  <a:srgbClr val="00B050"/>
                </a:solidFill>
              </a:rPr>
              <a:t>参数</a:t>
            </a:r>
            <a:r>
              <a:rPr lang="en-US" altLang="zh-CN" sz="2800" b="1" dirty="0">
                <a:solidFill>
                  <a:srgbClr val="00B050"/>
                </a:solidFill>
              </a:rPr>
              <a:t>4</a:t>
            </a:r>
            <a:r>
              <a:rPr lang="zh-CN" altLang="en-US" sz="2800" dirty="0"/>
              <a:t>： 我要读取的文件</a:t>
            </a:r>
            <a:r>
              <a:rPr lang="en-US" altLang="zh-CN" sz="2800" dirty="0"/>
              <a:t>file </a:t>
            </a:r>
          </a:p>
          <a:p>
            <a:r>
              <a:rPr lang="zh-CN" altLang="en-US" sz="2800" b="1" dirty="0">
                <a:solidFill>
                  <a:srgbClr val="C00000"/>
                </a:solidFill>
              </a:rPr>
              <a:t>最终返回当前读到的字节个数，最终读不到返回</a:t>
            </a:r>
            <a:r>
              <a:rPr lang="en-US" altLang="zh-CN" sz="2800" b="1" dirty="0">
                <a:solidFill>
                  <a:srgbClr val="C00000"/>
                </a:solidFill>
              </a:rPr>
              <a:t>0</a:t>
            </a:r>
            <a:r>
              <a:rPr lang="zh-CN" altLang="en-US" sz="2800" b="1" dirty="0">
                <a:solidFill>
                  <a:srgbClr val="C00000"/>
                </a:solidFill>
              </a:rPr>
              <a:t>。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94668" y="723227"/>
            <a:ext cx="2942419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b="1" dirty="0">
                <a:solidFill>
                  <a:srgbClr val="FF0000"/>
                </a:solidFill>
              </a:rPr>
              <a:t>文件</a:t>
            </a:r>
            <a:r>
              <a:rPr lang="en-US" altLang="zh-CN" sz="2400" b="1" dirty="0">
                <a:solidFill>
                  <a:srgbClr val="FF0000"/>
                </a:solidFill>
              </a:rPr>
              <a:t>-fread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8898" y="1166742"/>
            <a:ext cx="7852767" cy="2888304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8898" y="4230346"/>
            <a:ext cx="2838450" cy="95250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25119" y="4237108"/>
            <a:ext cx="8277225" cy="1828800"/>
          </a:xfrm>
          <a:prstGeom prst="rect">
            <a:avLst/>
          </a:prstGeom>
        </p:spPr>
      </p:pic>
      <p:cxnSp>
        <p:nvCxnSpPr>
          <p:cNvPr id="4" name="直接箭头连接符 3"/>
          <p:cNvCxnSpPr/>
          <p:nvPr/>
        </p:nvCxnSpPr>
        <p:spPr>
          <a:xfrm flipV="1">
            <a:off x="2365877" y="1194925"/>
            <a:ext cx="7087834" cy="357352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9621751" y="320428"/>
            <a:ext cx="30723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原因：因为没有换行符，所以读取到了一些乱七八糟的数据。</a:t>
            </a:r>
          </a:p>
        </p:txBody>
      </p:sp>
      <p:cxnSp>
        <p:nvCxnSpPr>
          <p:cNvPr id="11" name="直接箭头连接符 10"/>
          <p:cNvCxnSpPr/>
          <p:nvPr/>
        </p:nvCxnSpPr>
        <p:spPr>
          <a:xfrm flipH="1" flipV="1">
            <a:off x="821981" y="2769850"/>
            <a:ext cx="494826" cy="146725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16770" y="1831508"/>
            <a:ext cx="11521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因为第一行后面有换行符。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94668" y="723227"/>
            <a:ext cx="2942419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b="1" dirty="0">
                <a:solidFill>
                  <a:srgbClr val="FF0000"/>
                </a:solidFill>
              </a:rPr>
              <a:t>文件</a:t>
            </a:r>
            <a:r>
              <a:rPr lang="en-US" altLang="zh-CN" sz="2400" b="1" dirty="0">
                <a:solidFill>
                  <a:srgbClr val="FF0000"/>
                </a:solidFill>
              </a:rPr>
              <a:t>-fread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21614" y="1477489"/>
            <a:ext cx="307232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第一种解决方式：</a:t>
            </a:r>
            <a:endParaRPr lang="en-US" altLang="zh-CN" sz="2800" dirty="0"/>
          </a:p>
          <a:p>
            <a:r>
              <a:rPr lang="pt-BR" altLang="zh-CN" sz="2800" dirty="0"/>
              <a:t>if(n &gt; 0){</a:t>
            </a:r>
          </a:p>
          <a:p>
            <a:r>
              <a:rPr lang="pt-BR" altLang="zh-CN" sz="2800" dirty="0"/>
              <a:t>        arr[n] = '\0';</a:t>
            </a:r>
          </a:p>
          <a:p>
            <a:r>
              <a:rPr lang="pt-BR" altLang="zh-CN" sz="2800" dirty="0"/>
              <a:t>}</a:t>
            </a:r>
            <a:endParaRPr lang="zh-CN" altLang="en-US" sz="2800" dirty="0"/>
          </a:p>
        </p:txBody>
      </p:sp>
      <p:sp>
        <p:nvSpPr>
          <p:cNvPr id="14" name="文本框 13"/>
          <p:cNvSpPr txBox="1"/>
          <p:nvPr/>
        </p:nvSpPr>
        <p:spPr>
          <a:xfrm>
            <a:off x="5342590" y="1477489"/>
            <a:ext cx="6455832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第二种解决方式：</a:t>
            </a:r>
            <a:endParaRPr lang="en-US" altLang="zh-CN" sz="2800" dirty="0"/>
          </a:p>
          <a:p>
            <a:r>
              <a:rPr lang="pt-BR" altLang="zh-CN" sz="2800" dirty="0"/>
              <a:t>while((n = fread(arr,1,4,file)) != 0){</a:t>
            </a:r>
          </a:p>
          <a:p>
            <a:r>
              <a:rPr lang="pt-BR" altLang="zh-CN" sz="2800" dirty="0"/>
              <a:t>        int i;</a:t>
            </a:r>
          </a:p>
          <a:p>
            <a:r>
              <a:rPr lang="pt-BR" altLang="zh-CN" sz="2800" dirty="0"/>
              <a:t>        for(i = 0;i &lt; n;i++){</a:t>
            </a:r>
          </a:p>
          <a:p>
            <a:r>
              <a:rPr lang="pt-BR" altLang="zh-CN" sz="2800" dirty="0"/>
              <a:t>                printf("%c",arr[i]);</a:t>
            </a:r>
          </a:p>
          <a:p>
            <a:r>
              <a:rPr lang="pt-BR" altLang="zh-CN" sz="2800" dirty="0"/>
              <a:t>        }</a:t>
            </a:r>
          </a:p>
          <a:p>
            <a:r>
              <a:rPr lang="pt-BR" altLang="zh-CN" sz="2800" dirty="0"/>
              <a:t>}</a:t>
            </a:r>
            <a:endParaRPr lang="zh-CN" altLang="en-US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94668" y="723227"/>
            <a:ext cx="2942419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b="1" dirty="0">
                <a:solidFill>
                  <a:srgbClr val="FF0000"/>
                </a:solidFill>
              </a:rPr>
              <a:t>文件</a:t>
            </a:r>
            <a:r>
              <a:rPr lang="en-US" altLang="zh-CN" sz="2400" b="1" dirty="0">
                <a:solidFill>
                  <a:srgbClr val="FF0000"/>
                </a:solidFill>
              </a:rPr>
              <a:t>-fread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50730" y="1456085"/>
            <a:ext cx="11267277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00B050"/>
                </a:solidFill>
                <a:latin typeface="+mj-ea"/>
                <a:ea typeface="+mj-ea"/>
              </a:rPr>
              <a:t>fread</a:t>
            </a:r>
            <a:r>
              <a:rPr lang="zh-CN" altLang="en-US" sz="3200" b="1" dirty="0">
                <a:solidFill>
                  <a:srgbClr val="00B050"/>
                </a:solidFill>
                <a:latin typeface="+mj-ea"/>
                <a:ea typeface="+mj-ea"/>
              </a:rPr>
              <a:t>读取数据的细节：</a:t>
            </a:r>
            <a:endParaRPr lang="en-US" altLang="zh-CN" sz="3200" b="1" dirty="0">
              <a:solidFill>
                <a:srgbClr val="00B050"/>
              </a:solidFill>
              <a:latin typeface="+mj-ea"/>
              <a:ea typeface="+mj-ea"/>
            </a:endParaRPr>
          </a:p>
          <a:p>
            <a:r>
              <a:rPr lang="en-US" altLang="zh-CN" sz="2400" dirty="0"/>
              <a:t>    </a:t>
            </a:r>
            <a:r>
              <a:rPr lang="zh-CN" altLang="en-US" sz="2400" dirty="0"/>
              <a:t>⭐️在读取的时候，每次尽可能会把数组给装满，返回当前读取到的有效字节个数。</a:t>
            </a:r>
            <a:endParaRPr lang="en-US" altLang="zh-CN" sz="2400" dirty="0"/>
          </a:p>
          <a:p>
            <a:r>
              <a:rPr lang="en-US" altLang="zh-CN" sz="2400" dirty="0"/>
              <a:t>    </a:t>
            </a:r>
            <a:r>
              <a:rPr lang="zh-CN" altLang="en-US" sz="2400" dirty="0"/>
              <a:t>比如：文件里有</a:t>
            </a:r>
            <a:r>
              <a:rPr lang="en-US" altLang="zh-CN" sz="2400" dirty="0"/>
              <a:t>100</a:t>
            </a:r>
            <a:r>
              <a:rPr lang="zh-CN" altLang="en-US" sz="2400" dirty="0"/>
              <a:t>个字节</a:t>
            </a:r>
            <a:endParaRPr lang="en-US" altLang="zh-CN" sz="2400" dirty="0"/>
          </a:p>
          <a:p>
            <a:r>
              <a:rPr lang="en-US" altLang="zh-CN" sz="2400" dirty="0"/>
              <a:t>    </a:t>
            </a:r>
            <a:r>
              <a:rPr lang="zh-CN" altLang="en-US" sz="2400" dirty="0"/>
              <a:t>但是数组的长度是：</a:t>
            </a:r>
            <a:r>
              <a:rPr lang="en-US" altLang="zh-CN" sz="2400" dirty="0"/>
              <a:t>30</a:t>
            </a:r>
            <a:r>
              <a:rPr lang="zh-CN" altLang="en-US" sz="2400" dirty="0"/>
              <a:t>，那么在读取的时候，就是下面的情况</a:t>
            </a:r>
            <a:endParaRPr lang="en-US" altLang="zh-CN" sz="2400" dirty="0"/>
          </a:p>
          <a:p>
            <a:r>
              <a:rPr lang="en-US" altLang="zh-CN" sz="2400" dirty="0"/>
              <a:t>    </a:t>
            </a:r>
            <a:r>
              <a:rPr lang="zh-CN" altLang="en-US" sz="2400" dirty="0"/>
              <a:t>第一次读取：读取前面</a:t>
            </a:r>
            <a:r>
              <a:rPr lang="en-US" altLang="zh-CN" sz="2400" dirty="0"/>
              <a:t>30</a:t>
            </a:r>
            <a:r>
              <a:rPr lang="zh-CN" altLang="en-US" sz="2400" dirty="0"/>
              <a:t>个字节，把数组给装满，此时这个函数就会返回</a:t>
            </a:r>
            <a:r>
              <a:rPr lang="en-US" altLang="zh-CN" sz="2400" dirty="0"/>
              <a:t>30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r>
              <a:rPr lang="en-US" altLang="zh-CN" sz="2400" dirty="0"/>
              <a:t>    </a:t>
            </a:r>
            <a:r>
              <a:rPr lang="zh-CN" altLang="en-US" sz="2400" dirty="0"/>
              <a:t>第二次读取：读取后面</a:t>
            </a:r>
            <a:r>
              <a:rPr lang="en-US" altLang="zh-CN" sz="2400" dirty="0"/>
              <a:t>30</a:t>
            </a:r>
            <a:r>
              <a:rPr lang="zh-CN" altLang="en-US" sz="2400" dirty="0"/>
              <a:t>个字节，把数组给装满，此时这个函数就会返回</a:t>
            </a:r>
            <a:r>
              <a:rPr lang="en-US" altLang="zh-CN" sz="2400" dirty="0"/>
              <a:t>30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r>
              <a:rPr lang="zh-CN" altLang="en-US" sz="2400" dirty="0"/>
              <a:t>    第三次读取：读取后面</a:t>
            </a:r>
            <a:r>
              <a:rPr lang="en-US" altLang="zh-CN" sz="2400" dirty="0"/>
              <a:t>30</a:t>
            </a:r>
            <a:r>
              <a:rPr lang="zh-CN" altLang="en-US" sz="2400" dirty="0"/>
              <a:t>个字节，把数组给装满，此时这个函数就会返回</a:t>
            </a:r>
            <a:r>
              <a:rPr lang="en-US" altLang="zh-CN" sz="2400" dirty="0"/>
              <a:t>30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r>
              <a:rPr lang="en-US" altLang="zh-CN" sz="2400" dirty="0"/>
              <a:t>    </a:t>
            </a:r>
            <a:r>
              <a:rPr lang="zh-CN" altLang="en-US" sz="2400" dirty="0"/>
              <a:t>第四次读取：读取剩余的</a:t>
            </a:r>
            <a:r>
              <a:rPr lang="en-US" altLang="zh-CN" sz="2400" dirty="0"/>
              <a:t>10</a:t>
            </a:r>
            <a:r>
              <a:rPr lang="zh-CN" altLang="en-US" sz="2400" dirty="0"/>
              <a:t>个字节，会把数据放在数组当中，此时函数返回</a:t>
            </a:r>
            <a:r>
              <a:rPr lang="en-US" altLang="zh-CN" sz="2400" dirty="0"/>
              <a:t>10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r>
              <a:rPr lang="en-US" altLang="zh-CN" sz="2400" dirty="0"/>
              <a:t>    </a:t>
            </a:r>
            <a:r>
              <a:rPr lang="zh-CN" altLang="en-US" sz="2400" dirty="0"/>
              <a:t>第五次读取：没有数据可以读取了，函数会返回</a:t>
            </a:r>
            <a:r>
              <a:rPr lang="en-US" altLang="zh-CN" sz="2400" dirty="0"/>
              <a:t>0</a:t>
            </a:r>
            <a:r>
              <a:rPr lang="zh-CN" altLang="en-US" sz="2400" dirty="0"/>
              <a:t>。</a:t>
            </a:r>
            <a:endParaRPr lang="en-US" altLang="zh-CN" sz="2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94668" y="723227"/>
            <a:ext cx="2942419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文件</a:t>
            </a:r>
            <a:r>
              <a:rPr lang="en-US" altLang="zh-CN" sz="2400" b="1" dirty="0">
                <a:solidFill>
                  <a:srgbClr val="FF0000"/>
                </a:solidFill>
              </a:rPr>
              <a:t>-</a:t>
            </a:r>
            <a:r>
              <a:rPr lang="zh-CN" altLang="en-US" sz="2400" b="1" dirty="0">
                <a:solidFill>
                  <a:srgbClr val="FF0000"/>
                </a:solidFill>
              </a:rPr>
              <a:t>写出数据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00783" y="1600101"/>
            <a:ext cx="1080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+mj-ea"/>
                <a:ea typeface="+mj-ea"/>
              </a:rPr>
              <a:t>把程序当中的数据，写到本地文件当中永久存储。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100783" y="2443518"/>
            <a:ext cx="25922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  <a:latin typeface="+mj-ea"/>
                <a:ea typeface="+mj-ea"/>
              </a:rPr>
              <a:t>步骤：</a:t>
            </a:r>
          </a:p>
        </p:txBody>
      </p:sp>
      <p:sp>
        <p:nvSpPr>
          <p:cNvPr id="7" name="矩形: 圆角 6"/>
          <p:cNvSpPr/>
          <p:nvPr/>
        </p:nvSpPr>
        <p:spPr>
          <a:xfrm>
            <a:off x="1784859" y="3118123"/>
            <a:ext cx="2376264" cy="52322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①打开文件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4809647" y="3141404"/>
            <a:ext cx="4032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+mj-ea"/>
                <a:ea typeface="+mj-ea"/>
              </a:rPr>
              <a:t>fopen</a:t>
            </a:r>
            <a:endParaRPr lang="zh-CN" altLang="en-US" sz="2800" dirty="0">
              <a:latin typeface="+mj-ea"/>
              <a:ea typeface="+mj-ea"/>
            </a:endParaRPr>
          </a:p>
        </p:txBody>
      </p:sp>
      <p:sp>
        <p:nvSpPr>
          <p:cNvPr id="12" name="矩形: 圆角 11"/>
          <p:cNvSpPr/>
          <p:nvPr/>
        </p:nvSpPr>
        <p:spPr>
          <a:xfrm>
            <a:off x="1784859" y="3947257"/>
            <a:ext cx="2376264" cy="52322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②   写数据       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4809647" y="3936042"/>
            <a:ext cx="4500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+mj-ea"/>
                <a:ea typeface="+mj-ea"/>
              </a:rPr>
              <a:t>fputc     fputs       fwrite  </a:t>
            </a:r>
            <a:endParaRPr lang="zh-CN" altLang="en-US" sz="2800" dirty="0">
              <a:latin typeface="+mj-ea"/>
              <a:ea typeface="+mj-ea"/>
            </a:endParaRPr>
          </a:p>
        </p:txBody>
      </p:sp>
      <p:sp>
        <p:nvSpPr>
          <p:cNvPr id="15" name="矩形: 圆角 14"/>
          <p:cNvSpPr/>
          <p:nvPr/>
        </p:nvSpPr>
        <p:spPr>
          <a:xfrm>
            <a:off x="1784859" y="4750132"/>
            <a:ext cx="2376264" cy="52322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③  关闭文件      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4809647" y="4756876"/>
            <a:ext cx="15837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+mj-ea"/>
                <a:ea typeface="+mj-ea"/>
              </a:rPr>
              <a:t>fclose</a:t>
            </a:r>
            <a:endParaRPr lang="zh-CN" altLang="en-US" sz="2800" dirty="0">
              <a:latin typeface="+mj-ea"/>
              <a:ea typeface="+mj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11" grpId="0"/>
      <p:bldP spid="12" grpId="0" animBg="1"/>
      <p:bldP spid="14" grpId="0"/>
      <p:bldP spid="15" grpId="0" animBg="1"/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94668" y="723227"/>
            <a:ext cx="2942419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文件</a:t>
            </a:r>
            <a:r>
              <a:rPr lang="en-US" altLang="zh-CN" sz="2400" b="1" dirty="0">
                <a:solidFill>
                  <a:srgbClr val="FF0000"/>
                </a:solidFill>
              </a:rPr>
              <a:t>-</a:t>
            </a:r>
            <a:r>
              <a:rPr lang="zh-CN" altLang="en-US" sz="2400" b="1" dirty="0">
                <a:solidFill>
                  <a:srgbClr val="FF0000"/>
                </a:solidFill>
              </a:rPr>
              <a:t>写出数据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9919" y="1282894"/>
            <a:ext cx="8164148" cy="52312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94668" y="723227"/>
            <a:ext cx="2942419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文件</a:t>
            </a:r>
            <a:r>
              <a:rPr lang="en-US" altLang="zh-CN" sz="2400" b="1" dirty="0">
                <a:solidFill>
                  <a:srgbClr val="FF0000"/>
                </a:solidFill>
              </a:rPr>
              <a:t>-</a:t>
            </a:r>
            <a:r>
              <a:rPr lang="zh-CN" altLang="en-US" sz="2400" b="1" dirty="0">
                <a:solidFill>
                  <a:srgbClr val="FF0000"/>
                </a:solidFill>
              </a:rPr>
              <a:t>代码演示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68735" y="1427350"/>
            <a:ext cx="11953328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打开文件： </a:t>
            </a:r>
            <a:r>
              <a:rPr lang="en-US" altLang="zh-CN" sz="3200" dirty="0"/>
              <a:t>open</a:t>
            </a:r>
          </a:p>
          <a:p>
            <a:r>
              <a:rPr lang="zh-CN" altLang="en-US" sz="3200" dirty="0"/>
              <a:t>写出数据：</a:t>
            </a:r>
            <a:r>
              <a:rPr lang="en-US" altLang="zh-CN" sz="3200" dirty="0"/>
              <a:t>fputc </a:t>
            </a:r>
            <a:r>
              <a:rPr lang="zh-CN" altLang="en-US" sz="3200" dirty="0"/>
              <a:t>一次写一个字符，返回写出的字符</a:t>
            </a:r>
            <a:endParaRPr lang="en-US" altLang="zh-CN" sz="3200" dirty="0"/>
          </a:p>
          <a:p>
            <a:r>
              <a:rPr lang="en-US" altLang="zh-CN" sz="3200" dirty="0"/>
              <a:t>	fputs</a:t>
            </a:r>
            <a:r>
              <a:rPr lang="zh-CN" altLang="en-US" sz="3200" dirty="0"/>
              <a:t>一次写一个字符串，写出成功返回非负数，一般忽略返回值</a:t>
            </a:r>
            <a:endParaRPr lang="en-US" altLang="zh-CN" sz="3200" dirty="0"/>
          </a:p>
          <a:p>
            <a:r>
              <a:rPr lang="en-US" altLang="zh-CN" sz="3200" dirty="0"/>
              <a:t>	fwrite </a:t>
            </a:r>
            <a:r>
              <a:rPr lang="zh-CN" altLang="en-US" sz="3200" dirty="0"/>
              <a:t>一次写多个，返回写出的个数</a:t>
            </a:r>
            <a:endParaRPr lang="en-US" altLang="zh-CN" sz="3200" dirty="0"/>
          </a:p>
          <a:p>
            <a:r>
              <a:rPr lang="zh-CN" altLang="en-US" sz="3200" dirty="0"/>
              <a:t>关闭文件：</a:t>
            </a:r>
            <a:r>
              <a:rPr lang="en-US" altLang="zh-CN" sz="3200" dirty="0"/>
              <a:t>close</a:t>
            </a:r>
          </a:p>
          <a:p>
            <a:endParaRPr lang="en-US" altLang="zh-CN" sz="3200" dirty="0"/>
          </a:p>
          <a:p>
            <a:r>
              <a:rPr lang="en-US" altLang="zh-CN" sz="3200" dirty="0"/>
              <a:t>‪C:\\Users\\Administrator\\Desktop\\123.txt</a:t>
            </a:r>
            <a:endParaRPr lang="zh-CN" altLang="en-US" sz="3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94668" y="723227"/>
            <a:ext cx="4094547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文件</a:t>
            </a:r>
            <a:r>
              <a:rPr lang="en-US" altLang="zh-CN" sz="2400" b="1" dirty="0">
                <a:solidFill>
                  <a:srgbClr val="FF0000"/>
                </a:solidFill>
              </a:rPr>
              <a:t>-</a:t>
            </a:r>
            <a:r>
              <a:rPr lang="zh-CN" altLang="en-US" sz="2400" b="1" dirty="0">
                <a:solidFill>
                  <a:srgbClr val="FF0000"/>
                </a:solidFill>
              </a:rPr>
              <a:t>代码演示</a:t>
            </a:r>
            <a:r>
              <a:rPr lang="en-US" altLang="zh-CN" sz="2400" b="1" dirty="0">
                <a:solidFill>
                  <a:srgbClr val="FF0000"/>
                </a:solidFill>
              </a:rPr>
              <a:t>-</a:t>
            </a:r>
            <a:r>
              <a:rPr lang="en-US" altLang="zh-CN" sz="2400" dirty="0"/>
              <a:t> </a:t>
            </a:r>
            <a:r>
              <a:rPr lang="en-US" altLang="zh-CN" sz="2400" b="1" dirty="0">
                <a:solidFill>
                  <a:srgbClr val="00B050"/>
                </a:solidFill>
                <a:latin typeface="+mj-ea"/>
              </a:rPr>
              <a:t>fputc</a:t>
            </a:r>
            <a:endParaRPr lang="zh-CN" altLang="zh-CN" sz="2400" b="1" dirty="0">
              <a:solidFill>
                <a:srgbClr val="00B050"/>
              </a:solidFill>
              <a:latin typeface="+mj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74" y="1672109"/>
            <a:ext cx="11613951" cy="28004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94668" y="723227"/>
            <a:ext cx="4094547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文件</a:t>
            </a:r>
            <a:r>
              <a:rPr lang="en-US" altLang="zh-CN" sz="2400" b="1" dirty="0">
                <a:solidFill>
                  <a:srgbClr val="FF0000"/>
                </a:solidFill>
              </a:rPr>
              <a:t>-</a:t>
            </a:r>
            <a:r>
              <a:rPr lang="zh-CN" altLang="en-US" sz="2400" b="1" dirty="0">
                <a:solidFill>
                  <a:srgbClr val="FF0000"/>
                </a:solidFill>
              </a:rPr>
              <a:t>代码演示</a:t>
            </a:r>
            <a:r>
              <a:rPr lang="en-US" altLang="zh-CN" sz="2400" b="1" dirty="0">
                <a:solidFill>
                  <a:srgbClr val="FF0000"/>
                </a:solidFill>
              </a:rPr>
              <a:t>-</a:t>
            </a:r>
            <a:r>
              <a:rPr lang="en-US" altLang="zh-CN" sz="2400" dirty="0"/>
              <a:t> </a:t>
            </a:r>
            <a:r>
              <a:rPr lang="en-US" altLang="zh-CN" sz="2400" b="1" dirty="0">
                <a:solidFill>
                  <a:srgbClr val="00B050"/>
                </a:solidFill>
                <a:latin typeface="+mj-ea"/>
              </a:rPr>
              <a:t>fputs</a:t>
            </a:r>
            <a:endParaRPr lang="zh-CN" altLang="zh-CN" sz="2400" b="1" dirty="0">
              <a:solidFill>
                <a:srgbClr val="00B050"/>
              </a:solidFill>
              <a:latin typeface="+mj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668" y="1526898"/>
            <a:ext cx="11541943" cy="36521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94668" y="723227"/>
            <a:ext cx="4094547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文件</a:t>
            </a:r>
            <a:r>
              <a:rPr lang="en-US" altLang="zh-CN" sz="2400" b="1" dirty="0">
                <a:solidFill>
                  <a:srgbClr val="FF0000"/>
                </a:solidFill>
              </a:rPr>
              <a:t>-</a:t>
            </a:r>
            <a:r>
              <a:rPr lang="zh-CN" altLang="en-US" sz="2400" b="1" dirty="0">
                <a:solidFill>
                  <a:srgbClr val="FF0000"/>
                </a:solidFill>
              </a:rPr>
              <a:t>代码演示</a:t>
            </a:r>
            <a:r>
              <a:rPr lang="en-US" altLang="zh-CN" sz="2400" b="1" dirty="0">
                <a:solidFill>
                  <a:srgbClr val="FF0000"/>
                </a:solidFill>
              </a:rPr>
              <a:t>-</a:t>
            </a:r>
            <a:r>
              <a:rPr lang="en-US" altLang="zh-CN" sz="2400" dirty="0"/>
              <a:t> </a:t>
            </a:r>
            <a:r>
              <a:rPr lang="en-US" altLang="zh-CN" sz="2400" b="1" dirty="0">
                <a:solidFill>
                  <a:srgbClr val="00B050"/>
                </a:solidFill>
                <a:latin typeface="+mj-ea"/>
              </a:rPr>
              <a:t>fwrite</a:t>
            </a:r>
            <a:endParaRPr lang="zh-CN" altLang="zh-CN" sz="2400" b="1" dirty="0">
              <a:solidFill>
                <a:srgbClr val="00B050"/>
              </a:solidFill>
              <a:latin typeface="+mj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06054" y="1358507"/>
            <a:ext cx="87710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fwrite(</a:t>
            </a:r>
            <a:r>
              <a:rPr lang="zh-CN" altLang="en-US" sz="3600" dirty="0"/>
              <a:t>参数</a:t>
            </a:r>
            <a:r>
              <a:rPr lang="en-US" altLang="zh-CN" sz="3600" dirty="0"/>
              <a:t>1</a:t>
            </a:r>
            <a:r>
              <a:rPr lang="zh-CN" altLang="en-US" sz="3600" dirty="0"/>
              <a:t>，参数</a:t>
            </a:r>
            <a:r>
              <a:rPr lang="en-US" altLang="zh-CN" sz="3600" dirty="0"/>
              <a:t>2</a:t>
            </a:r>
            <a:r>
              <a:rPr lang="zh-CN" altLang="en-US" sz="3600" dirty="0"/>
              <a:t>，参数</a:t>
            </a:r>
            <a:r>
              <a:rPr lang="en-US" altLang="zh-CN" sz="3600" dirty="0"/>
              <a:t>3</a:t>
            </a:r>
            <a:r>
              <a:rPr lang="zh-CN" altLang="en-US" sz="3600" dirty="0"/>
              <a:t>，参数</a:t>
            </a:r>
            <a:r>
              <a:rPr lang="en-US" altLang="zh-CN" sz="3600" dirty="0"/>
              <a:t>4)</a:t>
            </a:r>
            <a:endParaRPr lang="zh-CN" altLang="en-US" sz="3600" dirty="0"/>
          </a:p>
        </p:txBody>
      </p:sp>
      <p:sp>
        <p:nvSpPr>
          <p:cNvPr id="2" name="文本框 1"/>
          <p:cNvSpPr txBox="1"/>
          <p:nvPr/>
        </p:nvSpPr>
        <p:spPr>
          <a:xfrm>
            <a:off x="1006054" y="2500436"/>
            <a:ext cx="1065718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00B050"/>
                </a:solidFill>
                <a:latin typeface="+mj-ea"/>
                <a:ea typeface="+mj-ea"/>
              </a:rPr>
              <a:t>参数</a:t>
            </a:r>
            <a:r>
              <a:rPr lang="en-US" altLang="zh-CN" sz="3200" dirty="0">
                <a:solidFill>
                  <a:srgbClr val="00B050"/>
                </a:solidFill>
                <a:latin typeface="+mj-ea"/>
                <a:ea typeface="+mj-ea"/>
              </a:rPr>
              <a:t>1</a:t>
            </a:r>
            <a:r>
              <a:rPr lang="zh-CN" altLang="en-US" sz="3200" dirty="0">
                <a:solidFill>
                  <a:srgbClr val="00B050"/>
                </a:solidFill>
                <a:latin typeface="+mj-ea"/>
                <a:ea typeface="+mj-ea"/>
              </a:rPr>
              <a:t>：</a:t>
            </a:r>
            <a:r>
              <a:rPr lang="zh-CN" altLang="en-US" sz="3200" dirty="0"/>
              <a:t>是一个数组，数组里存着需要写入的数据，必须是</a:t>
            </a:r>
            <a:r>
              <a:rPr lang="en-US" altLang="zh-CN" sz="3200" dirty="0"/>
              <a:t>ASCII</a:t>
            </a:r>
            <a:r>
              <a:rPr lang="zh-CN" altLang="en-US" sz="3200" dirty="0"/>
              <a:t>表里对应的数字。</a:t>
            </a:r>
            <a:endParaRPr lang="en-US" altLang="zh-CN" sz="3200" dirty="0"/>
          </a:p>
          <a:p>
            <a:r>
              <a:rPr lang="zh-CN" altLang="en-US" sz="3200" dirty="0">
                <a:solidFill>
                  <a:srgbClr val="00B050"/>
                </a:solidFill>
                <a:latin typeface="+mj-ea"/>
                <a:ea typeface="+mj-ea"/>
              </a:rPr>
              <a:t>参数</a:t>
            </a:r>
            <a:r>
              <a:rPr lang="en-US" altLang="zh-CN" sz="3200" dirty="0">
                <a:solidFill>
                  <a:srgbClr val="00B050"/>
                </a:solidFill>
                <a:latin typeface="+mj-ea"/>
                <a:ea typeface="+mj-ea"/>
              </a:rPr>
              <a:t>2</a:t>
            </a:r>
            <a:r>
              <a:rPr lang="zh-CN" altLang="en-US" sz="3200" dirty="0">
                <a:solidFill>
                  <a:srgbClr val="00B050"/>
                </a:solidFill>
                <a:latin typeface="+mj-ea"/>
                <a:ea typeface="+mj-ea"/>
              </a:rPr>
              <a:t>：</a:t>
            </a:r>
            <a:r>
              <a:rPr lang="zh-CN" altLang="en-US" sz="3200" dirty="0"/>
              <a:t>数组里的每一个元素占多少个字节。</a:t>
            </a:r>
            <a:endParaRPr lang="en-US" altLang="zh-CN" sz="3200" dirty="0"/>
          </a:p>
          <a:p>
            <a:r>
              <a:rPr lang="zh-CN" altLang="en-US" sz="3200" dirty="0">
                <a:solidFill>
                  <a:srgbClr val="00B050"/>
                </a:solidFill>
                <a:latin typeface="+mj-ea"/>
                <a:ea typeface="+mj-ea"/>
              </a:rPr>
              <a:t>参数</a:t>
            </a:r>
            <a:r>
              <a:rPr lang="en-US" altLang="zh-CN" sz="3200" dirty="0">
                <a:solidFill>
                  <a:srgbClr val="00B050"/>
                </a:solidFill>
                <a:latin typeface="+mj-ea"/>
                <a:ea typeface="+mj-ea"/>
              </a:rPr>
              <a:t>3</a:t>
            </a:r>
            <a:r>
              <a:rPr lang="zh-CN" altLang="en-US" sz="3200" dirty="0">
                <a:solidFill>
                  <a:srgbClr val="00B050"/>
                </a:solidFill>
                <a:latin typeface="+mj-ea"/>
                <a:ea typeface="+mj-ea"/>
              </a:rPr>
              <a:t>：</a:t>
            </a:r>
            <a:r>
              <a:rPr lang="zh-CN" altLang="en-US" sz="3200" dirty="0"/>
              <a:t>需要写多少个数据，一般都是把数组里的所有数据都写出。</a:t>
            </a:r>
            <a:endParaRPr lang="en-US" altLang="zh-CN" sz="3200" dirty="0"/>
          </a:p>
          <a:p>
            <a:r>
              <a:rPr lang="zh-CN" altLang="en-US" sz="3200" dirty="0">
                <a:solidFill>
                  <a:srgbClr val="00B050"/>
                </a:solidFill>
                <a:latin typeface="+mj-ea"/>
                <a:ea typeface="+mj-ea"/>
              </a:rPr>
              <a:t>参数</a:t>
            </a:r>
            <a:r>
              <a:rPr lang="en-US" altLang="zh-CN" sz="3200" dirty="0">
                <a:solidFill>
                  <a:srgbClr val="00B050"/>
                </a:solidFill>
                <a:latin typeface="+mj-ea"/>
                <a:ea typeface="+mj-ea"/>
              </a:rPr>
              <a:t>4</a:t>
            </a:r>
            <a:r>
              <a:rPr lang="zh-CN" altLang="en-US" sz="3200" dirty="0">
                <a:solidFill>
                  <a:srgbClr val="00B050"/>
                </a:solidFill>
                <a:latin typeface="+mj-ea"/>
                <a:ea typeface="+mj-ea"/>
              </a:rPr>
              <a:t>：</a:t>
            </a:r>
            <a:r>
              <a:rPr lang="zh-CN" altLang="en-US" sz="3200" dirty="0"/>
              <a:t>数据要写入的文件。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94668" y="723227"/>
            <a:ext cx="4094547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文件</a:t>
            </a:r>
            <a:r>
              <a:rPr lang="en-US" altLang="zh-CN" sz="2400" b="1" dirty="0">
                <a:solidFill>
                  <a:srgbClr val="FF0000"/>
                </a:solidFill>
              </a:rPr>
              <a:t>-</a:t>
            </a:r>
            <a:r>
              <a:rPr lang="zh-CN" altLang="en-US" sz="2400" b="1" dirty="0">
                <a:solidFill>
                  <a:srgbClr val="FF0000"/>
                </a:solidFill>
              </a:rPr>
              <a:t>代码演示</a:t>
            </a:r>
            <a:r>
              <a:rPr lang="en-US" altLang="zh-CN" sz="2400" b="1" dirty="0">
                <a:solidFill>
                  <a:srgbClr val="FF0000"/>
                </a:solidFill>
              </a:rPr>
              <a:t>-</a:t>
            </a:r>
            <a:r>
              <a:rPr lang="en-US" altLang="zh-CN" sz="2400" dirty="0"/>
              <a:t> </a:t>
            </a:r>
            <a:r>
              <a:rPr lang="en-US" altLang="zh-CN" sz="2400" b="1" dirty="0">
                <a:solidFill>
                  <a:srgbClr val="00B050"/>
                </a:solidFill>
                <a:latin typeface="+mj-ea"/>
              </a:rPr>
              <a:t>fwrite</a:t>
            </a:r>
            <a:endParaRPr lang="zh-CN" altLang="zh-CN" sz="2400" b="1" dirty="0">
              <a:solidFill>
                <a:srgbClr val="00B050"/>
              </a:solidFill>
              <a:latin typeface="+mj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67" y="1369703"/>
            <a:ext cx="11397927" cy="46811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94668" y="723227"/>
            <a:ext cx="4094547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三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文件</a:t>
            </a:r>
            <a:r>
              <a:rPr lang="en-US" altLang="zh-CN" sz="2400" b="1" dirty="0">
                <a:solidFill>
                  <a:srgbClr val="FF0000"/>
                </a:solidFill>
              </a:rPr>
              <a:t>-</a:t>
            </a:r>
            <a:r>
              <a:rPr lang="zh-CN" altLang="en-US" sz="2400" b="1" dirty="0">
                <a:solidFill>
                  <a:srgbClr val="FF0000"/>
                </a:solidFill>
              </a:rPr>
              <a:t>练习</a:t>
            </a:r>
            <a:endParaRPr lang="zh-CN" altLang="zh-CN" sz="2400" b="1" dirty="0">
              <a:solidFill>
                <a:srgbClr val="00B050"/>
              </a:solidFill>
              <a:latin typeface="+mj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85094" y="1306510"/>
            <a:ext cx="11089232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latin typeface="+mj-ea"/>
                <a:ea typeface="+mj-ea"/>
              </a:rPr>
              <a:t>练习：</a:t>
            </a:r>
            <a:endParaRPr lang="en-US" altLang="zh-CN" sz="3600" dirty="0">
              <a:latin typeface="+mj-ea"/>
              <a:ea typeface="+mj-ea"/>
            </a:endParaRPr>
          </a:p>
          <a:p>
            <a:r>
              <a:rPr lang="en-US" altLang="zh-CN" sz="3600" dirty="0">
                <a:latin typeface="+mj-ea"/>
                <a:ea typeface="+mj-ea"/>
              </a:rPr>
              <a:t>    </a:t>
            </a:r>
            <a:r>
              <a:rPr lang="zh-CN" altLang="en-US" sz="3600" dirty="0">
                <a:latin typeface="+mj-ea"/>
                <a:ea typeface="+mj-ea"/>
              </a:rPr>
              <a:t>利用代码拷贝文件</a:t>
            </a:r>
            <a:endParaRPr lang="en-US" altLang="zh-CN" sz="3600" dirty="0">
              <a:latin typeface="+mj-ea"/>
              <a:ea typeface="+mj-ea"/>
            </a:endParaRPr>
          </a:p>
          <a:p>
            <a:r>
              <a:rPr lang="zh-CN" altLang="en-US" sz="3600" dirty="0">
                <a:latin typeface="+mj-ea"/>
                <a:ea typeface="+mj-ea"/>
              </a:rPr>
              <a:t>要求：</a:t>
            </a:r>
            <a:endParaRPr lang="en-US" altLang="zh-CN" sz="3600" dirty="0">
              <a:latin typeface="+mj-ea"/>
              <a:ea typeface="+mj-ea"/>
            </a:endParaRPr>
          </a:p>
          <a:p>
            <a:r>
              <a:rPr lang="en-US" altLang="zh-CN" sz="3600" dirty="0">
                <a:latin typeface="+mj-ea"/>
                <a:ea typeface="+mj-ea"/>
              </a:rPr>
              <a:t>     </a:t>
            </a:r>
            <a:r>
              <a:rPr lang="zh-CN" altLang="en-US" sz="3600" dirty="0">
                <a:latin typeface="+mj-ea"/>
                <a:ea typeface="+mj-ea"/>
              </a:rPr>
              <a:t>把桌面上的</a:t>
            </a:r>
            <a:r>
              <a:rPr lang="en-US" altLang="zh-CN" sz="3600" dirty="0">
                <a:latin typeface="+mj-ea"/>
                <a:ea typeface="+mj-ea"/>
              </a:rPr>
              <a:t>bug.mp4</a:t>
            </a:r>
            <a:r>
              <a:rPr lang="zh-CN" altLang="en-US" sz="3600" dirty="0">
                <a:latin typeface="+mj-ea"/>
                <a:ea typeface="+mj-ea"/>
              </a:rPr>
              <a:t>拷贝到桌面的</a:t>
            </a:r>
            <a:r>
              <a:rPr lang="en-US" altLang="zh-CN" sz="3600" dirty="0">
                <a:latin typeface="+mj-ea"/>
                <a:ea typeface="+mj-ea"/>
              </a:rPr>
              <a:t>aaa</a:t>
            </a:r>
            <a:r>
              <a:rPr lang="zh-CN" altLang="en-US" sz="3600" dirty="0">
                <a:latin typeface="+mj-ea"/>
                <a:ea typeface="+mj-ea"/>
              </a:rPr>
              <a:t>文夹件中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94668" y="723227"/>
            <a:ext cx="4094547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三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文件</a:t>
            </a:r>
            <a:r>
              <a:rPr lang="en-US" altLang="zh-CN" sz="2400" b="1" dirty="0">
                <a:solidFill>
                  <a:srgbClr val="FF0000"/>
                </a:solidFill>
              </a:rPr>
              <a:t>-</a:t>
            </a:r>
            <a:r>
              <a:rPr lang="zh-CN" altLang="en-US" sz="2400" b="1" dirty="0">
                <a:solidFill>
                  <a:srgbClr val="FF0000"/>
                </a:solidFill>
              </a:rPr>
              <a:t>练习</a:t>
            </a:r>
            <a:endParaRPr lang="zh-CN" altLang="zh-CN" sz="2400" b="1" dirty="0">
              <a:solidFill>
                <a:srgbClr val="00B050"/>
              </a:solidFill>
              <a:latin typeface="+mj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67" y="1483358"/>
            <a:ext cx="11541943" cy="42659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总结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</a:t>
            </a:r>
            <a:r>
              <a:rPr lang="zh-CN" altLang="en-US" sz="2000" b="1" dirty="0">
                <a:solidFill>
                  <a:schemeClr val="bg1"/>
                </a:solidFill>
              </a:rPr>
              <a:t>总结与合作探究</a:t>
            </a:r>
            <a:r>
              <a:rPr lang="zh-CN" altLang="en-US" b="1" dirty="0"/>
              <a:t>  作业  限时检测</a:t>
            </a:r>
          </a:p>
        </p:txBody>
      </p:sp>
      <p:sp>
        <p:nvSpPr>
          <p:cNvPr id="10" name="箭头: 上 9"/>
          <p:cNvSpPr/>
          <p:nvPr/>
        </p:nvSpPr>
        <p:spPr>
          <a:xfrm>
            <a:off x="4845199" y="6553641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7" name="文本占位符 2"/>
          <p:cNvSpPr>
            <a:spLocks noGrp="1"/>
          </p:cNvSpPr>
          <p:nvPr/>
        </p:nvSpPr>
        <p:spPr>
          <a:xfrm>
            <a:off x="3945099" y="1874868"/>
            <a:ext cx="4968552" cy="3000839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3600" dirty="0"/>
              <a:t>fgets</a:t>
            </a:r>
            <a:r>
              <a:rPr lang="zh-CN" altLang="en-US" sz="3600" dirty="0"/>
              <a:t>读数据</a:t>
            </a:r>
            <a:endParaRPr lang="en-US" altLang="zh-CN" sz="36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3600" dirty="0"/>
              <a:t>fread</a:t>
            </a:r>
            <a:r>
              <a:rPr lang="zh-CN" altLang="en-US" sz="3600" dirty="0"/>
              <a:t>读数据</a:t>
            </a:r>
            <a:endParaRPr lang="en-US" altLang="zh-CN" sz="36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3600" b="1" dirty="0">
                <a:solidFill>
                  <a:srgbClr val="FF0000"/>
                </a:solidFill>
              </a:rPr>
              <a:t>写</a:t>
            </a:r>
            <a:r>
              <a:rPr lang="zh-CN" altLang="en-US" sz="3600" dirty="0"/>
              <a:t>数据</a:t>
            </a:r>
            <a:endParaRPr lang="en-US" altLang="zh-CN" sz="36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3600" dirty="0"/>
              <a:t>练习</a:t>
            </a:r>
            <a:endParaRPr lang="en-US" altLang="zh-CN" sz="3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作业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0" y="6826660"/>
            <a:ext cx="8373591" cy="427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</a:t>
            </a:r>
            <a:r>
              <a:rPr lang="zh-CN" altLang="en-US" sz="2000" b="1" dirty="0">
                <a:solidFill>
                  <a:schemeClr val="bg1"/>
                </a:solidFill>
              </a:rPr>
              <a:t>作业</a:t>
            </a:r>
            <a:r>
              <a:rPr lang="zh-CN" altLang="en-US" b="1" dirty="0"/>
              <a:t>  限时检测</a:t>
            </a:r>
          </a:p>
        </p:txBody>
      </p:sp>
      <p:sp>
        <p:nvSpPr>
          <p:cNvPr id="9" name="箭头: 上 8"/>
          <p:cNvSpPr/>
          <p:nvPr/>
        </p:nvSpPr>
        <p:spPr>
          <a:xfrm>
            <a:off x="5925319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388815" y="1816125"/>
            <a:ext cx="907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latin typeface="+mj-ea"/>
                <a:ea typeface="+mj-ea"/>
              </a:rPr>
              <a:t>课堂案例自己写一遍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限时检测</a:t>
            </a:r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69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作业  </a:t>
            </a:r>
            <a:r>
              <a:rPr lang="zh-CN" altLang="en-US" sz="2000" b="1" dirty="0">
                <a:solidFill>
                  <a:srgbClr val="FFFFFF"/>
                </a:solidFill>
              </a:rPr>
              <a:t>限时检测</a:t>
            </a:r>
          </a:p>
        </p:txBody>
      </p:sp>
      <p:sp>
        <p:nvSpPr>
          <p:cNvPr id="2" name="箭头: 上 1"/>
          <p:cNvSpPr/>
          <p:nvPr/>
        </p:nvSpPr>
        <p:spPr>
          <a:xfrm>
            <a:off x="671740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LTRA_SCORM_COURSE_ID" val="9E7965BD-BA7C-4284-B303-3DF26FF20985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OUTPUT_FOLDER" val="C:\Users\Administrator\Desktop"/>
  <p:tag name="ISPRING_UUID" val="{C1A8F295-47DC-48FB-81BD-666766343352}"/>
  <p:tag name="ISPRING_RESOURCE_FOLDER" val="E:\素材\正版图-卖\PPT\0变色龙\0包图网\bt369\ppt\bt369\"/>
  <p:tag name="ISPRING_PRESENTATION_PATH" val="E:\素材\正版图-卖\PPT\0变色龙\0包图网\bt369\ppt\bt369.pptx"/>
  <p:tag name="ISPRING_PROJECT_FOLDER_UPDATED" val="1"/>
  <p:tag name="ISPRING_SCREEN_RECS_UPDATED" val="E:\素材\正版图-卖\PPT\0变色龙\0包图网\bt369\ppt\bt369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PRESENTATION_TITLE" val="bt730"/>
</p:tagLst>
</file>

<file path=ppt/theme/theme1.xml><?xml version="1.0" encoding="utf-8"?>
<a:theme xmlns:a="http://schemas.openxmlformats.org/drawingml/2006/main" name="Office Theme">
  <a:themeElements>
    <a:clrScheme name="自定义 447">
      <a:dk1>
        <a:sysClr val="windowText" lastClr="000000"/>
      </a:dk1>
      <a:lt1>
        <a:sysClr val="window" lastClr="FFFFFF"/>
      </a:lt1>
      <a:dk2>
        <a:srgbClr val="006E67"/>
      </a:dk2>
      <a:lt2>
        <a:srgbClr val="E7E6E6"/>
      </a:lt2>
      <a:accent1>
        <a:srgbClr val="006E67"/>
      </a:accent1>
      <a:accent2>
        <a:srgbClr val="A5A5A5"/>
      </a:accent2>
      <a:accent3>
        <a:srgbClr val="006E67"/>
      </a:accent3>
      <a:accent4>
        <a:srgbClr val="A5A5A5"/>
      </a:accent4>
      <a:accent5>
        <a:srgbClr val="006E67"/>
      </a:accent5>
      <a:accent6>
        <a:srgbClr val="A5A5A5"/>
      </a:accent6>
      <a:hlink>
        <a:srgbClr val="006E67"/>
      </a:hlink>
      <a:folHlink>
        <a:srgbClr val="A5A5A5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1291</Words>
  <Application>Microsoft Office PowerPoint</Application>
  <PresentationFormat>自定义</PresentationFormat>
  <Paragraphs>170</Paragraphs>
  <Slides>24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0" baseType="lpstr">
      <vt:lpstr>微软雅黑</vt:lpstr>
      <vt:lpstr>印品黑体</vt:lpstr>
      <vt:lpstr>字魂73号-江南手书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bt730</dc:title>
  <dc:creator/>
  <cp:lastModifiedBy/>
  <cp:revision>656</cp:revision>
  <dcterms:created xsi:type="dcterms:W3CDTF">2024-04-10T13:53:00Z</dcterms:created>
  <dcterms:modified xsi:type="dcterms:W3CDTF">2025-01-09T03:57:03Z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2052-11.1.0.9021</vt:lpwstr>
  </property>
  <property fmtid="{D5CDD505-2E9C-101B-9397-08002B2CF9AE}" pid="3" name="ICV">
    <vt:lpwstr>FCA88555D3D44735BAA1F56722F3B997</vt:lpwstr>
  </property>
</Properties>
</file>