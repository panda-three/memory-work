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6"/>
  </p:notesMasterIdLst>
  <p:handoutMasterIdLst>
    <p:handoutMasterId r:id="rId15"/>
  </p:handoutMasterIdLst>
  <p:sldIdLst>
    <p:sldId id="3705" r:id="rId3"/>
    <p:sldId id="3706" r:id="rId4"/>
    <p:sldId id="3646" r:id="rId5"/>
    <p:sldId id="3798" r:id="rId7"/>
    <p:sldId id="3810" r:id="rId8"/>
    <p:sldId id="3825" r:id="rId9"/>
    <p:sldId id="3826" r:id="rId10"/>
    <p:sldId id="3824" r:id="rId11"/>
    <p:sldId id="3712" r:id="rId12"/>
    <p:sldId id="3793" r:id="rId13"/>
    <p:sldId id="3702" r:id="rId14"/>
  </p:sldIdLst>
  <p:sldSz cx="12858750" cy="7232650"/>
  <p:notesSz cx="6858000" cy="9144000"/>
  <p:custDataLst>
    <p:tags r:id="rId2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38" userDrawn="1">
          <p15:clr>
            <a:srgbClr val="A4A3A4"/>
          </p15:clr>
        </p15:guide>
        <p15:guide id="3" pos="4050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7030A0"/>
    <a:srgbClr val="AF4436"/>
    <a:srgbClr val="1542FF"/>
    <a:srgbClr val="FFBF00"/>
    <a:srgbClr val="0C6AC7"/>
    <a:srgbClr val="FFC000"/>
    <a:srgbClr val="066197"/>
    <a:srgbClr val="262626"/>
    <a:srgbClr val="076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63" d="100"/>
          <a:sy n="63" d="100"/>
        </p:scale>
        <p:origin x="67" y="490"/>
      </p:cViewPr>
      <p:guideLst>
        <p:guide orient="horz" pos="218"/>
        <p:guide orient="horz" pos="4138"/>
        <p:guide pos="4050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</a:t>
            </a: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写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301"/>
            <a:ext cx="496855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葛以伟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6600" dirty="0"/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2612951" y="1829259"/>
            <a:ext cx="7632848" cy="22195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6600" dirty="0"/>
              <a:t>文件读写</a:t>
            </a:r>
            <a:r>
              <a:rPr lang="zh-CN" altLang="en-US" sz="6600" dirty="0"/>
              <a:t>函数</a:t>
            </a:r>
            <a:endParaRPr lang="zh-CN" altLang="en-US" sz="6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45099" y="1874868"/>
            <a:ext cx="4968552" cy="300083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600" dirty="0"/>
              <a:t>fscanf </a:t>
            </a:r>
            <a:r>
              <a:rPr lang="en-US" altLang="zh-CN" sz="3600" dirty="0">
                <a:sym typeface="+mn-ea"/>
              </a:rPr>
              <a:t>fprintf</a:t>
            </a:r>
            <a:r>
              <a:rPr lang="en-US" altLang="zh-CN" sz="3600" dirty="0"/>
              <a:t> </a:t>
            </a:r>
            <a:r>
              <a:rPr lang="zh-CN" altLang="en-US" sz="3600" dirty="0">
                <a:sym typeface="+mn-ea"/>
              </a:rPr>
              <a:t>格式化</a:t>
            </a:r>
            <a:r>
              <a:rPr lang="zh-CN" altLang="en-US" sz="3600" dirty="0">
                <a:sym typeface="+mn-ea"/>
              </a:rPr>
              <a:t>读写数据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文件的定位与</a:t>
            </a:r>
            <a:r>
              <a:rPr lang="zh-CN" altLang="en-US" sz="3600" dirty="0"/>
              <a:t>检测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715" y="723265"/>
            <a:ext cx="3896360" cy="471805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-fscanf</a:t>
            </a:r>
            <a:r>
              <a:rPr lang="zh-CN" altLang="en-US" sz="2400" b="1" dirty="0">
                <a:solidFill>
                  <a:srgbClr val="FF0000"/>
                </a:solidFill>
              </a:rPr>
              <a:t>与</a:t>
            </a:r>
            <a:r>
              <a:rPr lang="en-US" altLang="zh-CN" sz="2400" b="1" dirty="0">
                <a:solidFill>
                  <a:srgbClr val="FF0000"/>
                </a:solidFill>
              </a:rPr>
              <a:t>fprintf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970" y="1384300"/>
            <a:ext cx="7475220" cy="5131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715" y="723265"/>
            <a:ext cx="3764280" cy="471805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文件定位</a:t>
            </a:r>
            <a:r>
              <a:rPr lang="en-US" altLang="zh-CN" sz="2400" b="1" dirty="0">
                <a:solidFill>
                  <a:srgbClr val="FF0000"/>
                </a:solidFill>
              </a:rPr>
              <a:t>-rewin</a:t>
            </a:r>
            <a:r>
              <a:rPr lang="en-US" altLang="zh-CN" sz="2400" b="1" dirty="0">
                <a:solidFill>
                  <a:srgbClr val="FF0000"/>
                </a:solidFill>
              </a:rPr>
              <a:t>d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1090" y="1452880"/>
            <a:ext cx="80257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rewind(</a:t>
            </a:r>
            <a:r>
              <a:rPr lang="zh-CN" altLang="en-US" sz="3600" dirty="0"/>
              <a:t>文件指针</a:t>
            </a:r>
            <a:r>
              <a:rPr lang="en-US" altLang="zh-CN" sz="3600" dirty="0"/>
              <a:t>)</a:t>
            </a:r>
            <a:endParaRPr lang="en-US" altLang="zh-CN" sz="3600" dirty="0"/>
          </a:p>
          <a:p>
            <a:r>
              <a:rPr lang="zh-CN" altLang="en-US" sz="3600" dirty="0"/>
              <a:t>功能：将文件位置指针移到文件的</a:t>
            </a:r>
            <a:r>
              <a:rPr lang="zh-CN" altLang="en-US" sz="3600" dirty="0"/>
              <a:t>开头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1800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sz="1800" b="1" dirty="0"/>
              <a:t>总结与合作探究  作业  限时检测</a:t>
            </a:r>
            <a:endParaRPr lang="zh-CN" altLang="en-US" sz="1800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715" y="723265"/>
            <a:ext cx="4505325" cy="471805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文件定位</a:t>
            </a:r>
            <a:r>
              <a:rPr lang="en-US" altLang="zh-CN" sz="2400" b="1" dirty="0">
                <a:solidFill>
                  <a:srgbClr val="FF0000"/>
                </a:solidFill>
              </a:rPr>
              <a:t>-fseek()</a:t>
            </a:r>
            <a:r>
              <a:rPr lang="zh-CN" altLang="en-US" sz="2400" b="1" dirty="0">
                <a:solidFill>
                  <a:srgbClr val="FF0000"/>
                </a:solidFill>
              </a:rPr>
              <a:t>函数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1090" y="1452880"/>
            <a:ext cx="105086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fseek(</a:t>
            </a:r>
            <a:r>
              <a:rPr lang="zh-CN" altLang="en-US" sz="3600" dirty="0"/>
              <a:t>文件指针</a:t>
            </a:r>
            <a:r>
              <a:rPr lang="en-US" altLang="zh-CN" sz="3600" dirty="0"/>
              <a:t>,</a:t>
            </a:r>
            <a:r>
              <a:rPr lang="zh-CN" altLang="en-US" sz="3600" dirty="0"/>
              <a:t>位移量</a:t>
            </a:r>
            <a:r>
              <a:rPr lang="en-US" altLang="zh-CN" sz="3600" dirty="0"/>
              <a:t>,</a:t>
            </a:r>
            <a:r>
              <a:rPr lang="zh-CN" altLang="en-US" sz="3600" dirty="0"/>
              <a:t>起始点</a:t>
            </a:r>
            <a:r>
              <a:rPr lang="en-US" altLang="zh-CN" sz="3600" dirty="0"/>
              <a:t>)</a:t>
            </a:r>
            <a:endParaRPr lang="en-US" altLang="zh-CN" sz="3600" dirty="0"/>
          </a:p>
          <a:p>
            <a:r>
              <a:rPr lang="zh-CN" altLang="en-US" sz="3600" dirty="0"/>
              <a:t>功能：将文件内部位置指针按字节移到指定的</a:t>
            </a:r>
            <a:r>
              <a:rPr lang="zh-CN" altLang="en-US" sz="3600" dirty="0"/>
              <a:t>位置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1800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sz="1800" b="1" dirty="0"/>
              <a:t>总结与合作探究  作业  限时检测</a:t>
            </a:r>
            <a:endParaRPr lang="zh-CN" altLang="en-US" sz="1800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715" y="723265"/>
            <a:ext cx="4505325" cy="471805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文件定位</a:t>
            </a:r>
            <a:r>
              <a:rPr lang="en-US" altLang="zh-CN" sz="2400" b="1" dirty="0">
                <a:solidFill>
                  <a:srgbClr val="FF0000"/>
                </a:solidFill>
              </a:rPr>
              <a:t>-f</a:t>
            </a:r>
            <a:r>
              <a:rPr lang="en-US" altLang="zh-CN" sz="2400" b="1" dirty="0">
                <a:ln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eof</a:t>
            </a:r>
            <a:r>
              <a:rPr lang="en-US" altLang="zh-CN" sz="2400" b="1" dirty="0">
                <a:solidFill>
                  <a:srgbClr val="FF0000"/>
                </a:solidFill>
              </a:rPr>
              <a:t>()</a:t>
            </a:r>
            <a:r>
              <a:rPr lang="zh-CN" altLang="en-US" sz="2400" b="1" dirty="0">
                <a:solidFill>
                  <a:srgbClr val="FF0000"/>
                </a:solidFill>
              </a:rPr>
              <a:t>函数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1090" y="1452880"/>
            <a:ext cx="1050861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feof(</a:t>
            </a:r>
            <a:r>
              <a:rPr lang="zh-CN" altLang="en-US" sz="3600" dirty="0"/>
              <a:t>文件指针</a:t>
            </a:r>
            <a:r>
              <a:rPr lang="en-US" altLang="zh-CN" sz="3600" dirty="0"/>
              <a:t>)</a:t>
            </a:r>
            <a:endParaRPr lang="en-US" altLang="zh-CN" sz="3600" dirty="0"/>
          </a:p>
          <a:p>
            <a:r>
              <a:rPr lang="zh-CN" altLang="en-US" sz="3600" dirty="0"/>
              <a:t>功能：用于检测文件是否结束，如果是返回</a:t>
            </a:r>
            <a:r>
              <a:rPr lang="en-US" altLang="zh-CN" sz="3600" dirty="0"/>
              <a:t>1</a:t>
            </a:r>
            <a:r>
              <a:rPr lang="zh-CN" altLang="en-US" sz="3600" dirty="0"/>
              <a:t>，否则返回</a:t>
            </a:r>
            <a:r>
              <a:rPr lang="en-US" altLang="zh-CN" sz="3600" dirty="0"/>
              <a:t>0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4094547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00B050"/>
              </a:solidFill>
              <a:latin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767" y="1483358"/>
            <a:ext cx="11541943" cy="42659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3945099" y="1874868"/>
            <a:ext cx="4968552" cy="300083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600" dirty="0"/>
              <a:t>fgets</a:t>
            </a:r>
            <a:r>
              <a:rPr lang="zh-CN" altLang="en-US" sz="3600" dirty="0"/>
              <a:t>读数据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600" dirty="0"/>
              <a:t>fread</a:t>
            </a:r>
            <a:r>
              <a:rPr lang="zh-CN" altLang="en-US" sz="3600" dirty="0"/>
              <a:t>读数据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b="1" dirty="0">
                <a:solidFill>
                  <a:srgbClr val="FF0000"/>
                </a:solidFill>
              </a:rPr>
              <a:t>写</a:t>
            </a:r>
            <a:r>
              <a:rPr lang="zh-CN" altLang="en-US" sz="3600" dirty="0"/>
              <a:t>数据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练习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88815" y="1816125"/>
            <a:ext cx="907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+mj-ea"/>
                <a:ea typeface="+mj-ea"/>
              </a:rPr>
              <a:t>课堂案例自己写一遍</a:t>
            </a:r>
            <a:endParaRPr lang="zh-CN" altLang="en-US" sz="32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671</Words>
  <Application>WPS 演示</Application>
  <PresentationFormat>自定义</PresentationFormat>
  <Paragraphs>77</Paragraphs>
  <Slides>11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1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B</vt:lpstr>
      <vt:lpstr>阿里巴巴普惠体</vt:lpstr>
      <vt:lpstr>Arial Unicode MS</vt:lpstr>
      <vt:lpstr>Alibaba PuHuiTi R</vt:lpstr>
      <vt:lpstr>Alibaba PuHuiTi B</vt:lpstr>
      <vt:lpstr>Alibaba PuHuiTi R</vt:lpstr>
      <vt:lpstr>印品黑体</vt:lpstr>
      <vt:lpstr>字魂73号-江南手书</vt:lpstr>
      <vt:lpstr>阿里巴巴普惠体</vt:lpstr>
      <vt:lpstr>SimSun-ExtG</vt:lpstr>
      <vt:lpstr>Sitka Heading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668</cp:revision>
  <dcterms:created xsi:type="dcterms:W3CDTF">2024-04-10T13:53:00Z</dcterms:created>
  <dcterms:modified xsi:type="dcterms:W3CDTF">2026-01-20T08:30:30Z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FCA88555D3D44735BAA1F56722F3B997</vt:lpwstr>
  </property>
</Properties>
</file>