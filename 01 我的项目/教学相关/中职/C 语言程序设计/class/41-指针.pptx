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4" r:id="rId12"/>
    <p:sldId id="3805" r:id="rId13"/>
    <p:sldId id="3806" r:id="rId14"/>
    <p:sldId id="3807" r:id="rId15"/>
    <p:sldId id="3808" r:id="rId16"/>
    <p:sldId id="3809" r:id="rId17"/>
    <p:sldId id="3810" r:id="rId18"/>
    <p:sldId id="3811" r:id="rId19"/>
    <p:sldId id="3812" r:id="rId20"/>
    <p:sldId id="3712" r:id="rId21"/>
    <p:sldId id="3793" r:id="rId22"/>
    <p:sldId id="3702" r:id="rId23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2024-12-31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2024-12-31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20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2994-1145-B067-836E-FFE32F77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5E6FC5-D8A3-5712-1E02-DB9CC00B7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05ED1-101F-3A7A-1B3E-4F67CED1D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D1CA5D-5E88-86C1-5091-45BE391E4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91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203E-29D9-43E2-F91B-01B76A62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1323C8-AD0F-5444-2DA6-08762B88B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C94E17-B893-9546-C243-78F4CCD72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777C1-6FCC-66EA-6F20-E326702DF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747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70EF-DAAD-E560-01CB-301067E5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134D7-B8E8-DE43-61EC-9D390450F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4550F8-A9D1-99F4-B0AE-ECB210DD7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C87F70-67C0-6163-7F4B-A02F62F9C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852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A6DB-3AED-D2E5-8A91-1BA8C6D9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B1FD87-CF26-4A05-36A3-453263F94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0613A4-9342-327A-D0A9-16A2C6928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BA9AA7-EE18-D566-9B0C-08B9BBDA7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897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0FDB-E2B2-E38E-B2FB-693CB0D1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14A69F-27E7-FFE0-3AC7-A3698D852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2624F-3C7C-7732-AD3D-2AC1392BF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9826B2-BB51-E10E-73FF-29B0AB782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7154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C4EC-0761-B326-E1BE-01F02961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4FA6A9-CABF-FBD2-E84E-122ADC43B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36D183-5C6B-E4F7-3BC0-131C2DB74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669F2-457D-9EB8-6C8A-CF95AC977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742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99A7-37FC-EE62-1D24-41B01ADC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15EBB8-4B9E-9989-DD8F-B817AEA6F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E5C81-D317-DE0F-D5D9-ECDA9855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69CDB-ED92-7E76-894E-C48C3618B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879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0861-E101-5C1B-82E8-5B7C2FC4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CF614B-EA5C-3C8D-8088-443CFC36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673138-5C41-A368-EA14-4567BD3BB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FB1E76-2F9C-3E13-C065-F8122F348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616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FCC-45B6-04CC-6509-E5278D44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051E6E-9BC5-D324-BE3E-5BD87DC9D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3D75E2-9414-2245-5F77-396AD53BF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69D90-D2DD-6307-A6E5-4487631F2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1980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86C0-87AE-53DF-17A1-7F8ABDBC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6FEEE1-663F-A864-3223-75DF508F2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8CE273-E7CE-E5F6-F9C0-FF3414000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126A6B-9AB9-5413-7034-F808DCAE5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193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696BE-06B2-36A0-E5F9-5D24F55E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B65257-4923-243B-EBD1-07A204701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D00491-FE58-C0F4-781A-E1A69492B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B3B28-544F-EBC6-3F75-E6D3ADDB2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1278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5548-39C9-AC07-AA18-1A853728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57DBEB-A350-E5C8-E66F-F60182954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B16962-9BEA-F705-15AC-DA5C8F72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79AE07-75BF-427F-B76D-4AE5F963E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5490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78BE-7A59-2C09-8FC5-68984671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DB718F-F02C-3EEA-4C88-EDE21C0A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94E464-C93C-7FC7-6E60-64E9AC937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98D6B-2AC0-E157-BD84-51EBE6FE2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64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2024-12-31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2024-12-31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2024-12-31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2024-12-31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3800" dirty="0">
                <a:solidFill>
                  <a:schemeClr val="tx1"/>
                </a:solidFill>
              </a:rPr>
              <a:t>二维数组</a:t>
            </a:r>
            <a:endParaRPr lang="en-US" altLang="zh-CN" sz="13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A38FFA-41C1-4AEF-3E9A-AE997BD01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97" y="930586"/>
            <a:ext cx="10105556" cy="48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935128"/>
            <a:ext cx="4968552" cy="288032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概念及定义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作用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细节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什么是指针？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05039" y="1960141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</a:rPr>
              <a:t>指针    </a:t>
            </a:r>
            <a:r>
              <a:rPr lang="en-US" altLang="zh-CN" sz="4400" b="1" dirty="0">
                <a:solidFill>
                  <a:srgbClr val="FF0000"/>
                </a:solidFill>
              </a:rPr>
              <a:t>=       </a:t>
            </a:r>
            <a:r>
              <a:rPr lang="zh-CN" altLang="en-US" sz="4400" b="1" dirty="0">
                <a:solidFill>
                  <a:srgbClr val="FF0000"/>
                </a:solidFill>
              </a:rPr>
              <a:t>内存地址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F29788-7F1E-C8FC-E544-AF446C58FDD0}"/>
              </a:ext>
            </a:extLst>
          </p:cNvPr>
          <p:cNvSpPr txBox="1"/>
          <p:nvPr/>
        </p:nvSpPr>
        <p:spPr>
          <a:xfrm>
            <a:off x="3405039" y="3375326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10</a:t>
            </a:r>
            <a:r>
              <a:rPr lang="zh-CN" altLang="en-US" sz="4400" b="1" dirty="0">
                <a:solidFill>
                  <a:srgbClr val="FF0000"/>
                </a:solidFill>
              </a:rPr>
              <a:t>    </a:t>
            </a:r>
            <a:r>
              <a:rPr lang="en-US" altLang="zh-CN" sz="4400" b="1" dirty="0">
                <a:solidFill>
                  <a:srgbClr val="FF0000"/>
                </a:solidFill>
              </a:rPr>
              <a:t>&lt;&lt;=       0X0011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A9B95E-C005-0800-4385-75D891EAF9F4}"/>
              </a:ext>
            </a:extLst>
          </p:cNvPr>
          <p:cNvSpPr txBox="1"/>
          <p:nvPr/>
        </p:nvSpPr>
        <p:spPr>
          <a:xfrm>
            <a:off x="1820863" y="4144767"/>
            <a:ext cx="9433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通过内存地址就可以找到对应的小空间，</a:t>
            </a:r>
            <a:r>
              <a:rPr lang="zh-CN" altLang="en-US" sz="2800" b="1" dirty="0">
                <a:solidFill>
                  <a:srgbClr val="FF0000"/>
                </a:solidFill>
              </a:rPr>
              <a:t>获取</a:t>
            </a:r>
            <a:r>
              <a:rPr lang="zh-CN" altLang="en-US" sz="2800" dirty="0"/>
              <a:t>到这个空间里的数据，并且对这个空间里的数据进行</a:t>
            </a:r>
            <a:r>
              <a:rPr lang="zh-CN" altLang="en-US" sz="2800" b="1" dirty="0">
                <a:solidFill>
                  <a:srgbClr val="FF0000"/>
                </a:solidFill>
              </a:rPr>
              <a:t>修改</a:t>
            </a:r>
            <a:r>
              <a:rPr lang="zh-CN" altLang="en-US" sz="2800" dirty="0"/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D5632D-3F32-2CE3-A567-F62C7C953396}"/>
              </a:ext>
            </a:extLst>
          </p:cNvPr>
          <p:cNvSpPr/>
          <p:nvPr/>
        </p:nvSpPr>
        <p:spPr>
          <a:xfrm>
            <a:off x="3189015" y="3396273"/>
            <a:ext cx="1152128" cy="7484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0355C0-2F04-425A-7403-50929DE09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325" y="3455515"/>
            <a:ext cx="1419994" cy="7029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592C321-D383-8133-9EBD-50280DC99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18" y="1797491"/>
            <a:ext cx="8315814" cy="101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指针概念。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2791" y="1736269"/>
            <a:ext cx="1008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所以在咱们</a:t>
            </a:r>
            <a:r>
              <a:rPr lang="en-US" altLang="zh-CN" sz="3600" b="1" dirty="0">
                <a:latin typeface="+mn-ea"/>
                <a:ea typeface="+mn-ea"/>
              </a:rPr>
              <a:t>C</a:t>
            </a:r>
            <a:r>
              <a:rPr lang="zh-CN" altLang="en-US" sz="3600" b="1" dirty="0">
                <a:latin typeface="+mn-ea"/>
                <a:ea typeface="+mn-ea"/>
              </a:rPr>
              <a:t>语言中，咱们都会用一个变量将指针，也就是内存地址存起来，这个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变量</a:t>
            </a:r>
            <a:r>
              <a:rPr lang="zh-CN" altLang="en-US" sz="3600" b="1" dirty="0">
                <a:latin typeface="+mn-ea"/>
                <a:ea typeface="+mn-ea"/>
              </a:rPr>
              <a:t>就叫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指针</a:t>
            </a:r>
            <a:r>
              <a:rPr lang="zh-CN" altLang="en-US" sz="3600" b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2F1D1E-8860-03BE-5605-6403D1B4DA18}"/>
              </a:ext>
            </a:extLst>
          </p:cNvPr>
          <p:cNvSpPr txBox="1"/>
          <p:nvPr/>
        </p:nvSpPr>
        <p:spPr>
          <a:xfrm>
            <a:off x="1316807" y="3976365"/>
            <a:ext cx="10441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其实正真的指针就是变量里记录的内存地址。</a:t>
            </a:r>
          </a:p>
        </p:txBody>
      </p:sp>
    </p:spTree>
    <p:extLst>
      <p:ext uri="{BB962C8B-B14F-4D97-AF65-F5344CB8AC3E}">
        <p14:creationId xmlns:p14="http://schemas.microsoft.com/office/powerpoint/2010/main" val="363812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429E-9823-E756-C9CF-E645B2E3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2D0A5E-8A48-8039-537F-D916F2A09C19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5629D3-EFC3-B5F1-BF14-480A2FB18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7FCE5D9-564E-F985-494C-E16E4E203A6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F0AC62-6F8B-A7B9-8D6D-A3105231274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3075952-23AC-5668-5D87-00A80144CA2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68A25F3-067A-C6F4-340B-64A9659DF8A0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31636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指针变量定义。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DF176B-7FEC-5826-B3EC-62351A7ABF2B}"/>
              </a:ext>
            </a:extLst>
          </p:cNvPr>
          <p:cNvSpPr txBox="1"/>
          <p:nvPr/>
        </p:nvSpPr>
        <p:spPr>
          <a:xfrm>
            <a:off x="1172791" y="1736269"/>
            <a:ext cx="1008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格式：</a:t>
            </a:r>
            <a:endParaRPr lang="en-US" altLang="zh-CN" sz="3600" b="1" dirty="0">
              <a:latin typeface="+mn-ea"/>
              <a:ea typeface="+mn-ea"/>
            </a:endParaRPr>
          </a:p>
          <a:p>
            <a:r>
              <a:rPr lang="en-US" altLang="zh-CN" sz="3600" b="1" dirty="0">
                <a:latin typeface="+mn-ea"/>
                <a:ea typeface="+mn-ea"/>
              </a:rPr>
              <a:t>	</a:t>
            </a:r>
            <a:r>
              <a:rPr lang="zh-CN" altLang="en-US" sz="3600" b="1" dirty="0">
                <a:latin typeface="+mn-ea"/>
                <a:ea typeface="+mn-ea"/>
              </a:rPr>
              <a:t>数据类型     变量名 </a:t>
            </a:r>
            <a:r>
              <a:rPr lang="en-US" altLang="zh-CN" sz="3600" b="1" dirty="0">
                <a:latin typeface="+mn-ea"/>
                <a:ea typeface="+mn-ea"/>
              </a:rPr>
              <a:t>=  &amp;</a:t>
            </a:r>
            <a:r>
              <a:rPr lang="zh-CN" altLang="en-US" sz="3600" b="1" dirty="0">
                <a:latin typeface="+mn-ea"/>
                <a:ea typeface="+mn-ea"/>
              </a:rPr>
              <a:t>变量；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92CD3F-440B-FC22-03EC-A14510911D64}"/>
              </a:ext>
            </a:extLst>
          </p:cNvPr>
          <p:cNvSpPr txBox="1"/>
          <p:nvPr/>
        </p:nvSpPr>
        <p:spPr>
          <a:xfrm>
            <a:off x="4485159" y="2402351"/>
            <a:ext cx="42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*</a:t>
            </a:r>
            <a:endParaRPr lang="zh-CN" altLang="en-US" sz="3600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9787A8C-A270-AC75-D7BC-0086BC0C341D}"/>
              </a:ext>
            </a:extLst>
          </p:cNvPr>
          <p:cNvCxnSpPr/>
          <p:nvPr/>
        </p:nvCxnSpPr>
        <p:spPr>
          <a:xfrm>
            <a:off x="3044999" y="3048682"/>
            <a:ext cx="0" cy="14317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4DBFCFE-B2FD-AB4E-A20D-60738FA24BF6}"/>
              </a:ext>
            </a:extLst>
          </p:cNvPr>
          <p:cNvSpPr txBox="1"/>
          <p:nvPr/>
        </p:nvSpPr>
        <p:spPr>
          <a:xfrm>
            <a:off x="1028775" y="4642820"/>
            <a:ext cx="5040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要跟指向变量的类型保持一致。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50BA0D2-F5C0-60A6-4EE7-92525C7B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367" y="3578240"/>
            <a:ext cx="4562475" cy="30194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0259311-9048-4BD1-1A57-1C7E25940A16}"/>
              </a:ext>
            </a:extLst>
          </p:cNvPr>
          <p:cNvSpPr txBox="1"/>
          <p:nvPr/>
        </p:nvSpPr>
        <p:spPr>
          <a:xfrm>
            <a:off x="10808612" y="3972887"/>
            <a:ext cx="1938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变量是</a:t>
            </a:r>
            <a:r>
              <a:rPr lang="en-US" altLang="zh-CN" dirty="0"/>
              <a:t>int</a:t>
            </a:r>
            <a:r>
              <a:rPr lang="zh-CN" altLang="en-US" dirty="0"/>
              <a:t>类型，指针也是</a:t>
            </a:r>
            <a:r>
              <a:rPr lang="en-US" altLang="zh-CN" dirty="0"/>
              <a:t>int</a:t>
            </a:r>
            <a:r>
              <a:rPr lang="zh-CN" altLang="en-US" dirty="0"/>
              <a:t>类型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FC4A48-6B04-9EDE-7646-E8A31006C5C9}"/>
              </a:ext>
            </a:extLst>
          </p:cNvPr>
          <p:cNvCxnSpPr>
            <a:cxnSpLocks/>
          </p:cNvCxnSpPr>
          <p:nvPr/>
        </p:nvCxnSpPr>
        <p:spPr>
          <a:xfrm>
            <a:off x="4696671" y="2862370"/>
            <a:ext cx="0" cy="75395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27759E0-6405-CBCC-85C8-41D662CE497B}"/>
              </a:ext>
            </a:extLst>
          </p:cNvPr>
          <p:cNvSpPr txBox="1"/>
          <p:nvPr/>
        </p:nvSpPr>
        <p:spPr>
          <a:xfrm>
            <a:off x="4260951" y="3701483"/>
            <a:ext cx="92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标记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559C312-66CC-95B5-D045-8437F3D1989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636302" y="3280930"/>
            <a:ext cx="3761442" cy="141851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099D445-5196-BC95-5C60-0F092C13F8DB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8021692" y="3280930"/>
            <a:ext cx="3376052" cy="253971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6D1FC6F-5697-9776-DE34-AC5DE1BEEDB5}"/>
              </a:ext>
            </a:extLst>
          </p:cNvPr>
          <p:cNvSpPr txBox="1"/>
          <p:nvPr/>
        </p:nvSpPr>
        <p:spPr>
          <a:xfrm>
            <a:off x="9885394" y="2449933"/>
            <a:ext cx="3024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表示代码中的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p1</a:t>
            </a:r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p2</a:t>
            </a:r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是一个指针变量。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59ED15D-1D89-4AB4-6D08-AA7493BFC14F}"/>
              </a:ext>
            </a:extLst>
          </p:cNvPr>
          <p:cNvCxnSpPr>
            <a:cxnSpLocks/>
          </p:cNvCxnSpPr>
          <p:nvPr/>
        </p:nvCxnSpPr>
        <p:spPr>
          <a:xfrm flipV="1">
            <a:off x="5853311" y="1540122"/>
            <a:ext cx="0" cy="75231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5131D41-E864-3B52-9CA2-65AD1B148FA4}"/>
              </a:ext>
            </a:extLst>
          </p:cNvPr>
          <p:cNvSpPr txBox="1"/>
          <p:nvPr/>
        </p:nvSpPr>
        <p:spPr>
          <a:xfrm>
            <a:off x="4654252" y="1069454"/>
            <a:ext cx="2398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自己起的名字</a:t>
            </a:r>
          </a:p>
        </p:txBody>
      </p:sp>
    </p:spTree>
    <p:extLst>
      <p:ext uri="{BB962C8B-B14F-4D97-AF65-F5344CB8AC3E}">
        <p14:creationId xmlns:p14="http://schemas.microsoft.com/office/powerpoint/2010/main" val="274483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12" grpId="0"/>
      <p:bldP spid="16" grpId="0"/>
      <p:bldP spid="19" grpId="0"/>
      <p:bldP spid="2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081C-06C4-DB4A-6FF5-150723B1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DE0B9AF-5020-E631-B538-EA8A29BB2EA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7EA767-02D5-4104-D8E0-AC47F5BE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FD63B85-4633-EC05-7BAF-D3E7F6A23B3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60300A-67A6-7274-C439-4807D80B5C4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EC7A39F4-F034-FB22-C5F6-5B047067680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745EE69-2C07-8A75-036E-3A25112AD32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FE3AB4-AC13-E9DB-EF8B-525E3B22E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231" y="1249515"/>
            <a:ext cx="2155276" cy="500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8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A264-C22E-9333-23B4-560967BC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9574DB-98CF-BAC3-30B5-C2D939F7814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9CBC27-7567-6971-FED8-966E7BB0D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8C28C21-C300-7663-F510-69A5D2BEC27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A55400-7F2E-7177-5737-E7ECA0BA78B5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B8BC889-967E-70B8-B6C4-8BC0AD79584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9309DB4-4429-6FC6-28C8-15BAB117CCF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0DF12F-49B6-C079-5EE2-4CC5B60CD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474711-C952-5668-9553-58648BE3A0B5}"/>
              </a:ext>
            </a:extLst>
          </p:cNvPr>
          <p:cNvSpPr txBox="1"/>
          <p:nvPr/>
        </p:nvSpPr>
        <p:spPr>
          <a:xfrm>
            <a:off x="1172791" y="2248173"/>
            <a:ext cx="11089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概念：就是利用指针去查询变量里面的数据。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6BC15C5-2D53-0839-3115-6EBCF34CE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72" y="3737407"/>
            <a:ext cx="4895850" cy="2381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A51F8A-D05F-EE97-577F-BF7603E84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988" y="4215037"/>
            <a:ext cx="2411617" cy="16194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81B76B9-11B1-310D-65E2-AE01FAD7E6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946" y="4405908"/>
            <a:ext cx="1238250" cy="722585"/>
          </a:xfrm>
          <a:prstGeom prst="rect">
            <a:avLst/>
          </a:prstGeom>
        </p:spPr>
      </p:pic>
      <p:sp>
        <p:nvSpPr>
          <p:cNvPr id="18" name="箭头: 右 17">
            <a:extLst>
              <a:ext uri="{FF2B5EF4-FFF2-40B4-BE49-F238E27FC236}">
                <a16:creationId xmlns:a16="http://schemas.microsoft.com/office/drawing/2014/main" id="{025E7EB7-3244-7AF9-C40C-5169D26A71A7}"/>
              </a:ext>
            </a:extLst>
          </p:cNvPr>
          <p:cNvSpPr/>
          <p:nvPr/>
        </p:nvSpPr>
        <p:spPr>
          <a:xfrm rot="10800000">
            <a:off x="3261023" y="4969867"/>
            <a:ext cx="864096" cy="4612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A68B285-F63A-A49B-1759-171D7F4C08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480" y="4153198"/>
            <a:ext cx="3970222" cy="127793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3CF1940-0EC0-0A24-72B5-4886171CCB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8B85-7A3D-AF8F-ECBB-06B476ED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2ADAEC-57C3-41D1-C312-B77365F2C83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9374F2-847D-87E6-0A88-1D91A838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78979D-FD3F-84AC-8423-F96CB0A3859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E94711-DD29-CE1B-F76C-654E22A20D5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7FADC27-3BBD-40D5-ABBE-7896DA8CE2FE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01D9EB2-0A49-B74D-066A-C137E9040DE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9ED675-DC2C-02AF-8AA9-C1DEDACC0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9E358D-89B6-13CA-8A41-ACE550234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90" y="2090458"/>
            <a:ext cx="4895850" cy="23812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3133C5B-258D-C20E-4669-7A13C8B0E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833" y="2799984"/>
            <a:ext cx="1238250" cy="72258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0B7F3C9-2A7E-9FFD-2472-54EE03F11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39417C5-3EA2-2D55-A69C-165C73CDFF58}"/>
              </a:ext>
            </a:extLst>
          </p:cNvPr>
          <p:cNvSpPr txBox="1"/>
          <p:nvPr/>
        </p:nvSpPr>
        <p:spPr>
          <a:xfrm>
            <a:off x="5200675" y="2216272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此时如果我们打印变量</a:t>
            </a:r>
            <a:r>
              <a:rPr lang="en-US" altLang="zh-CN" sz="2400" b="1" dirty="0">
                <a:latin typeface="+mn-ea"/>
                <a:ea typeface="+mn-ea"/>
              </a:rPr>
              <a:t>p</a:t>
            </a:r>
            <a:r>
              <a:rPr lang="zh-CN" altLang="en-US" sz="2400" b="1" dirty="0">
                <a:latin typeface="+mn-ea"/>
                <a:ea typeface="+mn-ea"/>
              </a:rPr>
              <a:t>时，变量</a:t>
            </a:r>
            <a:r>
              <a:rPr lang="en-US" altLang="zh-CN" sz="2400" b="1" dirty="0">
                <a:latin typeface="+mn-ea"/>
                <a:ea typeface="+mn-ea"/>
              </a:rPr>
              <a:t>p</a:t>
            </a:r>
            <a:r>
              <a:rPr lang="zh-CN" altLang="en-US" sz="2400" b="1" dirty="0">
                <a:latin typeface="+mn-ea"/>
                <a:ea typeface="+mn-ea"/>
              </a:rPr>
              <a:t>里存的就是变量</a:t>
            </a:r>
            <a:r>
              <a:rPr lang="en-US" altLang="zh-CN" sz="2400" b="1" dirty="0">
                <a:latin typeface="+mn-ea"/>
                <a:ea typeface="+mn-ea"/>
              </a:rPr>
              <a:t>a</a:t>
            </a:r>
            <a:r>
              <a:rPr lang="zh-CN" altLang="en-US" sz="2400" b="1" dirty="0">
                <a:latin typeface="+mn-ea"/>
                <a:ea typeface="+mn-ea"/>
              </a:rPr>
              <a:t>的指针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地址</a:t>
            </a:r>
            <a:r>
              <a:rPr lang="en-US" altLang="zh-CN" sz="2400" b="1" dirty="0">
                <a:latin typeface="+mn-ea"/>
                <a:ea typeface="+mn-ea"/>
              </a:rPr>
              <a:t>)</a:t>
            </a:r>
            <a:r>
              <a:rPr lang="zh-CN" altLang="en-US" sz="2400" b="1" dirty="0">
                <a:latin typeface="+mn-ea"/>
                <a:ea typeface="+mn-ea"/>
              </a:rPr>
              <a:t>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C247171-D07D-D543-1820-8440A94DC4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6240" y="3735227"/>
            <a:ext cx="5324475" cy="1276350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3CD701CF-1AFF-49E4-67DB-FEDE3985BC80}"/>
              </a:ext>
            </a:extLst>
          </p:cNvPr>
          <p:cNvSpPr/>
          <p:nvPr/>
        </p:nvSpPr>
        <p:spPr>
          <a:xfrm>
            <a:off x="7431099" y="3047270"/>
            <a:ext cx="382826" cy="64959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777ACC-56A5-CC89-D752-0D1B4EF3C549}"/>
              </a:ext>
            </a:extLst>
          </p:cNvPr>
          <p:cNvSpPr txBox="1"/>
          <p:nvPr/>
        </p:nvSpPr>
        <p:spPr>
          <a:xfrm>
            <a:off x="5349255" y="5488533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(“%</a:t>
            </a:r>
            <a:r>
              <a:rPr lang="en-US" altLang="zh-CN" dirty="0" err="1"/>
              <a:t>p”,p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288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1E06-83B7-60D0-3BB7-32850896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EBBC8F-A4B8-C5DF-DE8A-B7499FADA2E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9DD168-351A-0BDA-E49F-38B721E9C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39A4616-18A8-D151-12F5-33DA759D9FA3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929AF0-C569-D52B-C5F0-A517CC2EE26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EBFB10B3-25F8-AAA8-9004-EC138FFF8CB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7143D93-B3AD-43A2-84BF-5F1657DF00A2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072924-F69D-0CDA-52BB-F726A4D80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EBA47AC-9017-A0F5-25DA-2F3033EA1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25" y="2103279"/>
            <a:ext cx="4895850" cy="23812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EBC7FF0-4E15-D9AC-D00F-80163891C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833" y="2799984"/>
            <a:ext cx="1238250" cy="72258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961D833-E13D-300F-ECA3-AC7E9C642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5C0D9DB-CE14-278F-F2A6-FBA5387DF3AA}"/>
              </a:ext>
            </a:extLst>
          </p:cNvPr>
          <p:cNvSpPr txBox="1"/>
          <p:nvPr/>
        </p:nvSpPr>
        <p:spPr>
          <a:xfrm>
            <a:off x="5200675" y="2216272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如果不想得到地址，想得到地址对应的数据，怎么班呢？</a:t>
            </a: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6717D948-1404-71F6-1269-8F777A267F2E}"/>
              </a:ext>
            </a:extLst>
          </p:cNvPr>
          <p:cNvSpPr/>
          <p:nvPr/>
        </p:nvSpPr>
        <p:spPr>
          <a:xfrm>
            <a:off x="7431099" y="3047270"/>
            <a:ext cx="382826" cy="64959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D460ED-5155-345D-0F1D-97FD416B9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873" y="3696869"/>
            <a:ext cx="740978" cy="660144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DC5DDDF-7DA4-5C3E-1F36-72E69CA8CB83}"/>
              </a:ext>
            </a:extLst>
          </p:cNvPr>
          <p:cNvCxnSpPr/>
          <p:nvPr/>
        </p:nvCxnSpPr>
        <p:spPr>
          <a:xfrm>
            <a:off x="1028775" y="4119717"/>
            <a:ext cx="0" cy="8414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36A9746-154F-F5D7-2C09-9490A6D82963}"/>
              </a:ext>
            </a:extLst>
          </p:cNvPr>
          <p:cNvSpPr txBox="1"/>
          <p:nvPr/>
        </p:nvSpPr>
        <p:spPr>
          <a:xfrm>
            <a:off x="668735" y="4961208"/>
            <a:ext cx="2836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解引用运算符。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57DED9E-478C-A637-0144-E233D5B3E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7839" y="3840233"/>
            <a:ext cx="1334674" cy="37578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3912D38-ACCB-4240-A1D1-E476CFDBB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1641" y="3805056"/>
            <a:ext cx="4419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30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371B-2B35-1197-A089-07964349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44FD8C7-9977-5E7A-4BD8-FF7373A9D366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DBE8AA-41C7-D5FE-A52A-0C5237A7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199B20-DAC8-A440-7AC7-0D2007D1E5C2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D70507-3554-3FBA-EEC7-0E56D9D8BFF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42F4AC1-3117-91FC-9D78-F323295F85F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EF15CEF-5BAF-840C-D8AB-ADAFA03F31A4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3E1DB2-0E0B-FE9A-E07B-7BB6E720B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A8EEF50-4583-4D56-7338-D1D0FF22C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2DBC75B-6614-7CA7-1B90-C1F6A3D46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791" y="1938268"/>
            <a:ext cx="4919439" cy="44680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20DA409-F733-1D8F-683B-9436F707BF80}"/>
              </a:ext>
            </a:extLst>
          </p:cNvPr>
          <p:cNvSpPr txBox="1"/>
          <p:nvPr/>
        </p:nvSpPr>
        <p:spPr>
          <a:xfrm>
            <a:off x="7604167" y="3044009"/>
            <a:ext cx="2448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注意⚠️：</a:t>
            </a:r>
          </a:p>
        </p:txBody>
      </p:sp>
    </p:spTree>
    <p:extLst>
      <p:ext uri="{BB962C8B-B14F-4D97-AF65-F5344CB8AC3E}">
        <p14:creationId xmlns:p14="http://schemas.microsoft.com/office/powerpoint/2010/main" val="363382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6F43B-500A-6078-374B-CB9B543A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9A82A70-18CE-278D-EBCC-CF07A299CB5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12BA2A5-97C9-1C87-519F-BE63FFEE6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D237106-E71D-A893-968B-C5E897C4400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7A2F91-B0A0-27C4-B86D-72C7189F04C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9B8B131-56F0-AE0D-9183-DC89FDB1754B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C09DE93-8EE7-9200-582D-F93E8E69EB4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C3CDB6-95EF-3E93-0872-DB4DBC892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83" y="1683631"/>
            <a:ext cx="2228850" cy="7905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F75102-B6B9-9F71-F23D-7CC9C560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977" y="3256600"/>
            <a:ext cx="4186796" cy="112195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5319F0D-A3F6-1CD5-3983-52833932F310}"/>
              </a:ext>
            </a:extLst>
          </p:cNvPr>
          <p:cNvSpPr txBox="1"/>
          <p:nvPr/>
        </p:nvSpPr>
        <p:spPr>
          <a:xfrm>
            <a:off x="4186795" y="1671627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把数据写在</a:t>
            </a:r>
            <a:r>
              <a:rPr lang="en-US" altLang="zh-CN" sz="3600" b="1" dirty="0">
                <a:latin typeface="+mn-ea"/>
                <a:ea typeface="+mn-ea"/>
              </a:rPr>
              <a:t>*p</a:t>
            </a:r>
            <a:r>
              <a:rPr lang="zh-CN" altLang="en-US" sz="3600" b="1" dirty="0">
                <a:latin typeface="+mn-ea"/>
                <a:ea typeface="+mn-ea"/>
              </a:rPr>
              <a:t>的右边。</a:t>
            </a:r>
          </a:p>
        </p:txBody>
      </p:sp>
    </p:spTree>
    <p:extLst>
      <p:ext uri="{BB962C8B-B14F-4D97-AF65-F5344CB8AC3E}">
        <p14:creationId xmlns:p14="http://schemas.microsoft.com/office/powerpoint/2010/main" val="410531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1759-A454-778E-D060-2F8851A6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B919715-806C-24C0-608E-E0B820F297C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03D5A3-1FBF-920B-43CD-12AB8B6AB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4A65F1C-41BD-8780-802F-A024EE482E1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E8B53D-8F36-EDFD-C1EB-AF972A84A5EB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9658DA8-CB3F-5D2C-4774-81325F5E26B2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8DBEFBE-7DC4-D84F-D0D1-22897B1CE65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课堂练习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00A69B-376D-6892-FD8F-645BFB8DBD4C}"/>
              </a:ext>
            </a:extLst>
          </p:cNvPr>
          <p:cNvSpPr txBox="1"/>
          <p:nvPr/>
        </p:nvSpPr>
        <p:spPr>
          <a:xfrm>
            <a:off x="1388815" y="1816125"/>
            <a:ext cx="10153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代码实现：</a:t>
            </a:r>
            <a:endParaRPr lang="en-US" altLang="zh-CN" sz="3600" dirty="0">
              <a:latin typeface="+mn-ea"/>
              <a:ea typeface="+mn-ea"/>
            </a:endParaRPr>
          </a:p>
          <a:p>
            <a:r>
              <a:rPr lang="en-US" altLang="zh-CN" sz="3600" dirty="0">
                <a:latin typeface="+mn-ea"/>
                <a:ea typeface="+mn-ea"/>
              </a:rPr>
              <a:t>	</a:t>
            </a:r>
            <a:r>
              <a:rPr lang="zh-CN" altLang="en-US" sz="3600" dirty="0">
                <a:latin typeface="+mn-ea"/>
                <a:ea typeface="+mn-ea"/>
              </a:rPr>
              <a:t>利用指针去获取变量中的数据  </a:t>
            </a:r>
            <a:r>
              <a:rPr lang="en-US" altLang="zh-CN" sz="3600" dirty="0">
                <a:latin typeface="+mn-ea"/>
                <a:ea typeface="+mn-ea"/>
              </a:rPr>
              <a:t>/  </a:t>
            </a:r>
            <a:r>
              <a:rPr lang="zh-CN" altLang="en-US" sz="3600" dirty="0">
                <a:latin typeface="+mn-ea"/>
                <a:ea typeface="+mn-ea"/>
              </a:rPr>
              <a:t>存储数据</a:t>
            </a:r>
            <a:r>
              <a:rPr lang="en-US" altLang="zh-CN" sz="3600" dirty="0">
                <a:latin typeface="+mn-ea"/>
                <a:ea typeface="+mn-ea"/>
              </a:rPr>
              <a:t> </a:t>
            </a:r>
            <a:endParaRPr lang="zh-CN" altLang="en-US" sz="3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301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61F95-BD41-F32E-C4E8-B652811A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1C86AF-E35C-ED2D-F746-7BED9CEBF88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0C4971-5BB6-724F-7676-0E61E3F05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A2EE02-7E37-7B1B-4C7B-E78CE2DCC72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97A560-79A7-E1CF-BBF9-E913E2F9006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1FEA0F7-7D91-AC20-A6E5-30ED07C5180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D2F7CED-CE9C-B4EE-F3BD-5A197BC335F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70269D-6CDB-6AE6-6E2D-4DE036FF4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788" y="964186"/>
            <a:ext cx="5202153" cy="511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6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BA6A-E9B0-1805-039C-D6004D3E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50225FB-0AD4-44D4-5569-C8BCB096877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F28810-4B98-0334-B172-5267F21A4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BF8E3AC-76BA-FBFC-7E85-6486D768711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657FC-B45F-993A-A4BB-62787DD0484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BF3232AA-A5C1-C546-F39C-E90BAB3E360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D366896-5233-6BC4-0788-338BD05C49DC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6E5E972-EA65-2984-5089-E422AB587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023" y="1096045"/>
            <a:ext cx="6724699" cy="537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6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D05E-719F-1D4A-CCBB-27A16353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8E5AF89-5181-E434-BB8B-1EDC9B25544E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EEA9DE-22DA-D397-7883-CF8F3A91B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3264C32-F0E3-9A04-834F-5C6AE0B2C85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0CDCA5-37A2-7079-0574-E7777C939938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3F01BD6A-6753-13C7-CDD4-743B3059C64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CEE4DAA-7A62-D20B-7D06-D404B4F68C0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AB1A0A-9813-4BDC-9C27-FF5B53D60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519" y="211186"/>
            <a:ext cx="4914900" cy="2428875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FE37407-3463-6C0A-A62B-8C01226CB9B0}"/>
              </a:ext>
            </a:extLst>
          </p:cNvPr>
          <p:cNvSpPr/>
          <p:nvPr/>
        </p:nvSpPr>
        <p:spPr>
          <a:xfrm flipV="1">
            <a:off x="8805639" y="1564451"/>
            <a:ext cx="288032" cy="3236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96DC84-865C-C0DB-2551-133B6E797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568" y="2456405"/>
            <a:ext cx="9010650" cy="16287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DF5BDB4-51E8-CC31-7FA6-9EA13609B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644" y="126991"/>
            <a:ext cx="3895308" cy="26321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96C2A24-2D3E-4163-4995-755B9E072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2969" y="3755163"/>
            <a:ext cx="2343150" cy="2952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0496D6B-9A16-3971-EDEC-8C962F3DC6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6807" y="4925757"/>
            <a:ext cx="9660236" cy="17223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57B824-3B82-477C-4498-9BDA1C6C3F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8648" y="1305961"/>
            <a:ext cx="4114800" cy="13811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19DB927-6C97-6C82-E2C2-146BB3E330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7651" y="3659103"/>
            <a:ext cx="93345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4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01E3-E76E-6E92-99EE-C06E6291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AADA87F-D6C6-10D0-DFD4-8A158B956E3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BE6F09-1FF0-91BD-1075-1B48E355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D261470-5865-F445-3391-2510396D66D2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A77A7A-1EEB-772C-9ECA-ACA293CC77F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78FE115-F8EE-FEA7-DD21-3ED38C15B594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134520F-9272-493F-08FB-ADBA99E24BB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DFFF9E5-FF7C-1429-A1A4-1028053A1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89" y="1352475"/>
            <a:ext cx="10248900" cy="1571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DF5585-5958-34F0-E2AD-233187F36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479" y="2579854"/>
            <a:ext cx="5153025" cy="22955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1AF6B10-CF60-A4A9-FA24-6077AB84C3FA}"/>
              </a:ext>
            </a:extLst>
          </p:cNvPr>
          <p:cNvSpPr txBox="1"/>
          <p:nvPr/>
        </p:nvSpPr>
        <p:spPr>
          <a:xfrm>
            <a:off x="1532831" y="347981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比如左边的就是错误的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15EF698-4851-C563-DCBD-9422899291D8}"/>
              </a:ext>
            </a:extLst>
          </p:cNvPr>
          <p:cNvSpPr/>
          <p:nvPr/>
        </p:nvSpPr>
        <p:spPr>
          <a:xfrm>
            <a:off x="6429375" y="3616325"/>
            <a:ext cx="1080120" cy="4339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FB7231-5D86-05C2-D9EF-627E9AC79B16}"/>
              </a:ext>
            </a:extLst>
          </p:cNvPr>
          <p:cNvSpPr txBox="1"/>
          <p:nvPr/>
        </p:nvSpPr>
        <p:spPr>
          <a:xfrm>
            <a:off x="1532831" y="4984477"/>
            <a:ext cx="10513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因为他会把内存地址是</a:t>
            </a:r>
            <a:r>
              <a:rPr lang="en-US" altLang="zh-CN" sz="2800" dirty="0">
                <a:latin typeface="+mn-ea"/>
                <a:ea typeface="+mn-ea"/>
              </a:rPr>
              <a:t>500</a:t>
            </a:r>
            <a:r>
              <a:rPr lang="zh-CN" altLang="en-US" sz="2800" dirty="0">
                <a:latin typeface="+mn-ea"/>
                <a:ea typeface="+mn-ea"/>
              </a:rPr>
              <a:t>的赋值给变量</a:t>
            </a:r>
            <a:r>
              <a:rPr lang="en-US" altLang="zh-CN" sz="2800" dirty="0">
                <a:latin typeface="+mn-ea"/>
                <a:ea typeface="+mn-ea"/>
              </a:rPr>
              <a:t>p</a:t>
            </a:r>
            <a:r>
              <a:rPr lang="zh-CN" altLang="en-US" sz="2800" dirty="0">
                <a:latin typeface="+mn-ea"/>
                <a:ea typeface="+mn-ea"/>
              </a:rPr>
              <a:t>，但是内存根本没有内存地址叫</a:t>
            </a:r>
            <a:r>
              <a:rPr lang="en-US" altLang="zh-CN" sz="2800" dirty="0">
                <a:latin typeface="+mn-ea"/>
                <a:ea typeface="+mn-ea"/>
              </a:rPr>
              <a:t>500</a:t>
            </a:r>
            <a:r>
              <a:rPr lang="zh-CN" altLang="en-US" sz="2800" dirty="0">
                <a:latin typeface="+mn-ea"/>
                <a:ea typeface="+mn-ea"/>
              </a:rPr>
              <a:t>的。</a:t>
            </a:r>
          </a:p>
        </p:txBody>
      </p:sp>
    </p:spTree>
    <p:extLst>
      <p:ext uri="{BB962C8B-B14F-4D97-AF65-F5344CB8AC3E}">
        <p14:creationId xmlns:p14="http://schemas.microsoft.com/office/powerpoint/2010/main" val="265982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89A0-F28A-7860-46EE-360F5ADB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B7E623A-A89F-C3D3-4CD1-6B196AA45E3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83E63F-4833-DAA0-AD4D-59ABA921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E866E5C-CA84-4A7B-9A0F-30DCF992399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F84B3B-3514-8295-B388-CBEBC662C3D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B1DC7F1-201E-EA27-A1F6-A65A70DC903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58E84FA-1AE5-0732-F425-7DD3E99E5F0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E6116C6-90EA-DFF2-8158-271FB3F49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888133"/>
            <a:ext cx="5593362" cy="24581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B50506-D4DE-961C-6F69-B4146908FE4B}"/>
              </a:ext>
            </a:extLst>
          </p:cNvPr>
          <p:cNvSpPr txBox="1"/>
          <p:nvPr/>
        </p:nvSpPr>
        <p:spPr>
          <a:xfrm>
            <a:off x="1460823" y="288952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这样才是正确的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7AE4822A-9935-8B52-620D-1E1EB447C38A}"/>
              </a:ext>
            </a:extLst>
          </p:cNvPr>
          <p:cNvSpPr/>
          <p:nvPr/>
        </p:nvSpPr>
        <p:spPr>
          <a:xfrm>
            <a:off x="5061223" y="3033890"/>
            <a:ext cx="1152128" cy="40363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97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1672109"/>
            <a:ext cx="5472608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概念及定义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作用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细节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923644" y="1816125"/>
            <a:ext cx="78112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定义一个变</a:t>
            </a:r>
            <a:r>
              <a:rPr lang="en-US" altLang="zh-CN" sz="5400" dirty="0"/>
              <a:t>num</a:t>
            </a:r>
            <a:r>
              <a:rPr lang="zh-CN" altLang="en-US" sz="5400" dirty="0"/>
              <a:t>并赋值，用指针的方式访问</a:t>
            </a:r>
            <a:r>
              <a:rPr lang="en-US" altLang="zh-CN" sz="5400" dirty="0"/>
              <a:t>num</a:t>
            </a:r>
            <a:r>
              <a:rPr lang="zh-CN" altLang="en-US" sz="5400" dirty="0"/>
              <a:t>里的值。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指针就是内存地址。（）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797</Words>
  <Application>Microsoft Office PowerPoint</Application>
  <PresentationFormat>自定义</PresentationFormat>
  <Paragraphs>111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黑体</vt:lpstr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2024-12-31T01:45:20Z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