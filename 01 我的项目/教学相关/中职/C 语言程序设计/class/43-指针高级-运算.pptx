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3705" r:id="rId2"/>
    <p:sldId id="3706" r:id="rId3"/>
    <p:sldId id="3756" r:id="rId4"/>
    <p:sldId id="3646" r:id="rId5"/>
    <p:sldId id="3798" r:id="rId6"/>
    <p:sldId id="3799" r:id="rId7"/>
    <p:sldId id="3800" r:id="rId8"/>
    <p:sldId id="3801" r:id="rId9"/>
    <p:sldId id="3802" r:id="rId10"/>
    <p:sldId id="3803" r:id="rId11"/>
    <p:sldId id="3805" r:id="rId12"/>
    <p:sldId id="3804" r:id="rId13"/>
    <p:sldId id="3806" r:id="rId14"/>
    <p:sldId id="3807" r:id="rId15"/>
    <p:sldId id="3808" r:id="rId16"/>
    <p:sldId id="3809" r:id="rId17"/>
    <p:sldId id="3810" r:id="rId18"/>
    <p:sldId id="3811" r:id="rId19"/>
    <p:sldId id="3812" r:id="rId20"/>
    <p:sldId id="3813" r:id="rId21"/>
    <p:sldId id="3814" r:id="rId22"/>
    <p:sldId id="3712" r:id="rId23"/>
    <p:sldId id="3793" r:id="rId24"/>
    <p:sldId id="3702" r:id="rId25"/>
  </p:sldIdLst>
  <p:sldSz cx="12858750" cy="7232650"/>
  <p:notesSz cx="6858000" cy="9144000"/>
  <p:custDataLst>
    <p:tags r:id="rId2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030A0"/>
    <a:srgbClr val="AF4436"/>
    <a:srgbClr val="1542FF"/>
    <a:srgbClr val="FFBF00"/>
    <a:srgbClr val="FFFFFF"/>
    <a:srgbClr val="0C6AC7"/>
    <a:srgbClr val="FFC000"/>
    <a:srgbClr val="066197"/>
    <a:srgbClr val="262626"/>
    <a:srgbClr val="076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90" d="100"/>
          <a:sy n="90" d="100"/>
        </p:scale>
        <p:origin x="341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  <a:t>2024/12/9</a:t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  <a:t>‹#›</a:t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  <a:t>2024/12/9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4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55C9-E6DB-7378-EAAF-6E3218245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B07359-FBF8-C6E4-8C58-81F6D04D2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DDF344-7F46-EF2C-0493-CBACAE5E6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E994D4-70A6-EB30-CAE9-B4BEF4A38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796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55C9-E6DB-7378-EAAF-6E3218245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B07359-FBF8-C6E4-8C58-81F6D04D2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DDF344-7F46-EF2C-0493-CBACAE5E6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E994D4-70A6-EB30-CAE9-B4BEF4A38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2209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45041-CBEF-D73A-5C94-509C2F1E8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F49DD2-0AB9-C98A-1C87-A141FF1636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AB4EAF-13A2-6E24-74D9-76D87EF46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1844CA-A3C7-13FF-7E99-7EBB5D8686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9599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CFE41-0242-9FE2-7706-24406E18A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42F45E-87BA-787C-0ABB-5339CCE36E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67CD04-2C4F-941C-DC6E-FE0CAAD76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D49955-165B-363F-7661-EEEBDEC0B9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761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932ED-1A7B-B246-4A80-93296F871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DD338E-AEE8-8A28-802C-23CA51C0B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4E33E8-B4BD-DC4B-E1F8-86E6A75E2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316103-08E9-1055-F96C-43CD5ACB37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2290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92FD1-6EC4-419A-5BFE-64117D287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676B9F-0F3E-ADD7-F7BB-9C059AC11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16155E-4081-464C-B846-3342FB0CE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9675E8-4D21-8533-4950-9979C21C6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0849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1DBA2-0652-5D8E-D168-9F99141F8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F2A8CA-75A4-C8D2-A47A-B7D570C00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705E14-D764-916D-935A-7D307A2FA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19D351-4FDF-FC85-34FD-F2BC32845F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35337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8366C-8D63-BA59-25CC-E23877DAB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BC1CEE-D6ED-F632-1B52-A4EBAE73B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1D6E84-2343-72B5-D052-527AA0AF0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8906B5-BCD3-DCBC-556F-B9D7729A44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69442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78663-7850-7B4F-2781-DF30F8AD2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A19113-422F-3271-4B6F-014D7336C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208E44-7279-BFE4-CBA6-2066F981E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02A366-07DB-6996-FA48-7D6988A333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66262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A616D-FBB4-E0B5-1B72-ECF6617CC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48A4CE-1952-0F53-D60E-6C44E6EC7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C87640-3C38-023A-03FA-460893E5B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D5BA87-7A36-64C5-2669-CBD404D28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85575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09868-DEB4-B061-C208-44BF01ACE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94D248-F698-E468-1781-57EAB5754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7E3FC0E-DA20-7CCD-665C-F686828DC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41EC0D-C75B-7474-225D-65ADB25AD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60796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56ABC-DF56-FA95-01FE-911CDBF76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494615-970E-A892-F8E4-7BBD000123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ECB262-E758-1D2D-875D-84DB459AC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5D8F12-7F62-4BAB-0317-4927F11A68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35410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C5BF0-E7A4-1BA6-B1DD-7C33A6A17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53E4DD-A2FE-BED6-20AD-8526DCEF9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41E154B-D392-38C8-3CD7-39CF090E4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FB196B-B116-6AD9-CD3A-FE6D4B7D2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18753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713A2-A15D-135E-28A4-29FCCA8C1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6F9982-78A5-5091-08E8-A1DB2297A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0CC0EB-77D9-7E4C-31F2-8C1755DCB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A47110-F1F9-F62F-7F9E-CD23A4336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96871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E49DA-24AC-6127-3B89-1C8B9BAA9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AC9485-DCC1-89B6-62F0-5A477428F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7FC69A4-ABEC-8E4B-4968-1A04C1888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991825-044C-E2BA-7B36-BCAF9D0595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88975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C8D57-6693-E129-58F1-D64682BD5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4843F80-E4FC-6585-3E1B-E7E8F4C8E8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37D73C-AA57-F9F9-D8E5-2A617FFB2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A67B85-EBBB-88D7-106B-880CC8807F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82564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C8E3D-AF5A-522A-3E52-43C8DE6D6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995252-4D4B-3CB3-DAF9-7A6531B33A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0A1E41-052A-87F7-F700-D0F8D6A5E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18FE7D-77C0-A192-0164-18C17B1FF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54102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22</a:t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2024/12/9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2024/12/9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2024/12/9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  <a:t>2024/12/9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9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指针高级</a:t>
            </a:r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运算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301"/>
            <a:ext cx="496855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葛以伟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1278EE72-DA65-C554-87A9-0A7834775D4E}"/>
              </a:ext>
            </a:extLst>
          </p:cNvPr>
          <p:cNvSpPr>
            <a:spLocks noGrp="1"/>
          </p:cNvSpPr>
          <p:nvPr/>
        </p:nvSpPr>
        <p:spPr>
          <a:xfrm>
            <a:off x="2612951" y="1910699"/>
            <a:ext cx="7632848" cy="22195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8000" dirty="0">
                <a:solidFill>
                  <a:schemeClr val="tx1"/>
                </a:solidFill>
              </a:rPr>
              <a:t>指针定义及使用</a:t>
            </a:r>
            <a:endParaRPr lang="en-US" altLang="zh-CN" sz="8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F2470E-589D-DB4E-B1D6-EAC45A6A409A}"/>
              </a:ext>
            </a:extLst>
          </p:cNvPr>
          <p:cNvSpPr txBox="1"/>
          <p:nvPr/>
        </p:nvSpPr>
        <p:spPr>
          <a:xfrm>
            <a:off x="3549055" y="1168053"/>
            <a:ext cx="6552728" cy="4351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4800" b="1" dirty="0">
                <a:solidFill>
                  <a:srgbClr val="FF0000"/>
                </a:solidFill>
                <a:latin typeface="+mn-ea"/>
                <a:ea typeface="+mn-ea"/>
              </a:rPr>
              <a:t>指针的计算</a:t>
            </a:r>
            <a:endParaRPr lang="en-US" altLang="zh-CN" sz="48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4800" dirty="0">
                <a:latin typeface="+mn-ea"/>
                <a:ea typeface="+mn-ea"/>
              </a:rPr>
              <a:t>二级指针和多级指针</a:t>
            </a:r>
            <a:endParaRPr lang="en-US" altLang="zh-CN" sz="4800" dirty="0">
              <a:latin typeface="+mn-ea"/>
              <a:ea typeface="+mn-ea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4800" dirty="0">
                <a:latin typeface="+mn-ea"/>
                <a:ea typeface="+mn-ea"/>
              </a:rPr>
              <a:t>数组和指针</a:t>
            </a:r>
            <a:endParaRPr lang="en-US" altLang="zh-CN" sz="4800" dirty="0">
              <a:latin typeface="+mn-ea"/>
              <a:ea typeface="+mn-ea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4800" dirty="0">
                <a:latin typeface="+mn-ea"/>
                <a:ea typeface="+mn-ea"/>
              </a:rPr>
              <a:t>函数和指针</a:t>
            </a:r>
            <a:endParaRPr lang="en-US" altLang="zh-CN" sz="4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349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945099" y="2343678"/>
            <a:ext cx="6156684" cy="206321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/>
              <a:t>指针的计算</a:t>
            </a:r>
            <a:endParaRPr lang="en-US" altLang="zh-CN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/>
              <a:t>指针运算意义</a:t>
            </a:r>
            <a:endParaRPr lang="en-US" altLang="zh-CN" sz="4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5BA2D-7927-49BF-9228-23D8CE5F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BAE1CBA-FF32-55F0-C86A-94137F4D4447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825AC3E-7AA2-8AE3-A70B-F4CD73FE0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674F572-9DD0-EE4C-DDFB-AB01CD2D68F1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3E7F99-4CB7-A398-DF93-D443C7AA6BAE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5F08F36D-AD04-6B86-27AF-C6108DBABCAD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FCC51A75-6C1F-AE2B-97EA-8BECEC3F4046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指针的类型是什么意思？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F1F01213-3FE2-BD19-ECA1-CD1432BBC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815" y="1565462"/>
            <a:ext cx="9238257" cy="500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53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5BA2D-7927-49BF-9228-23D8CE5F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BAE1CBA-FF32-55F0-C86A-94137F4D4447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825AC3E-7AA2-8AE3-A70B-F4CD73FE0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674F572-9DD0-EE4C-DDFB-AB01CD2D68F1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3E7F99-4CB7-A398-DF93-D443C7AA6BAE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5F08F36D-AD04-6B86-27AF-C6108DBABCAD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FCC51A75-6C1F-AE2B-97EA-8BECEC3F4046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一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指针的运算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80541A5-78C1-8B66-FF74-BC3CC3327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860" y="1596188"/>
            <a:ext cx="3605125" cy="274021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82050A1-6394-6F39-6753-B98DE59830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783" y="4706788"/>
            <a:ext cx="11315700" cy="14859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4102AA0-A2F9-8510-14A5-7917D8B556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5445" y="2856759"/>
            <a:ext cx="619125" cy="371475"/>
          </a:xfrm>
          <a:prstGeom prst="rect">
            <a:avLst/>
          </a:prstGeom>
        </p:spPr>
      </p:pic>
      <p:sp>
        <p:nvSpPr>
          <p:cNvPr id="19" name="箭头: 上 18">
            <a:extLst>
              <a:ext uri="{FF2B5EF4-FFF2-40B4-BE49-F238E27FC236}">
                <a16:creationId xmlns:a16="http://schemas.microsoft.com/office/drawing/2014/main" id="{A6BBD509-77B3-397A-E835-CDD40C24432C}"/>
              </a:ext>
            </a:extLst>
          </p:cNvPr>
          <p:cNvSpPr/>
          <p:nvPr/>
        </p:nvSpPr>
        <p:spPr>
          <a:xfrm>
            <a:off x="1414488" y="6105667"/>
            <a:ext cx="432048" cy="591989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上 19">
            <a:extLst>
              <a:ext uri="{FF2B5EF4-FFF2-40B4-BE49-F238E27FC236}">
                <a16:creationId xmlns:a16="http://schemas.microsoft.com/office/drawing/2014/main" id="{1291C1D2-D1F9-A821-6406-8F40857C2D31}"/>
              </a:ext>
            </a:extLst>
          </p:cNvPr>
          <p:cNvSpPr/>
          <p:nvPr/>
        </p:nvSpPr>
        <p:spPr>
          <a:xfrm>
            <a:off x="1473660" y="6100789"/>
            <a:ext cx="432048" cy="59198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E321F5BF-4B7C-3C0B-EF62-82E811DE61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3138" y="1222338"/>
            <a:ext cx="6810375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21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3457E-7 -0.00352 L 0.05963 -0.01098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75" y="-3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7531E-6 1.64179E-6 L 0.23987 -0.01032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88" y="-5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19" grpId="2" animBg="1"/>
      <p:bldP spid="20" grpId="0" animBg="1"/>
      <p:bldP spid="20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677A9-D2E1-473F-C047-B50767FB5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71CB1C2-0110-DCF2-22A5-310B8F8FFB83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A2B6D5D-8634-B80D-9D5F-E7CFDF3EB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856256B-57B0-35EF-D269-B5C74C1B8B4B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10CCED-55FE-F326-EFDA-E5B026B26B62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F97F034E-3C5F-85E4-02A2-8B5D661E7C6A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BF4570C5-60A2-0FEC-ED1E-7BCE84DC0B27}"/>
              </a:ext>
            </a:extLst>
          </p:cNvPr>
          <p:cNvSpPr txBox="1">
            <a:spLocks noChangeArrowheads="1"/>
          </p:cNvSpPr>
          <p:nvPr/>
        </p:nvSpPr>
        <p:spPr>
          <a:xfrm>
            <a:off x="889488" y="953926"/>
            <a:ext cx="1651456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步长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DEBED08-E7AB-AB1B-9EE8-E8C2F39E8AE4}"/>
              </a:ext>
            </a:extLst>
          </p:cNvPr>
          <p:cNvSpPr txBox="1"/>
          <p:nvPr/>
        </p:nvSpPr>
        <p:spPr>
          <a:xfrm>
            <a:off x="1892871" y="1740665"/>
            <a:ext cx="864096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+mn-ea"/>
                <a:ea typeface="+mn-ea"/>
              </a:rPr>
              <a:t>步长：指针移动一次，走了多少字节</a:t>
            </a:r>
            <a:endParaRPr lang="en-US" altLang="zh-CN" sz="3200" dirty="0">
              <a:latin typeface="+mn-ea"/>
              <a:ea typeface="+mn-ea"/>
            </a:endParaRPr>
          </a:p>
          <a:p>
            <a:r>
              <a:rPr lang="en-US" altLang="zh-CN" sz="3200" dirty="0">
                <a:latin typeface="+mn-ea"/>
                <a:ea typeface="+mn-ea"/>
              </a:rPr>
              <a:t>	char </a:t>
            </a:r>
            <a:r>
              <a:rPr lang="zh-CN" altLang="en-US" sz="3200" dirty="0">
                <a:latin typeface="+mn-ea"/>
                <a:ea typeface="+mn-ea"/>
              </a:rPr>
              <a:t>： </a:t>
            </a:r>
            <a:r>
              <a:rPr lang="en-US" altLang="zh-CN" sz="3200" dirty="0">
                <a:latin typeface="+mn-ea"/>
                <a:ea typeface="+mn-ea"/>
              </a:rPr>
              <a:t>1</a:t>
            </a:r>
            <a:r>
              <a:rPr lang="zh-CN" altLang="en-US" sz="3200" dirty="0">
                <a:latin typeface="+mn-ea"/>
                <a:ea typeface="+mn-ea"/>
              </a:rPr>
              <a:t>字节</a:t>
            </a:r>
            <a:endParaRPr lang="en-US" altLang="zh-CN" sz="3200" dirty="0">
              <a:latin typeface="+mn-ea"/>
              <a:ea typeface="+mn-ea"/>
            </a:endParaRPr>
          </a:p>
          <a:p>
            <a:r>
              <a:rPr lang="en-US" altLang="zh-CN" sz="3200" dirty="0">
                <a:latin typeface="+mn-ea"/>
                <a:ea typeface="+mn-ea"/>
              </a:rPr>
              <a:t>	short</a:t>
            </a:r>
            <a:r>
              <a:rPr lang="zh-CN" altLang="en-US" sz="3200" dirty="0">
                <a:latin typeface="+mn-ea"/>
                <a:ea typeface="+mn-ea"/>
              </a:rPr>
              <a:t>：</a:t>
            </a:r>
            <a:r>
              <a:rPr lang="en-US" altLang="zh-CN" sz="3200" dirty="0">
                <a:latin typeface="+mn-ea"/>
                <a:ea typeface="+mn-ea"/>
              </a:rPr>
              <a:t>2</a:t>
            </a:r>
            <a:r>
              <a:rPr lang="zh-CN" altLang="en-US" sz="3200" dirty="0">
                <a:latin typeface="+mn-ea"/>
                <a:ea typeface="+mn-ea"/>
              </a:rPr>
              <a:t>字节</a:t>
            </a:r>
            <a:endParaRPr lang="en-US" altLang="zh-CN" sz="3200" dirty="0">
              <a:latin typeface="+mn-ea"/>
              <a:ea typeface="+mn-ea"/>
            </a:endParaRPr>
          </a:p>
          <a:p>
            <a:r>
              <a:rPr lang="en-US" altLang="zh-CN" sz="3200" dirty="0">
                <a:latin typeface="+mn-ea"/>
                <a:ea typeface="+mn-ea"/>
              </a:rPr>
              <a:t>	int</a:t>
            </a:r>
            <a:r>
              <a:rPr lang="zh-CN" altLang="en-US" sz="3200" dirty="0">
                <a:latin typeface="+mn-ea"/>
                <a:ea typeface="+mn-ea"/>
              </a:rPr>
              <a:t>： </a:t>
            </a:r>
            <a:r>
              <a:rPr lang="en-US" altLang="zh-CN" sz="3200" dirty="0">
                <a:latin typeface="+mn-ea"/>
                <a:ea typeface="+mn-ea"/>
              </a:rPr>
              <a:t>4</a:t>
            </a:r>
            <a:r>
              <a:rPr lang="zh-CN" altLang="en-US" sz="3200" dirty="0">
                <a:latin typeface="+mn-ea"/>
                <a:ea typeface="+mn-ea"/>
              </a:rPr>
              <a:t>字节</a:t>
            </a:r>
            <a:endParaRPr lang="en-US" altLang="zh-CN" sz="3200" dirty="0">
              <a:latin typeface="+mn-ea"/>
              <a:ea typeface="+mn-ea"/>
            </a:endParaRPr>
          </a:p>
          <a:p>
            <a:r>
              <a:rPr lang="en-US" altLang="zh-CN" sz="3200" dirty="0">
                <a:latin typeface="+mn-ea"/>
                <a:ea typeface="+mn-ea"/>
              </a:rPr>
              <a:t>	long</a:t>
            </a:r>
            <a:r>
              <a:rPr lang="zh-CN" altLang="en-US" sz="3200" dirty="0">
                <a:latin typeface="+mn-ea"/>
                <a:ea typeface="+mn-ea"/>
              </a:rPr>
              <a:t>：</a:t>
            </a:r>
            <a:r>
              <a:rPr lang="en-US" altLang="zh-CN" sz="3200" dirty="0">
                <a:latin typeface="+mn-ea"/>
                <a:ea typeface="+mn-ea"/>
              </a:rPr>
              <a:t>4</a:t>
            </a:r>
            <a:r>
              <a:rPr lang="zh-CN" altLang="en-US" sz="3200" dirty="0">
                <a:latin typeface="+mn-ea"/>
                <a:ea typeface="+mn-ea"/>
              </a:rPr>
              <a:t>字节</a:t>
            </a:r>
            <a:endParaRPr lang="en-US" altLang="zh-CN" sz="3200" dirty="0">
              <a:latin typeface="+mn-ea"/>
              <a:ea typeface="+mn-ea"/>
            </a:endParaRPr>
          </a:p>
          <a:p>
            <a:r>
              <a:rPr lang="en-US" altLang="zh-CN" sz="3200" dirty="0">
                <a:latin typeface="+mn-ea"/>
                <a:ea typeface="+mn-ea"/>
              </a:rPr>
              <a:t>	long  </a:t>
            </a:r>
            <a:r>
              <a:rPr lang="en-US" altLang="zh-CN" sz="3200" dirty="0" err="1">
                <a:latin typeface="+mn-ea"/>
                <a:ea typeface="+mn-ea"/>
              </a:rPr>
              <a:t>long</a:t>
            </a:r>
            <a:r>
              <a:rPr lang="zh-CN" altLang="en-US" sz="3200" dirty="0">
                <a:latin typeface="+mn-ea"/>
                <a:ea typeface="+mn-ea"/>
              </a:rPr>
              <a:t>：</a:t>
            </a:r>
            <a:r>
              <a:rPr lang="en-US" altLang="zh-CN" sz="3200" dirty="0">
                <a:latin typeface="+mn-ea"/>
                <a:ea typeface="+mn-ea"/>
              </a:rPr>
              <a:t>8</a:t>
            </a:r>
            <a:r>
              <a:rPr lang="zh-CN" altLang="en-US" sz="3200" dirty="0">
                <a:latin typeface="+mn-ea"/>
                <a:ea typeface="+mn-ea"/>
              </a:rPr>
              <a:t>字节</a:t>
            </a:r>
            <a:endParaRPr lang="en-US" altLang="zh-CN" sz="3200" dirty="0">
              <a:latin typeface="+mn-ea"/>
              <a:ea typeface="+mn-ea"/>
            </a:endParaRPr>
          </a:p>
          <a:p>
            <a:r>
              <a:rPr lang="zh-CN" altLang="en-US" sz="3200" dirty="0">
                <a:latin typeface="+mn-ea"/>
                <a:ea typeface="+mn-ea"/>
              </a:rPr>
              <a:t>加法：指针往后移动了</a:t>
            </a:r>
            <a:r>
              <a:rPr lang="en-US" altLang="zh-CN" sz="3200" dirty="0">
                <a:latin typeface="+mn-ea"/>
                <a:ea typeface="+mn-ea"/>
              </a:rPr>
              <a:t>N</a:t>
            </a:r>
            <a:r>
              <a:rPr lang="zh-CN" altLang="en-US" sz="3200" dirty="0">
                <a:latin typeface="+mn-ea"/>
                <a:ea typeface="+mn-ea"/>
              </a:rPr>
              <a:t>步  </a:t>
            </a:r>
            <a:r>
              <a:rPr lang="en-US" altLang="zh-CN" sz="3200" dirty="0">
                <a:latin typeface="+mn-ea"/>
                <a:ea typeface="+mn-ea"/>
              </a:rPr>
              <a:t>P + N</a:t>
            </a:r>
          </a:p>
          <a:p>
            <a:r>
              <a:rPr lang="zh-CN" altLang="en-US" sz="3200" dirty="0">
                <a:latin typeface="+mn-ea"/>
                <a:ea typeface="+mn-ea"/>
              </a:rPr>
              <a:t>减法：指针往前移动了</a:t>
            </a:r>
            <a:r>
              <a:rPr lang="en-US" altLang="zh-CN" sz="3200" dirty="0">
                <a:latin typeface="+mn-ea"/>
                <a:ea typeface="+mn-ea"/>
              </a:rPr>
              <a:t>N</a:t>
            </a:r>
            <a:r>
              <a:rPr lang="zh-CN" altLang="en-US" sz="3200" dirty="0">
                <a:latin typeface="+mn-ea"/>
                <a:ea typeface="+mn-ea"/>
              </a:rPr>
              <a:t>步  </a:t>
            </a:r>
            <a:r>
              <a:rPr lang="en-US" altLang="zh-CN" sz="3200" dirty="0">
                <a:latin typeface="+mn-ea"/>
                <a:ea typeface="+mn-ea"/>
              </a:rPr>
              <a:t>P - N</a:t>
            </a:r>
          </a:p>
        </p:txBody>
      </p:sp>
    </p:spTree>
    <p:extLst>
      <p:ext uri="{BB962C8B-B14F-4D97-AF65-F5344CB8AC3E}">
        <p14:creationId xmlns:p14="http://schemas.microsoft.com/office/powerpoint/2010/main" val="274446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044D9-3939-0800-79D4-49454BE63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A660C9E-EEC7-60F1-9A3A-E9F66DF5489A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C200A3B-1C4C-B9EE-6CA5-D978484F4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CF77EDF-71F2-87A4-31F7-3847AD69721C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9F605BB-F822-7C40-5EB6-72F3B04E68CA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77CB964A-7D08-6D8E-6939-D002AB9DC237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F6FE3EB9-9D14-D56B-9B44-0341BE447D58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代码分析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A3E9A00-D80F-24DA-8BCF-F758991A50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554" y="1816125"/>
            <a:ext cx="4723382" cy="273630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C8B6CBD-B892-28F1-B1BD-48E9718DF9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7327" y="2109291"/>
            <a:ext cx="6115473" cy="214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293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38CE2-A498-2B2A-23F1-4EA4102B4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0F64037-26D6-C8F3-5FE3-840621B200FA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A207247-64D5-7527-3EC8-DE55FAC18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C070305-E4A2-34D0-9A23-E850DDB5A0F4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3973BF3-F881-3D2D-D247-5A2F068FA596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89865426-5359-1CAB-9E69-4661DDAC04AF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71F65EF2-7450-23A8-FDC8-913DC5F2C3BD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小结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1AD7A22-08EF-3B4E-EEC1-6186174DEC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5550" y="1558738"/>
            <a:ext cx="786765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96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6F0BE-92F4-4263-E8B5-AB15E982A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ACE4D08-F39A-0CC1-495E-CBE63FA9DDFC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95D49EB-2EF8-A778-A784-7934029AD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2220435-6BA9-E25F-6D7E-87F34A6AD030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9D16BA-8C54-6BB6-3B97-383778C5E1F2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98B80894-B5B1-7915-0552-1A1C34F07A31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53E84174-7B1D-235F-0BCD-B524416A5853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指针的运算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5108FED-D0FD-2A95-B5BF-75246F45CE7E}"/>
              </a:ext>
            </a:extLst>
          </p:cNvPr>
          <p:cNvSpPr txBox="1"/>
          <p:nvPr/>
        </p:nvSpPr>
        <p:spPr>
          <a:xfrm>
            <a:off x="1676847" y="1683631"/>
            <a:ext cx="7776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3200" b="1" dirty="0"/>
              <a:t>有意义的操作：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64FBDDB-FD74-0822-9B1C-A10F5B366CC1}"/>
              </a:ext>
            </a:extLst>
          </p:cNvPr>
          <p:cNvSpPr txBox="1"/>
          <p:nvPr/>
        </p:nvSpPr>
        <p:spPr>
          <a:xfrm>
            <a:off x="1674743" y="3962757"/>
            <a:ext cx="7776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3200" b="1" dirty="0"/>
              <a:t>无意义的操作：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37CEFC-D88B-A885-0421-03D0F4C8B3EB}"/>
              </a:ext>
            </a:extLst>
          </p:cNvPr>
          <p:cNvSpPr txBox="1"/>
          <p:nvPr/>
        </p:nvSpPr>
        <p:spPr>
          <a:xfrm>
            <a:off x="2828975" y="2456002"/>
            <a:ext cx="91450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+mn-ea"/>
                <a:ea typeface="+mn-ea"/>
              </a:rPr>
              <a:t>指针跟</a:t>
            </a:r>
            <a:r>
              <a:rPr lang="zh-CN" altLang="en-US" sz="2800" b="1" dirty="0">
                <a:solidFill>
                  <a:srgbClr val="00B050"/>
                </a:solidFill>
                <a:latin typeface="+mn-ea"/>
                <a:ea typeface="+mn-ea"/>
              </a:rPr>
              <a:t>整数</a:t>
            </a:r>
            <a:r>
              <a:rPr lang="zh-CN" altLang="en-US" sz="2800" dirty="0">
                <a:latin typeface="+mn-ea"/>
                <a:ea typeface="+mn-ea"/>
              </a:rPr>
              <a:t>进行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加、减</a:t>
            </a:r>
            <a:r>
              <a:rPr lang="zh-CN" altLang="en-US" sz="2800" dirty="0">
                <a:latin typeface="+mn-ea"/>
                <a:ea typeface="+mn-ea"/>
              </a:rPr>
              <a:t>操作（每次移动</a:t>
            </a:r>
            <a:r>
              <a:rPr lang="en-US" altLang="zh-CN" sz="2800" dirty="0">
                <a:latin typeface="+mn-ea"/>
                <a:ea typeface="+mn-ea"/>
              </a:rPr>
              <a:t>N</a:t>
            </a:r>
            <a:r>
              <a:rPr lang="zh-CN" altLang="en-US" sz="2800" dirty="0">
                <a:latin typeface="+mn-ea"/>
                <a:ea typeface="+mn-ea"/>
              </a:rPr>
              <a:t>个步长）</a:t>
            </a:r>
            <a:endParaRPr lang="en-US" altLang="zh-CN" sz="2800" dirty="0">
              <a:latin typeface="+mn-ea"/>
              <a:ea typeface="+mn-ea"/>
            </a:endParaRPr>
          </a:p>
          <a:p>
            <a:endParaRPr lang="en-US" altLang="zh-CN" sz="2800" dirty="0">
              <a:latin typeface="+mn-ea"/>
              <a:ea typeface="+mn-ea"/>
            </a:endParaRPr>
          </a:p>
          <a:p>
            <a:r>
              <a:rPr lang="zh-CN" altLang="en-US" sz="2800" dirty="0">
                <a:latin typeface="+mn-ea"/>
                <a:ea typeface="+mn-ea"/>
              </a:rPr>
              <a:t>指针跟</a:t>
            </a:r>
            <a:r>
              <a:rPr lang="zh-CN" altLang="en-US" sz="2800" b="1" dirty="0">
                <a:solidFill>
                  <a:srgbClr val="00B050"/>
                </a:solidFill>
                <a:latin typeface="+mn-ea"/>
                <a:ea typeface="+mn-ea"/>
              </a:rPr>
              <a:t>指针</a:t>
            </a:r>
            <a:r>
              <a:rPr lang="zh-CN" altLang="en-US" sz="2800" dirty="0">
                <a:latin typeface="+mn-ea"/>
                <a:ea typeface="+mn-ea"/>
              </a:rPr>
              <a:t>进行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减</a:t>
            </a:r>
            <a:r>
              <a:rPr lang="zh-CN" altLang="en-US" sz="2800" dirty="0">
                <a:latin typeface="+mn-ea"/>
                <a:ea typeface="+mn-ea"/>
              </a:rPr>
              <a:t>操作（间隔步长）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CF771AE-DD43-8D39-4067-6FFF36EBC6F5}"/>
              </a:ext>
            </a:extLst>
          </p:cNvPr>
          <p:cNvSpPr txBox="1"/>
          <p:nvPr/>
        </p:nvSpPr>
        <p:spPr>
          <a:xfrm>
            <a:off x="2828975" y="4842850"/>
            <a:ext cx="914501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+mn-ea"/>
                <a:ea typeface="+mn-ea"/>
              </a:rPr>
              <a:t>指针跟</a:t>
            </a:r>
            <a:r>
              <a:rPr lang="zh-CN" altLang="en-US" sz="2800" b="1" dirty="0">
                <a:solidFill>
                  <a:srgbClr val="00B050"/>
                </a:solidFill>
                <a:latin typeface="+mn-ea"/>
                <a:ea typeface="+mn-ea"/>
              </a:rPr>
              <a:t>整数</a:t>
            </a:r>
            <a:r>
              <a:rPr lang="zh-CN" altLang="en-US" sz="2800" dirty="0">
                <a:latin typeface="+mn-ea"/>
                <a:ea typeface="+mn-ea"/>
              </a:rPr>
              <a:t>进行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乘除</a:t>
            </a:r>
            <a:r>
              <a:rPr lang="zh-CN" altLang="en-US" sz="2800" dirty="0">
                <a:latin typeface="+mn-ea"/>
                <a:ea typeface="+mn-ea"/>
              </a:rPr>
              <a:t>操作</a:t>
            </a:r>
            <a:endParaRPr lang="en-US" altLang="zh-CN" sz="2800" dirty="0">
              <a:latin typeface="+mn-ea"/>
              <a:ea typeface="+mn-ea"/>
            </a:endParaRPr>
          </a:p>
          <a:p>
            <a:endParaRPr lang="en-US" altLang="zh-CN" sz="1100" dirty="0">
              <a:latin typeface="+mn-ea"/>
              <a:ea typeface="+mn-ea"/>
            </a:endParaRPr>
          </a:p>
          <a:p>
            <a:r>
              <a:rPr lang="en-US" altLang="zh-CN" sz="2800" dirty="0">
                <a:latin typeface="+mn-ea"/>
                <a:ea typeface="+mn-ea"/>
              </a:rPr>
              <a:t>	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原因：</a:t>
            </a:r>
            <a:r>
              <a:rPr lang="zh-CN" altLang="en-US" sz="2800" dirty="0">
                <a:latin typeface="+mn-ea"/>
                <a:ea typeface="+mn-ea"/>
              </a:rPr>
              <a:t>此时指针指向不明</a:t>
            </a:r>
            <a:endParaRPr lang="en-US" altLang="zh-CN" sz="2800" dirty="0">
              <a:latin typeface="+mn-ea"/>
              <a:ea typeface="+mn-ea"/>
            </a:endParaRPr>
          </a:p>
          <a:p>
            <a:r>
              <a:rPr lang="en-US" altLang="zh-CN" sz="800" dirty="0">
                <a:latin typeface="+mn-ea"/>
                <a:ea typeface="+mn-ea"/>
              </a:rPr>
              <a:t> </a:t>
            </a:r>
          </a:p>
          <a:p>
            <a:r>
              <a:rPr lang="zh-CN" altLang="en-US" sz="2800" dirty="0">
                <a:latin typeface="+mn-ea"/>
                <a:ea typeface="+mn-ea"/>
              </a:rPr>
              <a:t>指针跟</a:t>
            </a:r>
            <a:r>
              <a:rPr lang="zh-CN" altLang="en-US" sz="2800" b="1" dirty="0">
                <a:solidFill>
                  <a:srgbClr val="00B050"/>
                </a:solidFill>
                <a:latin typeface="+mn-ea"/>
                <a:ea typeface="+mn-ea"/>
              </a:rPr>
              <a:t>指针</a:t>
            </a:r>
            <a:r>
              <a:rPr lang="zh-CN" altLang="en-US" sz="2800" dirty="0">
                <a:latin typeface="+mn-ea"/>
                <a:ea typeface="+mn-ea"/>
              </a:rPr>
              <a:t>进行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加、乘、除</a:t>
            </a:r>
            <a:r>
              <a:rPr lang="zh-CN" altLang="en-US" sz="2800" dirty="0">
                <a:latin typeface="+mn-ea"/>
                <a:ea typeface="+mn-ea"/>
              </a:rPr>
              <a:t>操作</a:t>
            </a:r>
          </a:p>
        </p:txBody>
      </p:sp>
    </p:spTree>
    <p:extLst>
      <p:ext uri="{BB962C8B-B14F-4D97-AF65-F5344CB8AC3E}">
        <p14:creationId xmlns:p14="http://schemas.microsoft.com/office/powerpoint/2010/main" val="3528898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7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7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75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75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15DFD-958D-1AE2-F14C-706945597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36CD074-96AE-CBC5-F4FC-638DC9977593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7DC0A05-3C77-C233-9DB9-6644C02AD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2B3E971-6B15-DA55-E84C-306F2B12C3D3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6D70CF-CED8-13E6-7463-3B40440C1DAE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615E71B7-9EA8-8BA1-569D-1074F33558DF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9199F8F4-A266-053C-4D38-663CFED8439D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指针的运算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A334436-2473-3A74-2B20-CAD436857665}"/>
              </a:ext>
            </a:extLst>
          </p:cNvPr>
          <p:cNvSpPr txBox="1"/>
          <p:nvPr/>
        </p:nvSpPr>
        <p:spPr>
          <a:xfrm>
            <a:off x="956767" y="1531236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指针跟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整数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进行加运算：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AEFBA3E-9DD9-D86C-A33F-6A28632C3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96" y="2292371"/>
            <a:ext cx="8062036" cy="398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097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45D83-6EEC-1AD9-E0E4-997E1F7F3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C35AAB6-60F5-225E-E756-41887F897FA2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B31D431-6849-288C-9B3F-CD299BA3C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4F737A0-C6E1-8B8D-1FA9-E2D47063BFAB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C31F52-87B7-F996-D48D-4DC123E5A55C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1CBAB272-4CB5-5AA2-FFF7-4ED11C93A60F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B9B29DEB-2D9C-C36F-628D-74D672043DB4}"/>
              </a:ext>
            </a:extLst>
          </p:cNvPr>
          <p:cNvSpPr txBox="1">
            <a:spLocks noChangeArrowheads="1"/>
          </p:cNvSpPr>
          <p:nvPr/>
        </p:nvSpPr>
        <p:spPr>
          <a:xfrm>
            <a:off x="889488" y="953926"/>
            <a:ext cx="2803584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指针的运算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9B4FCAD-D713-40AB-31D8-64B31C9146C0}"/>
              </a:ext>
            </a:extLst>
          </p:cNvPr>
          <p:cNvSpPr txBox="1"/>
          <p:nvPr/>
        </p:nvSpPr>
        <p:spPr>
          <a:xfrm>
            <a:off x="956767" y="1531236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指针跟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指针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进行加运算：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3DE4514-1C0D-274E-50A0-990D26D02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951" y="2030767"/>
            <a:ext cx="7896225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473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44CAC-51DC-D06A-E02B-DDA5AB1F3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4BD05D8-A160-E997-D37D-5F7BE7D1F305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1683A46-88A4-755B-44FF-499C1586D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198EFC2-0538-A988-6B42-BABE1AE64997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8FB8F07-38C1-AAC1-393F-D0203C168108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986343CA-FA15-2A16-7085-BB3F004742A9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1B362D3-7D61-297F-9227-BD2AF1D08DD8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指向不明的指针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4CAC683-CF26-D4B7-788F-F1B8EBAA236A}"/>
              </a:ext>
            </a:extLst>
          </p:cNvPr>
          <p:cNvSpPr txBox="1"/>
          <p:nvPr/>
        </p:nvSpPr>
        <p:spPr>
          <a:xfrm>
            <a:off x="2036887" y="1960141"/>
            <a:ext cx="8459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野指针：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指针指向的空间未分配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BD7CF9E-72D1-D888-CEA7-C3AC2F069A3F}"/>
              </a:ext>
            </a:extLst>
          </p:cNvPr>
          <p:cNvSpPr txBox="1"/>
          <p:nvPr/>
        </p:nvSpPr>
        <p:spPr>
          <a:xfrm>
            <a:off x="2036887" y="3397952"/>
            <a:ext cx="104411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悬空指针：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指针指向的空间已经分配了，但是被释放了</a:t>
            </a:r>
          </a:p>
        </p:txBody>
      </p:sp>
    </p:spTree>
    <p:extLst>
      <p:ext uri="{BB962C8B-B14F-4D97-AF65-F5344CB8AC3E}">
        <p14:creationId xmlns:p14="http://schemas.microsoft.com/office/powerpoint/2010/main" val="2533323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8870D-7457-8F0A-5952-6E4B68196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7756EC-EF3F-73A0-30F7-55CE840945CB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7AB5A11-0460-8C78-0B4E-459B4A854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DD09268-A413-569A-4FE1-45B15C4D83AD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6192044-5851-926B-01A1-C82E5C8168C3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71D4ED73-EAD7-96C2-6ED3-477630B1A869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4AEA1FF4-C5E0-3724-3B3C-FF52C43EE662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指向不明的指针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代码演示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ED6C841-AEB3-7A31-735F-9DB93C0A67FA}"/>
              </a:ext>
            </a:extLst>
          </p:cNvPr>
          <p:cNvSpPr txBox="1"/>
          <p:nvPr/>
        </p:nvSpPr>
        <p:spPr>
          <a:xfrm>
            <a:off x="1748855" y="1525046"/>
            <a:ext cx="84592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野指针：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指针指向的空间未分配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92C5E93-5971-13EE-D48C-F1EA830CB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6886" y="2060144"/>
            <a:ext cx="6463885" cy="450850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C061DAE-DB3E-29E5-9858-069538644855}"/>
              </a:ext>
            </a:extLst>
          </p:cNvPr>
          <p:cNvSpPr txBox="1"/>
          <p:nvPr/>
        </p:nvSpPr>
        <p:spPr>
          <a:xfrm>
            <a:off x="9237687" y="1525046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因为定义的不是连续的数据变量。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F3AF9C-F6C4-0B42-8D64-5D7902C6C01F}"/>
              </a:ext>
            </a:extLst>
          </p:cNvPr>
          <p:cNvSpPr txBox="1"/>
          <p:nvPr/>
        </p:nvSpPr>
        <p:spPr>
          <a:xfrm>
            <a:off x="9891612" y="6415345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C000"/>
                </a:solidFill>
              </a:rPr>
              <a:t>游戏的外挂就是根据这个。</a:t>
            </a:r>
          </a:p>
        </p:txBody>
      </p:sp>
    </p:spTree>
    <p:extLst>
      <p:ext uri="{BB962C8B-B14F-4D97-AF65-F5344CB8AC3E}">
        <p14:creationId xmlns:p14="http://schemas.microsoft.com/office/powerpoint/2010/main" val="1126402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A175D-3AE7-6DD9-DAE2-971C9DA06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ABD4D68-126D-6050-EE77-932C404DA4F2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DA3356B-984C-1B80-8246-350068161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B36FDE5-D15E-9B12-3153-42AC2879F0B0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71EF31C-8595-DABD-EB73-E53602C3F4D1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E6FA6BBB-2205-5301-AE06-2934BD230AA3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5EF9EABD-B1C3-A762-6FB0-CE288D4E52FC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指向不明的指针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代码演示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9778866-8E99-BF4E-04B8-FA90B3776401}"/>
              </a:ext>
            </a:extLst>
          </p:cNvPr>
          <p:cNvSpPr txBox="1"/>
          <p:nvPr/>
        </p:nvSpPr>
        <p:spPr>
          <a:xfrm>
            <a:off x="1460823" y="1497632"/>
            <a:ext cx="10441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悬空指针：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指针指向的空间已经分配了，但是被释放了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6BD60B9-0E65-C658-F478-F0D39FCA4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75" y="2112548"/>
            <a:ext cx="8057728" cy="460012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44752F4-35F3-CAA6-A6B7-5F8B0399A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1303" y="3583217"/>
            <a:ext cx="3609975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80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7ADBE-DC64-500E-F0DD-455A2A258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58D191E-8FB3-33A6-9833-6A84B525F2FB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2050253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9A63186-5533-5BD3-13C9-EB4D7A2EC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7F32247-61C0-D604-428F-546A979D8AF5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BC2DFF-A032-CD8D-EF61-687024A55487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FC65FF4C-5562-AE1F-19A8-D2EB4BCB7FF8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F43E72B-E1EE-D0C5-C37C-A0E9EEC686E9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五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没有类型的指针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AFB7D55-30E5-EEEA-84DA-1A41B6E2F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687" y="1319608"/>
            <a:ext cx="10821863" cy="549215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EC2FB8A4-AF77-A56F-5954-6C39762557B2}"/>
              </a:ext>
            </a:extLst>
          </p:cNvPr>
          <p:cNvSpPr txBox="1"/>
          <p:nvPr/>
        </p:nvSpPr>
        <p:spPr>
          <a:xfrm>
            <a:off x="8373591" y="1425624"/>
            <a:ext cx="41764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+mn-ea"/>
                <a:ea typeface="+mn-ea"/>
              </a:rPr>
              <a:t>void</a:t>
            </a:r>
            <a:r>
              <a:rPr lang="zh-CN" altLang="en-US" sz="2400" dirty="0">
                <a:latin typeface="+mn-ea"/>
                <a:ea typeface="+mn-ea"/>
              </a:rPr>
              <a:t>类型的数据只能记录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地址值</a:t>
            </a:r>
            <a:r>
              <a:rPr lang="zh-CN" altLang="en-US" sz="2400" dirty="0">
                <a:latin typeface="+mn-ea"/>
                <a:ea typeface="+mn-ea"/>
              </a:rPr>
              <a:t>，不能获取到变量里面的数据，也不能进行加减之类的计算。</a:t>
            </a:r>
          </a:p>
        </p:txBody>
      </p:sp>
    </p:spTree>
    <p:extLst>
      <p:ext uri="{BB962C8B-B14F-4D97-AF65-F5344CB8AC3E}">
        <p14:creationId xmlns:p14="http://schemas.microsoft.com/office/powerpoint/2010/main" val="3973055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D651C-BF76-087A-3C34-ACE48B378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3036960-37B7-0E3B-8CFA-90630AA5B4B9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2050253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41A0555-1E7A-3EF0-F9D7-1CF001C77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8D7D87A-9220-FA79-E18F-FB7EF027F0C6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935D589-E951-0E6D-1FB9-FC49CA908AED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091B2F0D-643D-1C96-2633-535119235E02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36798D3-BC00-E36D-02F4-7129A42611AA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五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没有类型的指针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代码演示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A66D698-504A-878E-43DA-6D5FA9CC4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730" y="1555307"/>
            <a:ext cx="10389815" cy="500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642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B023F-1BB4-E7C5-D75F-02C092567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6F435FC-52D4-2A83-83AF-C147E4CF04F0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2050253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2A681D9-F011-1BAE-C1B7-BC51AFEBF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1598EC8-F8C4-FD50-243D-D3E801B81059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05E4979-14A2-0B61-75F5-E68C569B13F3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4E66877E-42DF-B453-8ACE-0631467C7473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27B53C6-AEF1-0963-C31D-1FAEDAA98141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五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没有类型的指针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代码演示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02C0C8D-B290-C954-D6C9-1B90606C4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791" y="1531793"/>
            <a:ext cx="10712193" cy="478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38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01151-69FC-1AC8-5792-C8878D3DA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CAC678A-5BB4-1306-EFCE-BF7438EF1007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2050253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D9183BD-335B-689E-B317-6E5CD3C48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8F4F80B-213D-AD45-45A3-206979EF3C7A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9EA90BE-0A12-7DE2-2434-F4D0E31F75C1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DA854CC1-0B2C-261F-0FDB-571000595BD7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2447FA8-FF76-BE1D-E272-9FCF29B12353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五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没有类型的指针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代码演示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B5D1AA6-FE85-E32B-E368-486A6E97110D}"/>
              </a:ext>
            </a:extLst>
          </p:cNvPr>
          <p:cNvSpPr txBox="1"/>
          <p:nvPr/>
        </p:nvSpPr>
        <p:spPr>
          <a:xfrm>
            <a:off x="1172791" y="1455649"/>
            <a:ext cx="108732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+mn-ea"/>
                <a:ea typeface="+mn-ea"/>
              </a:rPr>
              <a:t>void</a:t>
            </a:r>
            <a:r>
              <a:rPr lang="zh-CN" altLang="en-US" sz="2800" b="1" dirty="0">
                <a:latin typeface="+mn-ea"/>
                <a:ea typeface="+mn-ea"/>
              </a:rPr>
              <a:t>获取指针的缺点：</a:t>
            </a:r>
            <a:endParaRPr lang="en-US" altLang="zh-CN" sz="2800" b="1" dirty="0">
              <a:latin typeface="+mn-ea"/>
              <a:ea typeface="+mn-ea"/>
            </a:endParaRPr>
          </a:p>
          <a:p>
            <a:r>
              <a:rPr lang="en-US" altLang="zh-CN" sz="2800" b="1" dirty="0">
                <a:latin typeface="+mn-ea"/>
                <a:ea typeface="+mn-ea"/>
              </a:rPr>
              <a:t>	void</a:t>
            </a:r>
            <a:r>
              <a:rPr lang="zh-CN" altLang="en-US" sz="2800" b="1" dirty="0">
                <a:latin typeface="+mn-ea"/>
                <a:ea typeface="+mn-ea"/>
              </a:rPr>
              <a:t>类型的指针，无法获取变量里面的数据，也不能进行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加、减</a:t>
            </a:r>
            <a:r>
              <a:rPr lang="zh-CN" altLang="en-US" sz="2800" b="1" dirty="0">
                <a:latin typeface="+mn-ea"/>
                <a:ea typeface="+mn-ea"/>
              </a:rPr>
              <a:t>计算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CA32273-C2EE-6814-26D1-24E0F82FC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935" y="2608213"/>
            <a:ext cx="741997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136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5E969-144C-A75D-47EB-E7FAB9CCD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A48FE52-1ED6-4B22-A84D-F52962F03170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2050253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0206160-D987-C29A-1FD6-1B248DAC3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10A00C9-1170-E9F3-CC01-4683F7D2569A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92C12A-B955-9DA6-3C79-EC2BE7D7BF02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5C35E1AB-E2AC-A052-2413-80BD2B344B95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5CB5D02D-BEC8-9F78-58B0-3AC81B7F454B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五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没有类型的指针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代码演示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A1CDC1C-F8A6-FC16-08F8-56653816FBB1}"/>
              </a:ext>
            </a:extLst>
          </p:cNvPr>
          <p:cNvSpPr txBox="1"/>
          <p:nvPr/>
        </p:nvSpPr>
        <p:spPr>
          <a:xfrm>
            <a:off x="1100783" y="1439254"/>
            <a:ext cx="5256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+mn-ea"/>
                <a:ea typeface="+mn-ea"/>
              </a:rPr>
              <a:t>void</a:t>
            </a:r>
            <a:r>
              <a:rPr lang="zh-CN" altLang="en-US" sz="2800" b="1" dirty="0">
                <a:latin typeface="+mn-ea"/>
                <a:ea typeface="+mn-ea"/>
              </a:rPr>
              <a:t>获取指针有什么优点呢？</a:t>
            </a:r>
            <a:endParaRPr lang="en-US" altLang="zh-CN" sz="2800" b="1" dirty="0">
              <a:latin typeface="+mn-ea"/>
              <a:ea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F740C92-AFF2-600C-BD54-68397A289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847" y="2909638"/>
            <a:ext cx="5991225" cy="218122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34C594A0-5EDD-198E-AA05-CA0DBFEF7498}"/>
              </a:ext>
            </a:extLst>
          </p:cNvPr>
          <p:cNvSpPr txBox="1"/>
          <p:nvPr/>
        </p:nvSpPr>
        <p:spPr>
          <a:xfrm>
            <a:off x="1100783" y="2066856"/>
            <a:ext cx="6408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还记得交换两个变量的函数吗？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37D53CE-FDC4-F732-E430-3BEB24AFC89D}"/>
              </a:ext>
            </a:extLst>
          </p:cNvPr>
          <p:cNvSpPr txBox="1"/>
          <p:nvPr/>
        </p:nvSpPr>
        <p:spPr>
          <a:xfrm>
            <a:off x="2576947" y="5015878"/>
            <a:ext cx="770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它其实有个缺点：只能交换</a:t>
            </a:r>
            <a:r>
              <a:rPr lang="en-US" altLang="zh-CN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zh-CN" altLang="en-US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类型的数据。</a:t>
            </a:r>
          </a:p>
        </p:txBody>
      </p:sp>
    </p:spTree>
    <p:extLst>
      <p:ext uri="{BB962C8B-B14F-4D97-AF65-F5344CB8AC3E}">
        <p14:creationId xmlns:p14="http://schemas.microsoft.com/office/powerpoint/2010/main" val="290357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BAD88-9346-A223-7F72-0CFDFB7CD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8C25709-448E-0AF7-A4B6-94AE495A3EB3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2050253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695C4D9-E805-20B7-226C-1AF126FB4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1A1D6B9-4F00-8C33-B45E-A9F4A1B40A95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D94BD98-7FF0-3208-7D39-62B0B17178CF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53C10D08-BA66-42F9-838F-9528DB44D409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五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没有类型的指针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代码演示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C437CA3-3BEF-25EB-3311-2CD6D6B20019}"/>
              </a:ext>
            </a:extLst>
          </p:cNvPr>
          <p:cNvSpPr txBox="1"/>
          <p:nvPr/>
        </p:nvSpPr>
        <p:spPr>
          <a:xfrm>
            <a:off x="1172791" y="1425624"/>
            <a:ext cx="10873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+mn-ea"/>
                <a:ea typeface="+mn-ea"/>
              </a:rPr>
              <a:t>void</a:t>
            </a:r>
            <a:r>
              <a:rPr lang="zh-CN" altLang="en-US" sz="2800" b="1" dirty="0">
                <a:latin typeface="+mn-ea"/>
                <a:ea typeface="+mn-ea"/>
              </a:rPr>
              <a:t>获取指针有什么优点呢？</a:t>
            </a:r>
            <a:endParaRPr lang="en-US" altLang="zh-CN" sz="2800" b="1" dirty="0">
              <a:latin typeface="+mn-ea"/>
              <a:ea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270F079-66B1-7B95-5CE7-41FC0751A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815" y="2030046"/>
            <a:ext cx="8208912" cy="4690807"/>
          </a:xfrm>
          <a:prstGeom prst="rect">
            <a:avLst/>
          </a:prstGeom>
        </p:spPr>
      </p:pic>
      <p:sp>
        <p:nvSpPr>
          <p:cNvPr id="10" name="箭头: 上 9">
            <a:extLst>
              <a:ext uri="{FF2B5EF4-FFF2-40B4-BE49-F238E27FC236}">
                <a16:creationId xmlns:a16="http://schemas.microsoft.com/office/drawing/2014/main" id="{F4955742-F557-EF33-7BBC-D447311492E9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854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1" name="文本占位符 2"/>
          <p:cNvSpPr>
            <a:spLocks noGrp="1"/>
          </p:cNvSpPr>
          <p:nvPr/>
        </p:nvSpPr>
        <p:spPr>
          <a:xfrm>
            <a:off x="3189015" y="1566374"/>
            <a:ext cx="6840760" cy="381642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指针的计算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指针运算意义</a:t>
            </a:r>
            <a:endParaRPr lang="en-US" altLang="zh-CN" sz="4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B0955-F7CC-017D-8847-7F12828A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E642C5D-0E11-77B0-5686-30946C018A5D}"/>
              </a:ext>
            </a:extLst>
          </p:cNvPr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7725C71-6E8C-D2A1-CB3B-54A17D874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55E6205-40B3-9832-5E50-848BA4CB6115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0447C1-A1E3-8A97-CEBF-720766CA1809}"/>
              </a:ext>
            </a:extLst>
          </p:cNvPr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</a:p>
        </p:txBody>
      </p:sp>
      <p:sp>
        <p:nvSpPr>
          <p:cNvPr id="9" name="箭头: 上 8">
            <a:extLst>
              <a:ext uri="{FF2B5EF4-FFF2-40B4-BE49-F238E27FC236}">
                <a16:creationId xmlns:a16="http://schemas.microsoft.com/office/drawing/2014/main" id="{00B740DE-6B40-9680-D07F-35D5F0E1AC83}"/>
              </a:ext>
            </a:extLst>
          </p:cNvPr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A9DD1F-0E30-8D0D-22D5-A8D874904DC4}"/>
              </a:ext>
            </a:extLst>
          </p:cNvPr>
          <p:cNvSpPr txBox="1"/>
          <p:nvPr/>
        </p:nvSpPr>
        <p:spPr>
          <a:xfrm>
            <a:off x="2684959" y="2372806"/>
            <a:ext cx="7488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/>
              <a:t>课堂代码，自己写一遍。</a:t>
            </a:r>
            <a:endParaRPr lang="en-US" altLang="zh-CN" sz="5400" dirty="0"/>
          </a:p>
        </p:txBody>
      </p:sp>
    </p:spTree>
    <p:extLst>
      <p:ext uri="{BB962C8B-B14F-4D97-AF65-F5344CB8AC3E}">
        <p14:creationId xmlns:p14="http://schemas.microsoft.com/office/powerpoint/2010/main" val="59786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8271" y="2224568"/>
            <a:ext cx="9649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/>
              <a:t>Void </a:t>
            </a:r>
            <a:r>
              <a:rPr lang="zh-CN" altLang="en-US" sz="7200" dirty="0"/>
              <a:t>获取指针的缺点？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952</Words>
  <Application>Microsoft Office PowerPoint</Application>
  <PresentationFormat>自定义</PresentationFormat>
  <Paragraphs>129</Paragraphs>
  <Slides>24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黑体</vt:lpstr>
      <vt:lpstr>微软雅黑</vt:lpstr>
      <vt:lpstr>印品黑体</vt:lpstr>
      <vt:lpstr>字魂73号-江南手书</vt:lpstr>
      <vt:lpstr>Arial</vt:lpstr>
      <vt:lpstr>Calibri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/>
  <cp:revision>653</cp:revision>
  <dcterms:created xsi:type="dcterms:W3CDTF">2024-04-10T13:53:55Z</dcterms:created>
  <dcterms:modified xsi:type="dcterms:W3CDTF">2024-12-09T08:38:22Z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2052-6.5.2.8766</vt:lpwstr>
  </property>
  <property fmtid="{D5CDD505-2E9C-101B-9397-08002B2CF9AE}" pid="3" name="ICV">
    <vt:lpwstr>FCA88555D3D44735BAA1F56722F3B997</vt:lpwstr>
  </property>
</Properties>
</file>