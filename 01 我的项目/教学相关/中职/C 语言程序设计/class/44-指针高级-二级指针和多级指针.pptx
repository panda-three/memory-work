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4" r:id="rId12"/>
    <p:sldId id="3805" r:id="rId13"/>
    <p:sldId id="3806" r:id="rId14"/>
    <p:sldId id="3807" r:id="rId15"/>
    <p:sldId id="3808" r:id="rId16"/>
    <p:sldId id="3712" r:id="rId17"/>
    <p:sldId id="3793" r:id="rId18"/>
    <p:sldId id="3702" r:id="rId19"/>
  </p:sldIdLst>
  <p:sldSz cx="12858750" cy="7232650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2024/12/10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2024/12/10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20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64A3-6652-2BBC-81E4-94656DA0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E4364B-B3AD-6FC8-378D-C192C2D65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9E0910-7BEA-803E-44D7-8B91D9BE3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5FA34E-919D-3D71-3FB6-C60E7A44F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254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1F25-72EE-1D8E-FF6D-47240EF7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4227BC-3370-1318-B51A-4B8120FD0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A0A3BF-79EC-2403-E828-0E0FFF95B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745F35-100B-918A-1176-3E8A8E864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236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A965-519D-CF0E-727B-E9206F62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370629-86B8-C56B-4DE4-458707546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EE6EA5-AFCC-731E-CF18-C497E8C61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28B2B9-5A0A-F181-2400-EDBF07A60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7355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ADAF-0A22-AE86-00EE-BE984524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308863-E817-AEBE-664D-3093B6627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C9DAA-8CB4-2915-8F75-DC0BF4BF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B4255-C112-6BE7-6121-7F277F9AA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884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2553-39AB-BD1B-3B7C-5FC70FA2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F370CA-D945-6753-89B8-ABC35B3AC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A6D3C-8E5E-24BB-F15C-5BAD20B4D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DF8F0F-2C86-7AA9-7DFB-4717A0BB9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8667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9F8C-14AF-1186-1FB2-9D5A8AD0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E25C57-65E6-D727-A4BF-CFA2A7EA7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F999A5-E03F-7008-709E-EC7B9BCFB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CEC2D2-631A-9B96-E99F-0D07F588B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6885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C2C5-5F23-8531-8559-31ECBF53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F3FCB8-8B90-E049-A3B7-914F3919A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7A00FF-5B5C-1F22-E52E-495A2E602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FE9E44-1768-5D3C-CDD7-82D5701F0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81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82B9-32D6-D852-ED1B-A52B0021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B51E5C-630C-3041-927D-3631E8670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61D248-3DFB-3697-28AD-0A7E0D8D2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944A7-EF43-7FDF-DF8E-FE2E19A39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484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99C3-991F-F521-0707-7C76A88B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C72FA-D6B1-B58A-B504-FF25C94A6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D42595-FFEE-D6CD-B7B2-E63CE1A79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03AD74-DD6F-4031-4848-CCA1BB58B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793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2024/12/10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二级指针和多级指针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095867" y="1121066"/>
            <a:ext cx="8667016" cy="459558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5400" dirty="0">
                <a:solidFill>
                  <a:schemeClr val="tx1"/>
                </a:solidFill>
              </a:rPr>
              <a:t>指针有意义的操作</a:t>
            </a:r>
            <a:endParaRPr lang="en-US" altLang="zh-CN" sz="54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5400" dirty="0">
                <a:solidFill>
                  <a:schemeClr val="tx1"/>
                </a:solidFill>
              </a:rPr>
              <a:t>	</a:t>
            </a:r>
            <a:r>
              <a:rPr lang="zh-CN" altLang="en-US" sz="5400" dirty="0">
                <a:solidFill>
                  <a:schemeClr val="tx1"/>
                </a:solidFill>
              </a:rPr>
              <a:t>指针跟</a:t>
            </a:r>
            <a:r>
              <a:rPr lang="zh-CN" altLang="en-US" sz="5400" b="1" dirty="0">
                <a:solidFill>
                  <a:srgbClr val="FF0000"/>
                </a:solidFill>
              </a:rPr>
              <a:t>整数加、减</a:t>
            </a:r>
            <a:r>
              <a:rPr lang="zh-CN" altLang="en-US" sz="5400" dirty="0">
                <a:solidFill>
                  <a:schemeClr val="tx1"/>
                </a:solidFill>
              </a:rPr>
              <a:t>操作</a:t>
            </a:r>
            <a:endParaRPr lang="en-US" altLang="zh-CN" sz="54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5400" dirty="0">
                <a:solidFill>
                  <a:schemeClr val="tx1"/>
                </a:solidFill>
              </a:rPr>
              <a:t>	</a:t>
            </a:r>
            <a:r>
              <a:rPr lang="zh-CN" altLang="en-US" sz="5400" dirty="0">
                <a:solidFill>
                  <a:schemeClr val="tx1"/>
                </a:solidFill>
              </a:rPr>
              <a:t>指针跟指针</a:t>
            </a:r>
            <a:r>
              <a:rPr lang="zh-CN" altLang="en-US" sz="5400" b="1" dirty="0">
                <a:solidFill>
                  <a:srgbClr val="FF0000"/>
                </a:solidFill>
              </a:rPr>
              <a:t>减</a:t>
            </a:r>
            <a:endParaRPr lang="en-US" altLang="zh-CN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2470E-589D-DB4E-B1D6-EAC45A6A409A}"/>
              </a:ext>
            </a:extLst>
          </p:cNvPr>
          <p:cNvSpPr txBox="1"/>
          <p:nvPr/>
        </p:nvSpPr>
        <p:spPr>
          <a:xfrm>
            <a:off x="3333031" y="1744117"/>
            <a:ext cx="583264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400" dirty="0"/>
              <a:t>指针的计算</a:t>
            </a:r>
            <a:endParaRPr lang="en-US" altLang="zh-CN" sz="44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400" b="1" dirty="0">
                <a:solidFill>
                  <a:srgbClr val="FF0000"/>
                </a:solidFill>
              </a:rPr>
              <a:t>二级指针和多级指针</a:t>
            </a:r>
            <a:endParaRPr lang="en-US" altLang="zh-CN" sz="4400" b="1" dirty="0">
              <a:solidFill>
                <a:srgbClr val="FF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400" b="1" dirty="0">
                <a:solidFill>
                  <a:srgbClr val="00B0F0"/>
                </a:solidFill>
              </a:rPr>
              <a:t>数组和指针</a:t>
            </a:r>
            <a:endParaRPr lang="en-US" altLang="zh-CN" sz="4400" b="1" dirty="0">
              <a:solidFill>
                <a:srgbClr val="00B0F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400" dirty="0"/>
              <a:t>函数和指针</a:t>
            </a:r>
            <a:endParaRPr lang="en-US" altLang="zh-CN" sz="4400" dirty="0"/>
          </a:p>
        </p:txBody>
      </p:sp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58686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400" dirty="0"/>
              <a:t>二级指针和多级指针</a:t>
            </a:r>
            <a:endParaRPr lang="en-US" altLang="zh-CN" sz="4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400" dirty="0"/>
              <a:t>数组和指针</a:t>
            </a:r>
            <a:endParaRPr lang="en-US" altLang="zh-CN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二级指针和多级指针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8AD9F1-0796-DD83-42D6-7545BDEBC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60" y="2472774"/>
            <a:ext cx="2543175" cy="1809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C33326-C285-5AF4-7C75-F7DF5D310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840" y="3129231"/>
            <a:ext cx="1752600" cy="1466850"/>
          </a:xfrm>
          <a:prstGeom prst="rect">
            <a:avLst/>
          </a:prstGeom>
        </p:spPr>
      </p:pic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1991D295-EF88-CBCE-B075-3E17DA7965EB}"/>
              </a:ext>
            </a:extLst>
          </p:cNvPr>
          <p:cNvCxnSpPr>
            <a:cxnSpLocks/>
          </p:cNvCxnSpPr>
          <p:nvPr/>
        </p:nvCxnSpPr>
        <p:spPr>
          <a:xfrm rot="10800000">
            <a:off x="3981105" y="2802623"/>
            <a:ext cx="1872206" cy="1029727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C6B19079-E02F-AD25-E391-8340C1E80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988" y="3380594"/>
            <a:ext cx="1019175" cy="31432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C533463-3365-C0E4-53BC-FF87256E4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2695" y="3119136"/>
            <a:ext cx="1698995" cy="1426429"/>
          </a:xfrm>
          <a:prstGeom prst="rect">
            <a:avLst/>
          </a:prstGeom>
        </p:spPr>
      </p:pic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395358B3-2C42-D75C-843B-E3E430AC8C8F}"/>
              </a:ext>
            </a:extLst>
          </p:cNvPr>
          <p:cNvCxnSpPr>
            <a:cxnSpLocks/>
          </p:cNvCxnSpPr>
          <p:nvPr/>
        </p:nvCxnSpPr>
        <p:spPr>
          <a:xfrm rot="10800000">
            <a:off x="7437489" y="3260987"/>
            <a:ext cx="2425207" cy="834218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363CD8FD-1EF6-8310-9E4C-64D0639B32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9193" y="3168650"/>
            <a:ext cx="762000" cy="44767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A385B40-3951-9C64-2F0C-9139BCC138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9590" y="4545565"/>
            <a:ext cx="1562100" cy="189547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4583C85-7098-DCC5-70A2-D150825006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035" y="4659994"/>
            <a:ext cx="9292158" cy="19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二级指针作用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D23E4-596D-714D-2E5F-CCA2D4C90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82" y="1702419"/>
            <a:ext cx="10020753" cy="168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2DDDE-C1A7-CD37-B532-5079BAEB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A704860-B9BF-A35C-7772-F02738E6467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E937B0-EF8B-8D76-6531-C19604C6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892964A-E459-58DD-7DE0-6FA6D44E976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666B98-27CA-B5AC-FFF0-10F1D38B72A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29112ED-E797-DE3F-6BFE-F8486423597C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115DFAC-A78D-761A-6CD7-2E108CF57F1F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二级指针作用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85DCAF-5C1B-625B-D8DB-543712603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815" y="1387394"/>
            <a:ext cx="97059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7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2B10-0BB7-F3EA-4E1B-59FCA46F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D390DBC-D4B7-B862-CCA8-5D161B2AEC7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09B796-758C-0D6E-B1B2-55E7FD278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AFD8A24-502C-B97E-4B5E-5598B0C3F22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5F992-4959-D105-6ADB-FF8E5540DA64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9845E61-BD2B-6430-F901-56C19526FD4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64E6D03-B53E-72EB-7072-333AE9342AD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二级指针作用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EE895A-1C6C-EDD7-A7E5-5AEBD9791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1830387"/>
            <a:ext cx="113919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E5FA-63A0-C729-ED1E-282B7772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0B4345-743A-FD8C-047C-601D80B7D7D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784204-01A4-A266-14CC-10E423B1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9BA9A4A-AB9B-52D9-9967-224AB54D4CB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26565F-4129-1C52-357A-D31F52CD601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409773D-241A-B59A-A733-2AC98E2761CC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48F1098-D67F-AAE9-38A9-BDC0E49B06F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63BC0A-1BE9-E919-7674-DDC741F9D8DF}"/>
              </a:ext>
            </a:extLst>
          </p:cNvPr>
          <p:cNvSpPr txBox="1"/>
          <p:nvPr/>
        </p:nvSpPr>
        <p:spPr>
          <a:xfrm>
            <a:off x="1604839" y="1760450"/>
            <a:ext cx="9793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概念：</a:t>
            </a:r>
            <a:r>
              <a:rPr lang="zh-CN" altLang="en-US" sz="4000" dirty="0"/>
              <a:t>指向数组的指针，叫做</a:t>
            </a:r>
            <a:r>
              <a:rPr lang="zh-CN" altLang="en-US" sz="4000" b="1" dirty="0">
                <a:solidFill>
                  <a:srgbClr val="00B050"/>
                </a:solidFill>
              </a:rPr>
              <a:t>数组指针</a:t>
            </a:r>
            <a:r>
              <a:rPr lang="zh-CN" altLang="en-US" sz="4000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2F677E-21D6-8E67-F665-8B2E58E3FAC6}"/>
              </a:ext>
            </a:extLst>
          </p:cNvPr>
          <p:cNvSpPr txBox="1"/>
          <p:nvPr/>
        </p:nvSpPr>
        <p:spPr>
          <a:xfrm>
            <a:off x="1604839" y="3573210"/>
            <a:ext cx="97930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数组指针作用：</a:t>
            </a:r>
            <a:r>
              <a:rPr lang="zh-CN" altLang="en-US" sz="4000" dirty="0"/>
              <a:t>方便的操作数组中的各种数据。</a:t>
            </a:r>
          </a:p>
        </p:txBody>
      </p:sp>
    </p:spTree>
    <p:extLst>
      <p:ext uri="{BB962C8B-B14F-4D97-AF65-F5344CB8AC3E}">
        <p14:creationId xmlns:p14="http://schemas.microsoft.com/office/powerpoint/2010/main" val="249115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30D7-E713-FFD6-1751-370FC10D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0BF84C-E7B5-0E59-E80E-98D0578036E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08AA16-F326-5DC5-6B60-7E7EE0F3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57859AB-2208-E3BE-7429-94E1762AFB2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A9178D-7FE8-5480-AA06-601AF9C906D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CB5A8C6-F482-776A-214F-6931CAB4A56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CD69544-AD8A-F00A-2D99-ACC122DD92CC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8D9F6D-E943-D0B4-E489-9D618B6FBB3B}"/>
              </a:ext>
            </a:extLst>
          </p:cNvPr>
          <p:cNvSpPr txBox="1"/>
          <p:nvPr/>
        </p:nvSpPr>
        <p:spPr>
          <a:xfrm>
            <a:off x="1532831" y="1744117"/>
            <a:ext cx="10297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比如：拿到数组指针可以方便遍历数组。</a:t>
            </a:r>
            <a:endParaRPr lang="en-US" altLang="zh-CN" sz="3600" b="1" dirty="0"/>
          </a:p>
          <a:p>
            <a:pPr lvl="3"/>
            <a:r>
              <a:rPr lang="zh-CN" altLang="en-US" sz="3600" dirty="0"/>
              <a:t>练习：利用指针遍历数组</a:t>
            </a:r>
            <a:endParaRPr lang="en-US" altLang="zh-CN" sz="3600" dirty="0"/>
          </a:p>
          <a:p>
            <a:pPr lvl="3"/>
            <a:r>
              <a:rPr lang="en-US" altLang="zh-CN" sz="3600" dirty="0"/>
              <a:t>int  </a:t>
            </a:r>
            <a:r>
              <a:rPr lang="en-US" altLang="zh-CN" sz="3600" dirty="0" err="1"/>
              <a:t>arr</a:t>
            </a:r>
            <a:r>
              <a:rPr lang="en-US" altLang="zh-CN" sz="3600" dirty="0"/>
              <a:t>[] = {10,20,30,40,50};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6064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629E-F276-7F43-8DD6-7EB41E9A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F8088F5-0AD7-C34F-DD9D-334182283F1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4B332F-C18C-066A-9A1B-B6604D95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B381C10-CB62-7B31-EB8D-2A6F40DF7B0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260FF6-5B65-9C26-06A7-7257AC4EDAD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BDAAAB5-39DD-6023-75D6-3250B234697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74644A6-8849-5B7D-0953-C373FD613B25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A67876-E56B-9728-3FF7-561A96347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831" y="1425624"/>
            <a:ext cx="8553847" cy="504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4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1BBB-B2EE-471C-2481-EF36F027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41469A3-0D0A-8013-73F4-C9540EC427D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388EFD-A5E7-9A7D-7B44-A1416DE7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AC8EBF9-3E02-7915-F302-02328A1D8CE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1CB041-C81A-0A87-F9DB-6CBF5CF9050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5E6F35E-631D-2395-8DB9-91F5F74F7AD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7BA530A-6C30-112B-E8D2-E650F3CDD92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29CD05-43C5-517C-69AA-592F4615F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815" y="1553319"/>
            <a:ext cx="96107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3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D999-32DF-9AA7-2AFD-A5346718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1877964-39A1-FE9D-7A58-40CD7D1D0BE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AF18E9-9CB6-E4F3-9A2D-3DD9A7FD1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58BDF0-4275-3CC1-FA8E-E6134A164146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23C246-2BBF-6D33-775B-ED0F5AF953F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6CA7881-1584-8378-3C2E-E76FE4E7E714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B34047E-2B79-5511-0AB0-4D2A74210832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215602-95FC-92DE-A66D-82B9D3A69AD9}"/>
              </a:ext>
            </a:extLst>
          </p:cNvPr>
          <p:cNvSpPr txBox="1"/>
          <p:nvPr/>
        </p:nvSpPr>
        <p:spPr>
          <a:xfrm>
            <a:off x="1244799" y="1482570"/>
            <a:ext cx="993710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细节：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        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arr</a:t>
            </a:r>
            <a:r>
              <a:rPr lang="zh-CN" altLang="en-US" sz="2400" dirty="0">
                <a:latin typeface="+mn-ea"/>
                <a:ea typeface="+mn-ea"/>
              </a:rPr>
              <a:t>参与计算的时候，会退化为第一个元素的指针 </a:t>
            </a:r>
            <a:endParaRPr lang="en-US" altLang="zh-CN" sz="2400" dirty="0">
              <a:latin typeface="+mn-ea"/>
              <a:ea typeface="+mn-ea"/>
            </a:endParaRPr>
          </a:p>
          <a:p>
            <a:endParaRPr lang="zh-CN" altLang="en-US" sz="2400" dirty="0">
              <a:latin typeface="+mn-ea"/>
              <a:ea typeface="+mn-ea"/>
            </a:endParaRPr>
          </a:p>
          <a:p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B0F0"/>
                </a:solidFill>
              </a:rPr>
              <a:t> </a:t>
            </a:r>
            <a:r>
              <a:rPr lang="en-US" altLang="zh-CN" sz="2400" dirty="0">
                <a:solidFill>
                  <a:srgbClr val="00B0F0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B0F0"/>
                </a:solidFill>
                <a:latin typeface="+mn-ea"/>
                <a:ea typeface="+mn-ea"/>
              </a:rPr>
              <a:t>、特殊情况：</a:t>
            </a:r>
            <a:endParaRPr lang="en-US" altLang="zh-CN" sz="2400" dirty="0">
              <a:solidFill>
                <a:srgbClr val="00B0F0"/>
              </a:solidFill>
              <a:latin typeface="+mn-ea"/>
              <a:ea typeface="+mn-ea"/>
            </a:endParaRPr>
          </a:p>
          <a:p>
            <a:r>
              <a:rPr lang="en-US" altLang="zh-CN" dirty="0"/>
              <a:t>	</a:t>
            </a:r>
            <a:r>
              <a:rPr lang="en-US" altLang="zh-CN" sz="2800" dirty="0" err="1">
                <a:latin typeface="+mn-ea"/>
                <a:ea typeface="+mn-ea"/>
              </a:rPr>
              <a:t>sizeof</a:t>
            </a:r>
            <a:r>
              <a:rPr lang="zh-CN" altLang="en-US" sz="2800" dirty="0">
                <a:latin typeface="+mn-ea"/>
                <a:ea typeface="+mn-ea"/>
              </a:rPr>
              <a:t>运算的时候不会退化，</a:t>
            </a:r>
            <a:r>
              <a:rPr lang="en-US" altLang="zh-CN" sz="2800" dirty="0" err="1">
                <a:latin typeface="+mn-ea"/>
                <a:ea typeface="+mn-ea"/>
              </a:rPr>
              <a:t>arr</a:t>
            </a:r>
            <a:r>
              <a:rPr lang="zh-CN" altLang="en-US" sz="2800" dirty="0">
                <a:latin typeface="+mn-ea"/>
                <a:ea typeface="+mn-ea"/>
              </a:rPr>
              <a:t>还是整体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2800" dirty="0"/>
              <a:t>	</a:t>
            </a:r>
            <a:r>
              <a:rPr lang="en-US" altLang="zh-CN" sz="2800" dirty="0">
                <a:latin typeface="+mn-ea"/>
                <a:ea typeface="+mn-ea"/>
              </a:rPr>
              <a:t>&amp;</a:t>
            </a:r>
            <a:r>
              <a:rPr lang="en-US" altLang="zh-CN" sz="2800" dirty="0" err="1">
                <a:latin typeface="+mn-ea"/>
                <a:ea typeface="+mn-ea"/>
              </a:rPr>
              <a:t>arr</a:t>
            </a:r>
            <a:r>
              <a:rPr lang="zh-CN" altLang="en-US" sz="2800" dirty="0">
                <a:latin typeface="+mn-ea"/>
                <a:ea typeface="+mn-ea"/>
              </a:rPr>
              <a:t>获取地址的时候，不会退化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7814CEA-0784-D3F1-5039-6F8261BA5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647" y="3093370"/>
            <a:ext cx="3885669" cy="24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7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D803-24FF-818C-3EC1-3ABAE62E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B150A0-D4E2-FD5D-E221-8E8BABFAA5C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38AC6D-2C63-E6C6-4F85-427F06B08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3BD868-095C-CA04-2FFD-A6C07B25B35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917801-9A0C-D7B5-5080-6DB17434C08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68961FF-E52B-6B2B-0063-17E5C3ECC68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31E919-52B0-98F9-5D16-889BA2600F3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F7EC47-5502-C909-242F-1B030F0DC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807" y="1741256"/>
            <a:ext cx="5391150" cy="3076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058982-4D7C-0E93-7D4E-623B54143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463" y="1911724"/>
            <a:ext cx="4147632" cy="10369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E206DF-2ECC-887F-A116-49DC60ED0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3955" y="3791653"/>
            <a:ext cx="648072" cy="9225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B54A64-6C14-4950-85E1-77AA889F9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016" y="3006966"/>
            <a:ext cx="394519" cy="71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0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7498E-6 L 0.07135 -0.004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-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52 -0.00066 L 0.31654 -0.009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95" y="-4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2B65-1543-587E-CEFB-361AD63C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5CED26-250B-9242-58B8-565E78BB08C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3D0811-B452-7DE3-3DE6-9F9E65BA3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8B3B1B7-65D7-9F6D-A9F4-6FF3E4E211D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0391AB-4290-CA69-FD36-F2E05B639D7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BA2B5FD-7700-63A4-96C4-975F2F475B3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D54C5E1-E399-5883-D674-6AB07F36590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数组和指针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74E55C-F32A-D4CE-7F01-F55814D08B98}"/>
              </a:ext>
            </a:extLst>
          </p:cNvPr>
          <p:cNvSpPr txBox="1"/>
          <p:nvPr/>
        </p:nvSpPr>
        <p:spPr>
          <a:xfrm>
            <a:off x="956767" y="1600101"/>
            <a:ext cx="108732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B0F0"/>
                </a:solidFill>
                <a:latin typeface="+mn-ea"/>
                <a:ea typeface="+mn-ea"/>
              </a:rPr>
              <a:t>代码演示：</a:t>
            </a:r>
            <a:endParaRPr lang="en-US" altLang="zh-CN" sz="3200" b="1" dirty="0">
              <a:solidFill>
                <a:srgbClr val="00B0F0"/>
              </a:solidFill>
              <a:latin typeface="+mn-ea"/>
              <a:ea typeface="+mn-ea"/>
            </a:endParaRP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8FCD27-24AD-4B6F-37C0-0B3F81488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90" y="2187042"/>
            <a:ext cx="1027747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3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1672109"/>
            <a:ext cx="5472608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二级指针作用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数组指针的概念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923644" y="1816125"/>
            <a:ext cx="7811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三个作用代码，自己写一遍。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指针就是内存地址。（）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593</Words>
  <Application>Microsoft Office PowerPoint</Application>
  <PresentationFormat>自定义</PresentationFormat>
  <Paragraphs>87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微软雅黑</vt:lpstr>
      <vt:lpstr>印品黑体</vt:lpstr>
      <vt:lpstr>字魂73号-江南手书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2024-12-10T10:36:00Z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