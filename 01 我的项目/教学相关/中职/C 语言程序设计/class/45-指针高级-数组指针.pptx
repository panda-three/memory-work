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3705" r:id="rId2"/>
    <p:sldId id="3706" r:id="rId3"/>
    <p:sldId id="3756" r:id="rId4"/>
    <p:sldId id="3646" r:id="rId5"/>
    <p:sldId id="3798" r:id="rId6"/>
    <p:sldId id="3799" r:id="rId7"/>
    <p:sldId id="3800" r:id="rId8"/>
    <p:sldId id="3801" r:id="rId9"/>
    <p:sldId id="3802" r:id="rId10"/>
    <p:sldId id="3803" r:id="rId11"/>
    <p:sldId id="3804" r:id="rId12"/>
    <p:sldId id="3805" r:id="rId13"/>
    <p:sldId id="3806" r:id="rId14"/>
    <p:sldId id="3807" r:id="rId15"/>
    <p:sldId id="3808" r:id="rId16"/>
    <p:sldId id="3809" r:id="rId17"/>
    <p:sldId id="3810" r:id="rId18"/>
    <p:sldId id="3712" r:id="rId19"/>
    <p:sldId id="3793" r:id="rId20"/>
    <p:sldId id="3702" r:id="rId21"/>
  </p:sldIdLst>
  <p:sldSz cx="12858750" cy="7232650"/>
  <p:notesSz cx="6858000" cy="9144000"/>
  <p:custDataLst>
    <p:tags r:id="rId24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52" userDrawn="1">
          <p15:clr>
            <a:srgbClr val="A4A3A4"/>
          </p15:clr>
        </p15:guide>
        <p15:guide id="3" pos="4075" userDrawn="1">
          <p15:clr>
            <a:srgbClr val="A4A3A4"/>
          </p15:clr>
        </p15:guide>
        <p15:guide id="4" pos="557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7030A0"/>
    <a:srgbClr val="AF4436"/>
    <a:srgbClr val="1542FF"/>
    <a:srgbClr val="FFBF00"/>
    <a:srgbClr val="FFFFFF"/>
    <a:srgbClr val="0C6AC7"/>
    <a:srgbClr val="FFC000"/>
    <a:srgbClr val="066197"/>
    <a:srgbClr val="262626"/>
    <a:srgbClr val="0767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41" autoAdjust="0"/>
    <p:restoredTop sz="96327" autoAdjust="0"/>
  </p:normalViewPr>
  <p:slideViewPr>
    <p:cSldViewPr showGuides="1">
      <p:cViewPr varScale="1">
        <p:scale>
          <a:sx n="90" d="100"/>
          <a:sy n="90" d="100"/>
        </p:scale>
        <p:origin x="341" y="53"/>
      </p:cViewPr>
      <p:guideLst>
        <p:guide orient="horz" pos="218"/>
        <p:guide orient="horz" pos="4152"/>
        <p:guide pos="4075"/>
        <p:guide pos="557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  <a:t>2024/12/11</a:t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  <a:t>‹#›</a:t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  <a:t>2024/12/11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</a:p>
          <a:p>
            <a:pPr lvl="1"/>
            <a:r>
              <a:rPr lang="zh-CN" altLang="en-US" noProof="0" dirty="0"/>
              <a:t>第二级</a:t>
            </a:r>
          </a:p>
          <a:p>
            <a:pPr lvl="2"/>
            <a:r>
              <a:rPr lang="zh-CN" altLang="en-US" noProof="0" dirty="0"/>
              <a:t>第三级</a:t>
            </a:r>
          </a:p>
          <a:p>
            <a:pPr lvl="3"/>
            <a:r>
              <a:rPr lang="zh-CN" altLang="en-US" noProof="0" dirty="0"/>
              <a:t>第四级</a:t>
            </a:r>
          </a:p>
          <a:p>
            <a:pPr lvl="4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4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455C9-E6DB-7378-EAAF-6E3218245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B07359-FBF8-C6E4-8C58-81F6D04D27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DDF344-7F46-EF2C-0493-CBACAE5E67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E994D4-70A6-EB30-CAE9-B4BEF4A38F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796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3D943-D452-6322-29B6-2FB3D4D8D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C6439BB-930A-F13A-ADA9-2F89D7B7E6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B08EEBD-0BB7-E1A7-66F9-9C219F410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968504-1DC8-2EF3-2A45-8C8481657C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1698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056FC-3C3B-EC19-445D-F628A7DEB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2B59D8-0EF6-3B88-9EEA-1ACD004F31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B7EE8B5-3EF0-FEF5-AC69-FC87CB2E1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68F87D-21C7-59F4-D292-A50993BBB0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37664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65C50-AAC5-3EBA-FC5D-5C432B11B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A3551B5-96DD-7941-BBA8-2C9F2399CE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CA2015E-14EC-C172-0CBC-C404AE7601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6C9988-80D7-AAB2-F5D9-FE0296030E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53201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AA3CB-CF09-D8A6-4C44-A013178D7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888A979-D9D4-C939-8B16-029EBBDDC5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90973C-ED67-4649-1EDB-02DFA0406D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892AE8-90A8-615A-6F7A-BB5F9FD52B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47112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F8605-93D1-8196-02D3-61B285301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564A900-910B-1B32-46FC-D4B4530CE0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DF7FFAF-50FF-0481-596C-7D8C8AC750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A737AF-5869-25CC-B0C7-44C8E7D704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81024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528A5-BE4F-4E51-8FF6-A88EA9D2B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F14174D-EF8C-F57E-D690-4753BC705A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94580B-1DA4-083F-4D13-891B061F8E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DAEC6B-056B-C008-D877-DEBD2D92D4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83350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0BE76-A476-D25C-C8FF-A16C8F95A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AE7EEBC-EBAA-7C39-9C00-C4118AC525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DD0C6E1-3904-841B-7EDC-D7A2D05DC0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7849AE-C786-6FEF-F43B-659AA88817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84052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22211-3971-0DFD-459E-1B30EE906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22F807F-E131-6B09-4C03-F05F6B3B19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85C2FC-8C03-52F9-FBCC-E543766E6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6E5C04-F82C-305B-FAFE-C0592AB5FB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167582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A0F1F-3E60-FAEC-53DF-9930EF7EE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AC96727-E05E-66AC-CA70-96E9240B5A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06F2701-F8F0-6433-2C42-23358F4317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D4B44A-C480-B420-1F08-5A2F50BECC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48507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8567C-C45D-63AE-9B67-DC4EF24B1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3987742-367F-B763-9468-41B10915D3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749561C-AF80-0FA9-8C04-D8E28AEEAC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6FA466-5A10-F3B7-C8E1-EEB1F155B0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63953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A8F43-4707-5CB0-686D-3108C90C4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039D83B-3FF6-8B31-2966-AFC689725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E9482E-EDF3-B1BC-24C4-0F970D1BF2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D14CDB-825A-1FC2-ABB1-E89299D0AD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850272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0CF0A-446C-9F8D-E497-417C0BF28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E7F40C1-C2AB-0891-39A2-06C000AFED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75DBC50-DBAC-01D7-3FFF-04B7091AE3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358380-8CB4-4347-4848-194B4745D8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47337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t>18</a:t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t>2024/12/11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t>2024/12/11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t>2024/12/11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  <a:t>2024/12/11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9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指针高级</a:t>
            </a:r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数组指针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301"/>
            <a:ext cx="4968552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葛以伟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2000" b="1" dirty="0">
                <a:solidFill>
                  <a:srgbClr val="FFFFFF"/>
                </a:solidFill>
              </a:rPr>
              <a:t>知识回顾 </a:t>
            </a:r>
            <a:r>
              <a:rPr lang="zh-CN" altLang="en-US" b="1" dirty="0"/>
              <a:t>新课导入  目标及重难点  新授 总结与合作探究  作业  限时检测</a:t>
            </a:r>
          </a:p>
        </p:txBody>
      </p:sp>
      <p:sp>
        <p:nvSpPr>
          <p:cNvPr id="6" name="箭头: 上 5"/>
          <p:cNvSpPr/>
          <p:nvPr/>
        </p:nvSpPr>
        <p:spPr>
          <a:xfrm>
            <a:off x="45271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8984257D-0BD9-E786-C437-0839FFDFEFF2}"/>
              </a:ext>
            </a:extLst>
          </p:cNvPr>
          <p:cNvSpPr>
            <a:spLocks noGrp="1"/>
          </p:cNvSpPr>
          <p:nvPr/>
        </p:nvSpPr>
        <p:spPr>
          <a:xfrm>
            <a:off x="2972991" y="1312069"/>
            <a:ext cx="6480720" cy="3896981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altLang="zh-CN" sz="6600" dirty="0"/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1278EE72-DA65-C554-87A9-0A7834775D4E}"/>
              </a:ext>
            </a:extLst>
          </p:cNvPr>
          <p:cNvSpPr>
            <a:spLocks noGrp="1"/>
          </p:cNvSpPr>
          <p:nvPr/>
        </p:nvSpPr>
        <p:spPr>
          <a:xfrm>
            <a:off x="2612951" y="1910699"/>
            <a:ext cx="7632848" cy="221950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8000" dirty="0">
                <a:solidFill>
                  <a:schemeClr val="tx1"/>
                </a:solidFill>
              </a:rPr>
              <a:t>数组指针的概念</a:t>
            </a:r>
            <a:endParaRPr lang="en-US" altLang="zh-CN" sz="8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chemeClr val="bg1"/>
                </a:solidFill>
              </a:rPr>
              <a:t>新课导入</a:t>
            </a:r>
            <a:r>
              <a:rPr lang="zh-CN" altLang="en-US" sz="2000" b="1" dirty="0"/>
              <a:t>  </a:t>
            </a:r>
            <a:r>
              <a:rPr lang="zh-CN" altLang="en-US" b="1" dirty="0"/>
              <a:t>目标及重难点  新授 总结与合作探究  作业  限时检测</a:t>
            </a:r>
          </a:p>
        </p:txBody>
      </p:sp>
      <p:sp>
        <p:nvSpPr>
          <p:cNvPr id="2" name="箭头: 上 1"/>
          <p:cNvSpPr/>
          <p:nvPr/>
        </p:nvSpPr>
        <p:spPr>
          <a:xfrm>
            <a:off x="1460823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4F2470E-589D-DB4E-B1D6-EAC45A6A409A}"/>
              </a:ext>
            </a:extLst>
          </p:cNvPr>
          <p:cNvSpPr txBox="1"/>
          <p:nvPr/>
        </p:nvSpPr>
        <p:spPr>
          <a:xfrm>
            <a:off x="3333031" y="1744117"/>
            <a:ext cx="737916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u"/>
            </a:pPr>
            <a:r>
              <a:rPr lang="zh-CN" altLang="en-US" sz="4800" dirty="0"/>
              <a:t>指针的计算</a:t>
            </a:r>
            <a:endParaRPr lang="en-US" altLang="zh-CN" sz="4800" dirty="0"/>
          </a:p>
          <a:p>
            <a:pPr marL="571500" indent="-571500">
              <a:buFont typeface="Wingdings" panose="05000000000000000000" pitchFamily="2" charset="2"/>
              <a:buChar char="u"/>
            </a:pPr>
            <a:r>
              <a:rPr lang="zh-CN" altLang="en-US" sz="4800" dirty="0"/>
              <a:t>二级指针和多级指针</a:t>
            </a:r>
            <a:endParaRPr lang="en-US" altLang="zh-CN" sz="4800" dirty="0"/>
          </a:p>
          <a:p>
            <a:pPr marL="571500" indent="-571500">
              <a:buFont typeface="Wingdings" panose="05000000000000000000" pitchFamily="2" charset="2"/>
              <a:buChar char="u"/>
            </a:pPr>
            <a:r>
              <a:rPr lang="zh-CN" altLang="en-US" sz="4800" b="1" dirty="0">
                <a:solidFill>
                  <a:srgbClr val="FF0000"/>
                </a:solidFill>
              </a:rPr>
              <a:t>数据指针</a:t>
            </a:r>
            <a:endParaRPr lang="en-US" altLang="zh-CN" sz="4800" b="1" dirty="0">
              <a:solidFill>
                <a:srgbClr val="FF0000"/>
              </a:solidFill>
            </a:endParaRPr>
          </a:p>
          <a:p>
            <a:pPr marL="571500" indent="-571500">
              <a:buFont typeface="Wingdings" panose="05000000000000000000" pitchFamily="2" charset="2"/>
              <a:buChar char="u"/>
            </a:pPr>
            <a:r>
              <a:rPr lang="zh-CN" altLang="en-US" sz="4800" dirty="0"/>
              <a:t>函数指针</a:t>
            </a:r>
            <a:endParaRPr lang="en-US" altLang="zh-CN" sz="4800" dirty="0"/>
          </a:p>
        </p:txBody>
      </p:sp>
    </p:spTree>
    <p:extLst>
      <p:ext uri="{BB962C8B-B14F-4D97-AF65-F5344CB8AC3E}">
        <p14:creationId xmlns:p14="http://schemas.microsoft.com/office/powerpoint/2010/main" val="3110349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945099" y="2343678"/>
            <a:ext cx="6767094" cy="2063219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索引遍历二维数组</a:t>
            </a:r>
            <a:endParaRPr lang="en-US" altLang="zh-CN" sz="48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指针遍历二维数组</a:t>
            </a:r>
            <a:endParaRPr lang="en-US" altLang="zh-CN" sz="4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5BA2D-7927-49BF-9228-23D8CE5F2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BAE1CBA-FF32-55F0-C86A-94137F4D4447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825AC3E-7AA2-8AE3-A70B-F4CD73FE0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674F572-9DD0-EE4C-DDFB-AB01CD2D68F1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83E7F99-4CB7-A398-DF93-D443C7AA6BAE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5F08F36D-AD04-6B86-27AF-C6108DBABCAD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FCC51A75-6C1F-AE2B-97EA-8BECEC3F4046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二维数组补充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13B43F9-535A-ED63-9DCD-FEDF166771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75" y="2733720"/>
            <a:ext cx="6457069" cy="327200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8100C01-0CC0-409F-F5DA-10AE89668FDE}"/>
              </a:ext>
            </a:extLst>
          </p:cNvPr>
          <p:cNvSpPr txBox="1"/>
          <p:nvPr/>
        </p:nvSpPr>
        <p:spPr>
          <a:xfrm>
            <a:off x="1028775" y="1816125"/>
            <a:ext cx="79928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二维数组的定义补充：</a:t>
            </a:r>
          </a:p>
        </p:txBody>
      </p:sp>
    </p:spTree>
    <p:extLst>
      <p:ext uri="{BB962C8B-B14F-4D97-AF65-F5344CB8AC3E}">
        <p14:creationId xmlns:p14="http://schemas.microsoft.com/office/powerpoint/2010/main" val="2564536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F2E5A-D100-426B-7DB7-5C768A36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E6AA1E2-9503-FB4A-E0D3-7D05325954A6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182C9F5-5278-B526-13B8-62B4450B5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1D7ED8E-8331-4E72-47CD-5385528E6DFC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3CF49B3-F8F8-C61C-8F09-391AD09878F8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24EA636B-BBA5-1B50-15E6-09E93B6F096C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B7A017A7-E18D-D29A-39D1-C58D073E7CE3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二维数组遍历（索引）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758EED3-CED9-7149-AE97-88A172034D97}"/>
              </a:ext>
            </a:extLst>
          </p:cNvPr>
          <p:cNvSpPr txBox="1"/>
          <p:nvPr/>
        </p:nvSpPr>
        <p:spPr>
          <a:xfrm>
            <a:off x="889487" y="1816125"/>
            <a:ext cx="1094048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习题：定义一个</a:t>
            </a:r>
            <a:r>
              <a:rPr lang="en-US" altLang="zh-CN" sz="3600" dirty="0"/>
              <a:t>3</a:t>
            </a:r>
            <a:r>
              <a:rPr lang="zh-CN" altLang="en-US" sz="3600" dirty="0"/>
              <a:t>行</a:t>
            </a:r>
            <a:r>
              <a:rPr lang="en-US" altLang="zh-CN" sz="3600" dirty="0"/>
              <a:t>5</a:t>
            </a:r>
            <a:r>
              <a:rPr lang="zh-CN" altLang="en-US" sz="3600" dirty="0"/>
              <a:t>列的二维数组，并遍历。（之前学过）</a:t>
            </a:r>
            <a:endParaRPr lang="en-US" altLang="zh-CN" sz="3600" dirty="0"/>
          </a:p>
          <a:p>
            <a:r>
              <a:rPr lang="en-US" altLang="zh-CN" sz="3600" dirty="0"/>
              <a:t>int  </a:t>
            </a:r>
            <a:r>
              <a:rPr lang="en-US" altLang="zh-CN" sz="3600" dirty="0" err="1"/>
              <a:t>arr</a:t>
            </a:r>
            <a:r>
              <a:rPr lang="en-US" altLang="zh-CN" sz="3600" dirty="0"/>
              <a:t>[3][5] = {</a:t>
            </a:r>
          </a:p>
          <a:p>
            <a:r>
              <a:rPr lang="en-US" altLang="zh-CN" sz="3600" dirty="0"/>
              <a:t>	{1,2,3,4,5},</a:t>
            </a:r>
          </a:p>
          <a:p>
            <a:r>
              <a:rPr lang="en-US" altLang="zh-CN" sz="3600" dirty="0"/>
              <a:t>	{11,22,33,44,55},</a:t>
            </a:r>
          </a:p>
          <a:p>
            <a:r>
              <a:rPr lang="en-US" altLang="zh-CN" sz="3600" dirty="0"/>
              <a:t>	{111,222,333,444,555}</a:t>
            </a:r>
          </a:p>
          <a:p>
            <a:r>
              <a:rPr lang="en-US" altLang="zh-CN" sz="3600" dirty="0"/>
              <a:t>}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712809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1A37E-292B-34D6-6E9B-4E997C696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213BDF1-3024-BE30-13E8-1BF5EA8D4317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788A0C9-E100-FFCB-AA8A-21A4D2BD0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482279D-9CF1-D598-BC86-B616A6E9E4AC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96A0FB7-4203-7235-D885-5A25CCFE0767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DF4FFA34-FB96-BABD-8A6C-1E7B5E701DC5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C8FA2ED2-B180-5666-20AF-0B2FB5BDF57A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二维数组遍历（索引）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B455A4F-5939-E6B7-5E08-FD38CEE0445F}"/>
              </a:ext>
            </a:extLst>
          </p:cNvPr>
          <p:cNvSpPr txBox="1"/>
          <p:nvPr/>
        </p:nvSpPr>
        <p:spPr>
          <a:xfrm>
            <a:off x="889487" y="1816125"/>
            <a:ext cx="109404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上一题每一列的个数都是固定的，如果每一列的个数不是固定，怎么定义呢，怎么遍历呢？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B363181-F0F2-03B7-E405-429C34081D3F}"/>
              </a:ext>
            </a:extLst>
          </p:cNvPr>
          <p:cNvSpPr txBox="1"/>
          <p:nvPr/>
        </p:nvSpPr>
        <p:spPr>
          <a:xfrm>
            <a:off x="889487" y="3121063"/>
            <a:ext cx="109404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思路：事先把一维数组都定义完毕，再放大一个大的数组中。</a:t>
            </a:r>
          </a:p>
        </p:txBody>
      </p:sp>
    </p:spTree>
    <p:extLst>
      <p:ext uri="{BB962C8B-B14F-4D97-AF65-F5344CB8AC3E}">
        <p14:creationId xmlns:p14="http://schemas.microsoft.com/office/powerpoint/2010/main" val="651216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8B7EC-C932-61C4-1BA4-86842FF2E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04725EC-40BF-2FB9-512D-52BEA2B52165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EE05747-5949-2665-87DB-F41EFB1EC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2701047-1582-73D1-DF2B-95F389F3B1F2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483B7B6-674E-323E-1152-FF76DC9A57B0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0BFE21C2-AF9F-1A0F-0C44-2C1D45DBD057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3D5EB9C4-92CA-0269-011C-9B698D0F6F28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二维数组遍历（索引）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A162199-95E1-A65D-379B-5DEDB2E9E0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487" y="1497632"/>
            <a:ext cx="5107840" cy="145747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22CF1326-A035-0EE9-9A38-3CA99EF742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42" y="3027113"/>
            <a:ext cx="6837222" cy="116527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3CA7653F-4C7F-7183-4CF6-C24669FF53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487" y="4182692"/>
            <a:ext cx="5827920" cy="2659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293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BB7A0-9C50-0A26-D32D-8B94EF63C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25F9DAF-E5C5-1457-C2E1-92399A0146E8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1E64E4D-1E0F-1679-E951-7444D2978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176F9AF-C790-91EE-9069-AE4743104FC9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7ACD7EC-0EEF-C1D5-91E9-B6B93361FA0E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10B19759-A16B-C072-4FE2-4862EA5D9E03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C9631CE9-0020-B902-C4FE-466E7CC186A3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二维数组遍历（索引）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37F6F8C-280F-97A9-4EFD-4578FB18C4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66" y="1600101"/>
            <a:ext cx="5971935" cy="356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77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34155-67E6-AD8A-8298-252747A2F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2907A14-2638-12BD-3E2B-82A49890DC0F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5CF35DE-BEFC-9E21-0ECF-A3A41C17C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A0B47E9-43DF-522B-9CA4-A15FA165CEDE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1449F92-84FD-373D-DE92-2DA127493F91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3D4D0030-2963-F90C-27D2-1FA08AE88DB7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CF32F430-2BC9-D77A-0F27-01A008EFECF1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二维数组遍历（</a:t>
            </a:r>
            <a:r>
              <a:rPr lang="zh-CN" altLang="en-US" sz="2400" b="1" dirty="0">
                <a:solidFill>
                  <a:srgbClr val="00B050"/>
                </a:solidFill>
              </a:rPr>
              <a:t>指针</a:t>
            </a:r>
            <a:r>
              <a:rPr lang="zh-CN" altLang="en-US" sz="2400" b="1" dirty="0">
                <a:solidFill>
                  <a:srgbClr val="FF0000"/>
                </a:solidFill>
              </a:rPr>
              <a:t>）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79938B9-4072-18D6-F12C-7151C4454A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4232" y="2684264"/>
            <a:ext cx="5733030" cy="201218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ABEECCF-E805-1795-81DA-3116676BC9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767" y="2024663"/>
            <a:ext cx="5191125" cy="401955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863F612D-D87B-CFB5-6F86-702D5F292114}"/>
              </a:ext>
            </a:extLst>
          </p:cNvPr>
          <p:cNvSpPr txBox="1"/>
          <p:nvPr/>
        </p:nvSpPr>
        <p:spPr>
          <a:xfrm>
            <a:off x="1028775" y="1516424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第一种二维数组：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AE3F009-F057-35FD-E2E0-EE6D53ADCB95}"/>
              </a:ext>
            </a:extLst>
          </p:cNvPr>
          <p:cNvSpPr txBox="1"/>
          <p:nvPr/>
        </p:nvSpPr>
        <p:spPr>
          <a:xfrm>
            <a:off x="6573391" y="1888133"/>
            <a:ext cx="5616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如何获取二维数组的指针（地址）呢？</a:t>
            </a:r>
          </a:p>
        </p:txBody>
      </p:sp>
    </p:spTree>
    <p:extLst>
      <p:ext uri="{BB962C8B-B14F-4D97-AF65-F5344CB8AC3E}">
        <p14:creationId xmlns:p14="http://schemas.microsoft.com/office/powerpoint/2010/main" val="2567283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1E48E-2C0B-AC58-EC7C-83383CCEC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813A6A6-D8CC-93E1-B9D6-9E137E2CE6CB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5AE1EB1-F8E8-E6DB-A939-84AAFFB59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9AC5091-9E0D-8C6D-8C8C-8D8AEA9CDDAC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0E94762-2F75-D9A6-9946-C933B03A1513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129A8D97-050D-8251-6BB8-2727FEBA6E76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73701820-75AD-DB71-7B46-06158F0A60A7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二维数组遍历（</a:t>
            </a:r>
            <a:r>
              <a:rPr lang="zh-CN" altLang="en-US" sz="2400" b="1" dirty="0">
                <a:solidFill>
                  <a:srgbClr val="00B050"/>
                </a:solidFill>
              </a:rPr>
              <a:t>指针</a:t>
            </a:r>
            <a:r>
              <a:rPr lang="zh-CN" altLang="en-US" sz="2400" b="1" dirty="0">
                <a:solidFill>
                  <a:srgbClr val="FF0000"/>
                </a:solidFill>
              </a:rPr>
              <a:t>）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1C4D87F-C658-6F60-C491-ECFC95B810F8}"/>
              </a:ext>
            </a:extLst>
          </p:cNvPr>
          <p:cNvSpPr txBox="1"/>
          <p:nvPr/>
        </p:nvSpPr>
        <p:spPr>
          <a:xfrm>
            <a:off x="1028775" y="1516424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第一种二维数组：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E4F5D5F-D87D-196B-C597-50BD6DB613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103" y="2131916"/>
            <a:ext cx="5449936" cy="3415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006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96560-00A6-741B-DC4B-1EAE6D3B8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5816CF0-01FD-EC61-5382-0D7BA15ACE5F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3E262EC-A925-EC4A-0391-7F1656CA9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3E022CD-57BB-ED38-6F9C-F15730702977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541106E-A8E6-7556-60AA-CC4430D1FF14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CBB5F945-B6B0-10AA-9EDF-7243FF645033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1ABEF7C9-1303-AE2B-C85C-1025C69C3032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二维数组遍历（</a:t>
            </a:r>
            <a:r>
              <a:rPr lang="zh-CN" altLang="en-US" sz="2400" b="1" dirty="0">
                <a:solidFill>
                  <a:srgbClr val="00B050"/>
                </a:solidFill>
              </a:rPr>
              <a:t>指针</a:t>
            </a:r>
            <a:r>
              <a:rPr lang="zh-CN" altLang="en-US" sz="2400" b="1" dirty="0">
                <a:solidFill>
                  <a:srgbClr val="FF0000"/>
                </a:solidFill>
              </a:rPr>
              <a:t>）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3F00314-AE6E-2ED4-B08B-E6CE4B854F62}"/>
              </a:ext>
            </a:extLst>
          </p:cNvPr>
          <p:cNvSpPr txBox="1"/>
          <p:nvPr/>
        </p:nvSpPr>
        <p:spPr>
          <a:xfrm>
            <a:off x="1028775" y="1516424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第一种二维数组：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C45CE5CD-92C8-29B0-FAA3-2CFF4465DA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657" y="2233382"/>
            <a:ext cx="9466501" cy="2751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092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ED022-307C-ABA3-06C4-147BD17FF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B4265BB-E1A5-F9AB-09F4-C0F6EE0D6796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D20B39F-A913-DDDE-A23A-AB24467A9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7B3225D-DEB6-29E9-3380-C60824FC5DD0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0DFEDBA-264E-BEBD-70BF-27FF5AB4C511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B1813DB4-3875-32A5-DD51-3A7DD3D571AB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二维数组遍历（</a:t>
            </a:r>
            <a:r>
              <a:rPr lang="zh-CN" altLang="en-US" sz="2400" b="1" dirty="0">
                <a:solidFill>
                  <a:srgbClr val="00B050"/>
                </a:solidFill>
              </a:rPr>
              <a:t>指针</a:t>
            </a:r>
            <a:r>
              <a:rPr lang="zh-CN" altLang="en-US" sz="2400" b="1" dirty="0">
                <a:solidFill>
                  <a:srgbClr val="FF0000"/>
                </a:solidFill>
              </a:rPr>
              <a:t>）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5963CFD-B386-6579-BC6A-D384E7C7CADC}"/>
              </a:ext>
            </a:extLst>
          </p:cNvPr>
          <p:cNvSpPr txBox="1"/>
          <p:nvPr/>
        </p:nvSpPr>
        <p:spPr>
          <a:xfrm>
            <a:off x="1028775" y="1516424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第一种二维数组：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7FD3E29-2DAA-7F3B-CECE-DBDA1091E5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266" y="2083036"/>
            <a:ext cx="6572049" cy="4701641"/>
          </a:xfrm>
          <a:prstGeom prst="rect">
            <a:avLst/>
          </a:prstGeom>
        </p:spPr>
      </p:pic>
      <p:sp>
        <p:nvSpPr>
          <p:cNvPr id="10" name="箭头: 上 9">
            <a:extLst>
              <a:ext uri="{FF2B5EF4-FFF2-40B4-BE49-F238E27FC236}">
                <a16:creationId xmlns:a16="http://schemas.microsoft.com/office/drawing/2014/main" id="{48CC26ED-00BF-1908-6881-A5C8D479BEC6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7160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09AA8-00CC-7AF2-33BD-C3CA3B165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FD6301C-0E87-F313-446F-0F732EBA7478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A2EDE2C-E0DA-7168-BAF2-E0ED938BE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AA1181D-EFF8-E298-B1CD-D80C8BC6700A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ABF0FFE-AFA7-E187-3674-D34ADF34038E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934A23A6-1037-9117-4746-805E2DB1A957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二维数组遍历（</a:t>
            </a:r>
            <a:r>
              <a:rPr lang="zh-CN" altLang="en-US" sz="2400" b="1" dirty="0">
                <a:solidFill>
                  <a:srgbClr val="00B050"/>
                </a:solidFill>
              </a:rPr>
              <a:t>指针</a:t>
            </a:r>
            <a:r>
              <a:rPr lang="zh-CN" altLang="en-US" sz="2400" b="1" dirty="0">
                <a:solidFill>
                  <a:srgbClr val="FF0000"/>
                </a:solidFill>
              </a:rPr>
              <a:t>）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032ABD6-FD02-5ACE-48A2-A84089A8E75B}"/>
              </a:ext>
            </a:extLst>
          </p:cNvPr>
          <p:cNvSpPr txBox="1"/>
          <p:nvPr/>
        </p:nvSpPr>
        <p:spPr>
          <a:xfrm>
            <a:off x="1028775" y="1516424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</a:t>
            </a:r>
            <a:r>
              <a:rPr lang="zh-CN" altLang="en-US" sz="28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种二维数组：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CFAA845D-288C-E721-B92E-CEADD554C180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78E23CD-A666-2C0A-946F-BCFB7E37EA2C}"/>
              </a:ext>
            </a:extLst>
          </p:cNvPr>
          <p:cNvSpPr txBox="1"/>
          <p:nvPr/>
        </p:nvSpPr>
        <p:spPr>
          <a:xfrm>
            <a:off x="5202100" y="1466986"/>
            <a:ext cx="3017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怎么遍历呢？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3C720C5-E882-F73C-39F5-FDAB75BB7D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2322" y="5580335"/>
            <a:ext cx="4333875" cy="127635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2C25B57-C69D-6757-9C21-ADB1147B38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9615" y="4271525"/>
            <a:ext cx="514350" cy="43815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8C312E17-CDEC-0073-AB56-AA549E4BE4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593" y="2169533"/>
            <a:ext cx="9957767" cy="3456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082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12CA8-5E7F-D460-37B3-5BBD2058B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4CE3C5B-D8E4-56C3-455F-96EDB882F3F7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040A523-AE97-9DDC-E1AB-4823898CD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5D9D30B-CCA5-337D-546D-691A09FC41F8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E7A08C5-C1DE-F155-215F-E3E9E5F58A59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65EE1266-6CE0-CB60-2FAD-BC152943F1C8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二维数组遍历（</a:t>
            </a:r>
            <a:r>
              <a:rPr lang="zh-CN" altLang="en-US" sz="2400" b="1" dirty="0">
                <a:solidFill>
                  <a:srgbClr val="00B050"/>
                </a:solidFill>
              </a:rPr>
              <a:t>指针</a:t>
            </a:r>
            <a:r>
              <a:rPr lang="zh-CN" altLang="en-US" sz="2400" b="1" dirty="0">
                <a:solidFill>
                  <a:srgbClr val="FF0000"/>
                </a:solidFill>
              </a:rPr>
              <a:t>）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D5AE8F8-DF01-2AD5-FC6A-6FE0D2D1E09B}"/>
              </a:ext>
            </a:extLst>
          </p:cNvPr>
          <p:cNvSpPr txBox="1"/>
          <p:nvPr/>
        </p:nvSpPr>
        <p:spPr>
          <a:xfrm>
            <a:off x="1028775" y="1516424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</a:t>
            </a:r>
            <a:r>
              <a:rPr lang="zh-CN" altLang="en-US" sz="28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种二维数组：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2F7F6D6E-1B7B-BC69-0916-32F6E9A5700D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196630E-72B6-BF46-045E-1589A557F4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75" y="2069669"/>
            <a:ext cx="6732153" cy="241075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FFEAF02-36BD-CD8F-DA3B-096CB713D6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023" y="4610138"/>
            <a:ext cx="2613048" cy="1013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798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83967-A7E8-81C1-F8E5-DBADB5732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57EB885-6C94-C03E-7517-91EBB13E0F7D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6C3E1E7-9F86-A5E2-17D7-4FCD9B2A4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E2F4F2B-DEF0-5524-2CE2-EA6A42441F63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FC0FBBD-06E1-7904-41B7-56D8CB4E5F7C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43C6517B-DF05-566D-749E-DA32BE0E9E65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二维数组遍历（</a:t>
            </a:r>
            <a:r>
              <a:rPr lang="zh-CN" altLang="en-US" sz="2400" b="1" dirty="0">
                <a:solidFill>
                  <a:srgbClr val="00B050"/>
                </a:solidFill>
              </a:rPr>
              <a:t>指针</a:t>
            </a:r>
            <a:r>
              <a:rPr lang="zh-CN" altLang="en-US" sz="2400" b="1" dirty="0">
                <a:solidFill>
                  <a:srgbClr val="FF0000"/>
                </a:solidFill>
              </a:rPr>
              <a:t>）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46B855E-98BB-B1C5-9669-696FD8134393}"/>
              </a:ext>
            </a:extLst>
          </p:cNvPr>
          <p:cNvSpPr txBox="1"/>
          <p:nvPr/>
        </p:nvSpPr>
        <p:spPr>
          <a:xfrm>
            <a:off x="1028775" y="1516424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</a:t>
            </a:r>
            <a:r>
              <a:rPr lang="zh-CN" altLang="en-US" sz="28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种二维数组：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63EBB67E-99D8-08DC-51D4-0983C57EFE80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30CEA75-9163-C43D-33AF-83D01F3CA8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542" y="2130444"/>
            <a:ext cx="4674605" cy="394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608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E7436-B1F4-0707-F2E2-C470F066C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0A4E91C-F044-3853-9D2F-22FDCDD7D963}"/>
              </a:ext>
            </a:extLst>
          </p:cNvPr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DCB190D-ECD5-7F01-8A30-27B2E1E1C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C17EA82-752A-8B06-71E4-7F97032B7F80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D678471-D25A-1FC6-9806-35F4A121E8B9}"/>
              </a:ext>
            </a:extLst>
          </p:cNvPr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E933EDDB-EA98-27C8-8DED-B348A7291ECD}"/>
              </a:ext>
            </a:extLst>
          </p:cNvPr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细节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数组指针和指针数组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25A10D41-50CF-3F3C-A8BD-247DF1AAB669}"/>
              </a:ext>
            </a:extLst>
          </p:cNvPr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70E54DC-FBFD-4F2F-E37F-227E2ADB0F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766" y="1524999"/>
            <a:ext cx="10801409" cy="497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01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1" name="文本占位符 2"/>
          <p:cNvSpPr>
            <a:spLocks noGrp="1"/>
          </p:cNvSpPr>
          <p:nvPr/>
        </p:nvSpPr>
        <p:spPr>
          <a:xfrm>
            <a:off x="3837087" y="1672109"/>
            <a:ext cx="5472608" cy="381642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索引遍历二维数组</a:t>
            </a:r>
            <a:endParaRPr lang="en-US" altLang="zh-CN" sz="48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指针遍历二维数组</a:t>
            </a:r>
            <a:endParaRPr lang="en-US" altLang="zh-CN" sz="4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B0955-F7CC-017D-8847-7F12828A7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E642C5D-0E11-77B0-5686-30946C018A5D}"/>
              </a:ext>
            </a:extLst>
          </p:cNvPr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7725C71-6E8C-D2A1-CB3B-54A17D874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55E6205-40B3-9832-5E50-848BA4CB6115}"/>
              </a:ext>
            </a:extLst>
          </p:cNvPr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80447C1-A1E3-8A97-CEBF-720766CA1809}"/>
              </a:ext>
            </a:extLst>
          </p:cNvPr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</a:p>
        </p:txBody>
      </p:sp>
      <p:sp>
        <p:nvSpPr>
          <p:cNvPr id="9" name="箭头: 上 8">
            <a:extLst>
              <a:ext uri="{FF2B5EF4-FFF2-40B4-BE49-F238E27FC236}">
                <a16:creationId xmlns:a16="http://schemas.microsoft.com/office/drawing/2014/main" id="{00B740DE-6B40-9680-D07F-35D5F0E1AC83}"/>
              </a:ext>
            </a:extLst>
          </p:cNvPr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A9DD1F-0E30-8D0D-22D5-A8D874904DC4}"/>
              </a:ext>
            </a:extLst>
          </p:cNvPr>
          <p:cNvSpPr txBox="1"/>
          <p:nvPr/>
        </p:nvSpPr>
        <p:spPr>
          <a:xfrm>
            <a:off x="2756967" y="2081495"/>
            <a:ext cx="78112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/>
              <a:t>课堂代码，自己写一遍。</a:t>
            </a:r>
            <a:endParaRPr lang="en-US" altLang="zh-CN" sz="5400" dirty="0"/>
          </a:p>
        </p:txBody>
      </p:sp>
    </p:spTree>
    <p:extLst>
      <p:ext uri="{BB962C8B-B14F-4D97-AF65-F5344CB8AC3E}">
        <p14:creationId xmlns:p14="http://schemas.microsoft.com/office/powerpoint/2010/main" val="59786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98271" y="2224568"/>
            <a:ext cx="96490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/>
              <a:t>指针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712</Words>
  <Application>Microsoft Office PowerPoint</Application>
  <PresentationFormat>自定义</PresentationFormat>
  <Paragraphs>98</Paragraphs>
  <Slides>20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黑体</vt:lpstr>
      <vt:lpstr>微软雅黑</vt:lpstr>
      <vt:lpstr>印品黑体</vt:lpstr>
      <vt:lpstr>字魂73号-江南手书</vt:lpstr>
      <vt:lpstr>Arial</vt:lpstr>
      <vt:lpstr>Calibri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/>
  <cp:revision>653</cp:revision>
  <dcterms:created xsi:type="dcterms:W3CDTF">2024-04-10T13:53:55Z</dcterms:created>
  <dcterms:modified xsi:type="dcterms:W3CDTF">2024-12-11T02:47:06Z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2052-6.5.2.8766</vt:lpwstr>
  </property>
  <property fmtid="{D5CDD505-2E9C-101B-9397-08002B2CF9AE}" pid="3" name="ICV">
    <vt:lpwstr>FCA88555D3D44735BAA1F56722F3B997</vt:lpwstr>
  </property>
</Properties>
</file>