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705" r:id="rId2"/>
    <p:sldId id="3706" r:id="rId3"/>
    <p:sldId id="3756" r:id="rId4"/>
    <p:sldId id="3646" r:id="rId5"/>
    <p:sldId id="3798" r:id="rId6"/>
    <p:sldId id="3799" r:id="rId7"/>
    <p:sldId id="3800" r:id="rId8"/>
    <p:sldId id="3801" r:id="rId9"/>
    <p:sldId id="3802" r:id="rId10"/>
    <p:sldId id="3803" r:id="rId11"/>
    <p:sldId id="3804" r:id="rId12"/>
    <p:sldId id="3805" r:id="rId13"/>
    <p:sldId id="3712" r:id="rId14"/>
    <p:sldId id="3793" r:id="rId15"/>
    <p:sldId id="3702" r:id="rId16"/>
  </p:sldIdLst>
  <p:sldSz cx="12858750" cy="7232650"/>
  <p:notesSz cx="6858000" cy="9144000"/>
  <p:custDataLst>
    <p:tags r:id="rId1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2024/12/12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2024/12/12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29C2-49A8-BFD0-57CD-F105EDAD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B6CFFF-3201-C885-88B3-E5A8DEC45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8CDF9C-695D-B572-9F46-D9BD9F04B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FDF786-0218-3BE1-3CE8-07BA27AC8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914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BAADB-57D3-0B7B-CC76-40B9E266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B68186-4462-8016-34A8-9E135FC86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D9020B-E57F-3D44-8F43-068C296B5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BFF724-7D5D-761A-9EC3-11F600BD2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0035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ECFE-ED68-F91D-08D1-E734385B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33E94F-7D3F-D012-556D-9D2A330E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3D42A1-5223-2467-76DE-1C94AB938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64E646-677B-D6CB-C99C-378FD259C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8630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91F8-2C4C-B936-CCEB-074211B9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ACE685-8BE8-51DC-59A6-5B36977C7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3E0B98-49B0-362E-55C4-5AFD0757D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5CBF2-DD45-950F-226F-2021F8215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7619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6F846-9B90-8183-5DBB-8140515D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900FE0-E3AA-F5B7-316F-DF30CF571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BAEAD-0ADC-4649-31C6-622D64ED2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5B7065-9B5F-EE83-B533-9838153F5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367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E0F0-EB9A-E0CF-4B09-D428488B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97D050-B949-4E8F-E06A-2EDCB9C0B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E4AE5E-78AB-19F6-34D0-EBD010C6B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2EBFC-0AFE-186A-9941-2F59A2DA8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3765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70A5B-CEA3-B964-E0A2-F1CA7FD4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3B9A8-B438-A179-A224-A67B752CE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FC2321-D324-8763-30CD-391A44E18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3328F-B8F8-39F2-D24A-E98EC9780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4579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2024/12/12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2024/12/12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指针高级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函数指针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索引遍历二维数组</a:t>
            </a:r>
            <a:endParaRPr lang="en-US" altLang="zh-CN" sz="6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指针遍历二维数组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2470E-589D-DB4E-B1D6-EAC45A6A409A}"/>
              </a:ext>
            </a:extLst>
          </p:cNvPr>
          <p:cNvSpPr txBox="1"/>
          <p:nvPr/>
        </p:nvSpPr>
        <p:spPr>
          <a:xfrm>
            <a:off x="3333031" y="1744117"/>
            <a:ext cx="7560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5400" dirty="0"/>
              <a:t>指针的计算</a:t>
            </a:r>
            <a:endParaRPr lang="en-US" altLang="zh-CN" sz="5400" dirty="0"/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5400" dirty="0"/>
              <a:t>二级指针和多级指针</a:t>
            </a:r>
            <a:endParaRPr lang="en-US" altLang="zh-CN" sz="5400" dirty="0"/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5400" dirty="0"/>
              <a:t>数据指针</a:t>
            </a:r>
            <a:endParaRPr lang="en-US" altLang="zh-CN" sz="5400" dirty="0"/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5400" b="1" dirty="0">
                <a:solidFill>
                  <a:srgbClr val="FF0000"/>
                </a:solidFill>
              </a:rPr>
              <a:t>函数指针</a:t>
            </a:r>
            <a:endParaRPr lang="en-US" altLang="zh-CN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34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400" dirty="0"/>
              <a:t>定义及使用</a:t>
            </a:r>
            <a:endParaRPr lang="en-US" altLang="zh-CN" sz="4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400" dirty="0"/>
              <a:t>习题</a:t>
            </a:r>
            <a:endParaRPr lang="en-US" altLang="zh-CN" sz="4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400" dirty="0"/>
              <a:t>注意点</a:t>
            </a:r>
            <a:endParaRPr lang="en-US" altLang="zh-CN"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函数指针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28F376-6F6D-C511-6E44-8E51D3DE043C}"/>
              </a:ext>
            </a:extLst>
          </p:cNvPr>
          <p:cNvSpPr txBox="1"/>
          <p:nvPr/>
        </p:nvSpPr>
        <p:spPr>
          <a:xfrm>
            <a:off x="1117782" y="1588609"/>
            <a:ext cx="107121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格式：返回值类型</a:t>
            </a:r>
            <a:r>
              <a:rPr lang="en-US" altLang="zh-CN" sz="4000" dirty="0">
                <a:latin typeface="+mn-ea"/>
                <a:ea typeface="+mn-ea"/>
              </a:rPr>
              <a:t>(*</a:t>
            </a:r>
            <a:r>
              <a:rPr lang="zh-CN" altLang="en-US" sz="4000" dirty="0">
                <a:latin typeface="+mn-ea"/>
                <a:ea typeface="+mn-ea"/>
              </a:rPr>
              <a:t>指针名</a:t>
            </a:r>
            <a:r>
              <a:rPr lang="en-US" altLang="zh-CN" sz="4000" dirty="0">
                <a:latin typeface="+mn-ea"/>
                <a:ea typeface="+mn-ea"/>
              </a:rPr>
              <a:t>)(</a:t>
            </a:r>
            <a:r>
              <a:rPr lang="zh-CN" altLang="en-US" sz="4000" dirty="0">
                <a:latin typeface="+mn-ea"/>
                <a:ea typeface="+mn-ea"/>
              </a:rPr>
              <a:t>形参列表</a:t>
            </a:r>
            <a:r>
              <a:rPr lang="en-US" altLang="zh-CN" sz="4000" dirty="0">
                <a:latin typeface="+mn-ea"/>
                <a:ea typeface="+mn-ea"/>
              </a:rPr>
              <a:t>)</a:t>
            </a:r>
          </a:p>
          <a:p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作用</a:t>
            </a:r>
            <a:r>
              <a:rPr lang="zh-CN" altLang="en-US" sz="4000" dirty="0">
                <a:latin typeface="+mn-ea"/>
                <a:ea typeface="+mn-ea"/>
              </a:rPr>
              <a:t>：利用函数指针，可以动态的调用函数</a:t>
            </a:r>
          </a:p>
        </p:txBody>
      </p:sp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5E96D-F2E9-4F9D-7A7E-6D0E797C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849B4C-07E1-032C-80FD-A7708E541BE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14AFE8-12BE-EE55-4E14-B431B5B06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B77DA0-C596-7431-9328-9DC005F3761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467647-2406-13FD-83EB-7D7D1F9E88C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F58B1C8-86FE-FBEF-85F6-06CDC275248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011FC91-8B55-84A3-625E-695BE5B34B9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函数指针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AA3556-3BE6-6E8C-819C-A801F014F441}"/>
              </a:ext>
            </a:extLst>
          </p:cNvPr>
          <p:cNvSpPr txBox="1"/>
          <p:nvPr/>
        </p:nvSpPr>
        <p:spPr>
          <a:xfrm>
            <a:off x="1117782" y="1588609"/>
            <a:ext cx="1071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代码演示：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216809-C15E-16B6-AC59-9576DC4C6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9" y="2337102"/>
            <a:ext cx="64198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1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1B16-CF3F-EB4A-4D5E-906AF6D0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7B4C3D-8A8A-DCF5-03EF-F67C9F554E71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5047B3E-ECAF-79B6-9AC1-135E9A9B3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1C89D8B-F89B-6384-CC03-1384DEB108B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EA6348-FD76-CC76-0ADE-2A20B6163DB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B1992EB7-2AC7-5BE4-BE4C-A39CE44DE1F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1970762-3804-2C43-37BA-9DC83FDF6EA7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函数指针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0A9728-B890-E8B8-49FE-BC143E67ADF2}"/>
              </a:ext>
            </a:extLst>
          </p:cNvPr>
          <p:cNvSpPr txBox="1"/>
          <p:nvPr/>
        </p:nvSpPr>
        <p:spPr>
          <a:xfrm>
            <a:off x="1117782" y="1588609"/>
            <a:ext cx="1071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代码演示：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CC72D8-A1AD-DBB9-EDE4-865FCEF2C18B}"/>
              </a:ext>
            </a:extLst>
          </p:cNvPr>
          <p:cNvSpPr txBox="1"/>
          <p:nvPr/>
        </p:nvSpPr>
        <p:spPr>
          <a:xfrm>
            <a:off x="7502654" y="265701"/>
            <a:ext cx="5328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技巧：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、直接把声明的部分复制过来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、把函数名字去掉，写（）里面</a:t>
            </a:r>
            <a:r>
              <a:rPr lang="en-US" altLang="zh-CN" dirty="0">
                <a:latin typeface="+mn-ea"/>
                <a:ea typeface="+mn-ea"/>
              </a:rPr>
              <a:t>*</a:t>
            </a:r>
            <a:r>
              <a:rPr lang="zh-CN" altLang="en-US" dirty="0">
                <a:latin typeface="+mn-ea"/>
                <a:ea typeface="+mn-ea"/>
              </a:rPr>
              <a:t>指针名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>
                <a:latin typeface="+mn-ea"/>
                <a:ea typeface="+mn-ea"/>
              </a:rPr>
              <a:t>、然后写</a:t>
            </a:r>
            <a:r>
              <a:rPr lang="en-US" altLang="zh-CN" dirty="0">
                <a:latin typeface="+mn-ea"/>
                <a:ea typeface="+mn-ea"/>
              </a:rPr>
              <a:t>=</a:t>
            </a:r>
            <a:r>
              <a:rPr lang="zh-CN" altLang="en-US" dirty="0">
                <a:latin typeface="+mn-ea"/>
                <a:ea typeface="+mn-ea"/>
              </a:rPr>
              <a:t>函数名。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4</a:t>
            </a:r>
            <a:r>
              <a:rPr lang="zh-CN" altLang="en-US" dirty="0">
                <a:latin typeface="+mn-ea"/>
                <a:ea typeface="+mn-ea"/>
              </a:rPr>
              <a:t>、如果函数有参数，把参数类型留着，其他去掉。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F1858B-6C29-7B64-BA74-583EC6A0F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290" y="2288462"/>
            <a:ext cx="6000750" cy="351472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29CDEF2-0E28-CD9B-09C0-72A5CB580F21}"/>
              </a:ext>
            </a:extLst>
          </p:cNvPr>
          <p:cNvCxnSpPr>
            <a:cxnSpLocks/>
          </p:cNvCxnSpPr>
          <p:nvPr/>
        </p:nvCxnSpPr>
        <p:spPr>
          <a:xfrm flipV="1">
            <a:off x="5925319" y="782782"/>
            <a:ext cx="1577335" cy="213033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1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E0B4-C07C-60B9-BA38-44D161E64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C6FDABC-13F6-1483-8D91-62D6F153A94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EB27D3-9C95-25E9-5475-AADA2C366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CF7100D-124B-C51F-22FB-1C61D58CF8B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8BE526-A9C6-C042-C2A5-4C22AFC090A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D367108-AE1D-9740-A25E-74AECBE46E2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4C4C287-A14A-2BD0-27C5-D04ACC116267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92B127-5E69-F62D-B0AF-16DADF019100}"/>
              </a:ext>
            </a:extLst>
          </p:cNvPr>
          <p:cNvSpPr txBox="1"/>
          <p:nvPr/>
        </p:nvSpPr>
        <p:spPr>
          <a:xfrm>
            <a:off x="1244800" y="1434342"/>
            <a:ext cx="5760640" cy="49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函数指针的练习</a:t>
            </a:r>
            <a:endParaRPr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endParaRPr lang="en-US" altLang="zh-CN" sz="11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定义加、减、乘、除、四个函数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用户键盘录入三个数字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前两个表示参与计算的数字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第三个数字表示调用的函数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：加法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：减法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：乘法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：除法</a:t>
            </a:r>
          </a:p>
        </p:txBody>
      </p:sp>
    </p:spTree>
    <p:extLst>
      <p:ext uri="{BB962C8B-B14F-4D97-AF65-F5344CB8AC3E}">
        <p14:creationId xmlns:p14="http://schemas.microsoft.com/office/powerpoint/2010/main" val="382508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3C15-271A-3772-6330-30D44F10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8F29BD-7C63-254E-5F37-244C8B70540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7067EB-53EF-669F-6BD1-3A843650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DD6F3B0-3DDD-6A34-0A2C-066B47CDDFE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E922A1-67F1-E00A-C5D4-78B46C6DEEF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7ECC50B-A7D2-4812-2DAD-E868FF7A09F2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AE47081-B84F-ACCB-7560-2C538F70958C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242AA3-8B59-C8DC-5A11-73111A76E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807" y="2176165"/>
            <a:ext cx="5386214" cy="42918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5421B82-AB22-F85A-B24B-A3A98591BB8E}"/>
              </a:ext>
            </a:extLst>
          </p:cNvPr>
          <p:cNvSpPr txBox="1"/>
          <p:nvPr/>
        </p:nvSpPr>
        <p:spPr>
          <a:xfrm>
            <a:off x="850730" y="1552353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定义函数：</a:t>
            </a:r>
          </a:p>
        </p:txBody>
      </p:sp>
    </p:spTree>
    <p:extLst>
      <p:ext uri="{BB962C8B-B14F-4D97-AF65-F5344CB8AC3E}">
        <p14:creationId xmlns:p14="http://schemas.microsoft.com/office/powerpoint/2010/main" val="79137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A420-ABE2-A500-66D6-39AD11B8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BD6705-C55C-A97B-24B9-8DAF289AA8D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A3AE42-1593-BEC1-8DBD-95E3F4A06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9C01FA1-1ACA-1471-7C53-19400C441D1F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264190-7073-7F97-508B-A5476928E1C3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E5C0A19-5FFD-7C60-1C5B-3C7F1B28AA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19C11BA-1880-CC2F-9C27-82987B817735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630135-DF50-EB81-A7E2-4C05D463CABE}"/>
              </a:ext>
            </a:extLst>
          </p:cNvPr>
          <p:cNvSpPr txBox="1"/>
          <p:nvPr/>
        </p:nvSpPr>
        <p:spPr>
          <a:xfrm>
            <a:off x="850730" y="1552353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功能实现：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83BC61-0B6B-C8D3-36E1-575B975F7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30" y="2189249"/>
            <a:ext cx="110680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4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B5CDA-D5E0-3B33-9560-3FAD599A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D84495-76CE-8087-2650-904B82575331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EDB4C7-9F17-2D06-0F38-91A2431A1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26A16A-DACD-FD31-44B5-6F4223AB3A7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9C78BB-425D-F3CD-5B8E-CBEE500D3DF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6D6B170F-7D73-7576-41F7-4EDFCBD097EA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6DDEB3C-0D56-6C35-8B18-86F7DB1DD44C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4DDADC-5ED1-494E-B023-42C264B724F1}"/>
              </a:ext>
            </a:extLst>
          </p:cNvPr>
          <p:cNvSpPr txBox="1"/>
          <p:nvPr/>
        </p:nvSpPr>
        <p:spPr>
          <a:xfrm>
            <a:off x="850730" y="1552353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功能实现：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BFEFD7-B212-538E-90AC-56D3BAE1D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88" y="2330446"/>
            <a:ext cx="753427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1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EB3E-88E1-8F94-5638-E7795D04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4783C11-4CD0-C913-8562-A6B9C56C644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A05409-0116-8B71-9C12-E8DC92560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E5364D1-01CA-E8A3-1D71-0CCD3B8A581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433CA9-698E-BF2C-B4A6-4D7BD0A07C3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E7807C0-193C-87A6-E5B9-27D0783C7001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13F4806-1BBF-77CC-4EEA-8034F407265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227520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注意点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7F3415-5BC2-FB27-0D47-92AC17E2EAA9}"/>
              </a:ext>
            </a:extLst>
          </p:cNvPr>
          <p:cNvSpPr txBox="1"/>
          <p:nvPr/>
        </p:nvSpPr>
        <p:spPr>
          <a:xfrm>
            <a:off x="1028775" y="1455649"/>
            <a:ext cx="105851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⚠：</a:t>
            </a:r>
            <a:endParaRPr lang="en-US" altLang="zh-CN" sz="6600" b="1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40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只有形参完全相同且返回值也一样的函数，才能放到同一个函数指针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r>
              <a:rPr lang="zh-CN" altLang="en-US" sz="40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当中。</a:t>
            </a:r>
            <a:endParaRPr lang="zh-CN" altLang="en-US" sz="2800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26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DD693529-6A2D-4ED3-3CB7-63FA49889ADE}"/>
              </a:ext>
            </a:extLst>
          </p:cNvPr>
          <p:cNvSpPr>
            <a:spLocks noGrp="1"/>
          </p:cNvSpPr>
          <p:nvPr/>
        </p:nvSpPr>
        <p:spPr>
          <a:xfrm>
            <a:off x="3333031" y="1725911"/>
            <a:ext cx="6768752" cy="285530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函数指针定义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函数指针数组应用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注意点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9DD1F-0E30-8D0D-22D5-A8D874904DC4}"/>
              </a:ext>
            </a:extLst>
          </p:cNvPr>
          <p:cNvSpPr txBox="1"/>
          <p:nvPr/>
        </p:nvSpPr>
        <p:spPr>
          <a:xfrm>
            <a:off x="2923644" y="1816125"/>
            <a:ext cx="7811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课堂代码自己写一遍。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81996" y="2299983"/>
            <a:ext cx="7407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函数指针的格式？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548</Words>
  <Application>Microsoft Office PowerPoint</Application>
  <PresentationFormat>自定义</PresentationFormat>
  <Paragraphs>87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黑体</vt:lpstr>
      <vt:lpstr>微软雅黑</vt:lpstr>
      <vt:lpstr>印品黑体</vt:lpstr>
      <vt:lpstr>字魂73号-江南手书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2024-12-12T01:34:21Z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