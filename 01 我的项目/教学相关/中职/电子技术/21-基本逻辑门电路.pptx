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6"/>
  </p:notesMasterIdLst>
  <p:handoutMasterIdLst>
    <p:handoutMasterId r:id="rId32"/>
  </p:handoutMasterIdLst>
  <p:sldIdLst>
    <p:sldId id="3705" r:id="rId3"/>
    <p:sldId id="3701" r:id="rId4"/>
    <p:sldId id="3646" r:id="rId5"/>
    <p:sldId id="3737" r:id="rId7"/>
    <p:sldId id="3747" r:id="rId8"/>
    <p:sldId id="3748" r:id="rId9"/>
    <p:sldId id="3749" r:id="rId10"/>
    <p:sldId id="3738" r:id="rId11"/>
    <p:sldId id="3750" r:id="rId12"/>
    <p:sldId id="3751" r:id="rId13"/>
    <p:sldId id="3752" r:id="rId14"/>
    <p:sldId id="3753" r:id="rId15"/>
    <p:sldId id="3754" r:id="rId16"/>
    <p:sldId id="3755" r:id="rId17"/>
    <p:sldId id="3756" r:id="rId18"/>
    <p:sldId id="3757" r:id="rId19"/>
    <p:sldId id="3758" r:id="rId20"/>
    <p:sldId id="3759" r:id="rId21"/>
    <p:sldId id="3760" r:id="rId22"/>
    <p:sldId id="3761" r:id="rId23"/>
    <p:sldId id="3763" r:id="rId24"/>
    <p:sldId id="3762" r:id="rId25"/>
    <p:sldId id="3764" r:id="rId26"/>
    <p:sldId id="3765" r:id="rId27"/>
    <p:sldId id="3766" r:id="rId28"/>
    <p:sldId id="3712" r:id="rId29"/>
    <p:sldId id="3700" r:id="rId30"/>
    <p:sldId id="3702" r:id="rId31"/>
  </p:sldIdLst>
  <p:sldSz cx="12858750" cy="7232650"/>
  <p:notesSz cx="6858000" cy="9144000"/>
  <p:custDataLst>
    <p:tags r:id="rId3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37" userDrawn="1">
          <p15:clr>
            <a:srgbClr val="A4A3A4"/>
          </p15:clr>
        </p15:guide>
        <p15:guide id="3" pos="4104" userDrawn="1">
          <p15:clr>
            <a:srgbClr val="A4A3A4"/>
          </p15:clr>
        </p15:guide>
        <p15:guide id="4" pos="536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2184F"/>
    <a:srgbClr val="B72DD9"/>
    <a:srgbClr val="1542FF"/>
    <a:srgbClr val="EB07BE"/>
    <a:srgbClr val="9A12E0"/>
    <a:srgbClr val="FFC000"/>
    <a:srgbClr val="FFBF00"/>
    <a:srgbClr val="FFFFFF"/>
    <a:srgbClr val="066197"/>
    <a:srgbClr val="0C6A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6366" autoAdjust="0"/>
  </p:normalViewPr>
  <p:slideViewPr>
    <p:cSldViewPr showGuides="1">
      <p:cViewPr varScale="1">
        <p:scale>
          <a:sx n="63" d="100"/>
          <a:sy n="63" d="100"/>
        </p:scale>
        <p:origin x="86" y="490"/>
      </p:cViewPr>
      <p:guideLst>
        <p:guide orient="horz" pos="218"/>
        <p:guide orient="horz" pos="4137"/>
        <p:guide pos="4104"/>
        <p:guide pos="536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gs" Target="tags/tag2.xml"/><Relationship Id="rId36" Type="http://schemas.openxmlformats.org/officeDocument/2006/relationships/commentAuthors" Target="commentAuthors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handoutMaster" Target="handoutMasters/handoutMaster1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9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3.xml"/><Relationship Id="rId3" Type="http://schemas.openxmlformats.org/officeDocument/2006/relationships/tags" Target="../tags/tag1.xml"/><Relationship Id="rId2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3.png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7.png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8.png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9.png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2.png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34.png"/><Relationship Id="rId2" Type="http://schemas.openxmlformats.org/officeDocument/2006/relationships/image" Target="../media/image8.png"/><Relationship Id="rId1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基本逻辑门电路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57254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8775" y="1240061"/>
            <a:ext cx="3528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</a:rPr>
              <a:t>考纲要求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08895" y="2032149"/>
            <a:ext cx="95255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1</a:t>
            </a:r>
            <a:r>
              <a:rPr lang="zh-CN" altLang="en-US" sz="3200" b="1" dirty="0"/>
              <a:t>、理解电路中电位的概念及其单位。</a:t>
            </a:r>
            <a:endParaRPr lang="en-US" altLang="zh-CN" sz="3200" b="1" dirty="0"/>
          </a:p>
          <a:p>
            <a:r>
              <a:rPr lang="en-US" altLang="zh-CN" sz="3200" b="1" kern="100" dirty="0">
                <a:effectLst/>
                <a:latin typeface="Calibri" panose="020F0502020204030204" pitchFamily="34" charset="0"/>
                <a:ea typeface="宋体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200" b="1" kern="100" dirty="0">
                <a:effectLst/>
                <a:latin typeface="Calibri" panose="020F0502020204030204" pitchFamily="34" charset="0"/>
                <a:ea typeface="宋体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3200" b="1" kern="100" dirty="0">
                <a:effectLst/>
                <a:latin typeface="Calibri" panose="020F0502020204030204" pitchFamily="34" charset="0"/>
                <a:ea typeface="宋体" pitchFamily="2" charset="-122"/>
                <a:cs typeface="Times New Roman" panose="02020603050405020304" pitchFamily="18" charset="0"/>
              </a:rPr>
              <a:t>掌握电路中各点电位及两点间电压的分析和计算</a:t>
            </a:r>
            <a:endParaRPr lang="zh-CN" altLang="en-US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09095" y="1262279"/>
            <a:ext cx="8136904" cy="398818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/>
              <a:t>数字电路的特点</a:t>
            </a:r>
            <a:endParaRPr lang="en-US" altLang="zh-CN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/>
              <a:t>逻辑电路规定</a:t>
            </a:r>
            <a:endParaRPr lang="en-US" altLang="zh-CN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/>
              <a:t>与门</a:t>
            </a:r>
            <a:r>
              <a:rPr lang="zh-CN" altLang="en-US" sz="4000" dirty="0"/>
              <a:t>电路</a:t>
            </a:r>
            <a:endParaRPr lang="zh-CN" alt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/>
              <a:t>或门</a:t>
            </a:r>
            <a:r>
              <a:rPr lang="zh-CN" altLang="en-US" sz="4000" dirty="0"/>
              <a:t>电路</a:t>
            </a:r>
            <a:endParaRPr lang="zh-CN" alt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/>
              <a:t>非门</a:t>
            </a:r>
            <a:r>
              <a:rPr lang="zh-CN" altLang="en-US" sz="4000" dirty="0"/>
              <a:t>电路</a:t>
            </a:r>
            <a:endParaRPr lang="zh-CN" alt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743" y="1269670"/>
            <a:ext cx="11665296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电子线路中的电信号有两大类：</a:t>
            </a:r>
            <a:r>
              <a:rPr lang="zh-CN" altLang="en-US" sz="3600" b="1" dirty="0">
                <a:solidFill>
                  <a:srgbClr val="FF0000"/>
                </a:solidFill>
              </a:rPr>
              <a:t>模拟信号</a:t>
            </a:r>
            <a:r>
              <a:rPr lang="en-US" altLang="zh-CN" sz="3600" dirty="0"/>
              <a:t>和</a:t>
            </a:r>
            <a:r>
              <a:rPr lang="en-US" altLang="zh-CN" sz="3600" b="1" dirty="0">
                <a:solidFill>
                  <a:srgbClr val="FF0000"/>
                </a:solidFill>
              </a:rPr>
              <a:t>数字信号</a:t>
            </a:r>
            <a:r>
              <a:rPr lang="zh-CN" altLang="en-US" sz="3600" dirty="0"/>
              <a:t>。</a:t>
            </a:r>
            <a:endParaRPr lang="zh-CN" altLang="en-US" sz="3600" dirty="0"/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3200" b="1" dirty="0">
                <a:solidFill>
                  <a:srgbClr val="1542FF"/>
                </a:solidFill>
              </a:rPr>
              <a:t>1.</a:t>
            </a:r>
            <a:r>
              <a:rPr lang="zh-CN" altLang="en-US" sz="3200" b="1" dirty="0">
                <a:solidFill>
                  <a:srgbClr val="1542FF"/>
                </a:solidFill>
              </a:rPr>
              <a:t>概念</a:t>
            </a:r>
            <a:endParaRPr lang="en-US" altLang="zh-CN" sz="3200" b="1" dirty="0">
              <a:solidFill>
                <a:srgbClr val="1542FF"/>
              </a:solidFill>
            </a:endParaRPr>
          </a:p>
          <a:p>
            <a:pPr marL="0" indent="0" eaLnBrk="1" latinLnBrk="0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模拟信号：</a:t>
            </a:r>
            <a:r>
              <a:rPr lang="zh-CN" altLang="en-US" sz="2800" b="1" dirty="0">
                <a:solidFill>
                  <a:schemeClr val="tx1"/>
                </a:solidFill>
                <a:sym typeface="+mn-ea"/>
              </a:rPr>
              <a:t>在数值上和时间上都是连续变化的信号。</a:t>
            </a:r>
            <a:endParaRPr lang="zh-CN" altLang="en-US" sz="2800" b="1" dirty="0">
              <a:solidFill>
                <a:schemeClr val="tx1"/>
              </a:solidFill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数字信号：</a:t>
            </a:r>
            <a:r>
              <a:rPr lang="zh-CN" altLang="en-US" sz="2800" b="1" dirty="0">
                <a:solidFill>
                  <a:schemeClr val="tx1"/>
                </a:solidFill>
                <a:sym typeface="+mn-ea"/>
              </a:rPr>
              <a:t>在数值上和时间上不连续变化的信号。</a:t>
            </a:r>
            <a:endParaRPr lang="zh-CN" altLang="en-US" sz="2800" b="1" dirty="0">
              <a:solidFill>
                <a:schemeClr val="tx1"/>
              </a:solidFill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模拟电路：</a:t>
            </a:r>
            <a:r>
              <a:rPr lang="zh-CN" altLang="en-US" sz="2800" b="1" dirty="0">
                <a:solidFill>
                  <a:schemeClr val="tx1"/>
                </a:solidFill>
                <a:sym typeface="+mn-ea"/>
              </a:rPr>
              <a:t>处理模拟信号的电路。</a:t>
            </a:r>
            <a:endParaRPr lang="zh-CN" altLang="en-US" sz="2800" b="1" dirty="0">
              <a:solidFill>
                <a:schemeClr val="tx1"/>
              </a:solidFill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FF0000"/>
                </a:solidFill>
                <a:sym typeface="+mn-ea"/>
              </a:rPr>
              <a:t>数字电路：</a:t>
            </a:r>
            <a:r>
              <a:rPr lang="zh-CN" altLang="en-US" sz="2800" b="1" dirty="0">
                <a:solidFill>
                  <a:schemeClr val="tx1"/>
                </a:solidFill>
                <a:sym typeface="+mn-ea"/>
              </a:rPr>
              <a:t>处理数字信号的电路。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一、数字电路的</a:t>
            </a:r>
            <a:r>
              <a:rPr lang="zh-CN" altLang="en-US" sz="3600" b="1" dirty="0"/>
              <a:t>特点</a:t>
            </a:r>
            <a:endParaRPr lang="zh-CN" altLang="en-US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743" y="1269670"/>
            <a:ext cx="11665296" cy="2768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3200" b="1" dirty="0">
                <a:solidFill>
                  <a:srgbClr val="1542FF"/>
                </a:solidFill>
              </a:rPr>
              <a:t>2.</a:t>
            </a:r>
            <a:r>
              <a:rPr lang="zh-CN" altLang="en-US" sz="3200" b="1" dirty="0">
                <a:solidFill>
                  <a:srgbClr val="1542FF"/>
                </a:solidFill>
              </a:rPr>
              <a:t>数字电路特点</a:t>
            </a:r>
            <a:endParaRPr lang="en-US" altLang="zh-CN" sz="3200" b="1" dirty="0">
              <a:solidFill>
                <a:srgbClr val="1542FF"/>
              </a:solidFill>
            </a:endParaRPr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C00000"/>
                </a:solidFill>
                <a:sym typeface="+mn-ea"/>
              </a:rPr>
              <a:t>(1)</a:t>
            </a: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电路中工作的半导体管多数工作在开关状态。</a:t>
            </a:r>
            <a:endParaRPr lang="zh-CN" altLang="en-US" sz="2800" b="1" dirty="0">
              <a:solidFill>
                <a:srgbClr val="C00000"/>
              </a:solidFill>
              <a:sym typeface="+mn-ea"/>
            </a:endParaRPr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C00000"/>
                </a:solidFill>
                <a:sym typeface="+mn-ea"/>
              </a:rPr>
              <a:t>(2)</a:t>
            </a: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研究对象是电路的输入与输出之间的逻辑关系，分析工具是逻辑代数，表达电路的功能主要用真值表、逻辑函数表达式及波形图等。</a:t>
            </a:r>
            <a:endParaRPr lang="zh-CN" altLang="en-US" sz="2800" b="1" dirty="0">
              <a:solidFill>
                <a:srgbClr val="C00000"/>
              </a:solidFill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912" y="665738"/>
            <a:ext cx="5906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一、数字电路的</a:t>
            </a:r>
            <a:r>
              <a:rPr lang="zh-CN" altLang="en-US" sz="3600" b="1" dirty="0"/>
              <a:t>特点</a:t>
            </a:r>
            <a:endParaRPr lang="zh-CN" altLang="en-US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0108" y="1023925"/>
            <a:ext cx="11665296" cy="4338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 eaLnBrk="1" latinLnBrk="0" hangingPunct="1">
              <a:lnSpc>
                <a:spcPct val="150000"/>
              </a:lnSpc>
            </a:pPr>
            <a:r>
              <a:rPr lang="zh-CN" altLang="en-US" sz="4000" b="1" dirty="0">
                <a:solidFill>
                  <a:srgbClr val="FF0000"/>
                </a:solidFill>
              </a:rPr>
              <a:t>基本逻辑门电路</a:t>
            </a:r>
            <a:endParaRPr lang="en-US" altLang="zh-CN" sz="4000" b="1" dirty="0">
              <a:solidFill>
                <a:srgbClr val="FF0000"/>
              </a:solidFill>
            </a:endParaRPr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3600" b="1" dirty="0">
                <a:solidFill>
                  <a:srgbClr val="1542FF"/>
                </a:solidFill>
              </a:rPr>
              <a:t>1.</a:t>
            </a:r>
            <a:r>
              <a:rPr lang="zh-CN" altLang="en-US" sz="3600" b="1" dirty="0">
                <a:solidFill>
                  <a:srgbClr val="1542FF"/>
                </a:solidFill>
              </a:rPr>
              <a:t>关于逻辑电路的几个规定</a:t>
            </a:r>
            <a:endParaRPr lang="en-US" altLang="zh-CN" sz="3600" b="1" dirty="0">
              <a:solidFill>
                <a:srgbClr val="1542FF"/>
              </a:solidFill>
            </a:endParaRPr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3600" b="1" dirty="0">
                <a:solidFill>
                  <a:srgbClr val="1542FF"/>
                </a:solidFill>
              </a:rPr>
              <a:t>2.</a:t>
            </a:r>
            <a:r>
              <a:rPr lang="zh-CN" altLang="en-US" sz="3600" b="1" dirty="0">
                <a:solidFill>
                  <a:srgbClr val="1542FF"/>
                </a:solidFill>
              </a:rPr>
              <a:t>与门电路</a:t>
            </a:r>
            <a:endParaRPr lang="zh-CN" altLang="en-US" sz="3600" b="1" dirty="0">
              <a:solidFill>
                <a:srgbClr val="1542FF"/>
              </a:solidFill>
            </a:endParaRPr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3600" b="1" dirty="0">
                <a:solidFill>
                  <a:srgbClr val="1542FF"/>
                </a:solidFill>
              </a:rPr>
              <a:t>3.</a:t>
            </a:r>
            <a:r>
              <a:rPr lang="zh-CN" altLang="en-US" sz="3600" b="1" dirty="0">
                <a:solidFill>
                  <a:srgbClr val="1542FF"/>
                </a:solidFill>
              </a:rPr>
              <a:t>或门电路</a:t>
            </a:r>
            <a:endParaRPr lang="zh-CN" altLang="en-US" sz="3600" b="1" dirty="0">
              <a:solidFill>
                <a:srgbClr val="1542FF"/>
              </a:solidFill>
            </a:endParaRPr>
          </a:p>
          <a:p>
            <a:pPr marL="0" indent="0" eaLnBrk="1" latinLnBrk="0" hangingPunct="1">
              <a:lnSpc>
                <a:spcPct val="150000"/>
              </a:lnSpc>
            </a:pPr>
            <a:r>
              <a:rPr lang="en-US" altLang="zh-CN" sz="3600" b="1" dirty="0">
                <a:solidFill>
                  <a:srgbClr val="1542FF"/>
                </a:solidFill>
              </a:rPr>
              <a:t>4.</a:t>
            </a:r>
            <a:r>
              <a:rPr lang="zh-CN" altLang="en-US" sz="3600" b="1" dirty="0">
                <a:solidFill>
                  <a:srgbClr val="1542FF"/>
                </a:solidFill>
              </a:rPr>
              <a:t>非门电路</a:t>
            </a:r>
            <a:endParaRPr lang="zh-CN" altLang="en-US" sz="3600" b="1" dirty="0">
              <a:solidFill>
                <a:srgbClr val="1542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310" y="3976370"/>
            <a:ext cx="11116310" cy="252984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16355" y="951865"/>
            <a:ext cx="93726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各种逻辑门电路是组成数字电路的基本单元。</a:t>
            </a:r>
            <a:endParaRPr lang="zh-CN" altLang="en-US" sz="3200"/>
          </a:p>
          <a:p>
            <a:r>
              <a:rPr lang="zh-CN" altLang="en-US" sz="3200"/>
              <a:t>基本的逻辑关系：与逻辑、或逻辑和非</a:t>
            </a:r>
            <a:r>
              <a:rPr lang="zh-CN" altLang="en-US" sz="3200"/>
              <a:t>逻辑。</a:t>
            </a:r>
            <a:endParaRPr lang="zh-CN" altLang="en-US" sz="3200"/>
          </a:p>
        </p:txBody>
      </p:sp>
      <p:sp>
        <p:nvSpPr>
          <p:cNvPr id="6" name="文本框 5"/>
          <p:cNvSpPr txBox="1"/>
          <p:nvPr/>
        </p:nvSpPr>
        <p:spPr>
          <a:xfrm>
            <a:off x="810895" y="2028825"/>
            <a:ext cx="80346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 dirty="0"/>
              <a:t>一、电关于逻辑电路的几个</a:t>
            </a:r>
            <a:r>
              <a:rPr lang="zh-CN" altLang="en-US" sz="3600" b="1" dirty="0"/>
              <a:t>规定</a:t>
            </a:r>
            <a:endParaRPr lang="zh-CN" altLang="en-US" sz="36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316355" y="2679700"/>
            <a:ext cx="80346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EB07BE"/>
                </a:solidFill>
                <a:uFillTx/>
              </a:rPr>
              <a:t>1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、逻辑状态的表示方法</a:t>
            </a:r>
            <a:endParaRPr lang="zh-CN" altLang="en-US" sz="3200" b="1" dirty="0">
              <a:solidFill>
                <a:srgbClr val="EB07BE"/>
              </a:solidFill>
              <a:uFillTx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88745" y="3330575"/>
            <a:ext cx="108242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chemeClr val="tx1"/>
                </a:solidFill>
                <a:uFillTx/>
              </a:rPr>
              <a:t>用数字符号</a:t>
            </a:r>
            <a:r>
              <a:rPr lang="en-US" altLang="zh-CN" sz="3200" b="1" dirty="0">
                <a:solidFill>
                  <a:schemeClr val="tx1"/>
                </a:solidFill>
                <a:uFillTx/>
              </a:rPr>
              <a:t>0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和</a:t>
            </a:r>
            <a:r>
              <a:rPr lang="en-US" altLang="zh-CN" sz="3200" b="1" dirty="0">
                <a:solidFill>
                  <a:schemeClr val="tx1"/>
                </a:solidFill>
                <a:uFillTx/>
              </a:rPr>
              <a:t>1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表示相互对立的逻辑状态，称为逻辑</a:t>
            </a:r>
            <a:r>
              <a:rPr lang="en-US" altLang="zh-CN" sz="3200" b="1" dirty="0">
                <a:solidFill>
                  <a:schemeClr val="tx1"/>
                </a:solidFill>
                <a:uFillTx/>
              </a:rPr>
              <a:t>0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和逻辑</a:t>
            </a:r>
            <a:r>
              <a:rPr lang="en-US" altLang="zh-CN" sz="3200" b="1" dirty="0">
                <a:solidFill>
                  <a:schemeClr val="tx1"/>
                </a:solidFill>
                <a:uFillTx/>
              </a:rPr>
              <a:t>1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。</a:t>
            </a:r>
            <a:endParaRPr lang="zh-CN" altLang="en-US" sz="3200" b="1" dirty="0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895" y="665480"/>
            <a:ext cx="7716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一、</a:t>
            </a:r>
            <a:r>
              <a:rPr lang="zh-CN" altLang="en-US" sz="3600" b="1" dirty="0">
                <a:sym typeface="+mn-ea"/>
              </a:rPr>
              <a:t>关于逻辑电路的几个规定</a:t>
            </a:r>
            <a:endParaRPr lang="zh-CN" altLang="en-US" sz="36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100455" y="1383665"/>
            <a:ext cx="80346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EB07BE"/>
                </a:solidFill>
                <a:uFillTx/>
              </a:rPr>
              <a:t>2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、高低电平规定</a:t>
            </a:r>
            <a:endParaRPr lang="zh-CN" altLang="en-US" sz="3200" b="1" dirty="0">
              <a:solidFill>
                <a:srgbClr val="EB07BE"/>
              </a:solidFill>
              <a:uFillTx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16355" y="2110740"/>
            <a:ext cx="1142238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90204" pitchFamily="34" charset="0"/>
              <a:buChar char="•"/>
            </a:pPr>
            <a:r>
              <a:rPr lang="zh-CN" altLang="en-US" sz="3200" b="1" dirty="0">
                <a:solidFill>
                  <a:schemeClr val="tx1"/>
                </a:solidFill>
                <a:uFillTx/>
              </a:rPr>
              <a:t>用高电平、低电平来描述电位的高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低。</a:t>
            </a:r>
            <a:endParaRPr lang="zh-CN" altLang="en-US" sz="3200" b="1" dirty="0">
              <a:solidFill>
                <a:schemeClr val="tx1"/>
              </a:solidFill>
              <a:uFillTx/>
            </a:endParaRP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zh-CN" altLang="en-US" sz="3200" b="1" dirty="0">
                <a:solidFill>
                  <a:schemeClr val="tx1"/>
                </a:solidFill>
                <a:uFillTx/>
              </a:rPr>
              <a:t>高低电平不是一个固定值，而是一个电平变化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范围。</a:t>
            </a:r>
            <a:endParaRPr lang="zh-CN" altLang="en-US" sz="3200" b="1" dirty="0">
              <a:solidFill>
                <a:schemeClr val="tx1"/>
              </a:solidFill>
              <a:uFillTx/>
            </a:endParaRP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zh-CN" altLang="en-US" sz="3200" b="1" dirty="0">
                <a:solidFill>
                  <a:schemeClr val="tx1"/>
                </a:solidFill>
                <a:uFillTx/>
              </a:rPr>
              <a:t>单位用</a:t>
            </a:r>
            <a:r>
              <a:rPr lang="en-US" altLang="zh-CN" sz="3200" b="1" dirty="0">
                <a:solidFill>
                  <a:schemeClr val="tx1"/>
                </a:solidFill>
                <a:uFillTx/>
              </a:rPr>
              <a:t>”V”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表示。</a:t>
            </a:r>
            <a:endParaRPr lang="zh-CN" altLang="en-US" sz="3200" b="1" dirty="0">
              <a:solidFill>
                <a:schemeClr val="tx1"/>
              </a:solidFill>
              <a:uFillTx/>
            </a:endParaRP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zh-CN" altLang="en-US" sz="3200" b="1" dirty="0">
                <a:solidFill>
                  <a:schemeClr val="tx1"/>
                </a:solidFill>
                <a:uFillTx/>
              </a:rPr>
              <a:t>在集成逻辑门电路中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规定：</a:t>
            </a:r>
            <a:endParaRPr lang="zh-CN" altLang="en-US" sz="3200" b="1" dirty="0">
              <a:solidFill>
                <a:schemeClr val="tx1"/>
              </a:solidFill>
              <a:uFillTx/>
            </a:endParaRPr>
          </a:p>
          <a:p>
            <a:pPr marL="0" indent="457200">
              <a:buFont typeface="Arial" panose="020B0604020202090204" pitchFamily="34" charset="0"/>
              <a:buNone/>
            </a:pPr>
            <a:r>
              <a:rPr lang="zh-CN" altLang="en-US" sz="3200" b="1" dirty="0">
                <a:solidFill>
                  <a:schemeClr val="tx1"/>
                </a:solidFill>
                <a:uFillTx/>
              </a:rPr>
              <a:t>标准高电平</a:t>
            </a:r>
            <a:r>
              <a:rPr lang="en-US" altLang="zh-CN" sz="3200" b="1" dirty="0">
                <a:solidFill>
                  <a:schemeClr val="tx1"/>
                </a:solidFill>
                <a:uFillTx/>
              </a:rPr>
              <a:t>V</a:t>
            </a:r>
            <a:r>
              <a:rPr lang="en-US" altLang="zh-CN" sz="3200" b="1" baseline="-25000" dirty="0">
                <a:solidFill>
                  <a:schemeClr val="tx1"/>
                </a:solidFill>
                <a:uFillTx/>
              </a:rPr>
              <a:t>SH</a:t>
            </a:r>
            <a:r>
              <a:rPr lang="en-US" altLang="zh-CN" sz="3200" b="1" dirty="0">
                <a:solidFill>
                  <a:schemeClr val="tx1"/>
                </a:solidFill>
                <a:uFillTx/>
              </a:rPr>
              <a:t>----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高电平的下限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值；</a:t>
            </a:r>
            <a:endParaRPr lang="zh-CN" altLang="en-US" sz="3200" b="1" dirty="0">
              <a:solidFill>
                <a:schemeClr val="tx1"/>
              </a:solidFill>
              <a:uFillTx/>
            </a:endParaRPr>
          </a:p>
          <a:p>
            <a:pPr marL="0" indent="457200">
              <a:buFont typeface="Arial" panose="020B0604020202090204" pitchFamily="34" charset="0"/>
              <a:buNone/>
            </a:pPr>
            <a:r>
              <a:rPr lang="zh-CN" altLang="en-US" sz="3200" b="1" dirty="0">
                <a:solidFill>
                  <a:schemeClr val="tx1"/>
                </a:solidFill>
                <a:uFillTx/>
              </a:rPr>
              <a:t>标准低电平</a:t>
            </a:r>
            <a:r>
              <a:rPr lang="en-US" altLang="zh-CN" sz="3200" b="1" dirty="0">
                <a:solidFill>
                  <a:schemeClr val="tx1"/>
                </a:solidFill>
                <a:uFillTx/>
              </a:rPr>
              <a:t>V</a:t>
            </a:r>
            <a:r>
              <a:rPr lang="en-US" altLang="zh-CN" sz="3200" b="1" baseline="-25000" dirty="0">
                <a:solidFill>
                  <a:schemeClr val="tx1"/>
                </a:solidFill>
                <a:uFillTx/>
              </a:rPr>
              <a:t>SL</a:t>
            </a:r>
            <a:r>
              <a:rPr lang="en-US" altLang="zh-CN" sz="3200" b="1" dirty="0">
                <a:solidFill>
                  <a:schemeClr val="tx1"/>
                </a:solidFill>
                <a:uFillTx/>
              </a:rPr>
              <a:t>----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低电平的上限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值。</a:t>
            </a:r>
            <a:endParaRPr lang="zh-CN" altLang="en-US" sz="3200" b="1" dirty="0">
              <a:solidFill>
                <a:schemeClr val="tx1"/>
              </a:solidFill>
              <a:uFillTx/>
            </a:endParaRP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zh-CN" altLang="en-US" sz="3200" b="1" dirty="0">
                <a:solidFill>
                  <a:schemeClr val="tx1"/>
                </a:solidFill>
                <a:uFillTx/>
              </a:rPr>
              <a:t>应用时，高电平应大于或等于V</a:t>
            </a:r>
            <a:r>
              <a:rPr lang="zh-CN" altLang="en-US" sz="3200" b="1" baseline="-25000" dirty="0">
                <a:solidFill>
                  <a:schemeClr val="tx1"/>
                </a:solidFill>
                <a:uFillTx/>
              </a:rPr>
              <a:t>SH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；低电平应小于或等于V</a:t>
            </a:r>
            <a:r>
              <a:rPr lang="zh-CN" altLang="en-US" sz="3200" b="1" baseline="-25000" dirty="0">
                <a:solidFill>
                  <a:schemeClr val="tx1"/>
                </a:solidFill>
                <a:uFillTx/>
              </a:rPr>
              <a:t>S</a:t>
            </a:r>
            <a:r>
              <a:rPr lang="en-US" altLang="zh-CN" sz="3200" b="1" baseline="-25000" dirty="0">
                <a:solidFill>
                  <a:schemeClr val="tx1"/>
                </a:solidFill>
                <a:uFillTx/>
              </a:rPr>
              <a:t>L</a:t>
            </a:r>
            <a:endParaRPr lang="en-US" altLang="zh-CN" sz="3200" b="1" baseline="-25000" dirty="0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895" y="665480"/>
            <a:ext cx="7716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一、</a:t>
            </a:r>
            <a:r>
              <a:rPr lang="zh-CN" altLang="en-US" sz="3600" b="1" dirty="0">
                <a:sym typeface="+mn-ea"/>
              </a:rPr>
              <a:t>关于逻辑电路的几个规定</a:t>
            </a:r>
            <a:endParaRPr lang="zh-CN" altLang="en-US" sz="36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825" y="1743710"/>
            <a:ext cx="2542540" cy="349186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895" y="1887855"/>
            <a:ext cx="2223135" cy="32359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895" y="665480"/>
            <a:ext cx="7716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一、</a:t>
            </a:r>
            <a:r>
              <a:rPr lang="zh-CN" altLang="en-US" sz="3600" b="1" dirty="0">
                <a:sym typeface="+mn-ea"/>
              </a:rPr>
              <a:t>关于逻辑电路的几个规定</a:t>
            </a:r>
            <a:endParaRPr lang="zh-CN" altLang="en-US" sz="36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100455" y="1383665"/>
            <a:ext cx="80346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EB07BE"/>
                </a:solidFill>
                <a:uFillTx/>
              </a:rPr>
              <a:t>3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、正、负逻辑规定</a:t>
            </a:r>
            <a:endParaRPr lang="zh-CN" altLang="en-US" sz="3200" b="1" dirty="0">
              <a:solidFill>
                <a:srgbClr val="EB07BE"/>
              </a:solidFill>
              <a:uFillTx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316355" y="2110740"/>
            <a:ext cx="114223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Arial" panose="020B0604020202090204" pitchFamily="34" charset="0"/>
              <a:buChar char="•"/>
            </a:pPr>
            <a:r>
              <a:rPr lang="zh-CN" altLang="en-US" sz="3200" b="1" dirty="0">
                <a:solidFill>
                  <a:srgbClr val="1542FF"/>
                </a:solidFill>
                <a:uFillTx/>
              </a:rPr>
              <a:t>正逻辑：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用</a:t>
            </a:r>
            <a:r>
              <a:rPr lang="en-US" altLang="zh-CN" sz="3200" b="1" dirty="0">
                <a:solidFill>
                  <a:schemeClr val="tx1"/>
                </a:solidFill>
                <a:uFillTx/>
              </a:rPr>
              <a:t>1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表示高电平，用</a:t>
            </a:r>
            <a:r>
              <a:rPr lang="en-US" altLang="zh-CN" sz="3200" b="1" dirty="0">
                <a:solidFill>
                  <a:schemeClr val="tx1"/>
                </a:solidFill>
                <a:uFillTx/>
              </a:rPr>
              <a:t>0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表示低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电平。</a:t>
            </a:r>
            <a:endParaRPr lang="zh-CN" altLang="en-US" sz="3200" b="1" dirty="0">
              <a:solidFill>
                <a:schemeClr val="tx1"/>
              </a:solidFill>
              <a:uFillTx/>
            </a:endParaRPr>
          </a:p>
          <a:p>
            <a:pPr marL="457200" indent="-457200">
              <a:buFont typeface="Arial" panose="020B0604020202090204" pitchFamily="34" charset="0"/>
              <a:buChar char="•"/>
            </a:pPr>
            <a:r>
              <a:rPr lang="zh-CN" altLang="en-US" sz="3200" b="1" dirty="0">
                <a:solidFill>
                  <a:srgbClr val="1542FF"/>
                </a:solidFill>
                <a:uFillTx/>
              </a:rPr>
              <a:t>负逻辑：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用</a:t>
            </a:r>
            <a:r>
              <a:rPr lang="en-US" altLang="zh-CN" sz="3200" b="1" dirty="0">
                <a:solidFill>
                  <a:schemeClr val="tx1"/>
                </a:solidFill>
                <a:uFillTx/>
              </a:rPr>
              <a:t>1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表示低电平，用</a:t>
            </a:r>
            <a:r>
              <a:rPr lang="en-US" altLang="zh-CN" sz="3200" b="1" dirty="0">
                <a:solidFill>
                  <a:schemeClr val="tx1"/>
                </a:solidFill>
                <a:uFillTx/>
              </a:rPr>
              <a:t>0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表示</a:t>
            </a:r>
            <a:r>
              <a:rPr lang="zh-CN" altLang="en-US" sz="3200" b="1" dirty="0">
                <a:solidFill>
                  <a:schemeClr val="tx1"/>
                </a:solidFill>
                <a:uFillTx/>
              </a:rPr>
              <a:t>高电平。</a:t>
            </a:r>
            <a:endParaRPr lang="en-US" altLang="zh-CN" sz="3200" b="1" baseline="-25000" dirty="0">
              <a:solidFill>
                <a:schemeClr val="tx1"/>
              </a:solidFill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895" y="665480"/>
            <a:ext cx="7716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二、与门电路</a:t>
            </a:r>
            <a:endParaRPr lang="zh-CN" altLang="en-US" sz="36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100455" y="1383665"/>
            <a:ext cx="2540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EB07BE"/>
                </a:solidFill>
                <a:uFillTx/>
              </a:rPr>
              <a:t>1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、与逻辑</a:t>
            </a:r>
            <a:endParaRPr lang="zh-CN" altLang="en-US" sz="3200" b="1" dirty="0">
              <a:solidFill>
                <a:srgbClr val="EB07BE"/>
              </a:solidFill>
              <a:uFillTx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5365" y="447675"/>
            <a:ext cx="4266565" cy="22504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00455" y="212852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①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与逻辑关系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96035" y="2903855"/>
            <a:ext cx="1024572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当决定一件事情的几个条件全部具备后，这件事情才能发生，否则不发生。</a:t>
            </a:r>
            <a:endParaRPr lang="zh-CN" altLang="en-US" sz="3200" b="1"/>
          </a:p>
        </p:txBody>
      </p:sp>
      <p:sp>
        <p:nvSpPr>
          <p:cNvPr id="13" name="文本框 12"/>
          <p:cNvSpPr txBox="1"/>
          <p:nvPr/>
        </p:nvSpPr>
        <p:spPr>
          <a:xfrm>
            <a:off x="1083945" y="397764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②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与门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电路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316355" y="4696460"/>
            <a:ext cx="66446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A</a:t>
            </a:r>
            <a:r>
              <a:rPr lang="zh-CN" altLang="en-US" sz="3200" b="1"/>
              <a:t>、</a:t>
            </a:r>
            <a:r>
              <a:rPr lang="en-US" altLang="zh-CN" sz="3200" b="1"/>
              <a:t>B------</a:t>
            </a:r>
            <a:r>
              <a:rPr lang="zh-CN" altLang="en-US" sz="3200" b="1"/>
              <a:t>输入端；</a:t>
            </a:r>
            <a:r>
              <a:rPr lang="en-US" altLang="zh-CN" sz="3200" b="1"/>
              <a:t>Y-------</a:t>
            </a:r>
            <a:r>
              <a:rPr lang="zh-CN" altLang="en-US" sz="3200" b="1"/>
              <a:t>输出</a:t>
            </a:r>
            <a:r>
              <a:rPr lang="zh-CN" altLang="en-US" sz="3200" b="1"/>
              <a:t>端。</a:t>
            </a:r>
            <a:endParaRPr lang="zh-CN" altLang="en-US" sz="3200" b="1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355" y="3903980"/>
            <a:ext cx="3539490" cy="251206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083945" y="5401945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③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符号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25" y="5560060"/>
            <a:ext cx="2112645" cy="1228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895" y="665480"/>
            <a:ext cx="7716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二、与门电路</a:t>
            </a:r>
            <a:endParaRPr lang="zh-CN" altLang="en-US" sz="36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100455" y="1383665"/>
            <a:ext cx="2540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EB07BE"/>
                </a:solidFill>
                <a:uFillTx/>
              </a:rPr>
              <a:t>2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、工作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原理</a:t>
            </a:r>
            <a:endParaRPr lang="zh-CN" altLang="en-US" sz="3200" b="1" dirty="0">
              <a:solidFill>
                <a:srgbClr val="EB07BE"/>
              </a:solidFill>
              <a:uFillTx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00455" y="212852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①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工作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原理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00455" y="318389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②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逻辑函数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式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388745" y="4048125"/>
            <a:ext cx="271780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Y = A</a:t>
            </a:r>
            <a:r>
              <a:rPr lang="zh-CN" altLang="en-US" sz="3200" b="1"/>
              <a:t>×</a:t>
            </a:r>
            <a:r>
              <a:rPr lang="en-US" altLang="zh-CN" sz="3200" b="1"/>
              <a:t>B</a:t>
            </a:r>
            <a:endParaRPr lang="en-US" altLang="zh-CN" sz="3200" b="1"/>
          </a:p>
          <a:p>
            <a:r>
              <a:rPr lang="zh-CN" altLang="en-US" sz="3200" b="1"/>
              <a:t>或</a:t>
            </a:r>
            <a:r>
              <a:rPr lang="en-US" altLang="zh-CN" sz="3200" b="1"/>
              <a:t>  </a:t>
            </a:r>
            <a:r>
              <a:rPr lang="en-US" altLang="zh-CN" sz="3200" b="1">
                <a:sym typeface="+mn-ea"/>
              </a:rPr>
              <a:t>Y = A</a:t>
            </a:r>
            <a:r>
              <a:rPr lang="en-US" altLang="zh-CN" sz="3200" b="1">
                <a:sym typeface="+mn-ea"/>
              </a:rPr>
              <a:t>·B</a:t>
            </a:r>
            <a:endParaRPr lang="en-US" altLang="zh-CN" sz="3200" b="1"/>
          </a:p>
          <a:p>
            <a:r>
              <a:rPr lang="zh-CN" altLang="en-US" sz="3200" b="1"/>
              <a:t>或</a:t>
            </a:r>
            <a:r>
              <a:rPr lang="en-US" altLang="zh-CN" sz="3200" b="1"/>
              <a:t>  </a:t>
            </a:r>
            <a:r>
              <a:rPr lang="en-US" altLang="zh-CN" sz="3200" b="1">
                <a:sym typeface="+mn-ea"/>
              </a:rPr>
              <a:t>Y = AB</a:t>
            </a:r>
            <a:endParaRPr lang="zh-CN" altLang="en-US" sz="3200" b="1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9420" y="87630"/>
            <a:ext cx="5950585" cy="3336925"/>
          </a:xfrm>
          <a:prstGeom prst="rect">
            <a:avLst/>
          </a:prstGeom>
        </p:spPr>
      </p:pic>
      <p:graphicFrame>
        <p:nvGraphicFramePr>
          <p:cNvPr id="18" name="表格 17"/>
          <p:cNvGraphicFramePr/>
          <p:nvPr>
            <p:custDataLst>
              <p:tags r:id="rId3"/>
            </p:custDataLst>
          </p:nvPr>
        </p:nvGraphicFramePr>
        <p:xfrm>
          <a:off x="5997575" y="3424555"/>
          <a:ext cx="3837940" cy="3082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715"/>
                <a:gridCol w="1346200"/>
                <a:gridCol w="1216025"/>
              </a:tblGrid>
              <a:tr h="6165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A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B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Y</a:t>
                      </a:r>
                      <a:endParaRPr lang="en-US" altLang="zh-CN" sz="2800"/>
                    </a:p>
                  </a:txBody>
                  <a:tcPr/>
                </a:tc>
              </a:tr>
              <a:tr h="6165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0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0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0</a:t>
                      </a:r>
                      <a:endParaRPr lang="en-US" altLang="zh-CN" sz="2800"/>
                    </a:p>
                  </a:txBody>
                  <a:tcPr/>
                </a:tc>
              </a:tr>
              <a:tr h="6165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0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1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0</a:t>
                      </a:r>
                      <a:endParaRPr lang="en-US" altLang="zh-CN" sz="2800"/>
                    </a:p>
                  </a:txBody>
                  <a:tcPr/>
                </a:tc>
              </a:tr>
              <a:tr h="6165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1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0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0</a:t>
                      </a:r>
                      <a:endParaRPr lang="en-US" altLang="zh-CN" sz="2800"/>
                    </a:p>
                  </a:txBody>
                  <a:tcPr/>
                </a:tc>
              </a:tr>
              <a:tr h="6165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1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1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1</a:t>
                      </a:r>
                      <a:endParaRPr lang="en-US" altLang="zh-CN" sz="280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9" name="直接箭头连接符 18"/>
          <p:cNvCxnSpPr/>
          <p:nvPr/>
        </p:nvCxnSpPr>
        <p:spPr>
          <a:xfrm>
            <a:off x="3531235" y="2520315"/>
            <a:ext cx="2178050" cy="80772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935" y="3454400"/>
            <a:ext cx="8914765" cy="306832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895" y="665480"/>
            <a:ext cx="7716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二、与门电路</a:t>
            </a:r>
            <a:endParaRPr lang="zh-CN" altLang="en-US" sz="36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100455" y="1383665"/>
            <a:ext cx="2540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EB07BE"/>
                </a:solidFill>
                <a:uFillTx/>
              </a:rPr>
              <a:t>2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、工作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原理</a:t>
            </a:r>
            <a:endParaRPr lang="zh-CN" altLang="en-US" sz="3200" b="1" dirty="0">
              <a:solidFill>
                <a:srgbClr val="EB07BE"/>
              </a:solidFill>
              <a:uFillTx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00455" y="212852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③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真值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表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96035" y="2760345"/>
            <a:ext cx="1024572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真值表</a:t>
            </a:r>
            <a:r>
              <a:rPr lang="en-US" altLang="zh-CN" sz="3200" b="1"/>
              <a:t>  -----  </a:t>
            </a:r>
            <a:r>
              <a:rPr lang="zh-CN" altLang="en-US" sz="3200" b="1"/>
              <a:t>表明逻辑门电路输入端状态和输出端状态逻辑对应关系的</a:t>
            </a:r>
            <a:r>
              <a:rPr lang="zh-CN" altLang="en-US" sz="3200" b="1"/>
              <a:t>表。</a:t>
            </a:r>
            <a:endParaRPr lang="zh-CN" altLang="en-US" sz="3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895" y="665480"/>
            <a:ext cx="7716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二、与门电路</a:t>
            </a:r>
            <a:endParaRPr lang="zh-CN" altLang="en-US" sz="36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100455" y="1383665"/>
            <a:ext cx="2540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EB07BE"/>
                </a:solidFill>
                <a:uFillTx/>
              </a:rPr>
              <a:t>2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、工作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原理</a:t>
            </a:r>
            <a:endParaRPr lang="zh-CN" altLang="en-US" sz="3200" b="1" dirty="0">
              <a:solidFill>
                <a:srgbClr val="EB07BE"/>
              </a:solidFill>
              <a:uFillTx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00455" y="212852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④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功能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96035" y="2760345"/>
            <a:ext cx="102457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FF0000"/>
                </a:solidFill>
              </a:rPr>
              <a:t>有</a:t>
            </a:r>
            <a:r>
              <a:rPr lang="en-US" altLang="zh-CN" sz="3200" b="1">
                <a:solidFill>
                  <a:srgbClr val="FF0000"/>
                </a:solidFill>
              </a:rPr>
              <a:t>0</a:t>
            </a:r>
            <a:r>
              <a:rPr lang="zh-CN" altLang="en-US" sz="3200" b="1">
                <a:solidFill>
                  <a:srgbClr val="FF0000"/>
                </a:solidFill>
              </a:rPr>
              <a:t>出</a:t>
            </a:r>
            <a:r>
              <a:rPr lang="en-US" altLang="zh-CN" sz="3200" b="1">
                <a:solidFill>
                  <a:srgbClr val="FF0000"/>
                </a:solidFill>
              </a:rPr>
              <a:t>0</a:t>
            </a:r>
            <a:r>
              <a:rPr lang="zh-CN" altLang="en-US" sz="3200" b="1">
                <a:solidFill>
                  <a:srgbClr val="FF0000"/>
                </a:solidFill>
              </a:rPr>
              <a:t>，全</a:t>
            </a:r>
            <a:r>
              <a:rPr lang="en-US" altLang="zh-CN" sz="3200" b="1">
                <a:solidFill>
                  <a:srgbClr val="FF0000"/>
                </a:solidFill>
              </a:rPr>
              <a:t>1</a:t>
            </a:r>
            <a:r>
              <a:rPr lang="zh-CN" altLang="en-US" sz="3200" b="1">
                <a:solidFill>
                  <a:srgbClr val="FF0000"/>
                </a:solidFill>
              </a:rPr>
              <a:t>出</a:t>
            </a:r>
            <a:r>
              <a:rPr lang="en-US" altLang="zh-CN" sz="3200" b="1">
                <a:solidFill>
                  <a:srgbClr val="FF0000"/>
                </a:solidFill>
              </a:rPr>
              <a:t>1</a:t>
            </a:r>
            <a:r>
              <a:rPr lang="zh-CN" altLang="en-US" sz="3200" b="1">
                <a:solidFill>
                  <a:srgbClr val="FF0000"/>
                </a:solidFill>
              </a:rPr>
              <a:t>。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160" y="3616325"/>
            <a:ext cx="2156460" cy="5334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392170"/>
            <a:ext cx="2617470" cy="1592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895" y="665480"/>
            <a:ext cx="7716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三、或门</a:t>
            </a:r>
            <a:r>
              <a:rPr lang="zh-CN" altLang="en-US" sz="3600" b="1" dirty="0"/>
              <a:t>电路</a:t>
            </a:r>
            <a:endParaRPr lang="zh-CN" altLang="en-US" sz="36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100455" y="1383665"/>
            <a:ext cx="2540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EB07BE"/>
                </a:solidFill>
                <a:uFillTx/>
              </a:rPr>
              <a:t>1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、或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逻辑</a:t>
            </a:r>
            <a:endParaRPr lang="zh-CN" altLang="en-US" sz="3200" b="1" dirty="0">
              <a:solidFill>
                <a:srgbClr val="EB07BE"/>
              </a:solidFill>
              <a:uFillTx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00455" y="212852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①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或逻辑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关系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96035" y="2760345"/>
            <a:ext cx="1024572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当决定一件事情的几个条件中只要有一个条件得到满足，这件事情就会</a:t>
            </a:r>
            <a:r>
              <a:rPr lang="zh-CN" altLang="en-US" sz="3200" b="1"/>
              <a:t>发生。</a:t>
            </a:r>
            <a:endParaRPr lang="zh-CN" altLang="en-US" sz="32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065" y="160020"/>
            <a:ext cx="3291840" cy="245364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00455" y="388493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②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或门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电路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545" y="4336415"/>
            <a:ext cx="3113405" cy="249110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7581265" y="388493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③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符号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210" y="4516755"/>
            <a:ext cx="2400300" cy="13487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895" y="665480"/>
            <a:ext cx="7716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三、或门</a:t>
            </a:r>
            <a:r>
              <a:rPr lang="zh-CN" altLang="en-US" sz="3600" b="1" dirty="0"/>
              <a:t>电路</a:t>
            </a:r>
            <a:endParaRPr lang="zh-CN" altLang="en-US" sz="36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100455" y="1383665"/>
            <a:ext cx="2540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EB07BE"/>
                </a:solidFill>
                <a:uFillTx/>
              </a:rPr>
              <a:t>2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、工作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原理</a:t>
            </a:r>
            <a:endParaRPr lang="zh-CN" altLang="en-US" sz="3200" b="1" dirty="0">
              <a:solidFill>
                <a:srgbClr val="EB07BE"/>
              </a:solidFill>
              <a:uFillTx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00455" y="212852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①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工作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原理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96035" y="2760345"/>
            <a:ext cx="10245725" cy="2061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V</a:t>
            </a:r>
            <a:r>
              <a:rPr lang="en-US" altLang="zh-CN" sz="3200" b="1" baseline="-25000">
                <a:solidFill>
                  <a:schemeClr val="tx1"/>
                </a:solidFill>
                <a:uFillTx/>
              </a:rPr>
              <a:t>A</a:t>
            </a:r>
            <a:r>
              <a:rPr lang="en-US" altLang="zh-CN" sz="3200" b="1"/>
              <a:t> = 0V</a:t>
            </a:r>
            <a:r>
              <a:rPr lang="zh-CN" altLang="en-US" sz="3200" b="1"/>
              <a:t>，</a:t>
            </a:r>
            <a:r>
              <a:rPr lang="en-US" altLang="zh-CN" sz="3200" b="1"/>
              <a:t>V</a:t>
            </a:r>
            <a:r>
              <a:rPr lang="en-US" altLang="zh-CN" sz="3200" b="1" baseline="-25000">
                <a:solidFill>
                  <a:schemeClr val="tx1"/>
                </a:solidFill>
                <a:uFillTx/>
              </a:rPr>
              <a:t>B</a:t>
            </a:r>
            <a:r>
              <a:rPr lang="en-US" altLang="zh-CN" sz="3200" b="1"/>
              <a:t> = 0V</a:t>
            </a:r>
            <a:r>
              <a:rPr lang="zh-CN" altLang="en-US" sz="3200" b="1"/>
              <a:t>，</a:t>
            </a:r>
            <a:r>
              <a:rPr lang="en-US" altLang="zh-CN" sz="3200" b="1"/>
              <a:t>V</a:t>
            </a:r>
            <a:r>
              <a:rPr lang="en-US" altLang="zh-CN" sz="3200" b="1" baseline="-25000">
                <a:solidFill>
                  <a:schemeClr val="tx1"/>
                </a:solidFill>
                <a:uFillTx/>
              </a:rPr>
              <a:t>1</a:t>
            </a:r>
            <a:r>
              <a:rPr lang="zh-CN" altLang="en-US" sz="3200" b="1"/>
              <a:t>、</a:t>
            </a:r>
            <a:r>
              <a:rPr lang="en-US" altLang="zh-CN" sz="3200" b="1"/>
              <a:t>V</a:t>
            </a:r>
            <a:r>
              <a:rPr lang="en-US" altLang="zh-CN" sz="3200" b="1" baseline="-25000">
                <a:solidFill>
                  <a:schemeClr val="tx1"/>
                </a:solidFill>
                <a:uFillTx/>
              </a:rPr>
              <a:t>2</a:t>
            </a:r>
            <a:r>
              <a:rPr lang="zh-CN" altLang="en-US" sz="3200" b="1"/>
              <a:t>均截止，</a:t>
            </a:r>
            <a:r>
              <a:rPr lang="en-US" altLang="zh-CN" sz="3200" b="1"/>
              <a:t>Y = -12V</a:t>
            </a:r>
            <a:r>
              <a:rPr lang="zh-CN" altLang="en-US" sz="3200" b="1"/>
              <a:t>；</a:t>
            </a:r>
            <a:endParaRPr lang="zh-CN" altLang="en-US" sz="3200" b="1"/>
          </a:p>
          <a:p>
            <a:r>
              <a:rPr lang="en-US" altLang="zh-CN" sz="3200" b="1">
                <a:sym typeface="+mn-ea"/>
              </a:rPr>
              <a:t>V</a:t>
            </a:r>
            <a:r>
              <a:rPr lang="en-US" altLang="zh-CN" sz="3200" b="1" baseline="-25000">
                <a:uFillTx/>
                <a:sym typeface="+mn-ea"/>
              </a:rPr>
              <a:t>A</a:t>
            </a:r>
            <a:r>
              <a:rPr lang="en-US" altLang="zh-CN" sz="3200" b="1">
                <a:sym typeface="+mn-ea"/>
              </a:rPr>
              <a:t> = 6V</a:t>
            </a:r>
            <a:r>
              <a:rPr lang="zh-CN" altLang="en-US" sz="3200" b="1">
                <a:sym typeface="+mn-ea"/>
              </a:rPr>
              <a:t>，</a:t>
            </a:r>
            <a:r>
              <a:rPr lang="en-US" altLang="zh-CN" sz="3200" b="1">
                <a:sym typeface="+mn-ea"/>
              </a:rPr>
              <a:t>V</a:t>
            </a:r>
            <a:r>
              <a:rPr lang="en-US" altLang="zh-CN" sz="3200" b="1" baseline="-25000">
                <a:uFillTx/>
                <a:sym typeface="+mn-ea"/>
              </a:rPr>
              <a:t>B</a:t>
            </a:r>
            <a:r>
              <a:rPr lang="en-US" altLang="zh-CN" sz="3200" b="1">
                <a:sym typeface="+mn-ea"/>
              </a:rPr>
              <a:t> = 0V</a:t>
            </a:r>
            <a:r>
              <a:rPr lang="zh-CN" altLang="en-US" sz="3200" b="1">
                <a:sym typeface="+mn-ea"/>
              </a:rPr>
              <a:t>，</a:t>
            </a:r>
            <a:r>
              <a:rPr lang="en-US" altLang="zh-CN" sz="3200" b="1">
                <a:sym typeface="+mn-ea"/>
              </a:rPr>
              <a:t>V</a:t>
            </a:r>
            <a:r>
              <a:rPr lang="en-US" altLang="zh-CN" sz="3200" b="1" baseline="-25000">
                <a:solidFill>
                  <a:schemeClr val="tx1"/>
                </a:solidFill>
                <a:uFillTx/>
                <a:sym typeface="+mn-ea"/>
              </a:rPr>
              <a:t>1</a:t>
            </a:r>
            <a:r>
              <a:rPr lang="zh-CN" altLang="en-US" sz="3200" b="1">
                <a:sym typeface="+mn-ea"/>
              </a:rPr>
              <a:t>导通、</a:t>
            </a:r>
            <a:r>
              <a:rPr lang="en-US" altLang="zh-CN" sz="3200" b="1">
                <a:sym typeface="+mn-ea"/>
              </a:rPr>
              <a:t>V</a:t>
            </a:r>
            <a:r>
              <a:rPr lang="en-US" altLang="zh-CN" sz="3200" b="1" baseline="-25000">
                <a:solidFill>
                  <a:schemeClr val="tx1"/>
                </a:solidFill>
                <a:uFillTx/>
                <a:sym typeface="+mn-ea"/>
              </a:rPr>
              <a:t>2</a:t>
            </a:r>
            <a:r>
              <a:rPr lang="zh-CN" altLang="en-US" sz="3200" b="1">
                <a:sym typeface="+mn-ea"/>
              </a:rPr>
              <a:t>截止，</a:t>
            </a:r>
            <a:r>
              <a:rPr lang="en-US" altLang="zh-CN" sz="3200" b="1">
                <a:sym typeface="+mn-ea"/>
              </a:rPr>
              <a:t>Y = 6V</a:t>
            </a:r>
            <a:r>
              <a:rPr lang="zh-CN" altLang="en-US" sz="3200" b="1">
                <a:sym typeface="+mn-ea"/>
              </a:rPr>
              <a:t>；</a:t>
            </a:r>
            <a:endParaRPr lang="zh-CN" altLang="en-US" sz="3200" b="1">
              <a:sym typeface="+mn-ea"/>
            </a:endParaRPr>
          </a:p>
          <a:p>
            <a:r>
              <a:rPr lang="en-US" altLang="zh-CN" sz="3200" b="1">
                <a:sym typeface="+mn-ea"/>
              </a:rPr>
              <a:t>V</a:t>
            </a:r>
            <a:r>
              <a:rPr lang="en-US" altLang="zh-CN" sz="3200" b="1" baseline="-25000">
                <a:uFillTx/>
                <a:sym typeface="+mn-ea"/>
              </a:rPr>
              <a:t>A</a:t>
            </a:r>
            <a:r>
              <a:rPr lang="en-US" altLang="zh-CN" sz="3200" b="1">
                <a:sym typeface="+mn-ea"/>
              </a:rPr>
              <a:t> = 0V</a:t>
            </a:r>
            <a:r>
              <a:rPr lang="zh-CN" altLang="en-US" sz="3200" b="1">
                <a:sym typeface="+mn-ea"/>
              </a:rPr>
              <a:t>，</a:t>
            </a:r>
            <a:r>
              <a:rPr lang="en-US" altLang="zh-CN" sz="3200" b="1">
                <a:sym typeface="+mn-ea"/>
              </a:rPr>
              <a:t>V</a:t>
            </a:r>
            <a:r>
              <a:rPr lang="en-US" altLang="zh-CN" sz="3200" b="1" baseline="-25000">
                <a:uFillTx/>
                <a:sym typeface="+mn-ea"/>
              </a:rPr>
              <a:t>B</a:t>
            </a:r>
            <a:r>
              <a:rPr lang="en-US" altLang="zh-CN" sz="3200" b="1">
                <a:sym typeface="+mn-ea"/>
              </a:rPr>
              <a:t> = 6V</a:t>
            </a:r>
            <a:r>
              <a:rPr lang="zh-CN" altLang="en-US" sz="3200" b="1">
                <a:sym typeface="+mn-ea"/>
              </a:rPr>
              <a:t>，</a:t>
            </a:r>
            <a:r>
              <a:rPr lang="en-US" altLang="zh-CN" sz="3200" b="1">
                <a:sym typeface="+mn-ea"/>
              </a:rPr>
              <a:t>V</a:t>
            </a:r>
            <a:r>
              <a:rPr lang="en-US" altLang="zh-CN" sz="3200" b="1" baseline="-25000">
                <a:uFillTx/>
                <a:sym typeface="+mn-ea"/>
              </a:rPr>
              <a:t>1</a:t>
            </a:r>
            <a:r>
              <a:rPr lang="zh-CN" altLang="en-US" sz="3200" b="1">
                <a:solidFill>
                  <a:schemeClr val="tx1"/>
                </a:solidFill>
                <a:uFillTx/>
                <a:sym typeface="+mn-ea"/>
              </a:rPr>
              <a:t>截止</a:t>
            </a:r>
            <a:r>
              <a:rPr lang="zh-CN" altLang="en-US" sz="3200" b="1">
                <a:sym typeface="+mn-ea"/>
              </a:rPr>
              <a:t>、</a:t>
            </a:r>
            <a:r>
              <a:rPr lang="en-US" altLang="zh-CN" sz="3200" b="1">
                <a:sym typeface="+mn-ea"/>
              </a:rPr>
              <a:t>V</a:t>
            </a:r>
            <a:r>
              <a:rPr lang="en-US" altLang="zh-CN" sz="3200" b="1" baseline="-25000">
                <a:uFillTx/>
                <a:sym typeface="+mn-ea"/>
              </a:rPr>
              <a:t>2</a:t>
            </a:r>
            <a:r>
              <a:rPr lang="zh-CN" altLang="en-US" sz="3200" b="1">
                <a:solidFill>
                  <a:schemeClr val="tx1"/>
                </a:solidFill>
                <a:uFillTx/>
                <a:sym typeface="+mn-ea"/>
              </a:rPr>
              <a:t>导通</a:t>
            </a:r>
            <a:r>
              <a:rPr lang="zh-CN" altLang="en-US" sz="3200" b="1">
                <a:sym typeface="+mn-ea"/>
              </a:rPr>
              <a:t>，</a:t>
            </a:r>
            <a:r>
              <a:rPr lang="en-US" altLang="zh-CN" sz="3200" b="1">
                <a:sym typeface="+mn-ea"/>
              </a:rPr>
              <a:t>Y = 6V</a:t>
            </a:r>
            <a:r>
              <a:rPr lang="zh-CN" altLang="en-US" sz="3200" b="1">
                <a:sym typeface="+mn-ea"/>
              </a:rPr>
              <a:t>；</a:t>
            </a:r>
            <a:endParaRPr lang="zh-CN" altLang="en-US" sz="3200" b="1">
              <a:sym typeface="+mn-ea"/>
            </a:endParaRPr>
          </a:p>
          <a:p>
            <a:r>
              <a:rPr lang="en-US" altLang="zh-CN" sz="3200" b="1">
                <a:sym typeface="+mn-ea"/>
              </a:rPr>
              <a:t>V</a:t>
            </a:r>
            <a:r>
              <a:rPr lang="en-US" altLang="zh-CN" sz="3200" b="1" baseline="-25000">
                <a:uFillTx/>
                <a:sym typeface="+mn-ea"/>
              </a:rPr>
              <a:t>A</a:t>
            </a:r>
            <a:r>
              <a:rPr lang="en-US" altLang="zh-CN" sz="3200" b="1">
                <a:sym typeface="+mn-ea"/>
              </a:rPr>
              <a:t> = 6V</a:t>
            </a:r>
            <a:r>
              <a:rPr lang="zh-CN" altLang="en-US" sz="3200" b="1">
                <a:sym typeface="+mn-ea"/>
              </a:rPr>
              <a:t>，</a:t>
            </a:r>
            <a:r>
              <a:rPr lang="en-US" altLang="zh-CN" sz="3200" b="1">
                <a:sym typeface="+mn-ea"/>
              </a:rPr>
              <a:t>V</a:t>
            </a:r>
            <a:r>
              <a:rPr lang="en-US" altLang="zh-CN" sz="3200" b="1" baseline="-25000">
                <a:uFillTx/>
                <a:sym typeface="+mn-ea"/>
              </a:rPr>
              <a:t>B</a:t>
            </a:r>
            <a:r>
              <a:rPr lang="en-US" altLang="zh-CN" sz="3200" b="1">
                <a:sym typeface="+mn-ea"/>
              </a:rPr>
              <a:t> = 6V</a:t>
            </a:r>
            <a:r>
              <a:rPr lang="zh-CN" altLang="en-US" sz="3200" b="1">
                <a:sym typeface="+mn-ea"/>
              </a:rPr>
              <a:t>，</a:t>
            </a:r>
            <a:r>
              <a:rPr lang="en-US" altLang="zh-CN" sz="3200" b="1">
                <a:sym typeface="+mn-ea"/>
              </a:rPr>
              <a:t>V</a:t>
            </a:r>
            <a:r>
              <a:rPr lang="en-US" altLang="zh-CN" sz="3200" b="1" baseline="-25000">
                <a:uFillTx/>
                <a:sym typeface="+mn-ea"/>
              </a:rPr>
              <a:t>1</a:t>
            </a:r>
            <a:r>
              <a:rPr lang="zh-CN" altLang="en-US" sz="3200" b="1">
                <a:sym typeface="+mn-ea"/>
              </a:rPr>
              <a:t>、</a:t>
            </a:r>
            <a:r>
              <a:rPr lang="en-US" altLang="zh-CN" sz="3200" b="1">
                <a:sym typeface="+mn-ea"/>
              </a:rPr>
              <a:t>V</a:t>
            </a:r>
            <a:r>
              <a:rPr lang="en-US" altLang="zh-CN" sz="3200" b="1" baseline="-25000">
                <a:uFillTx/>
                <a:sym typeface="+mn-ea"/>
              </a:rPr>
              <a:t>2</a:t>
            </a:r>
            <a:r>
              <a:rPr lang="zh-CN" altLang="en-US" sz="3200" b="1">
                <a:uFillTx/>
                <a:sym typeface="+mn-ea"/>
              </a:rPr>
              <a:t>均导通</a:t>
            </a:r>
            <a:r>
              <a:rPr lang="zh-CN" altLang="en-US" sz="3200" b="1">
                <a:sym typeface="+mn-ea"/>
              </a:rPr>
              <a:t>，</a:t>
            </a:r>
            <a:r>
              <a:rPr lang="en-US" altLang="zh-CN" sz="3200" b="1">
                <a:sym typeface="+mn-ea"/>
              </a:rPr>
              <a:t>Y = 6V</a:t>
            </a:r>
            <a:r>
              <a:rPr lang="zh-CN" altLang="en-US" sz="3200" b="1">
                <a:sym typeface="+mn-ea"/>
              </a:rPr>
              <a:t>。</a:t>
            </a:r>
            <a:endParaRPr lang="zh-CN" altLang="en-US" sz="3200" b="1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00455" y="4855845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②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函数表达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式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036445" y="5632450"/>
            <a:ext cx="16783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Y = A+B</a:t>
            </a:r>
            <a:endParaRPr lang="zh-CN" altLang="en-US" sz="32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895" y="665480"/>
            <a:ext cx="7716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三、或门</a:t>
            </a:r>
            <a:r>
              <a:rPr lang="zh-CN" altLang="en-US" sz="3600" b="1" dirty="0"/>
              <a:t>电路</a:t>
            </a:r>
            <a:endParaRPr lang="zh-CN" altLang="en-US" sz="36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100455" y="1383665"/>
            <a:ext cx="2540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EB07BE"/>
                </a:solidFill>
                <a:uFillTx/>
              </a:rPr>
              <a:t>2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、工作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原理</a:t>
            </a:r>
            <a:endParaRPr lang="zh-CN" altLang="en-US" sz="3200" b="1" dirty="0">
              <a:solidFill>
                <a:srgbClr val="EB07BE"/>
              </a:solidFill>
              <a:uFillTx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00455" y="212852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③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真值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表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870" y="2176145"/>
            <a:ext cx="6318250" cy="3943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895" y="665480"/>
            <a:ext cx="77165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三、或门</a:t>
            </a:r>
            <a:r>
              <a:rPr lang="zh-CN" altLang="en-US" sz="3600" b="1" dirty="0"/>
              <a:t>电路</a:t>
            </a:r>
            <a:endParaRPr lang="zh-CN" altLang="en-US" sz="36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100455" y="1383665"/>
            <a:ext cx="2540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EB07BE"/>
                </a:solidFill>
                <a:uFillTx/>
              </a:rPr>
              <a:t>2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、工作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原理</a:t>
            </a:r>
            <a:endParaRPr lang="zh-CN" altLang="en-US" sz="3200" b="1" dirty="0">
              <a:solidFill>
                <a:srgbClr val="EB07BE"/>
              </a:solidFill>
              <a:uFillTx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00455" y="212852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④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功能：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014855" y="2896235"/>
            <a:ext cx="86512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FF0000"/>
                </a:solidFill>
              </a:rPr>
              <a:t>全</a:t>
            </a:r>
            <a:r>
              <a:rPr lang="en-US" altLang="zh-CN" sz="3200" b="1">
                <a:solidFill>
                  <a:srgbClr val="FF0000"/>
                </a:solidFill>
              </a:rPr>
              <a:t>0</a:t>
            </a:r>
            <a:r>
              <a:rPr lang="zh-CN" altLang="en-US" sz="3200" b="1">
                <a:solidFill>
                  <a:srgbClr val="FF0000"/>
                </a:solidFill>
              </a:rPr>
              <a:t>出</a:t>
            </a:r>
            <a:r>
              <a:rPr lang="en-US" altLang="zh-CN" sz="3200" b="1">
                <a:solidFill>
                  <a:srgbClr val="FF0000"/>
                </a:solidFill>
              </a:rPr>
              <a:t>0</a:t>
            </a:r>
            <a:r>
              <a:rPr lang="zh-CN" altLang="en-US" sz="3200" b="1">
                <a:solidFill>
                  <a:srgbClr val="FF0000"/>
                </a:solidFill>
              </a:rPr>
              <a:t>，有</a:t>
            </a:r>
            <a:r>
              <a:rPr lang="en-US" altLang="zh-CN" sz="3200" b="1">
                <a:solidFill>
                  <a:srgbClr val="FF0000"/>
                </a:solidFill>
              </a:rPr>
              <a:t>1</a:t>
            </a:r>
            <a:r>
              <a:rPr lang="zh-CN" altLang="en-US" sz="3200" b="1">
                <a:solidFill>
                  <a:srgbClr val="FF0000"/>
                </a:solidFill>
              </a:rPr>
              <a:t>出</a:t>
            </a:r>
            <a:r>
              <a:rPr lang="en-US" altLang="zh-CN" sz="3200" b="1">
                <a:solidFill>
                  <a:srgbClr val="FF0000"/>
                </a:solidFill>
              </a:rPr>
              <a:t>1</a:t>
            </a:r>
            <a:r>
              <a:rPr lang="zh-CN" altLang="en-US" sz="3200" b="1">
                <a:solidFill>
                  <a:srgbClr val="FF0000"/>
                </a:solidFill>
              </a:rPr>
              <a:t>。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100455" y="3529965"/>
            <a:ext cx="865124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02184F"/>
                </a:solidFill>
              </a:rPr>
              <a:t>说明：输入端不论式几个，逻辑关系是相同</a:t>
            </a:r>
            <a:r>
              <a:rPr lang="zh-CN" altLang="en-US" sz="3200" b="1">
                <a:solidFill>
                  <a:srgbClr val="02184F"/>
                </a:solidFill>
              </a:rPr>
              <a:t>的。</a:t>
            </a:r>
            <a:endParaRPr lang="zh-CN" altLang="en-US" sz="3200" b="1">
              <a:solidFill>
                <a:srgbClr val="02184F"/>
              </a:solidFill>
            </a:endParaRPr>
          </a:p>
          <a:p>
            <a:r>
              <a:rPr lang="zh-CN" altLang="en-US" sz="3200" b="1">
                <a:solidFill>
                  <a:srgbClr val="02184F"/>
                </a:solidFill>
              </a:rPr>
              <a:t>例：</a:t>
            </a:r>
            <a:r>
              <a:rPr lang="en-US" altLang="zh-CN" sz="3200" b="1">
                <a:solidFill>
                  <a:srgbClr val="02184F"/>
                </a:solidFill>
              </a:rPr>
              <a:t>Y = A + B + C + </a:t>
            </a:r>
            <a:r>
              <a:rPr lang="en-US" altLang="zh-CN" sz="3200" b="1">
                <a:solidFill>
                  <a:srgbClr val="02184F"/>
                </a:solidFill>
              </a:rPr>
              <a:t>D</a:t>
            </a:r>
            <a:endParaRPr lang="en-US" altLang="zh-CN" sz="3200" b="1">
              <a:solidFill>
                <a:srgbClr val="02184F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340" y="4336415"/>
            <a:ext cx="3373755" cy="20345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895" y="665480"/>
            <a:ext cx="32023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四、</a:t>
            </a:r>
            <a:r>
              <a:rPr lang="zh-CN" altLang="en-US" sz="3600" b="1" dirty="0"/>
              <a:t>非门</a:t>
            </a:r>
            <a:r>
              <a:rPr lang="zh-CN" altLang="en-US" sz="3600" b="1" dirty="0"/>
              <a:t>电路</a:t>
            </a:r>
            <a:endParaRPr lang="zh-CN" altLang="en-US" sz="36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1100455" y="1383665"/>
            <a:ext cx="2540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EB07BE"/>
                </a:solidFill>
                <a:uFillTx/>
              </a:rPr>
              <a:t>1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、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非逻辑</a:t>
            </a:r>
            <a:endParaRPr lang="zh-CN" altLang="en-US" sz="3200" b="1" dirty="0">
              <a:solidFill>
                <a:srgbClr val="EB07BE"/>
              </a:solidFill>
              <a:uFillTx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00455" y="212852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①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或逻辑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关系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96035" y="2760345"/>
            <a:ext cx="48774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事情和条件总是相反</a:t>
            </a:r>
            <a:r>
              <a:rPr lang="zh-CN" altLang="en-US" sz="3200" b="1"/>
              <a:t>状态。</a:t>
            </a:r>
            <a:endParaRPr lang="zh-CN" altLang="en-US" sz="3200" b="1"/>
          </a:p>
        </p:txBody>
      </p:sp>
      <p:sp>
        <p:nvSpPr>
          <p:cNvPr id="11" name="文本框 10"/>
          <p:cNvSpPr txBox="1"/>
          <p:nvPr/>
        </p:nvSpPr>
        <p:spPr>
          <a:xfrm>
            <a:off x="1100455" y="3382645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②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非门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电路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00455" y="426466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③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符号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1220" y="15875"/>
            <a:ext cx="4574540" cy="313626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210" y="4871085"/>
            <a:ext cx="3025775" cy="177165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429375" y="2712085"/>
            <a:ext cx="2540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EB07BE"/>
                </a:solidFill>
                <a:uFillTx/>
              </a:rPr>
              <a:t>2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、工作</a:t>
            </a:r>
            <a:r>
              <a:rPr lang="zh-CN" altLang="en-US" sz="3200" b="1" dirty="0">
                <a:solidFill>
                  <a:srgbClr val="EB07BE"/>
                </a:solidFill>
                <a:uFillTx/>
              </a:rPr>
              <a:t>原理</a:t>
            </a:r>
            <a:endParaRPr lang="zh-CN" altLang="en-US" sz="3200" b="1" dirty="0">
              <a:solidFill>
                <a:srgbClr val="EB07BE"/>
              </a:solidFill>
              <a:uFillTx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572885" y="3358515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①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工作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原理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918325" y="3976370"/>
            <a:ext cx="526923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/>
              <a:t>V</a:t>
            </a:r>
            <a:r>
              <a:rPr lang="en-US" altLang="zh-CN" sz="3200" b="1" baseline="-25000">
                <a:solidFill>
                  <a:schemeClr val="tx1"/>
                </a:solidFill>
                <a:uFillTx/>
              </a:rPr>
              <a:t>A</a:t>
            </a:r>
            <a:r>
              <a:rPr lang="en-US" altLang="zh-CN" sz="3200" b="1"/>
              <a:t> = 6V</a:t>
            </a:r>
            <a:r>
              <a:rPr lang="zh-CN" altLang="en-US" sz="3200" b="1"/>
              <a:t>，</a:t>
            </a:r>
            <a:r>
              <a:rPr lang="en-US" altLang="zh-CN" sz="3200" b="1"/>
              <a:t>V</a:t>
            </a:r>
            <a:r>
              <a:rPr lang="zh-CN" altLang="en-US" sz="3200" b="1"/>
              <a:t>导通，</a:t>
            </a:r>
            <a:r>
              <a:rPr lang="en-US" altLang="zh-CN" sz="3200" b="1"/>
              <a:t>Y = 0</a:t>
            </a:r>
            <a:r>
              <a:rPr lang="zh-CN" altLang="en-US" sz="3200" b="1"/>
              <a:t>；</a:t>
            </a:r>
            <a:endParaRPr lang="zh-CN" altLang="en-US" sz="3200" b="1"/>
          </a:p>
          <a:p>
            <a:r>
              <a:rPr lang="en-US" altLang="zh-CN" sz="3200" b="1">
                <a:sym typeface="+mn-ea"/>
              </a:rPr>
              <a:t>V</a:t>
            </a:r>
            <a:r>
              <a:rPr lang="en-US" altLang="zh-CN" sz="3200" b="1" baseline="-25000">
                <a:uFillTx/>
                <a:sym typeface="+mn-ea"/>
              </a:rPr>
              <a:t>A</a:t>
            </a:r>
            <a:r>
              <a:rPr lang="en-US" altLang="zh-CN" sz="3200" b="1">
                <a:sym typeface="+mn-ea"/>
              </a:rPr>
              <a:t> = 0V</a:t>
            </a:r>
            <a:r>
              <a:rPr lang="zh-CN" altLang="en-US" sz="3200" b="1">
                <a:sym typeface="+mn-ea"/>
              </a:rPr>
              <a:t>，</a:t>
            </a:r>
            <a:r>
              <a:rPr lang="en-US" altLang="zh-CN" sz="3200" b="1">
                <a:sym typeface="+mn-ea"/>
              </a:rPr>
              <a:t>V</a:t>
            </a:r>
            <a:r>
              <a:rPr lang="zh-CN" altLang="en-US" sz="3200" b="1">
                <a:sym typeface="+mn-ea"/>
              </a:rPr>
              <a:t>截止，</a:t>
            </a:r>
            <a:r>
              <a:rPr lang="en-US" altLang="zh-CN" sz="3200" b="1">
                <a:sym typeface="+mn-ea"/>
              </a:rPr>
              <a:t>Y = V</a:t>
            </a:r>
            <a:r>
              <a:rPr lang="en-US" altLang="zh-CN" sz="3200" b="1" baseline="-25000">
                <a:solidFill>
                  <a:schemeClr val="tx1"/>
                </a:solidFill>
                <a:uFillTx/>
                <a:sym typeface="+mn-ea"/>
              </a:rPr>
              <a:t>G</a:t>
            </a:r>
            <a:r>
              <a:rPr lang="zh-CN" altLang="en-US" sz="3200" b="1">
                <a:sym typeface="+mn-ea"/>
              </a:rPr>
              <a:t>；</a:t>
            </a:r>
            <a:endParaRPr lang="zh-CN" altLang="en-US" sz="3200" b="1"/>
          </a:p>
        </p:txBody>
      </p:sp>
      <p:sp>
        <p:nvSpPr>
          <p:cNvPr id="18" name="文本框 17"/>
          <p:cNvSpPr txBox="1"/>
          <p:nvPr/>
        </p:nvSpPr>
        <p:spPr>
          <a:xfrm>
            <a:off x="6572885" y="5053330"/>
            <a:ext cx="40894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②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逻辑函数式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为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930" y="5776595"/>
            <a:ext cx="1600835" cy="820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10895" y="665480"/>
            <a:ext cx="32023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四、</a:t>
            </a:r>
            <a:r>
              <a:rPr lang="zh-CN" altLang="en-US" sz="3600" b="1" dirty="0"/>
              <a:t>非门</a:t>
            </a:r>
            <a:r>
              <a:rPr lang="zh-CN" altLang="en-US" sz="3600" b="1" dirty="0"/>
              <a:t>电路</a:t>
            </a:r>
            <a:endParaRPr lang="zh-CN" altLang="en-US" sz="36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100455" y="1496695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③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真值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表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00455" y="4264660"/>
            <a:ext cx="3006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 dirty="0">
                <a:solidFill>
                  <a:srgbClr val="B72DD9"/>
                </a:solidFill>
                <a:uFillTx/>
              </a:rPr>
              <a:t>④</a:t>
            </a:r>
            <a:r>
              <a:rPr lang="en-US" altLang="zh-CN" sz="3200" b="1" dirty="0">
                <a:solidFill>
                  <a:srgbClr val="B72DD9"/>
                </a:solidFill>
                <a:uFillTx/>
              </a:rPr>
              <a:t>.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逻辑</a:t>
            </a:r>
            <a:r>
              <a:rPr lang="zh-CN" altLang="en-US" sz="3200" b="1" dirty="0">
                <a:solidFill>
                  <a:srgbClr val="B72DD9"/>
                </a:solidFill>
                <a:uFillTx/>
              </a:rPr>
              <a:t>功能：</a:t>
            </a:r>
            <a:endParaRPr lang="zh-CN" altLang="en-US" sz="3200" b="1" dirty="0">
              <a:solidFill>
                <a:srgbClr val="B72DD9"/>
              </a:solidFill>
              <a:uFillTx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0815" y="1456055"/>
            <a:ext cx="4800600" cy="298704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1748790" y="4984750"/>
            <a:ext cx="48774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rgbClr val="FF0000"/>
                </a:solidFill>
              </a:rPr>
              <a:t>有</a:t>
            </a:r>
            <a:r>
              <a:rPr lang="en-US" altLang="zh-CN" sz="3200" b="1">
                <a:solidFill>
                  <a:srgbClr val="FF0000"/>
                </a:solidFill>
              </a:rPr>
              <a:t>0</a:t>
            </a:r>
            <a:r>
              <a:rPr lang="zh-CN" altLang="en-US" sz="3200" b="1">
                <a:solidFill>
                  <a:srgbClr val="FF0000"/>
                </a:solidFill>
              </a:rPr>
              <a:t>出</a:t>
            </a:r>
            <a:r>
              <a:rPr lang="en-US" altLang="zh-CN" sz="3200" b="1">
                <a:solidFill>
                  <a:srgbClr val="FF0000"/>
                </a:solidFill>
              </a:rPr>
              <a:t>1</a:t>
            </a:r>
            <a:r>
              <a:rPr lang="zh-CN" altLang="en-US" sz="3200" b="1">
                <a:solidFill>
                  <a:srgbClr val="FF0000"/>
                </a:solidFill>
              </a:rPr>
              <a:t>，有</a:t>
            </a:r>
            <a:r>
              <a:rPr lang="en-US" altLang="zh-CN" sz="3200" b="1">
                <a:solidFill>
                  <a:srgbClr val="FF0000"/>
                </a:solidFill>
              </a:rPr>
              <a:t>1</a:t>
            </a:r>
            <a:r>
              <a:rPr lang="zh-CN" altLang="en-US" sz="3200" b="1">
                <a:solidFill>
                  <a:srgbClr val="FF0000"/>
                </a:solidFill>
              </a:rPr>
              <a:t>出</a:t>
            </a:r>
            <a:r>
              <a:rPr lang="en-US" altLang="zh-CN" sz="3200" b="1">
                <a:solidFill>
                  <a:srgbClr val="FF0000"/>
                </a:solidFill>
              </a:rPr>
              <a:t>0</a:t>
            </a:r>
            <a:r>
              <a:rPr lang="zh-CN" altLang="en-US" sz="3200" b="1">
                <a:solidFill>
                  <a:srgbClr val="FF0000"/>
                </a:solidFill>
              </a:rPr>
              <a:t>。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445" y="598805"/>
            <a:ext cx="8420100" cy="60350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741535" y="598805"/>
            <a:ext cx="20675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与逻辑</a:t>
            </a:r>
            <a:r>
              <a:rPr lang="zh-CN" altLang="en-US" sz="2400" b="1">
                <a:solidFill>
                  <a:srgbClr val="FF0000"/>
                </a:solidFill>
              </a:rPr>
              <a:t>功能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501765" y="1167765"/>
            <a:ext cx="23463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与非逻辑</a:t>
            </a:r>
            <a:r>
              <a:rPr lang="zh-CN" altLang="en-US" sz="2400" b="1">
                <a:solidFill>
                  <a:srgbClr val="FF0000"/>
                </a:solidFill>
              </a:rPr>
              <a:t>功能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67980" y="3903980"/>
            <a:ext cx="28930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有</a:t>
            </a:r>
            <a:r>
              <a:rPr lang="en-US" altLang="zh-CN" sz="2400" b="1">
                <a:solidFill>
                  <a:srgbClr val="FF0000"/>
                </a:solidFill>
              </a:rPr>
              <a:t>1</a:t>
            </a:r>
            <a:r>
              <a:rPr lang="zh-CN" altLang="en-US" sz="2400" b="1">
                <a:solidFill>
                  <a:srgbClr val="FF0000"/>
                </a:solidFill>
              </a:rPr>
              <a:t>出</a:t>
            </a:r>
            <a:r>
              <a:rPr lang="en-US" altLang="zh-CN" sz="2400" b="1">
                <a:solidFill>
                  <a:srgbClr val="FF0000"/>
                </a:solidFill>
              </a:rPr>
              <a:t>1</a:t>
            </a:r>
            <a:r>
              <a:rPr lang="zh-CN" altLang="en-US" sz="2400" b="1">
                <a:solidFill>
                  <a:srgbClr val="FF0000"/>
                </a:solidFill>
              </a:rPr>
              <a:t>，全</a:t>
            </a:r>
            <a:r>
              <a:rPr lang="en-US" altLang="zh-CN" sz="2400" b="1">
                <a:solidFill>
                  <a:srgbClr val="FF0000"/>
                </a:solidFill>
              </a:rPr>
              <a:t>0</a:t>
            </a:r>
            <a:r>
              <a:rPr lang="zh-CN" altLang="en-US" sz="2400" b="1">
                <a:solidFill>
                  <a:srgbClr val="FF0000"/>
                </a:solidFill>
              </a:rPr>
              <a:t>出</a:t>
            </a:r>
            <a:r>
              <a:rPr lang="en-US" altLang="zh-CN" sz="2400" b="1">
                <a:solidFill>
                  <a:srgbClr val="FF0000"/>
                </a:solidFill>
              </a:rPr>
              <a:t>0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124960" y="4624070"/>
            <a:ext cx="12325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Y = A+</a:t>
            </a:r>
            <a:r>
              <a:rPr lang="en-US" altLang="zh-CN" sz="2400" b="1">
                <a:solidFill>
                  <a:srgbClr val="FF0000"/>
                </a:solidFill>
              </a:rPr>
              <a:t>B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1" grpId="0"/>
      <p:bldP spid="11" grpId="1"/>
      <p:bldP spid="12" grpId="0"/>
      <p:bldP spid="12" grpId="1"/>
      <p:bldP spid="13" grpId="0"/>
      <p:bldP spid="13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690" y="663575"/>
            <a:ext cx="6979920" cy="57988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180590" y="1816100"/>
            <a:ext cx="20675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与逻辑</a:t>
            </a:r>
            <a:r>
              <a:rPr lang="zh-CN" altLang="en-US" sz="2400" b="1">
                <a:solidFill>
                  <a:srgbClr val="FF0000"/>
                </a:solidFill>
              </a:rPr>
              <a:t>关系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772660" y="3903980"/>
            <a:ext cx="6032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与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6" grpId="0"/>
      <p:bldP spid="16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690" y="520065"/>
            <a:ext cx="8295640" cy="62255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108835" y="1023620"/>
            <a:ext cx="5289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C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9885680" y="1959610"/>
                <a:ext cx="1834515" cy="593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3200" b="1">
                    <a:solidFill>
                      <a:srgbClr val="FF0000"/>
                    </a:solidFill>
                  </a:rPr>
                  <a:t>Y 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2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US" altLang="zh-CN" sz="32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lang="en-US" altLang="zh-CN" sz="3200" b="1">
                    <a:solidFill>
                      <a:srgbClr val="FF0000"/>
                    </a:solidFill>
                  </a:rPr>
                  <a:t> </a:t>
                </a:r>
                <a:endParaRPr lang="en-US" altLang="zh-CN" sz="3200" b="1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5680" y="1959610"/>
                <a:ext cx="1834515" cy="593725"/>
              </a:xfrm>
              <a:prstGeom prst="rect">
                <a:avLst/>
              </a:prstGeom>
              <a:blipFill rotWithShape="1">
                <a:blip r:embed="rId3"/>
                <a:stretch>
                  <a:fillRect b="-3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/>
        </p:nvSpPr>
        <p:spPr>
          <a:xfrm>
            <a:off x="6789420" y="3976370"/>
            <a:ext cx="4171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FF0000"/>
                </a:solidFill>
              </a:rPr>
              <a:t>A 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6" grpId="0"/>
      <p:bldP spid="6" grpId="1"/>
      <p:bldP spid="14" grpId="0"/>
      <p:bldP spid="14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445" y="735965"/>
            <a:ext cx="7741920" cy="49911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453245" y="591820"/>
            <a:ext cx="1990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FF0000"/>
                </a:solidFill>
              </a:rPr>
              <a:t>Y =A+B+</a:t>
            </a:r>
            <a:r>
              <a:rPr lang="en-US" altLang="zh-CN" sz="3200" b="1">
                <a:solidFill>
                  <a:srgbClr val="FF0000"/>
                </a:solidFill>
              </a:rPr>
              <a:t>C 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722360" y="1887855"/>
            <a:ext cx="4013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FF0000"/>
                </a:solidFill>
              </a:rPr>
              <a:t>B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1" grpId="0"/>
      <p:bldP spid="11" grpId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205" y="676910"/>
            <a:ext cx="8358505" cy="419544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数字电路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24065" y="2247900"/>
            <a:ext cx="505206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Y =ABCD</a:t>
            </a:r>
            <a:endParaRPr lang="en-US" altLang="zh-CN" sz="2400" b="1">
              <a:solidFill>
                <a:srgbClr val="FF0000"/>
              </a:solidFill>
            </a:endParaRPr>
          </a:p>
          <a:p>
            <a:r>
              <a:rPr lang="zh-CN" altLang="en-US" sz="2400" b="1">
                <a:solidFill>
                  <a:srgbClr val="FF0000"/>
                </a:solidFill>
              </a:rPr>
              <a:t>逻辑功能：有</a:t>
            </a:r>
            <a:r>
              <a:rPr lang="en-US" altLang="zh-CN" sz="2400" b="1">
                <a:solidFill>
                  <a:srgbClr val="FF0000"/>
                </a:solidFill>
              </a:rPr>
              <a:t>0</a:t>
            </a:r>
            <a:r>
              <a:rPr lang="zh-CN" altLang="en-US" sz="2400" b="1">
                <a:solidFill>
                  <a:srgbClr val="FF0000"/>
                </a:solidFill>
              </a:rPr>
              <a:t>出</a:t>
            </a:r>
            <a:r>
              <a:rPr lang="en-US" altLang="zh-CN" sz="2400" b="1">
                <a:solidFill>
                  <a:srgbClr val="FF0000"/>
                </a:solidFill>
              </a:rPr>
              <a:t>0</a:t>
            </a:r>
            <a:r>
              <a:rPr lang="zh-CN" altLang="en-US" sz="2400" b="1">
                <a:solidFill>
                  <a:srgbClr val="FF0000"/>
                </a:solidFill>
              </a:rPr>
              <a:t>，全</a:t>
            </a:r>
            <a:r>
              <a:rPr lang="en-US" altLang="zh-CN" sz="2400" b="1">
                <a:solidFill>
                  <a:srgbClr val="FF0000"/>
                </a:solidFill>
              </a:rPr>
              <a:t>1</a:t>
            </a:r>
            <a:r>
              <a:rPr lang="zh-CN" altLang="en-US" sz="2400" b="1">
                <a:solidFill>
                  <a:srgbClr val="FF0000"/>
                </a:solidFill>
              </a:rPr>
              <a:t>出</a:t>
            </a:r>
            <a:r>
              <a:rPr lang="en-US" altLang="zh-CN" sz="2400" b="1">
                <a:solidFill>
                  <a:srgbClr val="FF0000"/>
                </a:solidFill>
              </a:rPr>
              <a:t>1</a:t>
            </a:r>
            <a:r>
              <a:rPr lang="en-US" altLang="zh-CN" sz="3200" b="1">
                <a:solidFill>
                  <a:srgbClr val="FF0000"/>
                </a:solidFill>
              </a:rPr>
              <a:t> </a:t>
            </a:r>
            <a:endParaRPr lang="en-US" altLang="zh-CN" sz="3200" b="1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975" y="3183890"/>
            <a:ext cx="2865120" cy="1615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文本占位符 3"/>
          <p:cNvSpPr>
            <a:spLocks noGrp="1"/>
          </p:cNvSpPr>
          <p:nvPr/>
        </p:nvSpPr>
        <p:spPr>
          <a:xfrm>
            <a:off x="850730" y="695080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 </a:t>
            </a:r>
            <a:endParaRPr kumimoji="1" lang="zh-CN" altLang="en-US" dirty="0"/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3705249" y="1345126"/>
            <a:ext cx="5040560" cy="398818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ym typeface="+mn-ea"/>
              </a:rPr>
              <a:t>数字电路的特点</a:t>
            </a:r>
            <a:endParaRPr lang="en-US" altLang="zh-CN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ym typeface="+mn-ea"/>
              </a:rPr>
              <a:t>逻辑电路规定</a:t>
            </a:r>
            <a:endParaRPr lang="en-US" altLang="zh-CN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ym typeface="+mn-ea"/>
              </a:rPr>
              <a:t>与门电路</a:t>
            </a:r>
            <a:endParaRPr lang="zh-CN" alt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ym typeface="+mn-ea"/>
              </a:rPr>
              <a:t>或门电路</a:t>
            </a:r>
            <a:endParaRPr lang="zh-CN" altLang="en-US" sz="40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000" dirty="0">
                <a:sym typeface="+mn-ea"/>
              </a:rPr>
              <a:t>非门电路</a:t>
            </a:r>
            <a:endParaRPr lang="en-US" altLang="zh-CN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TABLE_ENDDRAG_ORIGIN_RECT" val="302*242"/>
  <p:tag name="TABLE_ENDDRAG_RECT" val="482*291*302*242"/>
</p:tagLst>
</file>

<file path=ppt/tags/tag2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  <p:tag name="commondata" val="eyJoZGlkIjoiN2QzODcyNGFhZmEzNjVhZTY5ZjNiMTM1MDZiMzE4OWMifQ==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2592</Words>
  <Application>WPS 演示</Application>
  <PresentationFormat>自定义</PresentationFormat>
  <Paragraphs>354</Paragraphs>
  <Slides>28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51" baseType="lpstr">
      <vt:lpstr>Arial</vt:lpstr>
      <vt:lpstr>宋体</vt:lpstr>
      <vt:lpstr>Wingdings</vt:lpstr>
      <vt:lpstr>Calibri</vt:lpstr>
      <vt:lpstr>Helvetica Neue</vt:lpstr>
      <vt:lpstr>汉仪书宋二KW</vt:lpstr>
      <vt:lpstr>印品黑体</vt:lpstr>
      <vt:lpstr>汉仪中黑KW</vt:lpstr>
      <vt:lpstr>微软雅黑</vt:lpstr>
      <vt:lpstr>汉仪旗黑</vt:lpstr>
      <vt:lpstr>字魂73号-江南手书</vt:lpstr>
      <vt:lpstr>Alibaba PuHuiTi R</vt:lpstr>
      <vt:lpstr>苹方-简</vt:lpstr>
      <vt:lpstr>黑体</vt:lpstr>
      <vt:lpstr>Alibaba PuHuiTi B</vt:lpstr>
      <vt:lpstr>阿里巴巴普惠体</vt:lpstr>
      <vt:lpstr>Times New Roman</vt:lpstr>
      <vt:lpstr>宋体</vt:lpstr>
      <vt:lpstr>Arial Unicode MS</vt:lpstr>
      <vt:lpstr>Cambria Math</vt:lpstr>
      <vt:lpstr>Kingsoft Math</vt:lpstr>
      <vt:lpstr>DejaVu Math TeX Gyre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862</cp:revision>
  <dcterms:created xsi:type="dcterms:W3CDTF">2026-03-04T23:17:47Z</dcterms:created>
  <dcterms:modified xsi:type="dcterms:W3CDTF">2026-03-04T23:17:47Z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FCA88555D3D44735BAA1F56722F3B997</vt:lpwstr>
  </property>
</Properties>
</file>