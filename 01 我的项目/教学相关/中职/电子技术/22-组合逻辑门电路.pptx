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18"/>
  </p:handoutMasterIdLst>
  <p:sldIdLst>
    <p:sldId id="3705" r:id="rId3"/>
    <p:sldId id="3701" r:id="rId4"/>
    <p:sldId id="3646" r:id="rId5"/>
    <p:sldId id="3752" r:id="rId7"/>
    <p:sldId id="3769" r:id="rId8"/>
    <p:sldId id="3770" r:id="rId9"/>
    <p:sldId id="3771" r:id="rId10"/>
    <p:sldId id="3779" r:id="rId11"/>
    <p:sldId id="3780" r:id="rId12"/>
    <p:sldId id="3781" r:id="rId13"/>
    <p:sldId id="3782" r:id="rId14"/>
    <p:sldId id="3712" r:id="rId15"/>
    <p:sldId id="3700" r:id="rId16"/>
    <p:sldId id="3702" r:id="rId17"/>
  </p:sldIdLst>
  <p:sldSz cx="12858750" cy="7232650"/>
  <p:notesSz cx="6858000" cy="9144000"/>
  <p:custDataLst>
    <p:tags r:id="rId2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7" userDrawn="1">
          <p15:clr>
            <a:srgbClr val="A4A3A4"/>
          </p15:clr>
        </p15:guide>
        <p15:guide id="3" pos="4115" userDrawn="1">
          <p15:clr>
            <a:srgbClr val="A4A3A4"/>
          </p15:clr>
        </p15:guide>
        <p15:guide id="4" pos="506" userDrawn="1">
          <p15:clr>
            <a:srgbClr val="A4A3A4"/>
          </p15:clr>
        </p15:guide>
        <p15:guide id="5" pos="7528" userDrawn="1">
          <p15:clr>
            <a:srgbClr val="A4A3A4"/>
          </p15:clr>
        </p15:guide>
        <p15:guide id="6" pos="68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42FF"/>
    <a:srgbClr val="02184F"/>
    <a:srgbClr val="B72DD9"/>
    <a:srgbClr val="EB07BE"/>
    <a:srgbClr val="9A12E0"/>
    <a:srgbClr val="FFC000"/>
    <a:srgbClr val="FFBF00"/>
    <a:srgbClr val="FFFFFF"/>
    <a:srgbClr val="066197"/>
    <a:srgbClr val="0C6A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6366" autoAdjust="0"/>
  </p:normalViewPr>
  <p:slideViewPr>
    <p:cSldViewPr showGuides="1">
      <p:cViewPr varScale="1">
        <p:scale>
          <a:sx n="63" d="100"/>
          <a:sy n="63" d="100"/>
        </p:scale>
        <p:origin x="86" y="490"/>
      </p:cViewPr>
      <p:guideLst>
        <p:guide orient="horz" pos="218"/>
        <p:guide orient="horz" pos="4137"/>
        <p:guide pos="4115"/>
        <p:guide pos="506"/>
        <p:guide pos="7528"/>
        <p:guide pos="6856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9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8.png"/><Relationship Id="rId2" Type="http://schemas.openxmlformats.org/officeDocument/2006/relationships/image" Target="../media/image35.png"/><Relationship Id="rId1" Type="http://schemas.openxmlformats.org/officeDocument/2006/relationships/image" Target="../media/image34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8.jpeg"/><Relationship Id="rId3" Type="http://schemas.openxmlformats.org/officeDocument/2006/relationships/image" Target="../media/image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组合逻辑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门电路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57254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8775" y="1240061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考纲要求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08895" y="2032149"/>
            <a:ext cx="95255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</a:t>
            </a:r>
            <a:r>
              <a:rPr lang="zh-CN" altLang="en-US" sz="3200" b="1" dirty="0"/>
              <a:t>、理解电路中电位的概念及其单位。</a:t>
            </a:r>
            <a:endParaRPr lang="en-US" altLang="zh-CN" sz="3200" b="1" dirty="0"/>
          </a:p>
          <a:p>
            <a:r>
              <a:rPr lang="en-US" altLang="zh-CN" sz="3200" b="1" kern="100" dirty="0">
                <a:effectLst/>
                <a:latin typeface="Calibri" panose="020F0502020204030204" pitchFamily="34" charset="0"/>
                <a:ea typeface="宋体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kern="100" dirty="0">
                <a:effectLst/>
                <a:latin typeface="Calibri" panose="020F0502020204030204" pitchFamily="34" charset="0"/>
                <a:ea typeface="宋体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3200" b="1" kern="100" dirty="0">
                <a:effectLst/>
                <a:latin typeface="Calibri" panose="020F0502020204030204" pitchFamily="34" charset="0"/>
                <a:ea typeface="宋体" pitchFamily="2" charset="-122"/>
                <a:cs typeface="Times New Roman" panose="02020603050405020304" pitchFamily="18" charset="0"/>
              </a:rPr>
              <a:t>掌握电路中各点电位及两点间电压的分析和计算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09060" y="1858645"/>
            <a:ext cx="3295015" cy="303212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与</a:t>
            </a:r>
            <a:r>
              <a:rPr lang="zh-CN" altLang="en-US" sz="4000" dirty="0"/>
              <a:t>非门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或</a:t>
            </a:r>
            <a:r>
              <a:rPr lang="zh-CN" altLang="en-US" sz="4000" dirty="0"/>
              <a:t>非门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异</a:t>
            </a:r>
            <a:r>
              <a:rPr lang="zh-CN" altLang="en-US" sz="4000" dirty="0"/>
              <a:t>或门</a:t>
            </a:r>
            <a:endParaRPr lang="zh-CN" alt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716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一、与</a:t>
            </a:r>
            <a:r>
              <a:rPr lang="zh-CN" altLang="en-US" sz="3600" b="1" dirty="0"/>
              <a:t>非门</a:t>
            </a:r>
            <a:endParaRPr lang="zh-CN" altLang="en-US" sz="36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00455" y="1482725"/>
            <a:ext cx="39941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①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逻辑函数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表达式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296035" y="2042795"/>
                <a:ext cx="3122930" cy="593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200" b="1"/>
                  <a:t>Y 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US" altLang="zh-CN" sz="3200" i="1" dirty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3200" b="1"/>
                  <a:t> </a:t>
                </a:r>
                <a:endParaRPr lang="en-US" altLang="zh-CN" sz="3200" b="1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035" y="2042795"/>
                <a:ext cx="3122930" cy="593725"/>
              </a:xfrm>
              <a:prstGeom prst="rect">
                <a:avLst/>
              </a:prstGeom>
              <a:blipFill rotWithShape="1">
                <a:blip r:embed="rId2"/>
                <a:stretch>
                  <a:fillRect b="-3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1083945" y="268605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②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符号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83945" y="432562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③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功能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355" y="3258820"/>
            <a:ext cx="3138170" cy="104648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423035" y="4987925"/>
            <a:ext cx="31229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FF0000"/>
                </a:solidFill>
              </a:rPr>
              <a:t>有</a:t>
            </a:r>
            <a:r>
              <a:rPr lang="en-US" altLang="zh-CN" sz="3200" b="1">
                <a:solidFill>
                  <a:srgbClr val="FF0000"/>
                </a:solidFill>
              </a:rPr>
              <a:t>0</a:t>
            </a:r>
            <a:r>
              <a:rPr lang="zh-CN" altLang="en-US" sz="3200" b="1">
                <a:solidFill>
                  <a:srgbClr val="FF0000"/>
                </a:solidFill>
              </a:rPr>
              <a:t>出</a:t>
            </a:r>
            <a:r>
              <a:rPr lang="en-US" altLang="zh-CN" sz="3200" b="1">
                <a:solidFill>
                  <a:srgbClr val="FF0000"/>
                </a:solidFill>
              </a:rPr>
              <a:t>1</a:t>
            </a:r>
            <a:r>
              <a:rPr lang="zh-CN" altLang="en-US" sz="3200" b="1">
                <a:solidFill>
                  <a:srgbClr val="FF0000"/>
                </a:solidFill>
              </a:rPr>
              <a:t>，全</a:t>
            </a:r>
            <a:r>
              <a:rPr lang="en-US" altLang="zh-CN" sz="3200" b="1">
                <a:solidFill>
                  <a:srgbClr val="FF0000"/>
                </a:solidFill>
              </a:rPr>
              <a:t>1</a:t>
            </a:r>
            <a:r>
              <a:rPr lang="zh-CN" altLang="en-US" sz="3200" b="1">
                <a:solidFill>
                  <a:srgbClr val="FF0000"/>
                </a:solidFill>
              </a:rPr>
              <a:t>出</a:t>
            </a:r>
            <a:r>
              <a:rPr lang="en-US" altLang="zh-CN" sz="3200" b="1">
                <a:solidFill>
                  <a:srgbClr val="FF0000"/>
                </a:solidFill>
              </a:rPr>
              <a:t>0 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81040" y="1482725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④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真值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表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795" y="2066290"/>
            <a:ext cx="3067050" cy="32702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5590" y="2247900"/>
            <a:ext cx="3599180" cy="254127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9381490" y="1482725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⑤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逻辑关系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图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716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二、</a:t>
            </a:r>
            <a:r>
              <a:rPr lang="zh-CN" altLang="en-US" sz="3600" b="1" dirty="0"/>
              <a:t>或非门</a:t>
            </a:r>
            <a:endParaRPr lang="zh-CN" altLang="en-US" sz="36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00455" y="1482725"/>
            <a:ext cx="39941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①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逻辑函数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表达式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296035" y="2042795"/>
                <a:ext cx="3122930" cy="595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200" b="1"/>
                  <a:t>Y 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3200" i="1" dirty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3200" b="1"/>
                  <a:t> </a:t>
                </a:r>
                <a:endParaRPr lang="en-US" altLang="zh-CN" sz="3200" b="1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035" y="2042795"/>
                <a:ext cx="3122930" cy="595630"/>
              </a:xfrm>
              <a:prstGeom prst="rect">
                <a:avLst/>
              </a:prstGeom>
              <a:blipFill rotWithShape="1">
                <a:blip r:embed="rId2"/>
                <a:stretch>
                  <a:fillRect b="-3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1083945" y="268605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②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符号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83945" y="432562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③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功能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23035" y="4987925"/>
            <a:ext cx="31229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FF0000"/>
                </a:solidFill>
              </a:rPr>
              <a:t>有</a:t>
            </a:r>
            <a:r>
              <a:rPr lang="en-US" altLang="zh-CN" sz="3200" b="1">
                <a:solidFill>
                  <a:srgbClr val="FF0000"/>
                </a:solidFill>
              </a:rPr>
              <a:t>1</a:t>
            </a:r>
            <a:r>
              <a:rPr lang="zh-CN" altLang="en-US" sz="3200" b="1">
                <a:solidFill>
                  <a:srgbClr val="FF0000"/>
                </a:solidFill>
              </a:rPr>
              <a:t>出</a:t>
            </a:r>
            <a:r>
              <a:rPr lang="en-US" altLang="zh-CN" sz="3200" b="1">
                <a:solidFill>
                  <a:srgbClr val="FF0000"/>
                </a:solidFill>
              </a:rPr>
              <a:t>0</a:t>
            </a:r>
            <a:r>
              <a:rPr lang="zh-CN" altLang="en-US" sz="3200" b="1">
                <a:solidFill>
                  <a:srgbClr val="FF0000"/>
                </a:solidFill>
              </a:rPr>
              <a:t>，全</a:t>
            </a:r>
            <a:r>
              <a:rPr lang="en-US" altLang="zh-CN" sz="3200" b="1">
                <a:solidFill>
                  <a:srgbClr val="FF0000"/>
                </a:solidFill>
              </a:rPr>
              <a:t>0</a:t>
            </a:r>
            <a:r>
              <a:rPr lang="zh-CN" altLang="en-US" sz="3200" b="1">
                <a:solidFill>
                  <a:srgbClr val="FF0000"/>
                </a:solidFill>
              </a:rPr>
              <a:t>出</a:t>
            </a:r>
            <a:r>
              <a:rPr lang="en-US" altLang="zh-CN" sz="3200" b="1">
                <a:solidFill>
                  <a:srgbClr val="FF0000"/>
                </a:solidFill>
              </a:rPr>
              <a:t>1 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81040" y="1482725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④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真值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表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381490" y="1482725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⑤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逻辑关系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图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490" y="2463800"/>
            <a:ext cx="3317875" cy="19481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140" y="2319655"/>
            <a:ext cx="3077845" cy="31242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3035" y="3317240"/>
            <a:ext cx="2929255" cy="967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716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三、异</a:t>
            </a:r>
            <a:r>
              <a:rPr lang="zh-CN" altLang="en-US" sz="3600" b="1" dirty="0"/>
              <a:t>或门</a:t>
            </a:r>
            <a:endParaRPr lang="zh-CN" altLang="en-US" sz="36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00455" y="1482725"/>
            <a:ext cx="39941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①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逻辑函数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表达式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296035" y="2042795"/>
                <a:ext cx="3890010" cy="692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200" b="1"/>
                  <a:t>Y =</a:t>
                </a:r>
                <a14:m>
                  <m:oMath xmlns:m="http://schemas.openxmlformats.org/officeDocument/2006/math">
                    <m:r>
                      <a:rPr lang="en-US" altLang="zh-CN" sz="3200" b="1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i="1" dirty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sz="3200" i="1" dirty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  <m:t> </m:t>
                        </m:r>
                      </m:e>
                    </m:acc>
                    <m:r>
                      <a:rPr lang="en-US" altLang="zh-CN" sz="3200" i="1" dirty="0">
                        <a:solidFill>
                          <a:srgbClr val="02184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3200" i="1" dirty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  <m:t> </m:t>
                        </m:r>
                      </m:e>
                    </m:acc>
                    <m:r>
                      <a:rPr lang="en-US" altLang="zh-CN" sz="3200" i="1" dirty="0">
                        <a:solidFill>
                          <a:srgbClr val="02184F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3200" b="1"/>
                  <a:t> = </a:t>
                </a:r>
                <a:r>
                  <a:rPr lang="en-US" altLang="zh-CN" sz="3200"/>
                  <a:t>A</a:t>
                </a:r>
                <a:r>
                  <a:rPr lang="en-US" altLang="zh-CN" sz="3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⊕</a:t>
                </a:r>
                <a:r>
                  <a:rPr lang="en-US" altLang="zh-CN" sz="28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en-US" altLang="zh-CN" sz="3200" b="1"/>
                  <a:t> </a:t>
                </a:r>
                <a:endParaRPr lang="en-US" altLang="zh-CN" sz="3200" b="1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035" y="2042795"/>
                <a:ext cx="3890010" cy="6921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1083945" y="268605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②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符号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83945" y="432562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③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功能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23035" y="4987925"/>
            <a:ext cx="40436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FF0000"/>
                </a:solidFill>
              </a:rPr>
              <a:t>当输入信号</a:t>
            </a:r>
            <a:r>
              <a:rPr lang="en-US" altLang="zh-CN" sz="3200" b="1">
                <a:solidFill>
                  <a:srgbClr val="FF0000"/>
                </a:solidFill>
              </a:rPr>
              <a:t>A</a:t>
            </a:r>
            <a:r>
              <a:rPr lang="zh-CN" altLang="en-US" sz="3200" b="1">
                <a:solidFill>
                  <a:srgbClr val="FF0000"/>
                </a:solidFill>
              </a:rPr>
              <a:t>、</a:t>
            </a:r>
            <a:r>
              <a:rPr lang="en-US" altLang="zh-CN" sz="3200" b="1">
                <a:solidFill>
                  <a:srgbClr val="FF0000"/>
                </a:solidFill>
              </a:rPr>
              <a:t>B</a:t>
            </a:r>
            <a:r>
              <a:rPr lang="zh-CN" altLang="en-US" sz="3200" b="1">
                <a:solidFill>
                  <a:srgbClr val="1542FF"/>
                </a:solidFill>
              </a:rPr>
              <a:t>不同</a:t>
            </a:r>
            <a:r>
              <a:rPr lang="zh-CN" altLang="en-US" sz="3200" b="1">
                <a:solidFill>
                  <a:srgbClr val="FF0000"/>
                </a:solidFill>
              </a:rPr>
              <a:t>时，输出信号为</a:t>
            </a:r>
            <a:r>
              <a:rPr lang="en-US" altLang="zh-CN" sz="3200" b="1">
                <a:solidFill>
                  <a:srgbClr val="FF0000"/>
                </a:solidFill>
              </a:rPr>
              <a:t>1</a:t>
            </a:r>
            <a:r>
              <a:rPr lang="zh-CN" altLang="en-US" sz="3200" b="1">
                <a:solidFill>
                  <a:srgbClr val="FF0000"/>
                </a:solidFill>
              </a:rPr>
              <a:t>，否则输出为</a:t>
            </a:r>
            <a:r>
              <a:rPr lang="en-US" altLang="zh-CN" sz="3200" b="1">
                <a:solidFill>
                  <a:srgbClr val="FF0000"/>
                </a:solidFill>
              </a:rPr>
              <a:t>0 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81040" y="1482725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④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真值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表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381490" y="1482725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⑤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逻辑关系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图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355" y="3307080"/>
            <a:ext cx="2643505" cy="88963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4370" y="2032000"/>
            <a:ext cx="3059430" cy="319976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125" y="2247265"/>
            <a:ext cx="3335655" cy="1949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2757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四、同</a:t>
            </a:r>
            <a:r>
              <a:rPr lang="zh-CN" altLang="en-US" sz="3600" b="1" dirty="0"/>
              <a:t>或门</a:t>
            </a:r>
            <a:endParaRPr lang="zh-CN" altLang="en-US" sz="36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00455" y="1482725"/>
            <a:ext cx="39941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①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逻辑函数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表达式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296035" y="2042795"/>
                <a:ext cx="3890010" cy="593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200" b="1"/>
                  <a:t>Y =</a:t>
                </a:r>
                <a14:m>
                  <m:oMath xmlns:m="http://schemas.openxmlformats.org/officeDocument/2006/math">
                    <m:r>
                      <a:rPr lang="en-US" altLang="zh-CN" sz="3200" b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𝐴𝐵</m:t>
                    </m:r>
                    <m:r>
                      <a:rPr lang="en-US" altLang="zh-CN" sz="3200" i="1" dirty="0">
                        <a:solidFill>
                          <a:srgbClr val="02184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3200" i="1" dirty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  <m:t> 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3200" i="1" dirty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  <m:t> </m:t>
                        </m:r>
                      </m:e>
                    </m:acc>
                  </m:oMath>
                </a14:m>
                <a:r>
                  <a:rPr lang="en-US" altLang="zh-CN" sz="3200" b="1"/>
                  <a:t> = </a:t>
                </a:r>
                <a:r>
                  <a:rPr lang="en-US" altLang="zh-CN" sz="3200"/>
                  <a:t>A</a:t>
                </a:r>
                <a:r>
                  <a:rPr lang="en-US" altLang="zh-CN" sz="32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⨀</a:t>
                </a:r>
                <a:r>
                  <a:rPr lang="en-US" altLang="zh-CN" sz="28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en-US" altLang="zh-CN" sz="3200" b="1"/>
                  <a:t> </a:t>
                </a:r>
                <a:endParaRPr lang="en-US" altLang="zh-CN" sz="3200" b="1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035" y="2042795"/>
                <a:ext cx="3890010" cy="593725"/>
              </a:xfrm>
              <a:prstGeom prst="rect">
                <a:avLst/>
              </a:prstGeom>
              <a:blipFill rotWithShape="1">
                <a:blip r:embed="rId2"/>
                <a:stretch>
                  <a:fillRect b="-3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1083945" y="268605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②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符号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83945" y="432562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③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功能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23035" y="4987925"/>
            <a:ext cx="40436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FF0000"/>
                </a:solidFill>
              </a:rPr>
              <a:t>当输入信号</a:t>
            </a:r>
            <a:r>
              <a:rPr lang="en-US" altLang="zh-CN" sz="3200" b="1">
                <a:solidFill>
                  <a:srgbClr val="FF0000"/>
                </a:solidFill>
              </a:rPr>
              <a:t>A</a:t>
            </a:r>
            <a:r>
              <a:rPr lang="zh-CN" altLang="en-US" sz="3200" b="1">
                <a:solidFill>
                  <a:srgbClr val="FF0000"/>
                </a:solidFill>
              </a:rPr>
              <a:t>、</a:t>
            </a:r>
            <a:r>
              <a:rPr lang="en-US" altLang="zh-CN" sz="3200" b="1">
                <a:solidFill>
                  <a:srgbClr val="FF0000"/>
                </a:solidFill>
              </a:rPr>
              <a:t>B</a:t>
            </a:r>
            <a:r>
              <a:rPr lang="zh-CN" altLang="en-US" sz="3200" b="1">
                <a:solidFill>
                  <a:srgbClr val="1542FF"/>
                </a:solidFill>
              </a:rPr>
              <a:t>相同</a:t>
            </a:r>
            <a:r>
              <a:rPr lang="zh-CN" altLang="en-US" sz="3200" b="1">
                <a:solidFill>
                  <a:srgbClr val="FF0000"/>
                </a:solidFill>
              </a:rPr>
              <a:t>时，输出信号为</a:t>
            </a:r>
            <a:r>
              <a:rPr lang="en-US" altLang="zh-CN" sz="3200" b="1">
                <a:solidFill>
                  <a:srgbClr val="FF0000"/>
                </a:solidFill>
              </a:rPr>
              <a:t>1</a:t>
            </a:r>
            <a:r>
              <a:rPr lang="zh-CN" altLang="en-US" sz="3200" b="1">
                <a:solidFill>
                  <a:srgbClr val="FF0000"/>
                </a:solidFill>
              </a:rPr>
              <a:t>，否则输出为</a:t>
            </a:r>
            <a:r>
              <a:rPr lang="en-US" altLang="zh-CN" sz="3200" b="1">
                <a:solidFill>
                  <a:srgbClr val="FF0000"/>
                </a:solidFill>
              </a:rPr>
              <a:t>0 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81040" y="1482725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④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真值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表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381490" y="1482725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⑤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逻辑关系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图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745" y="3259455"/>
            <a:ext cx="3321685" cy="10604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795" y="2103755"/>
            <a:ext cx="3030855" cy="30765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3245" y="2247900"/>
            <a:ext cx="3193415" cy="1845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3910" y="863600"/>
            <a:ext cx="114579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如图所示电路中，</a:t>
            </a:r>
            <a:r>
              <a:rPr lang="en-US" altLang="zh-CN" sz="2400"/>
              <a:t>V1</a:t>
            </a:r>
            <a:r>
              <a:rPr lang="zh-CN" altLang="en-US" sz="2400"/>
              <a:t>、</a:t>
            </a:r>
            <a:r>
              <a:rPr lang="en-US" altLang="zh-CN" sz="2400"/>
              <a:t>V2</a:t>
            </a:r>
            <a:r>
              <a:rPr lang="zh-CN" altLang="en-US" sz="2400"/>
              <a:t>、</a:t>
            </a:r>
            <a:r>
              <a:rPr lang="en-US" altLang="zh-CN" sz="2400"/>
              <a:t>V3</a:t>
            </a:r>
            <a:r>
              <a:rPr lang="zh-CN" altLang="en-US" sz="2400"/>
              <a:t>、</a:t>
            </a:r>
            <a:r>
              <a:rPr lang="en-US" altLang="zh-CN" sz="2400"/>
              <a:t>V4</a:t>
            </a:r>
            <a:r>
              <a:rPr lang="zh-CN" altLang="en-US" sz="2400"/>
              <a:t>均为理想晶体管，则</a:t>
            </a:r>
            <a:r>
              <a:rPr lang="en-US" altLang="zh-CN" sz="2400"/>
              <a:t>Y</a:t>
            </a:r>
            <a:r>
              <a:rPr lang="zh-CN" altLang="en-US" sz="2400"/>
              <a:t>与</a:t>
            </a:r>
            <a:r>
              <a:rPr lang="en-US" altLang="zh-CN" sz="2400"/>
              <a:t>A</a:t>
            </a:r>
            <a:r>
              <a:rPr lang="zh-CN" altLang="en-US" sz="2400"/>
              <a:t>、</a:t>
            </a:r>
            <a:r>
              <a:rPr lang="en-US" altLang="zh-CN" sz="2400"/>
              <a:t>B</a:t>
            </a:r>
            <a:r>
              <a:rPr lang="zh-CN" altLang="en-US" sz="2400"/>
              <a:t>、</a:t>
            </a:r>
            <a:r>
              <a:rPr lang="en-US" altLang="zh-CN" sz="2400"/>
              <a:t>C</a:t>
            </a:r>
            <a:r>
              <a:rPr lang="zh-CN" altLang="en-US" sz="2400"/>
              <a:t>的逻辑关系为</a:t>
            </a:r>
            <a:r>
              <a:rPr lang="en-US" altLang="zh-CN" sz="2400"/>
              <a:t> </a:t>
            </a:r>
            <a:endParaRPr lang="en-US" altLang="zh-CN" sz="2400"/>
          </a:p>
          <a:p>
            <a:endParaRPr lang="en-US" altLang="zh-CN" sz="2400"/>
          </a:p>
        </p:txBody>
      </p:sp>
      <p:pic>
        <p:nvPicPr>
          <p:cNvPr id="15" name="图片 14" descr="97dab668-f783-4f3c-accc-c251e441017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455" y="1311910"/>
            <a:ext cx="3357245" cy="43580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5119370" y="1500505"/>
                <a:ext cx="6510655" cy="1195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200"/>
                  <a:t>A. Y 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𝐴𝐵</m:t>
                        </m:r>
                        <m:r>
                          <a:rPr lang="en-US" altLang="zh-CN" sz="3200" i="1" dirty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  <m:t> </m:t>
                        </m:r>
                      </m:e>
                    </m:acc>
                  </m:oMath>
                </a14:m>
                <a:r>
                  <a:rPr lang="en-US" altLang="zh-CN" sz="3200"/>
                  <a:t> +C     B</a:t>
                </a:r>
                <a:r>
                  <a:rPr lang="en-US" altLang="zh-CN" sz="3200">
                    <a:sym typeface="+mn-ea"/>
                  </a:rPr>
                  <a:t>. Y =AB+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3200" i="1" dirty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  <m:t> </m:t>
                        </m:r>
                      </m:e>
                    </m:acc>
                  </m:oMath>
                </a14:m>
                <a:r>
                  <a:rPr lang="en-US" altLang="zh-CN" sz="3200">
                    <a:sym typeface="+mn-ea"/>
                  </a:rPr>
                  <a:t>  </a:t>
                </a:r>
                <a:endParaRPr lang="en-US" altLang="zh-CN" sz="3200"/>
              </a:p>
              <a:p>
                <a:r>
                  <a:rPr lang="en-US" altLang="zh-CN" sz="3200">
                    <a:sym typeface="+mn-ea"/>
                  </a:rPr>
                  <a:t>C. Y =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  <a:sym typeface="+mn-ea"/>
                      </a:rPr>
                      <m:t> </m:t>
                    </m:r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  <a:sym typeface="+mn-ea"/>
                      </a:rPr>
                      <m:t>AB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+mn-ea"/>
                      </a:rPr>
                      <m:t> </m:t>
                    </m:r>
                  </m:oMath>
                </a14:m>
                <a:r>
                  <a:rPr lang="en-US" altLang="zh-CN" sz="3200">
                    <a:sym typeface="+mn-ea"/>
                  </a:rPr>
                  <a:t>+C      D. Y =A+BC </a:t>
                </a:r>
                <a:endParaRPr lang="en-US" altLang="zh-CN" sz="3200"/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370" y="1500505"/>
                <a:ext cx="6510655" cy="11957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786495" y="3681095"/>
                <a:ext cx="2658745" cy="405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00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000" i="1" baseline="-25000" dirty="0" smtClean="0">
                            <a:solidFill>
                              <a:srgbClr val="02184F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altLang="zh-CN" sz="2000" i="1" dirty="0">
                        <a:solidFill>
                          <a:srgbClr val="02184F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𝐶</m:t>
                    </m:r>
                    <m:r>
                      <a:rPr lang="en-US" altLang="zh-CN" sz="2000" i="1" dirty="0">
                        <a:solidFill>
                          <a:srgbClr val="02184F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 +</m:t>
                    </m:r>
                    <m:r>
                      <a:rPr lang="en-US" altLang="zh-CN" sz="2000" i="1" dirty="0">
                        <a:solidFill>
                          <a:srgbClr val="02184F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𝑌</m:t>
                    </m:r>
                    <m:r>
                      <a:rPr lang="en-US" altLang="zh-CN" sz="2000" i="1" baseline="-25000" dirty="0">
                        <a:solidFill>
                          <a:srgbClr val="02184F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</m:t>
                    </m:r>
                    <m:acc>
                      <m:accPr>
                        <m:chr m:val="̅"/>
                        <m:ctrlPr>
                          <a:rPr lang="en-US" altLang="zh-CN" sz="20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000" i="1" dirty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  <m:t> </m:t>
                        </m:r>
                      </m:e>
                    </m:acc>
                    <m:r>
                      <a:rPr lang="en-US" altLang="zh-CN" sz="2000" i="1" dirty="0">
                        <a:solidFill>
                          <a:srgbClr val="02184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 dirty="0">
                        <a:solidFill>
                          <a:srgbClr val="02184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000" i="1" baseline="-25000" dirty="0">
                        <a:solidFill>
                          <a:srgbClr val="02184F"/>
                        </a:solidFill>
                        <a:uFillTx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i="1" dirty="0">
                        <a:solidFill>
                          <a:srgbClr val="02184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CN" sz="2000" i="1" dirty="0">
                  <a:solidFill>
                    <a:srgbClr val="02184F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6495" y="3681095"/>
                <a:ext cx="2658745" cy="405130"/>
              </a:xfrm>
              <a:prstGeom prst="rect">
                <a:avLst/>
              </a:prstGeom>
              <a:blipFill rotWithShape="1">
                <a:blip r:embed="rId4"/>
                <a:stretch>
                  <a:fillRect b="-117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e917d47e-b936-44db-89d9-41ddf0bc7d9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8555" y="3616325"/>
            <a:ext cx="3837940" cy="21545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8874125" y="4192270"/>
                <a:ext cx="3819525" cy="1707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000"/>
                  <a:t>③化简</a:t>
                </a:r>
                <a:endParaRPr lang="en-US" altLang="zh-CN" sz="2000"/>
              </a:p>
              <a:p>
                <a:r>
                  <a:rPr lang="en-US" altLang="zh-CN" sz="200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000" i="1" baseline="-25000" dirty="0" smtClean="0">
                            <a:solidFill>
                              <a:srgbClr val="02184F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altLang="zh-CN" sz="2000" i="1" dirty="0">
                        <a:solidFill>
                          <a:srgbClr val="02184F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000"/>
                  <a:t> + Y</a:t>
                </a:r>
                <a:r>
                  <a:rPr lang="en-US" altLang="zh-CN" sz="2000" baseline="-25000">
                    <a:solidFill>
                      <a:schemeClr val="tx1"/>
                    </a:solidFill>
                    <a:uFillTx/>
                  </a:rPr>
                  <a:t>1</a:t>
                </a:r>
                <a:r>
                  <a:rPr lang="en-US" altLang="zh-CN" sz="2000"/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000" i="1" dirty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</a:rPr>
                          <m:t> </m:t>
                        </m:r>
                      </m:e>
                    </m:acc>
                  </m:oMath>
                </a14:m>
                <a:r>
                  <a:rPr lang="en-US" altLang="zh-CN" sz="2000"/>
                  <a:t>+C</a:t>
                </a:r>
                <a:r>
                  <a:rPr lang="en-US" altLang="zh-CN" sz="2000"/>
                  <a:t>)</a:t>
                </a:r>
                <a:endParaRPr lang="en-US" altLang="zh-CN" sz="2000"/>
              </a:p>
              <a:p>
                <a:r>
                  <a:rPr lang="en-US" altLang="zh-CN" sz="2000"/>
                  <a:t>Y =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000" i="1" baseline="-25000" dirty="0" smtClean="0">
                            <a:solidFill>
                              <a:srgbClr val="02184F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altLang="zh-CN" sz="2000" i="1" dirty="0">
                        <a:solidFill>
                          <a:srgbClr val="02184F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000">
                    <a:sym typeface="+mn-ea"/>
                  </a:rPr>
                  <a:t> + Y</a:t>
                </a:r>
                <a:r>
                  <a:rPr lang="en-US" altLang="zh-CN" sz="2000" baseline="-25000">
                    <a:solidFill>
                      <a:schemeClr val="tx1"/>
                    </a:solidFill>
                    <a:uFillTx/>
                    <a:sym typeface="+mn-ea"/>
                  </a:rPr>
                  <a:t>1</a:t>
                </a:r>
                <a:endParaRPr lang="en-US" altLang="zh-CN" sz="2000">
                  <a:solidFill>
                    <a:schemeClr val="tx1"/>
                  </a:solidFill>
                  <a:uFillTx/>
                  <a:sym typeface="+mn-ea"/>
                </a:endParaRPr>
              </a:p>
              <a:p>
                <a:r>
                  <a:rPr lang="en-US" altLang="zh-CN" sz="2000">
                    <a:sym typeface="+mn-ea"/>
                  </a:rPr>
                  <a:t>Y = 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rgbClr val="02184F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𝑌</m:t>
                    </m:r>
                    <m:r>
                      <a:rPr lang="en-US" altLang="zh-CN" sz="2000" i="1" baseline="-25000" dirty="0" smtClean="0">
                        <a:solidFill>
                          <a:srgbClr val="02184F"/>
                        </a:solidFill>
                        <a:uFillTx/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000">
                    <a:sym typeface="+mn-ea"/>
                  </a:rPr>
                  <a:t> + </a:t>
                </a:r>
                <a:r>
                  <a:rPr lang="en-US" altLang="zh-CN" sz="2000">
                    <a:sym typeface="+mn-ea"/>
                  </a:rPr>
                  <a:t>C</a:t>
                </a:r>
                <a:endParaRPr lang="en-US" altLang="zh-CN" sz="2000">
                  <a:sym typeface="+mn-ea"/>
                </a:endParaRPr>
              </a:p>
              <a:p>
                <a:pPr algn="l"/>
                <a:r>
                  <a:rPr lang="en-US" altLang="zh-CN" sz="2000">
                    <a:sym typeface="+mn-ea"/>
                  </a:rPr>
                  <a:t>Y =  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sym typeface="+mn-ea"/>
                      </a:rPr>
                      <m:t>𝐴𝐵</m:t>
                    </m:r>
                  </m:oMath>
                </a14:m>
                <a:r>
                  <a:rPr lang="en-US" altLang="zh-CN" sz="2000">
                    <a:sym typeface="+mn-ea"/>
                  </a:rPr>
                  <a:t> + C</a:t>
                </a:r>
                <a:endParaRPr lang="en-US" altLang="zh-CN" sz="2000">
                  <a:solidFill>
                    <a:schemeClr val="tx1"/>
                  </a:solidFill>
                  <a:uFillTx/>
                  <a:sym typeface="+mn-ea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125" y="4192270"/>
                <a:ext cx="3819525" cy="1707515"/>
              </a:xfrm>
              <a:prstGeom prst="rect">
                <a:avLst/>
              </a:prstGeom>
              <a:blipFill rotWithShape="1">
                <a:blip r:embed="rId6"/>
                <a:stretch>
                  <a:fillRect b="-4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5132705" y="2967990"/>
            <a:ext cx="22491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ym typeface="+mn-ea"/>
              </a:rPr>
              <a:t>①列真值表：</a:t>
            </a:r>
            <a:endParaRPr lang="zh-CN" altLang="en-US" sz="240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712200" y="2981325"/>
            <a:ext cx="31330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ym typeface="+mn-ea"/>
              </a:rPr>
              <a:t>②写出每个输出为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的然后进行或运算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2" grpId="0"/>
      <p:bldP spid="13" grpId="1"/>
      <p:bldP spid="2" grpId="1"/>
      <p:bldP spid="6" grpId="0"/>
      <p:bldP spid="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3910" y="863600"/>
            <a:ext cx="114579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如图所示电路，从电灯亮的角度看，</a:t>
            </a:r>
            <a:r>
              <a:rPr lang="en-US" altLang="zh-CN" sz="2400"/>
              <a:t>Y</a:t>
            </a:r>
            <a:r>
              <a:rPr lang="zh-CN" altLang="en-US" sz="2400"/>
              <a:t>与</a:t>
            </a:r>
            <a:r>
              <a:rPr lang="en-US" altLang="zh-CN" sz="2400"/>
              <a:t>A</a:t>
            </a:r>
            <a:r>
              <a:rPr lang="zh-CN" altLang="en-US" sz="2400"/>
              <a:t>、</a:t>
            </a:r>
            <a:r>
              <a:rPr lang="en-US" altLang="zh-CN" sz="2400"/>
              <a:t>B</a:t>
            </a:r>
            <a:r>
              <a:rPr lang="zh-CN" altLang="en-US" sz="2400"/>
              <a:t>之间逻辑关系的函数表达式为</a:t>
            </a:r>
            <a:endParaRPr lang="zh-CN" altLang="en-US" sz="2400"/>
          </a:p>
          <a:p>
            <a:r>
              <a:rPr lang="en-US" altLang="zh-CN" sz="2400"/>
              <a:t>Y =</a:t>
            </a:r>
            <a:r>
              <a:rPr lang="en-US" altLang="zh-CN" sz="2400" u="sng"/>
              <a:t>                          </a:t>
            </a:r>
            <a:r>
              <a:rPr lang="zh-CN" altLang="en-US" sz="2400"/>
              <a:t>从电灯不亮的角度看，</a:t>
            </a:r>
            <a:r>
              <a:rPr lang="en-US" altLang="zh-CN" sz="2400"/>
              <a:t>Y</a:t>
            </a:r>
            <a:r>
              <a:rPr lang="zh-CN" altLang="en-US" sz="2400"/>
              <a:t>与</a:t>
            </a:r>
            <a:r>
              <a:rPr lang="en-US" altLang="zh-CN" sz="2400"/>
              <a:t>A</a:t>
            </a:r>
            <a:r>
              <a:rPr lang="zh-CN" altLang="en-US" sz="2400"/>
              <a:t>、</a:t>
            </a:r>
            <a:r>
              <a:rPr lang="en-US" altLang="zh-CN" sz="2400"/>
              <a:t>B</a:t>
            </a:r>
            <a:r>
              <a:rPr lang="zh-CN" altLang="en-US" sz="2400"/>
              <a:t>之间逻辑关系的函数表达式为</a:t>
            </a:r>
            <a:endParaRPr lang="zh-CN" altLang="en-US" sz="2400"/>
          </a:p>
          <a:p>
            <a:r>
              <a:rPr lang="en-US" altLang="zh-CN" sz="2400"/>
              <a:t>Y =</a:t>
            </a:r>
            <a:r>
              <a:rPr lang="en-US" altLang="zh-CN" sz="2400" u="sng"/>
              <a:t>                                </a:t>
            </a:r>
            <a:r>
              <a:rPr lang="zh-CN" altLang="en-US" sz="2400"/>
              <a:t>。</a:t>
            </a:r>
            <a:endParaRPr lang="zh-CN" altLang="en-US" sz="2400" u="sng"/>
          </a:p>
        </p:txBody>
      </p:sp>
      <p:pic>
        <p:nvPicPr>
          <p:cNvPr id="2" name="图片 1" descr="543bc29f-53b8-46a2-8071-a088960b5b5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365" y="1816100"/>
            <a:ext cx="5093970" cy="27774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532890" y="1276350"/>
                <a:ext cx="1216660" cy="404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 </m:t>
                        </m:r>
                      </m:e>
                    </m:acc>
                  </m:oMath>
                </a14:m>
                <a:r>
                  <a:rPr lang="en-US" altLang="zh-CN" sz="2000" b="1">
                    <a:solidFill>
                      <a:srgbClr val="FF0000"/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FF0000"/>
                        </a:solidFill>
                        <a:uFillTx/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·</m:t>
                    </m:r>
                    <m:acc>
                      <m:accPr>
                        <m:chr m:val="̅"/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 </m:t>
                        </m:r>
                      </m:e>
                    </m:acc>
                  </m:oMath>
                </a14:m>
                <a:endParaRPr lang="en-US" altLang="zh-CN" sz="2000" b="1" i="1" dirty="0">
                  <a:solidFill>
                    <a:srgbClr val="FF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890" y="1276350"/>
                <a:ext cx="1216660" cy="4044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748790" y="1600200"/>
                <a:ext cx="1216660" cy="404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 </m:t>
                        </m:r>
                      </m:e>
                    </m:acc>
                  </m:oMath>
                </a14:m>
                <a:r>
                  <a:rPr lang="en-US" altLang="zh-CN" sz="2000" b="1">
                    <a:solidFill>
                      <a:srgbClr val="FF0000"/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FF0000"/>
                        </a:solidFill>
                        <a:uFillTx/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 </m:t>
                        </m:r>
                      </m:e>
                    </m:acc>
                  </m:oMath>
                </a14:m>
                <a:endParaRPr lang="en-US" altLang="zh-CN" sz="2000" b="1" i="1" dirty="0">
                  <a:solidFill>
                    <a:srgbClr val="FF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790" y="1600200"/>
                <a:ext cx="1216660" cy="4044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 descr="8d8c0642-b998-48ec-94ec-d0b0944aa6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2103755"/>
            <a:ext cx="5577840" cy="2461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1604645" y="41910"/>
            <a:ext cx="8192770" cy="6742430"/>
            <a:chOff x="2527" y="66"/>
            <a:chExt cx="12902" cy="10618"/>
          </a:xfrm>
        </p:grpSpPr>
        <p:pic>
          <p:nvPicPr>
            <p:cNvPr id="17" name="图片 16" descr="06f0aedb-e3a5-417c-9b1e-e502d41729b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27" y="66"/>
              <a:ext cx="12902" cy="1061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7" y="7622"/>
              <a:ext cx="2725" cy="3063"/>
            </a:xfrm>
            <a:prstGeom prst="rect">
              <a:avLst/>
            </a:prstGeom>
          </p:spPr>
        </p:pic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021445" y="290830"/>
            <a:ext cx="414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rgbClr val="FF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D</a:t>
            </a:r>
            <a:endParaRPr lang="en-US" altLang="zh-CN" sz="2000" b="1" dirty="0">
              <a:solidFill>
                <a:srgbClr val="FF0000"/>
              </a:solidFill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725410" y="1599565"/>
            <a:ext cx="414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rgbClr val="FF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B</a:t>
            </a:r>
            <a:endParaRPr lang="en-US" altLang="zh-CN" sz="2000" b="1" dirty="0">
              <a:solidFill>
                <a:srgbClr val="FF0000"/>
              </a:solidFill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093200" y="2391410"/>
            <a:ext cx="414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rgbClr val="FF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C</a:t>
            </a:r>
            <a:endParaRPr lang="en-US" altLang="zh-CN" sz="2000" b="1" dirty="0">
              <a:solidFill>
                <a:srgbClr val="FF0000"/>
              </a:solidFill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095740" y="3831590"/>
            <a:ext cx="414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rgbClr val="FF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A</a:t>
            </a:r>
            <a:endParaRPr lang="en-US" altLang="zh-CN" sz="2000" b="1" dirty="0">
              <a:solidFill>
                <a:srgbClr val="FF0000"/>
              </a:solidFill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4" grpId="0"/>
      <p:bldP spid="14" grpId="1"/>
      <p:bldP spid="15" grpId="0"/>
      <p:bldP spid="15" grpId="1"/>
      <p:bldP spid="16" grpId="0"/>
      <p:bldP spid="1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1198245" y="735965"/>
            <a:ext cx="8610600" cy="2453640"/>
            <a:chOff x="1887" y="1159"/>
            <a:chExt cx="13560" cy="386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887" y="1159"/>
              <a:ext cx="13560" cy="864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33" y="2179"/>
              <a:ext cx="2616" cy="2844"/>
            </a:xfrm>
            <a:prstGeom prst="rect">
              <a:avLst/>
            </a:prstGeom>
          </p:spPr>
        </p:pic>
      </p:grp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381490" y="663575"/>
            <a:ext cx="414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rgbClr val="FF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B</a:t>
            </a:r>
            <a:endParaRPr lang="en-US" altLang="zh-CN" sz="2000" b="1" dirty="0">
              <a:solidFill>
                <a:srgbClr val="FF0000"/>
              </a:solidFill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12" name="图片 11" descr="280006c3-c341-4408-8235-55eb68f3454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600" y="3472180"/>
            <a:ext cx="8732520" cy="198882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9453245" y="3567430"/>
            <a:ext cx="414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rgbClr val="FF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D</a:t>
            </a:r>
            <a:endParaRPr lang="en-US" altLang="zh-CN" sz="2000" b="1" dirty="0">
              <a:solidFill>
                <a:srgbClr val="FF0000"/>
              </a:solidFill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4" grpId="0"/>
      <p:bldP spid="1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705249" y="1345126"/>
            <a:ext cx="5040560" cy="398818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数字电路的特点</a:t>
            </a:r>
            <a:endParaRPr lang="en-US" altLang="zh-CN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逻辑电路规定</a:t>
            </a:r>
            <a:endParaRPr lang="en-US" altLang="zh-CN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与门电路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或门电路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非门电路</a:t>
            </a:r>
            <a:endParaRPr lang="en-US" altLang="zh-CN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  <p:tag name="commondata" val="eyJoZGlkIjoiN2QzODcyNGFhZmEzNjVhZTY5ZjNiMTM1MDZiMzE4OWMifQ==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1321</Words>
  <Application>WPS 演示</Application>
  <PresentationFormat>自定义</PresentationFormat>
  <Paragraphs>175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40" baseType="lpstr">
      <vt:lpstr>Arial</vt:lpstr>
      <vt:lpstr>宋体</vt:lpstr>
      <vt:lpstr>Wingdings</vt:lpstr>
      <vt:lpstr>Calibri</vt:lpstr>
      <vt:lpstr>Helvetica Neue</vt:lpstr>
      <vt:lpstr>汉仪书宋二KW</vt:lpstr>
      <vt:lpstr>印品黑体</vt:lpstr>
      <vt:lpstr>汉仪中黑KW</vt:lpstr>
      <vt:lpstr>微软雅黑</vt:lpstr>
      <vt:lpstr>汉仪旗黑</vt:lpstr>
      <vt:lpstr>字魂73号-江南手书</vt:lpstr>
      <vt:lpstr>Alibaba PuHuiTi R</vt:lpstr>
      <vt:lpstr>苹方-简</vt:lpstr>
      <vt:lpstr>黑体</vt:lpstr>
      <vt:lpstr>Alibaba PuHuiTi B</vt:lpstr>
      <vt:lpstr>阿里巴巴普惠体</vt:lpstr>
      <vt:lpstr>Times New Roman</vt:lpstr>
      <vt:lpstr>Cambria Math</vt:lpstr>
      <vt:lpstr>Kingsoft Math</vt:lpstr>
      <vt:lpstr>MS Mincho</vt:lpstr>
      <vt:lpstr>宋体</vt:lpstr>
      <vt:lpstr>Arial Unicode MS</vt:lpstr>
      <vt:lpstr>DejaVu Math TeX Gyre</vt:lpstr>
      <vt:lpstr>Hiragino Sans</vt:lpstr>
      <vt:lpstr>Apple SD Gothic Neo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1007</cp:revision>
  <dcterms:created xsi:type="dcterms:W3CDTF">2026-03-04T23:18:06Z</dcterms:created>
  <dcterms:modified xsi:type="dcterms:W3CDTF">2026-03-04T23:18:06Z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FCA88555D3D44735BAA1F56722F3B997</vt:lpwstr>
  </property>
</Properties>
</file>