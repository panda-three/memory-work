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7"/>
  </p:handoutMasterIdLst>
  <p:sldIdLst>
    <p:sldId id="3705" r:id="rId3"/>
    <p:sldId id="3701" r:id="rId4"/>
    <p:sldId id="3646" r:id="rId5"/>
    <p:sldId id="3737" r:id="rId7"/>
    <p:sldId id="3747" r:id="rId8"/>
    <p:sldId id="3748" r:id="rId9"/>
    <p:sldId id="3738" r:id="rId10"/>
    <p:sldId id="3749" r:id="rId11"/>
    <p:sldId id="3739" r:id="rId12"/>
    <p:sldId id="3750" r:id="rId13"/>
    <p:sldId id="3751" r:id="rId14"/>
    <p:sldId id="3752" r:id="rId15"/>
    <p:sldId id="3754" r:id="rId16"/>
    <p:sldId id="3755" r:id="rId17"/>
    <p:sldId id="3756" r:id="rId18"/>
    <p:sldId id="3757" r:id="rId19"/>
    <p:sldId id="3758" r:id="rId20"/>
    <p:sldId id="3759" r:id="rId21"/>
    <p:sldId id="3760" r:id="rId22"/>
    <p:sldId id="3761" r:id="rId23"/>
    <p:sldId id="3712" r:id="rId24"/>
    <p:sldId id="3700" r:id="rId25"/>
    <p:sldId id="3702" r:id="rId26"/>
  </p:sldIdLst>
  <p:sldSz cx="12858750" cy="7232650"/>
  <p:notesSz cx="6858000" cy="9144000"/>
  <p:custDataLst>
    <p:tags r:id="rId3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003" userDrawn="1">
          <p15:clr>
            <a:srgbClr val="A4A3A4"/>
          </p15:clr>
        </p15:guide>
        <p15:guide id="4" pos="53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FFC000"/>
    <a:srgbClr val="02184F"/>
    <a:srgbClr val="FFBF00"/>
    <a:srgbClr val="FFFFFF"/>
    <a:srgbClr val="066197"/>
    <a:srgbClr val="0C6AC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64"/>
        <p:guide orient="horz" pos="4137"/>
        <p:guide pos="4003"/>
        <p:guide pos="53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1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jpe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jpe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公式法化简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6629"/>
            <a:ext cx="496855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葛以伟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、理解电路中电位的概念及其单位。</a:t>
            </a:r>
            <a:endParaRPr lang="en-US" altLang="zh-CN" sz="3200" b="1" dirty="0"/>
          </a:p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掌握电路中各点电位及两点间电压的分析和计算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262279"/>
            <a:ext cx="8136904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逻辑函数的最简形式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最小项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逻辑函数的</a:t>
            </a:r>
            <a:r>
              <a:rPr lang="zh-CN" altLang="en-US" sz="4000" dirty="0"/>
              <a:t>化简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6400" y="1456055"/>
            <a:ext cx="517207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dirty="0"/>
              <a:t>与或式</a:t>
            </a:r>
            <a:endParaRPr lang="zh-CN" altLang="en-US" sz="3200" dirty="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dirty="0"/>
              <a:t>或与式</a:t>
            </a:r>
            <a:endParaRPr lang="zh-CN" altLang="en-US" sz="3200" dirty="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b="1" dirty="0">
                <a:solidFill>
                  <a:srgbClr val="1542FF"/>
                </a:solidFill>
              </a:rPr>
              <a:t>与非</a:t>
            </a:r>
            <a:r>
              <a:rPr lang="en-US" altLang="zh-CN" sz="3200" b="1" dirty="0">
                <a:solidFill>
                  <a:srgbClr val="1542FF"/>
                </a:solidFill>
              </a:rPr>
              <a:t>-----</a:t>
            </a:r>
            <a:r>
              <a:rPr lang="zh-CN" altLang="en-US" sz="3200" b="1" dirty="0">
                <a:solidFill>
                  <a:srgbClr val="1542FF"/>
                </a:solidFill>
              </a:rPr>
              <a:t>与非</a:t>
            </a:r>
            <a:r>
              <a:rPr lang="zh-CN" altLang="en-US" sz="3200" dirty="0"/>
              <a:t>式</a:t>
            </a:r>
            <a:endParaRPr lang="zh-CN" altLang="en-US" sz="3200" dirty="0"/>
          </a:p>
          <a:p>
            <a:pPr marL="457200" indent="-457200">
              <a:buFont typeface="Wingdings" panose="05000000000000000000" charset="0"/>
              <a:buChar char="l"/>
            </a:pPr>
            <a:r>
              <a:rPr lang="zh-CN" altLang="en-US" sz="3200" dirty="0"/>
              <a:t>与</a:t>
            </a:r>
            <a:r>
              <a:rPr lang="en-US" altLang="zh-CN" sz="3200" b="1" dirty="0">
                <a:solidFill>
                  <a:srgbClr val="1542FF"/>
                </a:solidFill>
                <a:sym typeface="+mn-ea"/>
              </a:rPr>
              <a:t>-----</a:t>
            </a:r>
            <a:r>
              <a:rPr lang="zh-CN" altLang="en-US" sz="3200" dirty="0"/>
              <a:t>或</a:t>
            </a:r>
            <a:r>
              <a:rPr lang="en-US" altLang="zh-CN" sz="3200" b="1" dirty="0">
                <a:solidFill>
                  <a:srgbClr val="1542FF"/>
                </a:solidFill>
                <a:sym typeface="+mn-ea"/>
              </a:rPr>
              <a:t>-----</a:t>
            </a:r>
            <a:r>
              <a:rPr lang="zh-CN" altLang="en-US" sz="3200" dirty="0"/>
              <a:t>非式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一、逻辑函数的</a:t>
            </a:r>
            <a:r>
              <a:rPr lang="zh-CN" altLang="en-US" sz="3600" b="1" dirty="0"/>
              <a:t>最简形式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一、逻辑函数的</a:t>
            </a:r>
            <a:r>
              <a:rPr lang="zh-CN" altLang="en-US" sz="3600" b="1" dirty="0"/>
              <a:t>最简形式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35" y="1384300"/>
            <a:ext cx="8694420" cy="23088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89025" y="3766820"/>
            <a:ext cx="105251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</a:rPr>
              <a:t>与或表达式要变成与非与非表达式，要对与或表达式两次取反</a:t>
            </a:r>
            <a:endParaRPr lang="zh-CN" altLang="en-US" sz="32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一、逻辑函数的</a:t>
            </a:r>
            <a:r>
              <a:rPr lang="zh-CN" altLang="en-US" sz="3600" b="1" dirty="0"/>
              <a:t>最简形式</a:t>
            </a:r>
            <a:endParaRPr lang="zh-CN" altLang="en-US" sz="3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80" y="1240155"/>
            <a:ext cx="9274810" cy="3231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311483"/>
            <a:ext cx="1166529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逻辑函数的最小项是构成逻辑函数的最小因子。</a:t>
            </a:r>
            <a:endParaRPr lang="zh-CN" altLang="en-US" sz="3600" dirty="0"/>
          </a:p>
          <a:p>
            <a:r>
              <a:rPr lang="zh-CN" altLang="en-US" sz="3600" dirty="0"/>
              <a:t>在</a:t>
            </a:r>
            <a:r>
              <a:rPr lang="en-US" altLang="zh-CN" sz="3600" dirty="0"/>
              <a:t>n</a:t>
            </a:r>
            <a:r>
              <a:rPr lang="zh-CN" altLang="en-US" sz="3600" dirty="0"/>
              <a:t>变量逻辑函数中，每一变量都作为一个因子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二、最小</a:t>
            </a:r>
            <a:r>
              <a:rPr lang="zh-CN" altLang="en-US" sz="3600" b="1" dirty="0"/>
              <a:t>项</a:t>
            </a:r>
            <a:endParaRPr lang="zh-CN" altLang="en-US" sz="36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835" y="2435225"/>
            <a:ext cx="7656830" cy="4133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二、最小</a:t>
            </a:r>
            <a:r>
              <a:rPr lang="zh-CN" altLang="en-US" sz="3600" b="1" dirty="0"/>
              <a:t>项</a:t>
            </a:r>
            <a:endParaRPr lang="zh-CN" altLang="en-US" sz="36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929005"/>
            <a:ext cx="6217920" cy="5387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92860"/>
            <a:ext cx="1138555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1</a:t>
            </a:r>
            <a:r>
              <a:rPr lang="zh-CN" altLang="en-US" sz="2800" b="1" dirty="0"/>
              <a:t>、代数法化简</a:t>
            </a:r>
            <a:endParaRPr lang="en-US" altLang="zh-CN" sz="2800" b="1" dirty="0"/>
          </a:p>
          <a:p>
            <a:pPr indent="457200"/>
            <a:r>
              <a:rPr lang="en-US" altLang="zh-CN" sz="2800" dirty="0"/>
              <a:t> </a:t>
            </a:r>
            <a:r>
              <a:rPr lang="zh-CN" altLang="en-US" sz="2800" dirty="0"/>
              <a:t>代数法化简是利用逻辑代数的公式、和有关定理、规则，对逻辑表达式进行化简。</a:t>
            </a:r>
            <a:endParaRPr lang="zh-CN" altLang="en-US" sz="2800" dirty="0"/>
          </a:p>
          <a:p>
            <a:pPr indent="457200"/>
            <a:r>
              <a:rPr lang="zh-CN" altLang="en-US" sz="2800" b="1" dirty="0">
                <a:solidFill>
                  <a:srgbClr val="1542FF"/>
                </a:solidFill>
              </a:rPr>
              <a:t>①</a:t>
            </a:r>
            <a:r>
              <a:rPr lang="en-US" altLang="zh-CN" sz="2800" b="1" dirty="0">
                <a:solidFill>
                  <a:srgbClr val="1542FF"/>
                </a:solidFill>
              </a:rPr>
              <a:t>.</a:t>
            </a:r>
            <a:r>
              <a:rPr lang="zh-CN" altLang="en-US" sz="2800" b="1" dirty="0">
                <a:solidFill>
                  <a:srgbClr val="1542FF"/>
                </a:solidFill>
              </a:rPr>
              <a:t>并项法</a:t>
            </a:r>
            <a:endParaRPr lang="zh-CN" altLang="en-US" sz="2800" b="1" dirty="0">
              <a:solidFill>
                <a:srgbClr val="1542FF"/>
              </a:solidFill>
            </a:endParaRPr>
          </a:p>
          <a:p>
            <a:pPr indent="457200"/>
            <a:r>
              <a:rPr lang="zh-CN" altLang="en-US" sz="2800" dirty="0"/>
              <a:t>利用并项</a:t>
            </a:r>
            <a:r>
              <a:rPr lang="zh-CN" altLang="en-US" sz="2800" dirty="0"/>
              <a:t>公式</a:t>
            </a:r>
            <a:endParaRPr lang="zh-CN" altLang="en-US" sz="2800" dirty="0"/>
          </a:p>
          <a:p>
            <a:pPr indent="457200"/>
            <a:r>
              <a:rPr lang="zh-CN" altLang="en-US" sz="2800" dirty="0"/>
              <a:t>【</a:t>
            </a:r>
            <a:r>
              <a:rPr lang="zh-CN" altLang="en-US" sz="2800" dirty="0"/>
              <a:t>例题】</a:t>
            </a:r>
            <a:endParaRPr lang="zh-CN" altLang="en-US" sz="2800" dirty="0"/>
          </a:p>
          <a:p>
            <a:pPr marL="457200" lvl="1" indent="457200"/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305" y="2896235"/>
            <a:ext cx="2427605" cy="50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025" y="3904615"/>
            <a:ext cx="4328160" cy="5486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92860"/>
            <a:ext cx="11385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、代数法</a:t>
            </a:r>
            <a:r>
              <a:rPr lang="zh-CN" altLang="en-US" sz="2800" dirty="0"/>
              <a:t>化简</a:t>
            </a:r>
            <a:endParaRPr lang="en-US" altLang="zh-CN" sz="2800" dirty="0"/>
          </a:p>
          <a:p>
            <a:pPr marL="457200" lvl="1" indent="457200"/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80" y="1816735"/>
            <a:ext cx="7825105" cy="3392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92860"/>
            <a:ext cx="113855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、代数法</a:t>
            </a:r>
            <a:r>
              <a:rPr lang="zh-CN" altLang="en-US" sz="2800" dirty="0"/>
              <a:t>化简</a:t>
            </a:r>
            <a:endParaRPr lang="en-US" altLang="zh-CN" sz="2800" dirty="0"/>
          </a:p>
          <a:p>
            <a:pPr marL="457200" lvl="1" indent="457200"/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04645" y="1887855"/>
            <a:ext cx="7823200" cy="3434080"/>
            <a:chOff x="2188" y="2974"/>
            <a:chExt cx="12320" cy="5408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88" y="2974"/>
              <a:ext cx="12321" cy="5409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8084" y="5468"/>
              <a:ext cx="89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>
                  <a:latin typeface="微软雅黑" panose="020B0503020204020204" pitchFamily="34" charset="-122"/>
                  <a:ea typeface="微软雅黑" panose="020B0503020204020204" pitchFamily="34" charset="-122"/>
                </a:rPr>
                <a:t>⨀</a:t>
              </a:r>
              <a:endPara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92860"/>
            <a:ext cx="113855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、代数法</a:t>
            </a:r>
            <a:r>
              <a:rPr lang="zh-CN" altLang="en-US" sz="2800" dirty="0"/>
              <a:t>化简</a:t>
            </a:r>
            <a:endParaRPr lang="zh-CN" altLang="en-US" sz="2800" dirty="0"/>
          </a:p>
          <a:p>
            <a:pPr indent="457200"/>
            <a:r>
              <a:rPr lang="zh-CN" altLang="en-US" sz="2800" b="1" dirty="0">
                <a:solidFill>
                  <a:srgbClr val="1542FF"/>
                </a:solidFill>
                <a:sym typeface="+mn-ea"/>
              </a:rPr>
              <a:t>②</a:t>
            </a:r>
            <a:r>
              <a:rPr lang="en-US" altLang="zh-CN" sz="2800" b="1" dirty="0">
                <a:solidFill>
                  <a:srgbClr val="1542FF"/>
                </a:solidFill>
                <a:sym typeface="+mn-ea"/>
              </a:rPr>
              <a:t>.</a:t>
            </a:r>
            <a:r>
              <a:rPr lang="zh-CN" altLang="en-US" sz="2800" b="1" dirty="0">
                <a:solidFill>
                  <a:srgbClr val="1542FF"/>
                </a:solidFill>
                <a:sym typeface="+mn-ea"/>
              </a:rPr>
              <a:t>吸收法</a:t>
            </a:r>
            <a:endParaRPr lang="zh-CN" altLang="en-US" sz="2800" b="1" dirty="0">
              <a:solidFill>
                <a:srgbClr val="1542FF"/>
              </a:solidFill>
            </a:endParaRPr>
          </a:p>
          <a:p>
            <a:pPr marL="457200" lvl="1" indent="457200"/>
            <a:r>
              <a:rPr lang="zh-CN" altLang="en-US" sz="2800" dirty="0"/>
              <a:t>利用公式</a:t>
            </a:r>
            <a:r>
              <a:rPr lang="en-US" altLang="zh-CN" sz="2800" dirty="0"/>
              <a:t> A + AB = A</a:t>
            </a:r>
            <a:r>
              <a:rPr lang="zh-CN" altLang="en-US" sz="2800" dirty="0"/>
              <a:t>，吸收多余</a:t>
            </a:r>
            <a:r>
              <a:rPr lang="zh-CN" altLang="en-US" sz="2800" dirty="0"/>
              <a:t>一项。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25" y="2968625"/>
            <a:ext cx="5379720" cy="1242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1045" y="1292860"/>
            <a:ext cx="113855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、代数法</a:t>
            </a:r>
            <a:r>
              <a:rPr lang="zh-CN" altLang="en-US" sz="2800" dirty="0"/>
              <a:t>化简</a:t>
            </a:r>
            <a:endParaRPr lang="zh-CN" altLang="en-US" sz="2800" dirty="0"/>
          </a:p>
          <a:p>
            <a:pPr indent="457200"/>
            <a:r>
              <a:rPr lang="zh-CN" altLang="en-US" sz="2800" b="1" dirty="0">
                <a:solidFill>
                  <a:srgbClr val="1542FF"/>
                </a:solidFill>
                <a:sym typeface="+mn-ea"/>
              </a:rPr>
              <a:t>②</a:t>
            </a:r>
            <a:r>
              <a:rPr lang="en-US" altLang="zh-CN" sz="2800" b="1" dirty="0">
                <a:solidFill>
                  <a:srgbClr val="1542FF"/>
                </a:solidFill>
                <a:sym typeface="+mn-ea"/>
              </a:rPr>
              <a:t>.</a:t>
            </a:r>
            <a:r>
              <a:rPr lang="zh-CN" altLang="en-US" sz="2800" b="1" dirty="0">
                <a:solidFill>
                  <a:srgbClr val="1542FF"/>
                </a:solidFill>
                <a:sym typeface="+mn-ea"/>
              </a:rPr>
              <a:t>吸收法</a:t>
            </a:r>
            <a:endParaRPr lang="zh-CN" altLang="en-US" sz="2800" b="1" dirty="0">
              <a:solidFill>
                <a:srgbClr val="1542FF"/>
              </a:solidFill>
            </a:endParaRPr>
          </a:p>
          <a:p>
            <a:pPr marL="457200" lvl="1" indent="457200"/>
            <a:r>
              <a:rPr lang="zh-CN" altLang="en-US" sz="2800" dirty="0"/>
              <a:t>利用公式</a:t>
            </a:r>
            <a:r>
              <a:rPr lang="en-US" altLang="zh-CN" sz="2800" dirty="0"/>
              <a:t> A + AB = A</a:t>
            </a:r>
            <a:r>
              <a:rPr lang="zh-CN" altLang="en-US" sz="2800" dirty="0"/>
              <a:t>，吸收多余</a:t>
            </a:r>
            <a:r>
              <a:rPr lang="zh-CN" altLang="en-US" sz="2800" dirty="0"/>
              <a:t>一项。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935" y="2824480"/>
            <a:ext cx="6256020" cy="28270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41045" y="1292860"/>
                <a:ext cx="11385550" cy="13919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1</a:t>
                </a:r>
                <a:r>
                  <a:rPr lang="zh-CN" altLang="en-US" sz="2800" dirty="0"/>
                  <a:t>、代数法</a:t>
                </a:r>
                <a:r>
                  <a:rPr lang="zh-CN" altLang="en-US" sz="2800" dirty="0"/>
                  <a:t>化简</a:t>
                </a:r>
                <a:endParaRPr lang="zh-CN" altLang="en-US" sz="2800" dirty="0"/>
              </a:p>
              <a:p>
                <a:pPr indent="457200"/>
                <a:r>
                  <a:rPr lang="zh-CN" altLang="en-US" sz="2800" b="1" dirty="0">
                    <a:solidFill>
                      <a:srgbClr val="1542FF"/>
                    </a:solidFill>
                    <a:sym typeface="+mn-ea"/>
                  </a:rPr>
                  <a:t>③</a:t>
                </a:r>
                <a:r>
                  <a:rPr lang="en-US" altLang="zh-CN" sz="2800" b="1" dirty="0">
                    <a:solidFill>
                      <a:srgbClr val="1542FF"/>
                    </a:solidFill>
                    <a:sym typeface="+mn-ea"/>
                  </a:rPr>
                  <a:t>.</a:t>
                </a:r>
                <a:r>
                  <a:rPr lang="zh-CN" altLang="en-US" sz="2800" b="1" dirty="0">
                    <a:solidFill>
                      <a:srgbClr val="1542FF"/>
                    </a:solidFill>
                    <a:sym typeface="+mn-ea"/>
                  </a:rPr>
                  <a:t>消去法</a:t>
                </a:r>
                <a:endParaRPr lang="zh-CN" altLang="en-US" sz="2800" b="1" dirty="0">
                  <a:solidFill>
                    <a:srgbClr val="1542FF"/>
                  </a:solidFill>
                </a:endParaRPr>
              </a:p>
              <a:p>
                <a:pPr marL="457200" lvl="1" indent="457200"/>
                <a:r>
                  <a:rPr lang="zh-CN" altLang="en-US" sz="2800" dirty="0"/>
                  <a:t>利用公式</a:t>
                </a:r>
                <a:r>
                  <a:rPr lang="en-US" altLang="zh-CN" sz="2800" dirty="0"/>
                  <a:t> A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/>
                  <a:t>B = A+B</a:t>
                </a:r>
                <a:r>
                  <a:rPr lang="zh-CN" altLang="en-US" sz="2800" dirty="0"/>
                  <a:t>，消去与项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>
                    <a:sym typeface="+mn-ea"/>
                  </a:rPr>
                  <a:t>B</a:t>
                </a:r>
                <a:r>
                  <a:rPr lang="zh-CN" altLang="en-US" sz="2800" dirty="0">
                    <a:sym typeface="+mn-ea"/>
                  </a:rPr>
                  <a:t>中多余因子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endParaRPr lang="zh-CN" altLang="en-US" sz="2800" dirty="0">
                  <a:sym typeface="+mn-ea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5" y="1292860"/>
                <a:ext cx="11385550" cy="13919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425" y="2687955"/>
            <a:ext cx="5474970" cy="2896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41045" y="1292860"/>
                <a:ext cx="11385550" cy="1823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800" dirty="0"/>
                  <a:t>1</a:t>
                </a:r>
                <a:r>
                  <a:rPr lang="zh-CN" altLang="en-US" sz="2800" dirty="0"/>
                  <a:t>、代数法</a:t>
                </a:r>
                <a:r>
                  <a:rPr lang="zh-CN" altLang="en-US" sz="2800" dirty="0"/>
                  <a:t>化简</a:t>
                </a:r>
                <a:endParaRPr lang="zh-CN" altLang="en-US" sz="2800" dirty="0"/>
              </a:p>
              <a:p>
                <a:pPr indent="457200"/>
                <a:r>
                  <a:rPr lang="zh-CN" altLang="en-US" sz="2800" b="1" dirty="0">
                    <a:solidFill>
                      <a:srgbClr val="1542FF"/>
                    </a:solidFill>
                    <a:sym typeface="+mn-ea"/>
                  </a:rPr>
                  <a:t>④</a:t>
                </a:r>
                <a:r>
                  <a:rPr lang="en-US" altLang="zh-CN" sz="2800" b="1" dirty="0">
                    <a:solidFill>
                      <a:srgbClr val="1542FF"/>
                    </a:solidFill>
                    <a:sym typeface="+mn-ea"/>
                  </a:rPr>
                  <a:t>.</a:t>
                </a:r>
                <a:r>
                  <a:rPr lang="zh-CN" altLang="en-US" sz="2800" b="1" dirty="0">
                    <a:solidFill>
                      <a:srgbClr val="1542FF"/>
                    </a:solidFill>
                    <a:sym typeface="+mn-ea"/>
                  </a:rPr>
                  <a:t>配项法</a:t>
                </a:r>
                <a:endParaRPr lang="zh-CN" altLang="en-US" sz="2800" b="1" dirty="0">
                  <a:solidFill>
                    <a:srgbClr val="1542FF"/>
                  </a:solidFill>
                </a:endParaRPr>
              </a:p>
              <a:p>
                <a:pPr marL="457200" lvl="1" indent="457200"/>
                <a:r>
                  <a:rPr lang="zh-CN" altLang="en-US" sz="2800" dirty="0"/>
                  <a:t>利用公式</a:t>
                </a:r>
                <a:r>
                  <a:rPr lang="en-US" altLang="zh-CN" sz="2800" dirty="0"/>
                  <a:t> A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800" i="1" dirty="0" smtClean="0">
                            <a:solidFill>
                              <a:srgbClr val="02184F"/>
                            </a:solidFill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en-US" altLang="zh-CN" sz="2800" dirty="0"/>
                  <a:t> = 1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A+A = A</a:t>
                </a:r>
                <a:r>
                  <a:rPr lang="zh-CN" altLang="en-US" sz="2800" dirty="0"/>
                  <a:t>，</a:t>
                </a:r>
                <a:r>
                  <a:rPr lang="en-US" altLang="zh-CN" sz="2800" dirty="0"/>
                  <a:t>AA = A</a:t>
                </a:r>
                <a:r>
                  <a:rPr lang="zh-CN" altLang="en-US" sz="2800" dirty="0"/>
                  <a:t>等给某个</a:t>
                </a:r>
                <a:r>
                  <a:rPr lang="zh-CN" altLang="en-US" sz="2800" dirty="0"/>
                  <a:t>逻辑。</a:t>
                </a:r>
                <a:endParaRPr lang="zh-CN" altLang="en-US" sz="2800" dirty="0"/>
              </a:p>
              <a:p>
                <a:pPr marL="457200" lvl="1" indent="457200"/>
                <a:r>
                  <a:rPr lang="zh-CN" altLang="en-US" sz="2800" dirty="0"/>
                  <a:t>函数式增加适当的项，进而可消去原来函数中的某些</a:t>
                </a:r>
                <a:r>
                  <a:rPr lang="zh-CN" altLang="en-US" sz="2800" dirty="0"/>
                  <a:t>项。</a:t>
                </a:r>
                <a:endParaRPr lang="zh-CN" altLang="en-US" sz="2800" dirty="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045" y="1292860"/>
                <a:ext cx="11385550" cy="182308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三、逻辑函数的化简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425" y="3040380"/>
            <a:ext cx="7581900" cy="55626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115" y="3596640"/>
            <a:ext cx="8267700" cy="3147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980" y="160020"/>
            <a:ext cx="7338060" cy="65519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49465" y="37592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C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916805" y="102362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05960" y="167195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C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65365" y="225933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B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2840" y="289623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C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852795" y="352171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32705" y="404812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89420" y="469646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B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021445" y="563245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×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21445" y="5920105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×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021445" y="6324600"/>
            <a:ext cx="4108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×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7" grpId="0"/>
      <p:bldP spid="7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28925" y="2176145"/>
            <a:ext cx="1175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A+B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56535" y="5056505"/>
            <a:ext cx="1175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2252980" y="520065"/>
            <a:ext cx="4100830" cy="4368800"/>
            <a:chOff x="3548" y="819"/>
            <a:chExt cx="6458" cy="6880"/>
          </a:xfrm>
        </p:grpSpPr>
        <p:pic>
          <p:nvPicPr>
            <p:cNvPr id="21" name="图片 20" descr="7d1dc369-5ff1-4b70-82cf-ffba2978860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48" y="819"/>
              <a:ext cx="6459" cy="6881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9" y="6942"/>
              <a:ext cx="408" cy="15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23" grpId="0"/>
      <p:bldP spid="2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315" y="591820"/>
            <a:ext cx="3261995" cy="51415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45050" y="6123305"/>
            <a:ext cx="17170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A+CD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 descr="6574a516-44a8-4c3b-af62-d02d22ded2c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980" y="520065"/>
            <a:ext cx="7593965" cy="5996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6" name="图片 5" descr="f7bbd539-a7f3-4b87-8738-510c1e2e3ed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745" y="591820"/>
            <a:ext cx="9784080" cy="4922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逻辑函数的最简形式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最小项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逻辑函数的化简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14049" y="2109237"/>
            <a:ext cx="9107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灯泡的功率</a:t>
            </a:r>
            <a:r>
              <a:rPr lang="en-US" altLang="zh-CN" sz="3600" dirty="0"/>
              <a:t>P = U</a:t>
            </a:r>
            <a:r>
              <a:rPr lang="en-US" altLang="zh-CN" sz="3600" baseline="30000" dirty="0"/>
              <a:t>2</a:t>
            </a:r>
            <a:r>
              <a:rPr lang="en-US" altLang="zh-CN" sz="3600" dirty="0"/>
              <a:t>/R</a:t>
            </a:r>
            <a:r>
              <a:rPr lang="zh-CN" altLang="en-US" sz="3600" dirty="0"/>
              <a:t>，是因为把灯泡看成什么？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1554</Words>
  <Application>WPS 演示</Application>
  <PresentationFormat>自定义</PresentationFormat>
  <Paragraphs>206</Paragraphs>
  <Slides>23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Times New Roman</vt:lpstr>
      <vt:lpstr>Wingdings</vt:lpstr>
      <vt:lpstr>Arial Unicode MS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葛以伟</cp:lastModifiedBy>
  <cp:revision>750</cp:revision>
  <dcterms:created xsi:type="dcterms:W3CDTF">2017-01-08T15:59:00Z</dcterms:created>
  <dcterms:modified xsi:type="dcterms:W3CDTF">2025-05-08T06:38:34Z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FCA88555D3D44735BAA1F56722F3B997</vt:lpwstr>
  </property>
</Properties>
</file>