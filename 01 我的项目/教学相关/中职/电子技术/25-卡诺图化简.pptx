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3705" r:id="rId3"/>
    <p:sldId id="3701" r:id="rId4"/>
    <p:sldId id="3646" r:id="rId5"/>
    <p:sldId id="3737" r:id="rId7"/>
    <p:sldId id="3747" r:id="rId8"/>
    <p:sldId id="3751" r:id="rId9"/>
    <p:sldId id="3763" r:id="rId10"/>
    <p:sldId id="3769" r:id="rId11"/>
    <p:sldId id="3764" r:id="rId12"/>
    <p:sldId id="3759" r:id="rId13"/>
    <p:sldId id="3765" r:id="rId14"/>
    <p:sldId id="3766" r:id="rId15"/>
    <p:sldId id="3767" r:id="rId16"/>
    <p:sldId id="3712" r:id="rId17"/>
    <p:sldId id="3700" r:id="rId18"/>
    <p:sldId id="3702" r:id="rId19"/>
  </p:sldIdLst>
  <p:sldSz cx="12858750" cy="7232650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11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930E4"/>
    <a:srgbClr val="FFC000"/>
    <a:srgbClr val="1542FF"/>
    <a:srgbClr val="02184F"/>
    <a:srgbClr val="FFBF00"/>
    <a:srgbClr val="FFFFFF"/>
    <a:srgbClr val="066197"/>
    <a:srgbClr val="0C6AC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18"/>
        <p:guide orient="horz" pos="4137"/>
        <p:guide pos="4075"/>
        <p:guide pos="511"/>
        <p:guide pos="7544"/>
        <p:guide pos="6880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卡诺图化简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、理解电路中电位的概念及其单位。</a:t>
            </a:r>
            <a:endParaRPr lang="en-US" altLang="zh-CN" sz="3200" b="1" dirty="0"/>
          </a:p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掌握电路中各点电位及两点间电压的分析和计算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305" y="1888490"/>
            <a:ext cx="7908290" cy="30251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5400" dirty="0">
                <a:sym typeface="+mn-ea"/>
              </a:rPr>
              <a:t>最小项</a:t>
            </a:r>
            <a:endParaRPr lang="zh-CN" alt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5400" dirty="0">
                <a:sym typeface="+mn-ea"/>
              </a:rPr>
              <a:t>画卡诺图</a:t>
            </a:r>
            <a:endParaRPr lang="zh-CN" altLang="en-US" sz="5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5400" b="1" dirty="0">
                <a:solidFill>
                  <a:schemeClr val="tx1"/>
                </a:solidFill>
                <a:sym typeface="+mn-ea"/>
              </a:rPr>
              <a:t>根据诺图表示逻辑函数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40743" y="808660"/>
                <a:ext cx="11665296" cy="4255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、最小项</a:t>
                </a:r>
                <a:endParaRPr lang="en-US" altLang="zh-CN" sz="2800" b="1" dirty="0">
                  <a:solidFill>
                    <a:srgbClr val="FF0000"/>
                  </a:solidFill>
                </a:endParaRPr>
              </a:p>
              <a:p>
                <a:pPr indent="457200"/>
                <a:r>
                  <a:rPr lang="en-US" altLang="zh-CN" sz="2800" dirty="0"/>
                  <a:t>(1)</a:t>
                </a:r>
                <a:r>
                  <a:rPr lang="zh-CN" altLang="en-US" sz="2800" dirty="0"/>
                  <a:t>最小</a:t>
                </a:r>
                <a:r>
                  <a:rPr lang="zh-CN" altLang="en-US" sz="2800" dirty="0"/>
                  <a:t>项</a:t>
                </a:r>
                <a:endParaRPr lang="zh-CN" altLang="en-US" sz="2800" dirty="0"/>
              </a:p>
              <a:p>
                <a:pPr indent="457200"/>
                <a:r>
                  <a:rPr lang="zh-CN" altLang="en-US" sz="2800" dirty="0"/>
                  <a:t>设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B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C</a:t>
                </a:r>
                <a:r>
                  <a:rPr lang="zh-CN" altLang="en-US" sz="2800" dirty="0"/>
                  <a:t>是三个逻辑变量，若由这三个逻辑变量按以下规则构成乘积项：</a:t>
                </a:r>
                <a:endParaRPr lang="zh-CN" altLang="en-US" sz="2800" dirty="0"/>
              </a:p>
              <a:p>
                <a:pPr indent="457200"/>
                <a:r>
                  <a:rPr lang="zh-CN" altLang="en-US" sz="2800" dirty="0"/>
                  <a:t>①每个乘积项都只含三个因子，且每个变量都是它的一个因子；</a:t>
                </a:r>
                <a:endParaRPr lang="zh-CN" altLang="en-US" sz="2800" dirty="0"/>
              </a:p>
              <a:p>
                <a:pPr indent="457200"/>
                <a:r>
                  <a:rPr lang="zh-CN" altLang="en-US" sz="2800" dirty="0"/>
                  <a:t>②每个变量都以反变量</a:t>
                </a:r>
                <a:r>
                  <a:rPr lang="en-US" altLang="zh-CN" sz="2800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CN" altLang="en-US" sz="2800" dirty="0"/>
                  <a:t>、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、</m:t>
                    </m:r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/>
                  <a:t>)</a:t>
                </a:r>
                <a:r>
                  <a:rPr lang="zh-CN" altLang="en-US" sz="2800" dirty="0"/>
                  <a:t>或以原变量</a:t>
                </a:r>
                <a:r>
                  <a:rPr lang="en-US" altLang="zh-CN" sz="2800" dirty="0"/>
                  <a:t>(A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B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C)</a:t>
                </a:r>
                <a:r>
                  <a:rPr lang="zh-CN" altLang="en-US" sz="2800" dirty="0"/>
                  <a:t>的形式出现一次，且仅出现一次。</a:t>
                </a:r>
                <a:endParaRPr lang="zh-CN" altLang="en-US" sz="2800" dirty="0"/>
              </a:p>
              <a:p>
                <a:pPr indent="457200"/>
                <a:r>
                  <a:rPr lang="zh-CN" altLang="en-US" sz="2800" dirty="0"/>
                  <a:t>具备以上条件的乘积项共有八个，我们称这八个乘积项为三变量</a:t>
                </a:r>
                <a:r>
                  <a:rPr lang="en-US" altLang="zh-CN" sz="2800" dirty="0"/>
                  <a:t>A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B</a:t>
                </a:r>
                <a:r>
                  <a:rPr lang="zh-CN" altLang="en-US" sz="2800" dirty="0"/>
                  <a:t>、</a:t>
                </a:r>
                <a:r>
                  <a:rPr lang="en-US" altLang="zh-CN" sz="2800" dirty="0"/>
                  <a:t>C</a:t>
                </a:r>
                <a:r>
                  <a:rPr lang="zh-CN" altLang="en-US" sz="2800" dirty="0"/>
                  <a:t>的最小项。</a:t>
                </a:r>
                <a:endParaRPr lang="en-US" altLang="zh-CN" sz="2800" dirty="0"/>
              </a:p>
              <a:p>
                <a:pPr indent="457200"/>
                <a:endParaRPr lang="en-US" altLang="zh-CN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43" y="808660"/>
                <a:ext cx="11665296" cy="4255135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-1371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1877060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68375" y="1456055"/>
                <a:ext cx="10922635" cy="7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4400">
                    <a:highlight>
                      <a:srgbClr val="00FF00"/>
                    </a:highlight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4400" i="1" dirty="0" smtClean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4400" i="1" dirty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zh-CN" altLang="en-US" sz="4400">
                    <a:highlight>
                      <a:srgbClr val="00FF00"/>
                    </a:highlight>
                  </a:rPr>
                  <a:t>是三变量函数的最小项吗？</a:t>
                </a:r>
                <a:endParaRPr lang="zh-CN" altLang="en-US" sz="440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75" y="1456055"/>
                <a:ext cx="10922635" cy="7778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968375" y="2536190"/>
                <a:ext cx="8753475" cy="783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4400" i="1" dirty="0" smtClean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4400" i="1" dirty="0" smtClean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4400" i="1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en-US" altLang="zh-CN" sz="4400" i="1" dirty="0" smtClean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4400" i="1" dirty="0">
                            <a:solidFill>
                              <a:schemeClr val="tx1"/>
                            </a:solidFill>
                            <a:highlight>
                              <a:srgbClr val="00FF00"/>
                            </a:highlight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4400" i="1" dirty="0">
                        <a:solidFill>
                          <a:schemeClr val="tx1"/>
                        </a:solidFill>
                        <a:highlight>
                          <a:srgbClr val="00FF00"/>
                        </a:highlight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zh-CN" altLang="en-US" sz="4400">
                    <a:highlight>
                      <a:srgbClr val="00FF00"/>
                    </a:highlight>
                  </a:rPr>
                  <a:t>是三变量函数的最小项吗？</a:t>
                </a:r>
                <a:endParaRPr lang="zh-CN" altLang="en-US" sz="440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75" y="2536190"/>
                <a:ext cx="8753475" cy="7835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" y="3903980"/>
            <a:ext cx="11694160" cy="1501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900" y="160020"/>
            <a:ext cx="2263775" cy="5168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808660"/>
            <a:ext cx="11665296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、最小项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r>
              <a:rPr lang="en-US" altLang="zh-CN" sz="2800" dirty="0"/>
              <a:t>(3)</a:t>
            </a:r>
            <a:r>
              <a:rPr lang="zh-CN" altLang="en-US" sz="2800" dirty="0"/>
              <a:t>最小项</a:t>
            </a:r>
            <a:r>
              <a:rPr lang="zh-CN" altLang="en-US" sz="2800" dirty="0"/>
              <a:t>表达式</a:t>
            </a:r>
            <a:endParaRPr lang="zh-CN" altLang="en-US" sz="2800" dirty="0"/>
          </a:p>
          <a:p>
            <a:pPr indent="457200"/>
            <a:r>
              <a:rPr lang="zh-CN" altLang="en-US" sz="2800" dirty="0"/>
              <a:t>任意一个逻辑函数都可以表示为最小项之和的形式</a:t>
            </a:r>
            <a:r>
              <a:rPr lang="en-US" altLang="zh-CN" sz="2800" dirty="0"/>
              <a:t>------</a:t>
            </a:r>
            <a:r>
              <a:rPr lang="zh-CN" altLang="en-US" sz="2800" dirty="0"/>
              <a:t>标准与或表达式。而且这种表达式是唯一的，就是说一个逻辑函数只有一种最小项</a:t>
            </a:r>
            <a:r>
              <a:rPr lang="zh-CN" altLang="en-US" sz="2800" dirty="0"/>
              <a:t>表达式。</a:t>
            </a:r>
            <a:endParaRPr lang="zh-CN" altLang="en-US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1245235" y="2713990"/>
            <a:ext cx="10704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例</a:t>
            </a:r>
            <a:r>
              <a:rPr lang="en-US" altLang="zh-CN" sz="2800"/>
              <a:t>  </a:t>
            </a:r>
            <a:r>
              <a:rPr lang="zh-CN" altLang="en-US" sz="2800"/>
              <a:t>将</a:t>
            </a:r>
            <a:r>
              <a:rPr lang="en-US" altLang="zh-CN" sz="2800"/>
              <a:t> Y = AB + BC</a:t>
            </a:r>
            <a:r>
              <a:rPr lang="zh-CN" altLang="en-US" sz="2800"/>
              <a:t>展开成最小项表达式。</a:t>
            </a:r>
            <a:endParaRPr lang="zh-CN" altLang="en-US" sz="28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90" y="3249930"/>
            <a:ext cx="8542020" cy="15011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890" y="4912360"/>
            <a:ext cx="6019800" cy="1478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736270"/>
            <a:ext cx="116652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画卡诺图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r>
              <a:rPr lang="en-US" altLang="zh-CN" sz="2800" dirty="0"/>
              <a:t>(1)</a:t>
            </a:r>
            <a:r>
              <a:rPr lang="zh-CN" altLang="en-US" sz="2800" dirty="0"/>
              <a:t>根据最小项在卡诺图里依次画</a:t>
            </a:r>
            <a:r>
              <a:rPr lang="en-US" altLang="zh-CN" sz="2800" dirty="0"/>
              <a:t>1.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1910" y="2247900"/>
                <a:ext cx="9327515" cy="27127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457200"/>
                <a:r>
                  <a:rPr lang="zh-CN" altLang="en-US" sz="2800" dirty="0">
                    <a:solidFill>
                      <a:srgbClr val="1542FF"/>
                    </a:solidFill>
                    <a:sym typeface="+mn-ea"/>
                  </a:rPr>
                  <a:t>例</a:t>
                </a:r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  </a:t>
                </a:r>
                <a:r>
                  <a:rPr lang="zh-CN" altLang="en-US" sz="2800" dirty="0">
                    <a:solidFill>
                      <a:srgbClr val="1542FF"/>
                    </a:solidFill>
                    <a:sym typeface="+mn-ea"/>
                  </a:rPr>
                  <a:t>已知</a:t>
                </a:r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 Y = AB +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1542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BCD</a:t>
                </a:r>
                <a:r>
                  <a:rPr lang="zh-CN" altLang="en-US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，</a:t>
                </a:r>
                <a:endParaRPr lang="zh-CN" altLang="en-US" sz="2800" dirty="0" smtClean="0">
                  <a:solidFill>
                    <a:srgbClr val="1542FF"/>
                  </a:solidFill>
                  <a:latin typeface="Cambria Math" panose="02040503050406030204" pitchFamily="18" charset="0"/>
                </a:endParaRPr>
              </a:p>
              <a:p>
                <a:pPr indent="457200"/>
                <a:r>
                  <a:rPr lang="zh-CN" altLang="en-US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画卡诺图。</a:t>
                </a:r>
                <a:endParaRPr lang="zh-CN" altLang="en-US" sz="2800" dirty="0" smtClean="0">
                  <a:solidFill>
                    <a:srgbClr val="1542FF"/>
                  </a:solidFill>
                  <a:latin typeface="Cambria Math" panose="02040503050406030204" pitchFamily="18" charset="0"/>
                  <a:sym typeface="+mn-ea"/>
                </a:endParaRPr>
              </a:p>
              <a:p>
                <a:pPr indent="457200"/>
                <a:r>
                  <a:rPr lang="zh-CN" altLang="en-US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解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 Y = </a:t>
                </a:r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AB(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+C)(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+D) + A(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+B)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D+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B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CD </a:t>
                </a:r>
                <a:endParaRPr lang="en-US" altLang="zh-CN" sz="2800" dirty="0" smtClean="0">
                  <a:solidFill>
                    <a:srgbClr val="1542FF"/>
                  </a:solidFill>
                  <a:latin typeface="Cambria Math" panose="02040503050406030204" pitchFamily="18" charset="0"/>
                </a:endParaRPr>
              </a:p>
              <a:p>
                <a:pPr marL="457200" lvl="1" indent="457200"/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  =AB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+</a:t>
                </a:r>
                <a:r>
                  <a:rPr lang="en-US" altLang="zh-CN" sz="2800" dirty="0" smtClean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D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+ABC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+ABCD+A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D+</a:t>
                </a:r>
                <a:r>
                  <a:rPr lang="en-US" altLang="zh-CN" sz="2800" dirty="0" smtClean="0">
                    <a:solidFill>
                      <a:srgbClr val="00B050"/>
                    </a:solidFill>
                    <a:latin typeface="Cambria Math" panose="02040503050406030204" pitchFamily="18" charset="0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US" altLang="zh-CN" sz="28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BC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D </a:t>
                </a:r>
                <a:endParaRPr lang="en-US" altLang="zh-CN" sz="2800" dirty="0" smtClean="0">
                  <a:solidFill>
                    <a:srgbClr val="1542FF"/>
                  </a:solidFill>
                  <a:latin typeface="Cambria Math" panose="02040503050406030204" pitchFamily="18" charset="0"/>
                </a:endParaRPr>
              </a:p>
              <a:p>
                <a:pPr marL="457200" lvl="1" indent="0"/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US" altLang="zh-CN" sz="2800" dirty="0" smtClean="0">
                    <a:solidFill>
                      <a:srgbClr val="FF0000"/>
                    </a:solidFill>
                    <a:latin typeface="Cambria Math" panose="02040503050406030204" pitchFamily="18" charset="0"/>
                    <a:sym typeface="+mn-ea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+</a:t>
                </a:r>
                <a:r>
                  <a:rPr lang="en-US" altLang="zh-CN" sz="2800" dirty="0" smtClean="0">
                    <a:solidFill>
                      <a:srgbClr val="00B050"/>
                    </a:solidFill>
                    <a:latin typeface="Cambria Math" panose="02040503050406030204" pitchFamily="18" charset="0"/>
                    <a:sym typeface="+mn-ea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00B050"/>
                    </a:solidFill>
                    <a:latin typeface="Cambria Math" panose="02040503050406030204" pitchFamily="18" charset="0"/>
                    <a:sym typeface="+mn-ea"/>
                  </a:rPr>
                  <a:t>D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+ABC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+</a:t>
                </a:r>
                <a:r>
                  <a:rPr lang="en-US" altLang="zh-CN" sz="2800" dirty="0" smtClean="0">
                    <a:solidFill>
                      <a:srgbClr val="FFC000"/>
                    </a:solidFill>
                    <a:latin typeface="Cambria Math" panose="02040503050406030204" pitchFamily="18" charset="0"/>
                    <a:sym typeface="+mn-ea"/>
                  </a:rPr>
                  <a:t>ABCD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+</a:t>
                </a:r>
                <a:r>
                  <a:rPr lang="en-US" altLang="zh-CN" sz="28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accent3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  <a:sym typeface="+mn-ea"/>
                  </a:rPr>
                  <a:t>D</a:t>
                </a:r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D930E4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D930E4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D930E4"/>
                    </a:solidFill>
                    <a:latin typeface="Cambria Math" panose="02040503050406030204" pitchFamily="18" charset="0"/>
                    <a:sym typeface="+mn-ea"/>
                  </a:rPr>
                  <a:t>BCD</a:t>
                </a:r>
                <a:endParaRPr lang="en-US" altLang="zh-CN" sz="2800" dirty="0" smtClean="0">
                  <a:solidFill>
                    <a:srgbClr val="D930E4"/>
                  </a:solidFill>
                  <a:latin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" y="2247900"/>
                <a:ext cx="9327515" cy="27127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90" y="2463800"/>
            <a:ext cx="3581400" cy="34366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758680" y="452882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FF000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253470" y="4552315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FFC00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FFC00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921490" y="453771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1542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595" y="4552315"/>
            <a:ext cx="728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 </a:t>
            </a:r>
            <a:r>
              <a:rPr lang="en-US" altLang="zh-CN" sz="3200" dirty="0">
                <a:solidFill>
                  <a:srgbClr val="00B05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5595" y="5262880"/>
            <a:ext cx="728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 </a:t>
            </a:r>
            <a:r>
              <a:rPr lang="en-US" altLang="zh-CN" sz="3200" dirty="0">
                <a:solidFill>
                  <a:schemeClr val="accent3">
                    <a:lumMod val="60000"/>
                    <a:lumOff val="40000"/>
                  </a:schemeClr>
                </a:solidFill>
                <a:sym typeface="+mn-ea"/>
              </a:rPr>
              <a:t>1</a:t>
            </a:r>
            <a:endParaRPr lang="en-US" altLang="zh-CN" sz="3200" dirty="0">
              <a:solidFill>
                <a:schemeClr val="accent3">
                  <a:lumMod val="60000"/>
                  <a:lumOff val="40000"/>
                </a:schemeClr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181715" y="384175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D930E4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D930E4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3" grpId="1"/>
      <p:bldP spid="15" grpId="1"/>
      <p:bldP spid="16" grpId="1"/>
      <p:bldP spid="18" grpId="0"/>
      <p:bldP spid="18" grpId="1"/>
      <p:bldP spid="11" grpId="0"/>
      <p:bldP spid="11" grpId="1"/>
      <p:bldP spid="12" grpId="0"/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736270"/>
            <a:ext cx="11665296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画卡诺图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r>
              <a:rPr lang="en-US" altLang="zh-CN" sz="2800" dirty="0"/>
              <a:t>(2)</a:t>
            </a:r>
            <a:r>
              <a:rPr lang="zh-CN" altLang="en-US" sz="2800" dirty="0"/>
              <a:t>直接</a:t>
            </a:r>
            <a:r>
              <a:rPr lang="zh-CN" altLang="en-US" sz="2800" dirty="0"/>
              <a:t>画卡诺图。</a:t>
            </a:r>
            <a:endParaRPr lang="en-US" altLang="zh-C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50900" y="1959610"/>
                <a:ext cx="7704455" cy="18408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457200"/>
                <a:r>
                  <a:rPr lang="zh-CN" altLang="en-US" sz="2800" dirty="0">
                    <a:solidFill>
                      <a:srgbClr val="1542FF"/>
                    </a:solidFill>
                    <a:sym typeface="+mn-ea"/>
                  </a:rPr>
                  <a:t>例</a:t>
                </a:r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  </a:t>
                </a:r>
                <a:r>
                  <a:rPr lang="zh-CN" altLang="en-US" sz="2800" dirty="0">
                    <a:solidFill>
                      <a:srgbClr val="1542FF"/>
                    </a:solidFill>
                    <a:sym typeface="+mn-ea"/>
                  </a:rPr>
                  <a:t>已知</a:t>
                </a:r>
                <a:r>
                  <a:rPr lang="en-US" altLang="zh-CN" sz="2800" dirty="0">
                    <a:solidFill>
                      <a:srgbClr val="1542FF"/>
                    </a:solidFill>
                    <a:sym typeface="+mn-ea"/>
                  </a:rPr>
                  <a:t> Y = AB + 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1542F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BCD</a:t>
                </a:r>
                <a:r>
                  <a:rPr lang="zh-CN" altLang="en-US" sz="2800" dirty="0" smtClean="0">
                    <a:solidFill>
                      <a:srgbClr val="1542FF"/>
                    </a:solidFill>
                    <a:latin typeface="Cambria Math" panose="02040503050406030204" pitchFamily="18" charset="0"/>
                    <a:sym typeface="+mn-ea"/>
                  </a:rPr>
                  <a:t>，</a:t>
                </a:r>
                <a:endParaRPr lang="zh-CN" altLang="en-US" sz="2800" dirty="0" smtClean="0">
                  <a:solidFill>
                    <a:srgbClr val="1542FF"/>
                  </a:solidFill>
                  <a:latin typeface="Cambria Math" panose="02040503050406030204" pitchFamily="18" charset="0"/>
                </a:endParaRPr>
              </a:p>
              <a:p>
                <a:pPr indent="457200"/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填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AB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：把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AB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都是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1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的都填上</a:t>
                </a:r>
                <a:endParaRPr lang="zh-CN" altLang="en-US" sz="2800" dirty="0" smtClean="0">
                  <a:solidFill>
                    <a:schemeClr val="tx1"/>
                  </a:solidFill>
                  <a:latin typeface="Cambria Math" panose="02040503050406030204" pitchFamily="18" charset="0"/>
                  <a:sym typeface="+mn-ea"/>
                </a:endParaRPr>
              </a:p>
              <a:p>
                <a:pPr indent="457200"/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填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D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：把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A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1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且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C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0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且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D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1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的都填上</a:t>
                </a:r>
                <a:endParaRPr lang="en-US" altLang="zh-CN" sz="2800" dirty="0" smtClean="0">
                  <a:solidFill>
                    <a:schemeClr val="tx1"/>
                  </a:solidFill>
                  <a:latin typeface="Cambria Math" panose="02040503050406030204" pitchFamily="18" charset="0"/>
                  <a:sym typeface="+mn-ea"/>
                </a:endParaRPr>
              </a:p>
              <a:p>
                <a:pPr indent="457200"/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填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BCD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：把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A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0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且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BCD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是</a:t>
                </a:r>
                <a:r>
                  <a:rPr lang="en-US" altLang="zh-CN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1</a:t>
                </a:r>
                <a:r>
                  <a:rPr lang="zh-CN" altLang="en-US" sz="280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sym typeface="+mn-ea"/>
                  </a:rPr>
                  <a:t>的都填上</a:t>
                </a:r>
                <a:endParaRPr lang="zh-CN" altLang="en-US" sz="2800" dirty="0" smtClean="0">
                  <a:solidFill>
                    <a:schemeClr val="tx1"/>
                  </a:solidFill>
                  <a:latin typeface="Cambria Math" panose="02040503050406030204" pitchFamily="18" charset="0"/>
                  <a:sym typeface="+mn-ea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00" y="1959610"/>
                <a:ext cx="7704455" cy="18408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690" y="2463800"/>
            <a:ext cx="3581400" cy="34366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758680" y="452882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FF000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253470" y="4552315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FFC00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FFC00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921490" y="453771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1542FF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595" y="4552315"/>
            <a:ext cx="728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 </a:t>
            </a:r>
            <a:r>
              <a:rPr lang="en-US" altLang="zh-CN" sz="3200" dirty="0">
                <a:solidFill>
                  <a:srgbClr val="00B050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75595" y="5262880"/>
            <a:ext cx="728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1542FF"/>
                </a:solidFill>
                <a:sym typeface="+mn-ea"/>
              </a:rPr>
              <a:t> </a:t>
            </a:r>
            <a:r>
              <a:rPr lang="en-US" altLang="zh-CN" sz="3200" dirty="0">
                <a:solidFill>
                  <a:schemeClr val="accent3">
                    <a:lumMod val="60000"/>
                    <a:lumOff val="40000"/>
                  </a:schemeClr>
                </a:solidFill>
                <a:sym typeface="+mn-ea"/>
              </a:rPr>
              <a:t>1</a:t>
            </a:r>
            <a:endParaRPr lang="en-US" altLang="zh-CN" sz="3200" dirty="0">
              <a:solidFill>
                <a:schemeClr val="accent3">
                  <a:lumMod val="60000"/>
                  <a:lumOff val="40000"/>
                </a:schemeClr>
              </a:solidFill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181715" y="3841750"/>
            <a:ext cx="4743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dirty="0">
                <a:solidFill>
                  <a:srgbClr val="D930E4"/>
                </a:solidFill>
                <a:sym typeface="+mn-ea"/>
              </a:rPr>
              <a:t>1</a:t>
            </a:r>
            <a:endParaRPr lang="en-US" altLang="zh-CN" sz="3200" dirty="0">
              <a:solidFill>
                <a:srgbClr val="D930E4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3" grpId="1"/>
      <p:bldP spid="15" grpId="1"/>
      <p:bldP spid="16" grpId="1"/>
      <p:bldP spid="18" grpId="0"/>
      <p:bldP spid="18" grpId="1"/>
      <p:bldP spid="11" grpId="0"/>
      <p:bldP spid="11" grpId="1"/>
      <p:bldP spid="12" grpId="0"/>
      <p:bldP spid="1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103755"/>
            <a:ext cx="3666490" cy="3483610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4916805" y="4192270"/>
            <a:ext cx="504190" cy="1368425"/>
          </a:xfrm>
          <a:prstGeom prst="ellipse">
            <a:avLst/>
          </a:prstGeom>
          <a:noFill/>
          <a:ln w="38100">
            <a:solidFill>
              <a:srgbClr val="1542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709285" y="3472180"/>
            <a:ext cx="504190" cy="1368425"/>
          </a:xfrm>
          <a:prstGeom prst="ellipse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2800" y="808355"/>
            <a:ext cx="46863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根据诺图表示逻辑函数</a:t>
            </a:r>
            <a:endParaRPr lang="zh-CN" altLang="en-US" sz="2800" dirty="0" smtClean="0">
              <a:solidFill>
                <a:srgbClr val="1542FF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209790" y="1791335"/>
                <a:ext cx="5445125" cy="3802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/>
                  <a:t>找</a:t>
                </a:r>
                <a:r>
                  <a:rPr lang="zh-CN" altLang="en-US" sz="2400" b="1"/>
                  <a:t>圈里一直不变的。</a:t>
                </a:r>
                <a:endParaRPr lang="zh-CN" altLang="en-US" sz="2400" b="1"/>
              </a:p>
              <a:p>
                <a:r>
                  <a:rPr lang="zh-CN" altLang="en-US" sz="2400" b="1">
                    <a:solidFill>
                      <a:srgbClr val="FF0000"/>
                    </a:solidFill>
                  </a:rPr>
                  <a:t>红色的：</a:t>
                </a:r>
                <a:endParaRPr lang="zh-CN" altLang="en-US" sz="2400" b="1">
                  <a:solidFill>
                    <a:srgbClr val="FF0000"/>
                  </a:solidFill>
                </a:endParaRPr>
              </a:p>
              <a:p>
                <a:pPr indent="457200"/>
                <a:r>
                  <a:rPr lang="en-US" altLang="zh-CN" sz="2400">
                    <a:solidFill>
                      <a:srgbClr val="FF0000"/>
                    </a:solidFill>
                  </a:rPr>
                  <a:t>Y1 = AB; 2</a:t>
                </a:r>
                <a:r>
                  <a:rPr lang="en-US" altLang="zh-CN" sz="2400" baseline="30000">
                    <a:solidFill>
                      <a:srgbClr val="FF0000"/>
                    </a:solidFill>
                    <a:uFillTx/>
                  </a:rPr>
                  <a:t>2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 = 4,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所以去掉</a:t>
                </a:r>
                <a:r>
                  <a:rPr lang="en-US" altLang="zh-CN" sz="240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>
                    <a:solidFill>
                      <a:srgbClr val="FF0000"/>
                    </a:solidFill>
                  </a:rPr>
                  <a:t>个变量</a:t>
                </a:r>
                <a:endParaRPr lang="en-US" altLang="zh-CN" sz="2400">
                  <a:solidFill>
                    <a:srgbClr val="FF0000"/>
                  </a:solidFill>
                </a:endParaRPr>
              </a:p>
              <a:p>
                <a:pPr indent="0"/>
                <a:r>
                  <a:rPr lang="zh-CN" altLang="en-US" sz="2400" b="1">
                    <a:solidFill>
                      <a:srgbClr val="1542FF"/>
                    </a:solidFill>
                  </a:rPr>
                  <a:t>蓝色的：</a:t>
                </a:r>
                <a:endParaRPr lang="zh-CN" altLang="en-US" sz="2400" b="1">
                  <a:solidFill>
                    <a:srgbClr val="1542FF"/>
                  </a:solidFill>
                </a:endParaRPr>
              </a:p>
              <a:p>
                <a:pPr indent="457200"/>
                <a:r>
                  <a:rPr lang="en-US" altLang="zh-CN" sz="2400">
                    <a:solidFill>
                      <a:srgbClr val="1542FF"/>
                    </a:solidFill>
                  </a:rPr>
                  <a:t>Y2 =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 smtClean="0">
                            <a:solidFill>
                              <a:srgbClr val="1542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altLang="zh-CN" sz="2400">
                    <a:solidFill>
                      <a:srgbClr val="1542FF"/>
                    </a:solidFill>
                  </a:rPr>
                  <a:t>D</a:t>
                </a:r>
                <a:r>
                  <a:rPr lang="zh-CN" altLang="en-US" sz="2400">
                    <a:solidFill>
                      <a:srgbClr val="1542FF"/>
                    </a:solidFill>
                  </a:rPr>
                  <a:t>；</a:t>
                </a:r>
                <a:r>
                  <a:rPr lang="en-US" altLang="zh-CN" sz="2400">
                    <a:solidFill>
                      <a:srgbClr val="1542FF"/>
                    </a:solidFill>
                  </a:rPr>
                  <a:t>2</a:t>
                </a:r>
                <a:r>
                  <a:rPr lang="en-US" altLang="zh-CN" sz="2400" baseline="30000">
                    <a:solidFill>
                      <a:srgbClr val="1542FF"/>
                    </a:solidFill>
                    <a:uFillTx/>
                  </a:rPr>
                  <a:t>1</a:t>
                </a:r>
                <a:r>
                  <a:rPr lang="en-US" altLang="zh-CN" sz="2400">
                    <a:solidFill>
                      <a:srgbClr val="1542FF"/>
                    </a:solidFill>
                  </a:rPr>
                  <a:t> = 2</a:t>
                </a:r>
                <a:r>
                  <a:rPr lang="zh-CN" altLang="en-US" sz="2400">
                    <a:solidFill>
                      <a:srgbClr val="1542FF"/>
                    </a:solidFill>
                  </a:rPr>
                  <a:t>，所以去掉</a:t>
                </a:r>
                <a:r>
                  <a:rPr lang="en-US" altLang="zh-CN" sz="2400">
                    <a:solidFill>
                      <a:srgbClr val="1542FF"/>
                    </a:solidFill>
                  </a:rPr>
                  <a:t>1</a:t>
                </a:r>
                <a:r>
                  <a:rPr lang="zh-CN" altLang="en-US" sz="2400">
                    <a:solidFill>
                      <a:srgbClr val="1542FF"/>
                    </a:solidFill>
                  </a:rPr>
                  <a:t>个变量</a:t>
                </a:r>
                <a:endParaRPr lang="zh-CN" altLang="en-US" sz="2400">
                  <a:solidFill>
                    <a:srgbClr val="1542FF"/>
                  </a:solidFill>
                </a:endParaRPr>
              </a:p>
              <a:p>
                <a:pPr indent="0"/>
                <a:r>
                  <a:rPr lang="en-US" altLang="zh-CN" sz="2400" b="1">
                    <a:solidFill>
                      <a:srgbClr val="00B050"/>
                    </a:solidFill>
                  </a:rPr>
                  <a:t>绿色的</a:t>
                </a:r>
                <a:r>
                  <a:rPr lang="zh-CN" altLang="en-US" sz="2400" b="1">
                    <a:solidFill>
                      <a:srgbClr val="00B050"/>
                    </a:solidFill>
                  </a:rPr>
                  <a:t>：</a:t>
                </a:r>
                <a:endParaRPr lang="zh-CN" altLang="en-US" sz="2400" b="1">
                  <a:solidFill>
                    <a:srgbClr val="1542FF"/>
                  </a:solidFill>
                </a:endParaRPr>
              </a:p>
              <a:p>
                <a:pPr indent="457200"/>
                <a:r>
                  <a:rPr lang="en-US" altLang="zh-CN" sz="2400">
                    <a:solidFill>
                      <a:srgbClr val="00B050"/>
                    </a:solidFill>
                  </a:rPr>
                  <a:t>Y3 = BCD</a:t>
                </a:r>
                <a:r>
                  <a:rPr lang="zh-CN" altLang="en-US" sz="2400">
                    <a:solidFill>
                      <a:srgbClr val="00B050"/>
                    </a:solidFill>
                  </a:rPr>
                  <a:t>；</a:t>
                </a:r>
                <a:r>
                  <a:rPr lang="en-US" altLang="zh-CN" sz="2400">
                    <a:solidFill>
                      <a:srgbClr val="00B050"/>
                    </a:solidFill>
                    <a:sym typeface="+mn-ea"/>
                  </a:rPr>
                  <a:t>2</a:t>
                </a:r>
                <a:r>
                  <a:rPr lang="en-US" altLang="zh-CN" sz="2400" baseline="30000">
                    <a:solidFill>
                      <a:srgbClr val="00B050"/>
                    </a:solidFill>
                    <a:uFillTx/>
                    <a:sym typeface="+mn-ea"/>
                  </a:rPr>
                  <a:t>1</a:t>
                </a:r>
                <a:r>
                  <a:rPr lang="en-US" altLang="zh-CN" sz="2400">
                    <a:solidFill>
                      <a:srgbClr val="00B050"/>
                    </a:solidFill>
                    <a:sym typeface="+mn-ea"/>
                  </a:rPr>
                  <a:t> = 2</a:t>
                </a:r>
                <a:r>
                  <a:rPr lang="zh-CN" altLang="en-US" sz="2400">
                    <a:solidFill>
                      <a:srgbClr val="00B050"/>
                    </a:solidFill>
                    <a:sym typeface="+mn-ea"/>
                  </a:rPr>
                  <a:t>，所以去掉</a:t>
                </a:r>
                <a:r>
                  <a:rPr lang="en-US" altLang="zh-CN" sz="2400">
                    <a:solidFill>
                      <a:srgbClr val="00B050"/>
                    </a:solidFill>
                    <a:sym typeface="+mn-ea"/>
                  </a:rPr>
                  <a:t>1</a:t>
                </a:r>
                <a:r>
                  <a:rPr lang="zh-CN" altLang="en-US" sz="2400">
                    <a:solidFill>
                      <a:srgbClr val="00B050"/>
                    </a:solidFill>
                    <a:sym typeface="+mn-ea"/>
                  </a:rPr>
                  <a:t>个变量</a:t>
                </a:r>
                <a:endParaRPr lang="zh-CN" altLang="en-US" sz="2400">
                  <a:solidFill>
                    <a:srgbClr val="00B050"/>
                  </a:solidFill>
                  <a:sym typeface="+mn-ea"/>
                </a:endParaRPr>
              </a:p>
              <a:p>
                <a:pPr indent="0"/>
                <a:r>
                  <a:rPr lang="zh-CN" altLang="en-US" sz="2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+mn-ea"/>
                  </a:rPr>
                  <a:t>最终：</a:t>
                </a:r>
                <a:endParaRPr lang="zh-CN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sym typeface="+mn-ea"/>
                </a:endParaRPr>
              </a:p>
              <a:p>
                <a:pPr indent="457200"/>
                <a:r>
                  <a:rPr lang="en-US" altLang="zh-CN" sz="240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+mn-ea"/>
                  </a:rPr>
                  <a:t>Y = Y1+Y2+Y3</a:t>
                </a:r>
                <a:r>
                  <a:rPr lang="zh-CN" altLang="en-US" sz="2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+mn-ea"/>
                  </a:rPr>
                  <a:t>；</a:t>
                </a:r>
                <a:endParaRPr lang="zh-CN" altLang="en-US" sz="2400" b="1">
                  <a:solidFill>
                    <a:schemeClr val="tx1">
                      <a:lumMod val="95000"/>
                      <a:lumOff val="5000"/>
                    </a:schemeClr>
                  </a:solidFill>
                  <a:sym typeface="+mn-ea"/>
                </a:endParaRPr>
              </a:p>
              <a:p>
                <a:pPr indent="457200"/>
                <a:r>
                  <a:rPr lang="en-US" altLang="zh-CN" sz="2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+mn-ea"/>
                  </a:rPr>
                  <a:t>Y  = AB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en-US" altLang="zh-CN" sz="24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+mn-ea"/>
                  </a:rPr>
                  <a:t>D+BCD</a:t>
                </a:r>
                <a:endParaRPr lang="en-US" altLang="zh-CN" sz="2400" b="1">
                  <a:solidFill>
                    <a:schemeClr val="tx1">
                      <a:lumMod val="95000"/>
                      <a:lumOff val="5000"/>
                    </a:schemeClr>
                  </a:solidFill>
                  <a:sym typeface="+mn-ea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9790" y="1791335"/>
                <a:ext cx="5445125" cy="38023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3" grpId="1" animBg="1"/>
      <p:bldP spid="24" grpId="0" bldLvl="0" animBg="1"/>
      <p:bldP spid="2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 smtClean="0">
              <a:solidFill>
                <a:srgbClr val="1542FF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43" y="839140"/>
            <a:ext cx="11665296" cy="2183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</a:rPr>
              <a:t>、画卡诺图的原则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r>
              <a:rPr lang="en-US" altLang="zh-CN" sz="3600" dirty="0"/>
              <a:t>(1)</a:t>
            </a:r>
            <a:r>
              <a:rPr lang="zh-CN" altLang="en-US" sz="3600" dirty="0"/>
              <a:t>圈要大</a:t>
            </a:r>
            <a:endParaRPr lang="zh-CN" altLang="en-US" sz="3600" dirty="0"/>
          </a:p>
          <a:p>
            <a:pPr indent="457200"/>
            <a:r>
              <a:rPr lang="en-US" altLang="zh-CN" sz="3600" dirty="0"/>
              <a:t>(2)</a:t>
            </a:r>
            <a:r>
              <a:rPr lang="zh-CN" altLang="en-US" sz="3600" dirty="0"/>
              <a:t>圈里的个数要满足</a:t>
            </a:r>
            <a:r>
              <a:rPr lang="en-US" altLang="zh-CN" sz="3600" dirty="0"/>
              <a:t>1</a:t>
            </a:r>
            <a:r>
              <a:rPr lang="zh-CN" altLang="en-US" sz="3600" dirty="0"/>
              <a:t>、</a:t>
            </a:r>
            <a:r>
              <a:rPr lang="en-US" altLang="zh-CN" sz="3600" dirty="0"/>
              <a:t>2</a:t>
            </a:r>
            <a:r>
              <a:rPr lang="zh-CN" altLang="en-US" sz="3600" dirty="0"/>
              <a:t>、</a:t>
            </a:r>
            <a:r>
              <a:rPr lang="en-US" altLang="zh-CN" sz="3600" dirty="0"/>
              <a:t>4</a:t>
            </a:r>
            <a:r>
              <a:rPr lang="zh-CN" altLang="en-US" sz="3600" dirty="0"/>
              <a:t>、</a:t>
            </a:r>
            <a:r>
              <a:rPr lang="en-US" altLang="zh-CN" sz="3600" dirty="0"/>
              <a:t>8</a:t>
            </a:r>
            <a:r>
              <a:rPr lang="zh-CN" altLang="en-US" sz="3600" dirty="0"/>
              <a:t>、</a:t>
            </a:r>
            <a:r>
              <a:rPr lang="en-US" altLang="zh-CN" sz="3600" dirty="0"/>
              <a:t>16</a:t>
            </a:r>
            <a:endParaRPr lang="en-US" altLang="zh-CN" sz="3600" dirty="0"/>
          </a:p>
          <a:p>
            <a:pPr indent="457200"/>
            <a:r>
              <a:rPr lang="en-US" altLang="zh-CN" sz="3600" dirty="0"/>
              <a:t>(3)</a:t>
            </a:r>
            <a:r>
              <a:rPr lang="zh-CN" altLang="en-US" sz="3600" dirty="0"/>
              <a:t>圈里必须有一个</a:t>
            </a:r>
            <a:r>
              <a:rPr lang="en-US" altLang="zh-CN" sz="3600" dirty="0"/>
              <a:t>1</a:t>
            </a:r>
            <a:r>
              <a:rPr lang="zh-CN" altLang="en-US" sz="3600" dirty="0"/>
              <a:t>是新的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 smtClean="0">
              <a:solidFill>
                <a:srgbClr val="1542FF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43" y="839140"/>
            <a:ext cx="116652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</a:rPr>
              <a:t>、例子（</a:t>
            </a:r>
            <a:r>
              <a:rPr lang="en-US" altLang="zh-CN" sz="2800" b="1" dirty="0">
                <a:solidFill>
                  <a:srgbClr val="FF0000"/>
                </a:solidFill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endParaRPr lang="zh-CN" altLang="en-US" sz="3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280" y="1384300"/>
            <a:ext cx="8633460" cy="5326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 smtClean="0">
              <a:solidFill>
                <a:srgbClr val="1542FF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43" y="839140"/>
            <a:ext cx="116652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</a:rPr>
              <a:t>、例子（</a:t>
            </a:r>
            <a:r>
              <a:rPr lang="en-US" altLang="zh-CN" sz="2800" b="1" dirty="0">
                <a:solidFill>
                  <a:srgbClr val="FF0000"/>
                </a:solidFill>
              </a:rPr>
              <a:t>4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endParaRPr lang="zh-CN" altLang="en-US" sz="3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90" y="1290320"/>
            <a:ext cx="9105900" cy="5219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 dirty="0" smtClean="0">
              <a:solidFill>
                <a:srgbClr val="1542FF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0743" y="839140"/>
            <a:ext cx="1166529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FF0000"/>
                </a:solidFill>
              </a:rPr>
              <a:t>5</a:t>
            </a:r>
            <a:r>
              <a:rPr lang="zh-CN" altLang="en-US" sz="2800" b="1" dirty="0">
                <a:solidFill>
                  <a:srgbClr val="FF0000"/>
                </a:solidFill>
              </a:rPr>
              <a:t>、例子（</a:t>
            </a:r>
            <a:r>
              <a:rPr lang="en-US" altLang="zh-CN" sz="2800" b="1" dirty="0">
                <a:solidFill>
                  <a:srgbClr val="FF0000"/>
                </a:solidFill>
              </a:rPr>
              <a:t>8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indent="457200"/>
            <a:endParaRPr lang="zh-CN" altLang="en-US" sz="3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605" y="586740"/>
            <a:ext cx="5791200" cy="5981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25" y="1344930"/>
            <a:ext cx="6602730" cy="398843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最</a:t>
            </a:r>
            <a:r>
              <a:rPr lang="zh-CN" altLang="en-US" sz="4000" dirty="0"/>
              <a:t>小项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画</a:t>
            </a:r>
            <a:r>
              <a:rPr lang="zh-CN" altLang="en-US" sz="4000" dirty="0"/>
              <a:t>卡诺图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tx1"/>
                </a:solidFill>
                <a:sym typeface="+mn-ea"/>
              </a:rPr>
              <a:t>根据诺图表示逻辑函数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4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1606</Words>
  <Application>WPS 演示</Application>
  <PresentationFormat>自定义</PresentationFormat>
  <Paragraphs>168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Times New Roman</vt:lpstr>
      <vt:lpstr>Cambria Math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844</cp:revision>
  <dcterms:created xsi:type="dcterms:W3CDTF">2017-01-08T15:59:00Z</dcterms:created>
  <dcterms:modified xsi:type="dcterms:W3CDTF">2025-04-20T14:19:18Z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FCA88555D3D44735BAA1F56722F3B997</vt:lpwstr>
  </property>
</Properties>
</file>