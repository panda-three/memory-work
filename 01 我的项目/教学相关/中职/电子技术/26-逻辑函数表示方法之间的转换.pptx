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4"/>
  </p:handoutMasterIdLst>
  <p:sldIdLst>
    <p:sldId id="3705" r:id="rId3"/>
    <p:sldId id="3701" r:id="rId4"/>
    <p:sldId id="3646" r:id="rId5"/>
    <p:sldId id="3737" r:id="rId7"/>
    <p:sldId id="3747" r:id="rId8"/>
    <p:sldId id="3748" r:id="rId9"/>
    <p:sldId id="3749" r:id="rId10"/>
    <p:sldId id="3750" r:id="rId11"/>
    <p:sldId id="3751" r:id="rId12"/>
    <p:sldId id="3752" r:id="rId13"/>
    <p:sldId id="3753" r:id="rId14"/>
    <p:sldId id="3754" r:id="rId15"/>
    <p:sldId id="3756" r:id="rId16"/>
    <p:sldId id="3757" r:id="rId17"/>
    <p:sldId id="3758" r:id="rId18"/>
    <p:sldId id="3759" r:id="rId19"/>
    <p:sldId id="3760" r:id="rId20"/>
    <p:sldId id="3712" r:id="rId21"/>
    <p:sldId id="3700" r:id="rId22"/>
    <p:sldId id="3702" r:id="rId23"/>
  </p:sldIdLst>
  <p:sldSz cx="12858750" cy="723265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90" userDrawn="1">
          <p15:clr>
            <a:srgbClr val="A4A3A4"/>
          </p15:clr>
        </p15:guide>
        <p15:guide id="4" pos="53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C000"/>
    <a:srgbClr val="02184F"/>
    <a:srgbClr val="FFBF00"/>
    <a:srgbClr val="FFFFFF"/>
    <a:srgbClr val="066197"/>
    <a:srgbClr val="0C6AC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18"/>
        <p:guide orient="horz" pos="4137"/>
        <p:guide pos="4090"/>
        <p:guide pos="53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jpe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逻辑函数表示方法之间的转换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掌握逻辑函数与表示方法之间的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转换</a:t>
            </a:r>
            <a:endParaRPr lang="zh-CN" altLang="zh-CN" sz="32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60" y="1262380"/>
            <a:ext cx="8650605" cy="398843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逻辑图</a:t>
            </a:r>
            <a:r>
              <a:rPr lang="zh-CN" altLang="en-US" sz="4000" dirty="0">
                <a:sym typeface="+mn-ea"/>
              </a:rPr>
              <a:t>转换为逻辑函数</a:t>
            </a: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表达式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逻辑函数</a:t>
            </a: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表达式</a:t>
            </a:r>
            <a:r>
              <a:rPr lang="zh-CN" altLang="en-US" sz="4000" dirty="0">
                <a:sym typeface="+mn-ea"/>
              </a:rPr>
              <a:t>转换为</a:t>
            </a: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逻辑图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真值表</a:t>
            </a:r>
            <a:r>
              <a:rPr lang="zh-CN" altLang="en-US" sz="4000" dirty="0">
                <a:sym typeface="+mn-ea"/>
              </a:rPr>
              <a:t>与逻辑函数</a:t>
            </a: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表达式</a:t>
            </a:r>
            <a:r>
              <a:rPr lang="zh-CN" altLang="en-US" sz="4000" dirty="0">
                <a:sym typeface="+mn-ea"/>
              </a:rPr>
              <a:t>之间的转换</a:t>
            </a:r>
            <a:endParaRPr lang="zh-CN" altLang="en-US" sz="40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波形图</a:t>
            </a:r>
            <a:r>
              <a:rPr lang="zh-CN" altLang="en-US" sz="4000" dirty="0">
                <a:sym typeface="+mn-ea"/>
              </a:rPr>
              <a:t>转换为</a:t>
            </a:r>
            <a:r>
              <a:rPr lang="zh-CN" altLang="en-US" sz="4000" dirty="0">
                <a:solidFill>
                  <a:srgbClr val="1542FF"/>
                </a:solidFill>
                <a:sym typeface="+mn-ea"/>
              </a:rPr>
              <a:t>真值表</a:t>
            </a:r>
            <a:endParaRPr lang="zh-CN" altLang="en-US" sz="4000" dirty="0">
              <a:solidFill>
                <a:srgbClr val="1542FF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8925" y="1816100"/>
            <a:ext cx="70726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1</a:t>
            </a:r>
            <a:r>
              <a:rPr lang="zh-CN" altLang="en-US" sz="4000" b="1" dirty="0">
                <a:solidFill>
                  <a:srgbClr val="FF0000"/>
                </a:solidFill>
              </a:rPr>
              <a:t>、逻辑函数表达式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r>
              <a:rPr lang="en-US" altLang="zh-CN" sz="4000" b="1" dirty="0">
                <a:solidFill>
                  <a:srgbClr val="FF0000"/>
                </a:solidFill>
              </a:rPr>
              <a:t>2</a:t>
            </a:r>
            <a:r>
              <a:rPr lang="zh-CN" altLang="en-US" sz="4000" b="1" dirty="0">
                <a:solidFill>
                  <a:srgbClr val="FF0000"/>
                </a:solidFill>
              </a:rPr>
              <a:t>、真值表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r>
              <a:rPr lang="en-US" altLang="zh-CN" sz="4000" b="1" dirty="0">
                <a:solidFill>
                  <a:srgbClr val="FF0000"/>
                </a:solidFill>
              </a:rPr>
              <a:t>3</a:t>
            </a:r>
            <a:r>
              <a:rPr lang="zh-CN" altLang="en-US" sz="4000" b="1" dirty="0">
                <a:solidFill>
                  <a:srgbClr val="FF0000"/>
                </a:solidFill>
              </a:rPr>
              <a:t>、波形图</a:t>
            </a:r>
            <a:endParaRPr lang="zh-CN" altLang="en-US" sz="4000" b="1" dirty="0">
              <a:solidFill>
                <a:srgbClr val="FF0000"/>
              </a:solidFill>
            </a:endParaRPr>
          </a:p>
          <a:p>
            <a:r>
              <a:rPr lang="en-US" altLang="zh-CN" sz="4000" b="1" dirty="0">
                <a:solidFill>
                  <a:srgbClr val="FF0000"/>
                </a:solidFill>
              </a:rPr>
              <a:t>4</a:t>
            </a:r>
            <a:r>
              <a:rPr lang="zh-CN" altLang="en-US" sz="4000" b="1" dirty="0">
                <a:solidFill>
                  <a:srgbClr val="FF0000"/>
                </a:solidFill>
              </a:rPr>
              <a:t>、逻辑电路图</a:t>
            </a:r>
            <a:endParaRPr lang="zh-CN" altLang="en-US" sz="4000" b="1" dirty="0">
              <a:solidFill>
                <a:srgbClr val="FF0000"/>
              </a:solidFill>
            </a:endParaRPr>
          </a:p>
          <a:p>
            <a:r>
              <a:rPr lang="en-US" altLang="zh-CN" sz="4000" b="1" dirty="0">
                <a:solidFill>
                  <a:srgbClr val="FF0000"/>
                </a:solidFill>
              </a:rPr>
              <a:t>5</a:t>
            </a:r>
            <a:r>
              <a:rPr lang="zh-CN" altLang="en-US" sz="4000" b="1" dirty="0">
                <a:solidFill>
                  <a:srgbClr val="FF0000"/>
                </a:solidFill>
              </a:rPr>
              <a:t>、卡诺图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endParaRPr lang="en-US" altLang="zh-CN" sz="40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逻辑函数的常用表示</a:t>
            </a:r>
            <a:r>
              <a:rPr lang="zh-CN" altLang="en-US" sz="3600" b="1" dirty="0"/>
              <a:t>方法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dirty="0"/>
              <a:t>(1)</a:t>
            </a:r>
            <a:r>
              <a:rPr lang="zh-CN" altLang="en-US" sz="3200" dirty="0"/>
              <a:t>按照从</a:t>
            </a:r>
            <a:r>
              <a:rPr lang="zh-CN" altLang="en-US" sz="3200" dirty="0">
                <a:solidFill>
                  <a:srgbClr val="1542FF"/>
                </a:solidFill>
              </a:rPr>
              <a:t>输入</a:t>
            </a:r>
            <a:r>
              <a:rPr lang="zh-CN" altLang="en-US" sz="3200" dirty="0"/>
              <a:t>到</a:t>
            </a:r>
            <a:r>
              <a:rPr lang="zh-CN" altLang="en-US" sz="3200" dirty="0">
                <a:solidFill>
                  <a:srgbClr val="1542FF"/>
                </a:solidFill>
              </a:rPr>
              <a:t>输出</a:t>
            </a:r>
            <a:r>
              <a:rPr lang="zh-CN" altLang="en-US" sz="3200" dirty="0"/>
              <a:t>逐级写出逻辑表达式。</a:t>
            </a:r>
            <a:endParaRPr lang="zh-CN" altLang="en-US" sz="32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dirty="0"/>
              <a:t>(2)</a:t>
            </a:r>
            <a:r>
              <a:rPr lang="zh-CN" altLang="en-US" sz="3200" dirty="0"/>
              <a:t>在输出端得到总的</a:t>
            </a:r>
            <a:r>
              <a:rPr lang="zh-CN" altLang="en-US" sz="3200" dirty="0"/>
              <a:t>表达式。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435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</a:t>
            </a:r>
            <a:r>
              <a:rPr lang="zh-CN" altLang="en-US" sz="3600" b="1" dirty="0">
                <a:solidFill>
                  <a:srgbClr val="1542FF"/>
                </a:solidFill>
              </a:rPr>
              <a:t>逻辑图</a:t>
            </a:r>
            <a:r>
              <a:rPr lang="zh-CN" altLang="en-US" sz="3600" b="1" dirty="0"/>
              <a:t>转换为逻辑函数</a:t>
            </a:r>
            <a:r>
              <a:rPr lang="zh-CN" altLang="en-US" sz="3600" b="1" dirty="0">
                <a:solidFill>
                  <a:srgbClr val="1542FF"/>
                </a:solidFill>
              </a:rPr>
              <a:t>表达式</a:t>
            </a:r>
            <a:endParaRPr lang="zh-CN" altLang="en-US" sz="3600" b="1" dirty="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dirty="0"/>
              <a:t>(1)</a:t>
            </a:r>
            <a:r>
              <a:rPr lang="zh-CN" altLang="en-US" sz="3200" dirty="0">
                <a:solidFill>
                  <a:srgbClr val="1542FF"/>
                </a:solidFill>
              </a:rPr>
              <a:t>化简</a:t>
            </a:r>
            <a:r>
              <a:rPr lang="zh-CN" altLang="en-US" sz="3200" dirty="0"/>
              <a:t>逻辑函数表达式。</a:t>
            </a:r>
            <a:endParaRPr lang="zh-CN" altLang="en-US" sz="32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dirty="0"/>
              <a:t>(2)</a:t>
            </a:r>
            <a:r>
              <a:rPr lang="zh-CN" altLang="en-US" sz="3200" dirty="0"/>
              <a:t>将表达式中的</a:t>
            </a:r>
            <a:r>
              <a:rPr lang="zh-CN" altLang="en-US" sz="3200" b="1" dirty="0">
                <a:solidFill>
                  <a:srgbClr val="1542FF"/>
                </a:solidFill>
              </a:rPr>
              <a:t>非号</a:t>
            </a:r>
            <a:r>
              <a:rPr lang="zh-CN" altLang="en-US" sz="3200" dirty="0"/>
              <a:t>、</a:t>
            </a:r>
            <a:r>
              <a:rPr lang="zh-CN" altLang="en-US" sz="3200" b="1" dirty="0">
                <a:solidFill>
                  <a:srgbClr val="1542FF"/>
                </a:solidFill>
              </a:rPr>
              <a:t>逻辑乘号</a:t>
            </a:r>
            <a:r>
              <a:rPr lang="zh-CN" altLang="en-US" sz="3200" dirty="0"/>
              <a:t>和</a:t>
            </a:r>
            <a:r>
              <a:rPr lang="zh-CN" altLang="en-US" sz="3200" b="1" dirty="0">
                <a:solidFill>
                  <a:srgbClr val="1542FF"/>
                </a:solidFill>
              </a:rPr>
              <a:t>逻辑加号</a:t>
            </a:r>
            <a:r>
              <a:rPr lang="zh-CN" altLang="en-US" sz="3200" dirty="0"/>
              <a:t>分别用相应的门电路的逻辑符号表示。顺序为：括号内的运算</a:t>
            </a:r>
            <a:r>
              <a:rPr lang="en-US" altLang="zh-CN" sz="3200" dirty="0"/>
              <a:t>→</a:t>
            </a:r>
            <a:r>
              <a:rPr lang="zh-CN" altLang="en-US" sz="3200" b="1" dirty="0">
                <a:solidFill>
                  <a:srgbClr val="FF0000"/>
                </a:solidFill>
              </a:rPr>
              <a:t>非</a:t>
            </a:r>
            <a:r>
              <a:rPr lang="zh-CN" altLang="en-US" sz="3200" dirty="0"/>
              <a:t>运算</a:t>
            </a:r>
            <a:r>
              <a:rPr lang="en-US" altLang="zh-CN" sz="3200" dirty="0">
                <a:sym typeface="+mn-ea"/>
              </a:rPr>
              <a:t>→</a:t>
            </a:r>
            <a:r>
              <a:rPr lang="zh-CN" altLang="en-US" sz="3200" b="1" dirty="0">
                <a:solidFill>
                  <a:srgbClr val="1542FF"/>
                </a:solidFill>
                <a:sym typeface="+mn-ea"/>
              </a:rPr>
              <a:t>与</a:t>
            </a:r>
            <a:r>
              <a:rPr lang="zh-CN" altLang="en-US" sz="3200" dirty="0">
                <a:sym typeface="+mn-ea"/>
              </a:rPr>
              <a:t>运算</a:t>
            </a:r>
            <a:r>
              <a:rPr lang="en-US" altLang="zh-CN" sz="3200" dirty="0">
                <a:sym typeface="+mn-ea"/>
              </a:rPr>
              <a:t>→</a:t>
            </a:r>
            <a:r>
              <a:rPr lang="zh-CN" altLang="en-US" sz="3200" b="1" dirty="0">
                <a:solidFill>
                  <a:srgbClr val="00B050"/>
                </a:solidFill>
                <a:sym typeface="+mn-ea"/>
              </a:rPr>
              <a:t>或</a:t>
            </a:r>
            <a:r>
              <a:rPr lang="zh-CN" altLang="en-US" sz="3200" dirty="0">
                <a:sym typeface="+mn-ea"/>
              </a:rPr>
              <a:t>运算</a:t>
            </a:r>
            <a:r>
              <a:rPr lang="zh-CN" altLang="en-US" sz="3200" dirty="0"/>
              <a:t>。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435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</a:t>
            </a:r>
            <a:r>
              <a:rPr lang="zh-CN" altLang="en-US" sz="3600" b="1" dirty="0">
                <a:sym typeface="+mn-ea"/>
              </a:rPr>
              <a:t>逻辑函</a:t>
            </a:r>
            <a:r>
              <a:rPr lang="zh-CN" altLang="en-US" sz="3600" b="1" dirty="0">
                <a:solidFill>
                  <a:srgbClr val="1542FF"/>
                </a:solidFill>
                <a:sym typeface="+mn-ea"/>
              </a:rPr>
              <a:t>数表达</a:t>
            </a:r>
            <a:r>
              <a:rPr lang="zh-CN" altLang="en-US" sz="3600" b="1" dirty="0">
                <a:sym typeface="+mn-ea"/>
              </a:rPr>
              <a:t>式转换为</a:t>
            </a:r>
            <a:r>
              <a:rPr lang="zh-CN" altLang="en-US" sz="3600" b="1" dirty="0">
                <a:solidFill>
                  <a:srgbClr val="1542FF"/>
                </a:solidFill>
              </a:rPr>
              <a:t>逻辑图</a:t>
            </a:r>
            <a:endParaRPr lang="zh-CN" altLang="en-US" sz="3600" b="1" dirty="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5" y="447675"/>
            <a:ext cx="8199755" cy="591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808355"/>
            <a:ext cx="1136142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写出如图所示逻辑电路的逻辑表达式并化简，再画出化简后的逻辑电路图。</a:t>
            </a:r>
            <a:endParaRPr lang="zh-CN" altLang="en-US" sz="32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1" descr="bb283379-2268-4cde-b8db-c897dde99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330" y="1465580"/>
            <a:ext cx="6063615" cy="43021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97915" y="4453255"/>
            <a:ext cx="2211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</a:rPr>
              <a:t>Y = A+B</a:t>
            </a:r>
            <a:endParaRPr lang="en-US" altLang="zh-CN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808355"/>
            <a:ext cx="1136142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写出如图所示</a:t>
            </a:r>
            <a:r>
              <a:rPr lang="zh-CN" altLang="en-US" sz="32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各逻辑电路的表达式并化简。</a:t>
            </a:r>
            <a:endParaRPr lang="zh-CN" altLang="en-US" sz="32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74304b4f-6242-4ec0-89eb-6dfc3250d5c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" y="1888490"/>
            <a:ext cx="6028690" cy="2530475"/>
          </a:xfrm>
          <a:prstGeom prst="rect">
            <a:avLst/>
          </a:prstGeom>
        </p:spPr>
      </p:pic>
      <p:pic>
        <p:nvPicPr>
          <p:cNvPr id="4" name="图片 3" descr="1ac99bf7-7507-4d4c-b63d-6ee86e78c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312545"/>
            <a:ext cx="5474335" cy="39185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40410" y="4624070"/>
            <a:ext cx="22834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rgbClr val="FF0000"/>
                </a:solidFill>
              </a:rPr>
              <a:t>X = ABC</a:t>
            </a:r>
            <a:endParaRPr lang="en-US" altLang="zh-CN" sz="48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743" y="1269670"/>
            <a:ext cx="11665296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1</a:t>
            </a:r>
            <a:r>
              <a:rPr lang="zh-CN" altLang="en-US" sz="2800" dirty="0"/>
              <a:t>、真值表转换为逻辑函数表达式</a:t>
            </a:r>
            <a:endParaRPr lang="en-US" altLang="zh-CN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(1)</a:t>
            </a:r>
            <a:r>
              <a:rPr lang="zh-CN" altLang="en-US" sz="2800" dirty="0"/>
              <a:t>找出输出为</a:t>
            </a:r>
            <a:r>
              <a:rPr lang="en-US" altLang="zh-CN" sz="2800" dirty="0"/>
              <a:t>“1”</a:t>
            </a:r>
            <a:r>
              <a:rPr lang="zh-CN" altLang="en-US" sz="2800" dirty="0"/>
              <a:t>的</a:t>
            </a:r>
            <a:r>
              <a:rPr lang="zh-CN" altLang="en-US" sz="2800" dirty="0"/>
              <a:t>行。</a:t>
            </a:r>
            <a:endParaRPr lang="zh-CN" altLang="en-US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(2)</a:t>
            </a:r>
            <a:r>
              <a:rPr lang="zh-CN" altLang="en-US" sz="2800" dirty="0"/>
              <a:t>将输出为</a:t>
            </a:r>
            <a:r>
              <a:rPr lang="en-US" altLang="zh-CN" sz="2800" dirty="0"/>
              <a:t>“1”</a:t>
            </a:r>
            <a:r>
              <a:rPr lang="zh-CN" altLang="en-US" sz="2800" dirty="0"/>
              <a:t>的行中的各输入组合中的</a:t>
            </a:r>
            <a:r>
              <a:rPr lang="en-US" altLang="zh-CN" sz="2800" dirty="0"/>
              <a:t>“1”</a:t>
            </a:r>
            <a:r>
              <a:rPr lang="zh-CN" altLang="en-US" sz="2800" dirty="0"/>
              <a:t>用原变量表示，</a:t>
            </a:r>
            <a:r>
              <a:rPr lang="en-US" altLang="zh-CN" sz="2800" dirty="0"/>
              <a:t>“0”</a:t>
            </a:r>
            <a:r>
              <a:rPr lang="zh-CN" altLang="en-US" sz="2800" dirty="0"/>
              <a:t>用反变量表示，变量之间进行逻辑乘</a:t>
            </a:r>
            <a:r>
              <a:rPr lang="en-US" altLang="zh-CN" sz="2800" dirty="0"/>
              <a:t>(</a:t>
            </a:r>
            <a:r>
              <a:rPr lang="zh-CN" altLang="en-US" sz="2800" dirty="0"/>
              <a:t>与运算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(3)</a:t>
            </a:r>
            <a:r>
              <a:rPr lang="zh-CN" altLang="en-US" sz="2800" dirty="0"/>
              <a:t>将所有输出为</a:t>
            </a:r>
            <a:r>
              <a:rPr lang="en-US" altLang="zh-CN" sz="2800" dirty="0"/>
              <a:t>1</a:t>
            </a:r>
            <a:r>
              <a:rPr lang="zh-CN" altLang="en-US" sz="2800" dirty="0"/>
              <a:t>的行中的与项进行逻辑加</a:t>
            </a:r>
            <a:r>
              <a:rPr lang="en-US" altLang="zh-CN" sz="2800" dirty="0"/>
              <a:t>(</a:t>
            </a:r>
            <a:r>
              <a:rPr lang="zh-CN" altLang="en-US" sz="2800" dirty="0"/>
              <a:t>或运算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10895" y="665480"/>
            <a:ext cx="9727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三、真值表与</a:t>
            </a:r>
            <a:r>
              <a:rPr lang="zh-CN" altLang="en-US" sz="3600" b="1" dirty="0">
                <a:sym typeface="+mn-ea"/>
              </a:rPr>
              <a:t>逻辑函数表达式之间的</a:t>
            </a:r>
            <a:r>
              <a:rPr lang="zh-CN" altLang="en-US" sz="3600" b="1" dirty="0">
                <a:sym typeface="+mn-ea"/>
              </a:rPr>
              <a:t>转换</a:t>
            </a:r>
            <a:endParaRPr lang="zh-CN" altLang="en-US" sz="36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2800" y="808355"/>
            <a:ext cx="1136142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例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：</a:t>
            </a:r>
            <a:r>
              <a:rPr lang="en-US" altLang="zh-CN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(1)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写出该电路的逻辑表达式。</a:t>
            </a:r>
            <a:endParaRPr lang="zh-CN" altLang="en-US" sz="28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457200" lvl="1" indent="4572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(2)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画出用与非门实现上述逻辑功能的逻辑图。</a:t>
            </a:r>
            <a:endParaRPr lang="zh-CN" altLang="en-US" sz="2800" b="1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 descr="4d6f718c-a510-4d51-b305-0603d77f7f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61490"/>
            <a:ext cx="4079240" cy="47726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296660" y="1870075"/>
                <a:ext cx="5965190" cy="59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>
                    <a:solidFill>
                      <a:srgbClr val="FF0000"/>
                    </a:solidFill>
                  </a:rPr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 + </m:t>
                    </m:r>
                    <m:r>
                      <a:rPr lang="en-US" altLang="zh-C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𝐵𝐶</m:t>
                    </m:r>
                    <m:r>
                      <a:rPr lang="en-US" altLang="zh-C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 +</m:t>
                    </m:r>
                    <m:r>
                      <a:rPr lang="en-US" altLang="zh-C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altLang="zh-CN" sz="3200" i="1" dirty="0" smtClean="0">
                  <a:solidFill>
                    <a:srgbClr val="FF0000"/>
                  </a:solidFill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0" y="1870075"/>
                <a:ext cx="5965190" cy="5949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743" y="1269670"/>
            <a:ext cx="11665296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2</a:t>
            </a:r>
            <a:r>
              <a:rPr lang="zh-CN" altLang="en-US" sz="2800" dirty="0"/>
              <a:t>、逻辑函数表达式转换为真值表</a:t>
            </a:r>
            <a:endParaRPr lang="en-US" altLang="zh-CN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(1)</a:t>
            </a:r>
            <a:r>
              <a:rPr lang="zh-CN" altLang="en-US" sz="2800" dirty="0"/>
              <a:t>按输入输出变量数制好</a:t>
            </a:r>
            <a:r>
              <a:rPr lang="zh-CN" altLang="en-US" sz="2800" dirty="0"/>
              <a:t>表格。</a:t>
            </a:r>
            <a:endParaRPr lang="zh-CN" altLang="en-US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(2)</a:t>
            </a:r>
            <a:r>
              <a:rPr lang="zh-CN" altLang="en-US" sz="2800" dirty="0"/>
              <a:t>将输入变量的所有取值组合逐一代入表达式中进行计算，并将结果填入对应的输出中。</a:t>
            </a:r>
            <a:r>
              <a:rPr lang="en-US" altLang="zh-CN" sz="2800" dirty="0"/>
              <a:t>(</a:t>
            </a:r>
            <a:r>
              <a:rPr lang="zh-CN" altLang="en-US" sz="2800" dirty="0"/>
              <a:t>实际操作中可按卡诺图化简中由表达式填卡诺图的方法填写</a:t>
            </a:r>
            <a:r>
              <a:rPr lang="en-US" altLang="zh-CN" sz="2800" dirty="0"/>
              <a:t>)</a:t>
            </a:r>
            <a:endParaRPr lang="en-US" altLang="zh-CN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10895" y="665480"/>
            <a:ext cx="9727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三、真值表与</a:t>
            </a:r>
            <a:r>
              <a:rPr lang="zh-CN" altLang="en-US" sz="3600" b="1" dirty="0">
                <a:sym typeface="+mn-ea"/>
              </a:rPr>
              <a:t>逻辑函数表达式之间的</a:t>
            </a:r>
            <a:r>
              <a:rPr lang="zh-CN" altLang="en-US" sz="3600" b="1" dirty="0">
                <a:sym typeface="+mn-ea"/>
              </a:rPr>
              <a:t>转换</a:t>
            </a:r>
            <a:endParaRPr lang="zh-CN" altLang="en-US" sz="36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84253" y="880415"/>
                <a:ext cx="11665296" cy="4100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indent="0" eaLnBrk="1" latinLnBrk="0" hangingPunct="1">
                  <a:lnSpc>
                    <a:spcPct val="150000"/>
                  </a:lnSpc>
                </a:pPr>
                <a:r>
                  <a:rPr lang="en-US" altLang="zh-CN" sz="3600" dirty="0"/>
                  <a:t>Y</a:t>
                </a:r>
                <a:r>
                  <a:rPr lang="en-US" altLang="zh-CN" sz="3600" baseline="-25000" dirty="0">
                    <a:solidFill>
                      <a:schemeClr val="tx1"/>
                    </a:solidFill>
                    <a:uFillTx/>
                  </a:rPr>
                  <a:t>2</a:t>
                </a:r>
                <a:r>
                  <a:rPr lang="en-US" altLang="zh-CN" sz="3600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3600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3600" dirty="0"/>
                  <a:t> + BC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·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altLang="zh-CN" sz="3600" i="1" dirty="0" smtClean="0">
                  <a:solidFill>
                    <a:schemeClr val="tx1"/>
                  </a:solidFill>
                  <a:uFillTx/>
                  <a:latin typeface="Cambria Math" panose="02040503050406030204" pitchFamily="18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</a:pPr>
                <a:endParaRPr lang="en-US" altLang="zh-CN" sz="3600" i="1" dirty="0" smtClean="0">
                  <a:solidFill>
                    <a:schemeClr val="tx1"/>
                  </a:solidFill>
                  <a:uFillTx/>
                  <a:latin typeface="Cambria Math" panose="02040503050406030204" pitchFamily="18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</a:pPr>
                <a:endParaRPr lang="en-US" altLang="zh-CN" sz="3600" i="1" dirty="0" smtClean="0">
                  <a:solidFill>
                    <a:schemeClr val="tx1"/>
                  </a:solidFill>
                  <a:uFillTx/>
                  <a:latin typeface="Cambria Math" panose="02040503050406030204" pitchFamily="18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</a:pPr>
                <a:r>
                  <a:rPr lang="en-US" altLang="zh-CN" sz="3600" dirty="0">
                    <a:sym typeface="+mn-ea"/>
                  </a:rPr>
                  <a:t>Y</a:t>
                </a:r>
                <a:r>
                  <a:rPr lang="en-US" altLang="zh-CN" sz="3600" baseline="-25000" dirty="0">
                    <a:uFillTx/>
                    <a:sym typeface="+mn-ea"/>
                  </a:rPr>
                  <a:t>3</a:t>
                </a:r>
                <a:r>
                  <a:rPr lang="en-US" altLang="zh-CN" sz="3600" dirty="0">
                    <a:sym typeface="+mn-ea"/>
                  </a:rPr>
                  <a:t> = AB + BCD+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3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3600" dirty="0">
                    <a:sym typeface="+mn-ea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3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3600" dirty="0">
                    <a:sym typeface="+mn-ea"/>
                  </a:rPr>
                  <a:t> + BC</a:t>
                </a:r>
                <a:endParaRPr lang="en-US" altLang="zh-CN" sz="3600" i="1" dirty="0" smtClean="0">
                  <a:solidFill>
                    <a:schemeClr val="tx1"/>
                  </a:solidFill>
                  <a:uFillTx/>
                  <a:latin typeface="Cambria Math" panose="02040503050406030204" pitchFamily="18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</a:pPr>
                <a:r>
                  <a:rPr lang="en-US" altLang="zh-CN" sz="2800" dirty="0"/>
                  <a:t> 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53" y="880415"/>
                <a:ext cx="11665296" cy="4100195"/>
              </a:xfrm>
              <a:prstGeom prst="rect">
                <a:avLst/>
              </a:prstGeom>
              <a:blipFill rotWithShape="1">
                <a:blip r:embed="rId2"/>
                <a:stretch>
                  <a:fillRect l="-3" t="-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84253" y="880415"/>
                <a:ext cx="11665296" cy="1320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indent="0" eaLnBrk="1" latinLnBrk="0" hangingPunct="1">
                  <a:lnSpc>
                    <a:spcPct val="100000"/>
                  </a:lnSpc>
                </a:pPr>
                <a:r>
                  <a:rPr lang="zh-CN" altLang="en-US" sz="3600" dirty="0"/>
                  <a:t>例</a:t>
                </a:r>
                <a:r>
                  <a:rPr lang="zh-CN" altLang="en-US" sz="3600" dirty="0"/>
                  <a:t>题：将</a:t>
                </a:r>
                <a:r>
                  <a:rPr lang="en-US" altLang="zh-CN" sz="3600" dirty="0"/>
                  <a:t>F = </a:t>
                </a:r>
                <a14:m>
                  <m:oMath xmlns:m="http://schemas.openxmlformats.org/officeDocument/2006/math">
                    <m:r>
                      <a:rPr lang="en-US" altLang="zh-CN" sz="3600" dirty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3600" dirty="0"/>
                  <a:t>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3600" dirty="0"/>
                  <a:t> 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 </m:t>
                        </m:r>
                      </m:e>
                    </m:acc>
                  </m:oMath>
                </a14:m>
                <a:r>
                  <a:rPr lang="zh-CN" altLang="en-US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化简成与非表达式，并用最少与非门画出对应的逻辑电路。</a:t>
                </a:r>
                <a:r>
                  <a:rPr lang="en-US" altLang="zh-CN" sz="2800" dirty="0"/>
                  <a:t> 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53" y="880415"/>
                <a:ext cx="11665296" cy="1320800"/>
              </a:xfrm>
              <a:prstGeom prst="rect">
                <a:avLst/>
              </a:prstGeom>
              <a:blipFill rotWithShape="1">
                <a:blip r:embed="rId2"/>
                <a:stretch>
                  <a:fillRect l="-3" t="-2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84253" y="880415"/>
                <a:ext cx="11665296" cy="658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indent="0" eaLnBrk="1" latinLnBrk="0" hangingPunct="1">
                  <a:lnSpc>
                    <a:spcPct val="100000"/>
                  </a:lnSpc>
                </a:pPr>
                <a:r>
                  <a:rPr lang="en-US" altLang="zh-CN" sz="3600" dirty="0"/>
                  <a:t>Y = </a:t>
                </a:r>
                <a14:m>
                  <m:oMath xmlns:m="http://schemas.openxmlformats.org/officeDocument/2006/math">
                    <m:r>
                      <a:rPr lang="en-US" altLang="zh-CN" sz="3600" dirty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3600" dirty="0"/>
                  <a:t> + C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3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 + 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 dirty="0" smtClean="0">
                            <a:solidFill>
                              <a:schemeClr val="tx1"/>
                            </a:solidFill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3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3600" i="1" dirty="0" smtClean="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</a:rPr>
                      <m:t> </m:t>
                    </m:r>
                  </m:oMath>
                </a14:m>
                <a:r>
                  <a:rPr lang="zh-CN" altLang="en-US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用基本门设计一个逻辑</a:t>
                </a:r>
                <a:r>
                  <a:rPr lang="zh-CN" altLang="en-US" sz="3600" dirty="0" smtClean="0">
                    <a:solidFill>
                      <a:schemeClr val="tx1"/>
                    </a:solidFill>
                    <a:uFillTx/>
                    <a:latin typeface="Cambria Math" panose="02040503050406030204" pitchFamily="18" charset="0"/>
                  </a:rPr>
                  <a:t>电路。</a:t>
                </a:r>
                <a:r>
                  <a:rPr lang="en-US" altLang="zh-CN" sz="2800" dirty="0"/>
                  <a:t> </a:t>
                </a:r>
                <a:endParaRPr lang="en-US" altLang="zh-CN" sz="2800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53" y="880415"/>
                <a:ext cx="11665296" cy="658495"/>
              </a:xfrm>
              <a:prstGeom prst="rect">
                <a:avLst/>
              </a:prstGeom>
              <a:blipFill rotWithShape="1">
                <a:blip r:embed="rId2"/>
                <a:stretch>
                  <a:fillRect l="-3" t="-4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0743" y="1269670"/>
            <a:ext cx="11665296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(1)</a:t>
            </a:r>
            <a:r>
              <a:rPr lang="zh-CN" altLang="en-US" sz="2800" dirty="0"/>
              <a:t>以输入、输出波形的每一次跳变边沿为界，在图中标出各时刻的输入、输出变量的</a:t>
            </a:r>
            <a:r>
              <a:rPr lang="zh-CN" altLang="en-US" sz="2800" dirty="0"/>
              <a:t>值。</a:t>
            </a:r>
            <a:endParaRPr lang="zh-CN" altLang="en-US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(2)</a:t>
            </a:r>
            <a:r>
              <a:rPr lang="zh-CN" altLang="en-US" sz="2800" dirty="0"/>
              <a:t>按输入变量的取值组合递增的顺序制好</a:t>
            </a:r>
            <a:r>
              <a:rPr lang="zh-CN" altLang="en-US" sz="2800" dirty="0"/>
              <a:t>表格。</a:t>
            </a:r>
            <a:endParaRPr lang="zh-CN" altLang="en-US" sz="28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dirty="0"/>
              <a:t>(3)</a:t>
            </a:r>
            <a:r>
              <a:rPr lang="zh-CN" altLang="en-US" sz="2800" dirty="0"/>
              <a:t>把波形图中对应的输出填入真值表，完成</a:t>
            </a:r>
            <a:r>
              <a:rPr lang="zh-CN" altLang="en-US" sz="2800" dirty="0"/>
              <a:t>真值表。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10895" y="665480"/>
            <a:ext cx="9727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四、波形图</a:t>
            </a:r>
            <a:r>
              <a:rPr lang="zh-CN" altLang="en-US" sz="3600" b="1" dirty="0"/>
              <a:t>转换为真值表</a:t>
            </a:r>
            <a:endParaRPr lang="zh-CN" altLang="en-US" sz="36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1045" y="551815"/>
            <a:ext cx="9271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3200" dirty="0"/>
              <a:t>(1)</a:t>
            </a:r>
            <a:r>
              <a:rPr lang="zh-CN" altLang="en-US" sz="3200" dirty="0"/>
              <a:t>列出该电路的真值表。</a:t>
            </a:r>
            <a:endParaRPr lang="zh-CN" altLang="en-US" sz="3200" dirty="0"/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3200" dirty="0"/>
              <a:t>(2)</a:t>
            </a:r>
            <a:r>
              <a:rPr lang="zh-CN" altLang="en-US" sz="3200" dirty="0"/>
              <a:t>写出该电路的逻辑表达式，说明它的逻辑功能。</a:t>
            </a:r>
            <a:endParaRPr lang="zh-CN" altLang="en-US" sz="3200" dirty="0"/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3200" dirty="0"/>
              <a:t>(3)</a:t>
            </a:r>
            <a:r>
              <a:rPr lang="zh-CN" altLang="en-US" sz="3200" dirty="0"/>
              <a:t>画出用与非门实现上述逻辑功能的逻辑</a:t>
            </a:r>
            <a:r>
              <a:rPr lang="zh-CN" altLang="en-US" sz="3200" dirty="0"/>
              <a:t>图。</a:t>
            </a:r>
            <a:endParaRPr lang="zh-CN" altLang="en-US" sz="3200" dirty="0"/>
          </a:p>
        </p:txBody>
      </p:sp>
      <p:pic>
        <p:nvPicPr>
          <p:cNvPr id="11" name="图片 10" descr="b9fc90bf-4be8-4816-978c-c3e7fe3ef7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12315"/>
            <a:ext cx="7272020" cy="36588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60145" y="5780405"/>
            <a:ext cx="112458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判断输入变量</a:t>
            </a:r>
            <a:r>
              <a:rPr lang="en-US" altLang="zh-CN" sz="2000" b="1">
                <a:solidFill>
                  <a:srgbClr val="FF0000"/>
                </a:solidFill>
              </a:rPr>
              <a:t>A</a:t>
            </a:r>
            <a:r>
              <a:rPr lang="zh-CN" altLang="en-US" sz="2000" b="1">
                <a:solidFill>
                  <a:srgbClr val="FF0000"/>
                </a:solidFill>
              </a:rPr>
              <a:t>、</a:t>
            </a:r>
            <a:r>
              <a:rPr lang="en-US" altLang="zh-CN" sz="2000" b="1">
                <a:solidFill>
                  <a:srgbClr val="FF0000"/>
                </a:solidFill>
              </a:rPr>
              <a:t>B</a:t>
            </a:r>
            <a:r>
              <a:rPr lang="zh-CN" altLang="en-US" sz="2000" b="1">
                <a:solidFill>
                  <a:srgbClr val="FF0000"/>
                </a:solidFill>
              </a:rPr>
              <a:t>、</a:t>
            </a:r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zh-CN" altLang="en-US" sz="2000" b="1">
                <a:solidFill>
                  <a:srgbClr val="FF0000"/>
                </a:solidFill>
              </a:rPr>
              <a:t>的取值情况，当</a:t>
            </a:r>
            <a:r>
              <a:rPr lang="en-US" altLang="zh-CN" sz="2000" b="1">
                <a:solidFill>
                  <a:srgbClr val="FF0000"/>
                </a:solidFill>
              </a:rPr>
              <a:t>A</a:t>
            </a:r>
            <a:r>
              <a:rPr lang="zh-CN" altLang="en-US" sz="2000" b="1">
                <a:solidFill>
                  <a:srgbClr val="FF0000"/>
                </a:solidFill>
              </a:rPr>
              <a:t>为低电平（逻辑</a:t>
            </a:r>
            <a:r>
              <a:rPr lang="en-US" altLang="zh-CN" sz="2000" b="1">
                <a:solidFill>
                  <a:srgbClr val="FF0000"/>
                </a:solidFill>
              </a:rPr>
              <a:t>0</a:t>
            </a:r>
            <a:r>
              <a:rPr lang="zh-CN" altLang="en-US" sz="2000" b="1">
                <a:solidFill>
                  <a:srgbClr val="FF0000"/>
                </a:solidFill>
              </a:rPr>
              <a:t>），或者</a:t>
            </a:r>
            <a:r>
              <a:rPr lang="en-US" altLang="zh-CN" sz="2000" b="1">
                <a:solidFill>
                  <a:srgbClr val="FF0000"/>
                </a:solidFill>
              </a:rPr>
              <a:t>A</a:t>
            </a:r>
            <a:r>
              <a:rPr lang="zh-CN" altLang="en-US" sz="2000" b="1">
                <a:solidFill>
                  <a:srgbClr val="FF0000"/>
                </a:solidFill>
              </a:rPr>
              <a:t>为高电平（逻辑</a:t>
            </a:r>
            <a:r>
              <a:rPr lang="en-US" altLang="zh-CN" sz="2000" b="1">
                <a:solidFill>
                  <a:srgbClr val="FF0000"/>
                </a:solidFill>
              </a:rPr>
              <a:t>1</a:t>
            </a:r>
            <a:r>
              <a:rPr lang="zh-CN" altLang="en-US" sz="2000" b="1">
                <a:solidFill>
                  <a:srgbClr val="FF0000"/>
                </a:solidFill>
              </a:rPr>
              <a:t>）且</a:t>
            </a:r>
            <a:r>
              <a:rPr lang="en-US" altLang="zh-CN" sz="2000" b="1">
                <a:solidFill>
                  <a:srgbClr val="FF0000"/>
                </a:solidFill>
              </a:rPr>
              <a:t>B</a:t>
            </a:r>
            <a:r>
              <a:rPr lang="zh-CN" altLang="en-US" sz="2000" b="1">
                <a:solidFill>
                  <a:srgbClr val="FF0000"/>
                </a:solidFill>
              </a:rPr>
              <a:t>、</a:t>
            </a:r>
            <a:r>
              <a:rPr lang="en-US" altLang="zh-CN" sz="2000" b="1">
                <a:solidFill>
                  <a:srgbClr val="FF0000"/>
                </a:solidFill>
              </a:rPr>
              <a:t>C</a:t>
            </a:r>
            <a:r>
              <a:rPr lang="zh-CN" altLang="en-US" sz="2000" b="1">
                <a:solidFill>
                  <a:srgbClr val="FF0000"/>
                </a:solidFill>
              </a:rPr>
              <a:t>同时为低电平时，输出</a:t>
            </a:r>
            <a:r>
              <a:rPr lang="en-US" altLang="zh-CN" sz="2000" b="1">
                <a:solidFill>
                  <a:srgbClr val="FF0000"/>
                </a:solidFill>
              </a:rPr>
              <a:t>Y</a:t>
            </a:r>
            <a:r>
              <a:rPr lang="zh-CN" altLang="en-US" sz="2000" b="1">
                <a:solidFill>
                  <a:srgbClr val="FF0000"/>
                </a:solidFill>
              </a:rPr>
              <a:t>为高电平（逻辑</a:t>
            </a:r>
            <a:r>
              <a:rPr lang="en-US" altLang="zh-CN" sz="2000" b="1">
                <a:solidFill>
                  <a:srgbClr val="FF0000"/>
                </a:solidFill>
              </a:rPr>
              <a:t>1</a:t>
            </a:r>
            <a:r>
              <a:rPr lang="zh-CN" altLang="en-US" sz="2000" b="1">
                <a:solidFill>
                  <a:srgbClr val="FF0000"/>
                </a:solidFill>
              </a:rPr>
              <a:t>），否则输出</a:t>
            </a:r>
            <a:r>
              <a:rPr lang="en-US" altLang="zh-CN" sz="2000" b="1">
                <a:solidFill>
                  <a:srgbClr val="FF0000"/>
                </a:solidFill>
              </a:rPr>
              <a:t>Y</a:t>
            </a:r>
            <a:r>
              <a:rPr lang="zh-CN" altLang="en-US" sz="2000" b="1">
                <a:solidFill>
                  <a:srgbClr val="FF0000"/>
                </a:solidFill>
              </a:rPr>
              <a:t>为低电平（逻辑</a:t>
            </a:r>
            <a:r>
              <a:rPr lang="en-US" altLang="zh-CN" sz="2000" b="1">
                <a:solidFill>
                  <a:srgbClr val="FF0000"/>
                </a:solidFill>
              </a:rPr>
              <a:t>0</a:t>
            </a:r>
            <a:r>
              <a:rPr lang="zh-CN" altLang="en-US" sz="2000" b="1">
                <a:solidFill>
                  <a:srgbClr val="FF0000"/>
                </a:solidFill>
              </a:rPr>
              <a:t>）。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324735" y="1311910"/>
            <a:ext cx="8872220" cy="398843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逻辑图转换为逻辑函数表达式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逻辑函数表达式转换为逻辑图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真值表与逻辑函数表达式之间的转换</a:t>
            </a:r>
            <a:endParaRPr lang="zh-CN" altLang="en-US" sz="4000" dirty="0"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波形图转换为真值表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718820"/>
            <a:ext cx="10674985" cy="4575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1947</Words>
  <Application>WPS 演示</Application>
  <PresentationFormat>自定义</PresentationFormat>
  <Paragraphs>163</Paragraphs>
  <Slides>20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Times New Roman</vt:lpstr>
      <vt:lpstr>Arial Unicode MS</vt:lpstr>
      <vt:lpstr>Cambria Math</vt:lpstr>
      <vt:lpstr>MS Mincho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744</cp:revision>
  <dcterms:created xsi:type="dcterms:W3CDTF">2017-01-08T15:59:00Z</dcterms:created>
  <dcterms:modified xsi:type="dcterms:W3CDTF">2025-05-14T11:41:16Z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FCA88555D3D44735BAA1F56722F3B997</vt:lpwstr>
  </property>
</Properties>
</file>