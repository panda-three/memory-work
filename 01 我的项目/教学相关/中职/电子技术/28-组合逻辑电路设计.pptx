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3705" r:id="rId3"/>
    <p:sldId id="3701" r:id="rId4"/>
    <p:sldId id="3646" r:id="rId5"/>
    <p:sldId id="3737" r:id="rId7"/>
    <p:sldId id="3738" r:id="rId8"/>
    <p:sldId id="3747" r:id="rId9"/>
    <p:sldId id="3748" r:id="rId10"/>
    <p:sldId id="3749" r:id="rId11"/>
    <p:sldId id="3750" r:id="rId12"/>
    <p:sldId id="3751" r:id="rId13"/>
    <p:sldId id="3752" r:id="rId14"/>
    <p:sldId id="3756" r:id="rId15"/>
    <p:sldId id="3757" r:id="rId16"/>
    <p:sldId id="3712" r:id="rId17"/>
    <p:sldId id="3700" r:id="rId18"/>
    <p:sldId id="3702" r:id="rId19"/>
  </p:sldIdLst>
  <p:sldSz cx="12858750" cy="723265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74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3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02184F"/>
    <a:srgbClr val="FFC000"/>
    <a:srgbClr val="FFBF00"/>
    <a:srgbClr val="FFFFFF"/>
    <a:srgbClr val="066197"/>
    <a:srgbClr val="0C6AC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18"/>
        <p:guide orient="horz" pos="4174"/>
        <p:guide pos="4075"/>
        <p:guide pos="53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组合逻辑电路设计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组合逻辑电路的</a:t>
            </a:r>
            <a:r>
              <a:rPr lang="zh-CN" altLang="en-US" sz="3200" b="1" dirty="0"/>
              <a:t>设计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262279"/>
            <a:ext cx="8136904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组合逻辑电路的</a:t>
            </a:r>
            <a:r>
              <a:rPr lang="zh-CN" altLang="en-US" sz="4000" dirty="0"/>
              <a:t>设计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、概念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r>
              <a:rPr lang="zh-CN" altLang="en-US" sz="2800" dirty="0"/>
              <a:t>根据给出的实际逻辑问题求出实现这一逻辑功能的</a:t>
            </a:r>
            <a:r>
              <a:rPr lang="zh-CN" altLang="en-US" sz="2800" b="1" dirty="0">
                <a:solidFill>
                  <a:srgbClr val="1542FF"/>
                </a:solidFill>
              </a:rPr>
              <a:t>最佳</a:t>
            </a:r>
            <a:r>
              <a:rPr lang="zh-CN" altLang="en-US" sz="2800" dirty="0"/>
              <a:t>逻辑</a:t>
            </a:r>
            <a:r>
              <a:rPr lang="zh-CN" altLang="en-US" sz="2800" dirty="0"/>
              <a:t>电路。</a:t>
            </a:r>
            <a:endParaRPr lang="en-US" altLang="zh-CN" sz="2800" dirty="0"/>
          </a:p>
          <a:p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一、组合逻辑电路的</a:t>
            </a:r>
            <a:r>
              <a:rPr lang="zh-CN" altLang="en-US" sz="3600" b="1" dirty="0"/>
              <a:t>设计</a:t>
            </a:r>
            <a:endParaRPr lang="zh-CN" altLang="en-US" sz="3600" b="1" dirty="0"/>
          </a:p>
        </p:txBody>
      </p:sp>
      <p:cxnSp>
        <p:nvCxnSpPr>
          <p:cNvPr id="2" name="直接箭头连接符 1"/>
          <p:cNvCxnSpPr/>
          <p:nvPr/>
        </p:nvCxnSpPr>
        <p:spPr>
          <a:xfrm>
            <a:off x="1894840" y="2638425"/>
            <a:ext cx="429895" cy="474345"/>
          </a:xfrm>
          <a:prstGeom prst="straightConnector1">
            <a:avLst/>
          </a:prstGeom>
          <a:ln w="38100">
            <a:solidFill>
              <a:srgbClr val="1542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05330" y="3215005"/>
            <a:ext cx="38474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1542FF"/>
                </a:solidFill>
              </a:rPr>
              <a:t>器件的种类最少，数量最少，连接线最少。</a:t>
            </a:r>
            <a:endParaRPr lang="zh-CN" altLang="en-US" sz="240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555" y="735965"/>
            <a:ext cx="1116203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例</a:t>
            </a:r>
            <a:r>
              <a:rPr lang="en-US" altLang="zh-CN" sz="3200" b="1">
                <a:solidFill>
                  <a:srgbClr val="FF0000"/>
                </a:solidFill>
              </a:rPr>
              <a:t>1:</a:t>
            </a:r>
            <a:r>
              <a:rPr lang="zh-CN" altLang="en-US" sz="3200"/>
              <a:t>设计三人表决电路</a:t>
            </a:r>
            <a:r>
              <a:rPr lang="en-US" altLang="zh-CN" sz="3200"/>
              <a:t>(A</a:t>
            </a:r>
            <a:r>
              <a:rPr lang="zh-CN" altLang="en-US" sz="3200"/>
              <a:t>、</a:t>
            </a:r>
            <a:r>
              <a:rPr lang="en-US" altLang="zh-CN" sz="3200"/>
              <a:t>B</a:t>
            </a:r>
            <a:r>
              <a:rPr lang="zh-CN" altLang="en-US" sz="3200"/>
              <a:t>、</a:t>
            </a:r>
            <a:r>
              <a:rPr lang="en-US" altLang="zh-CN" sz="3200"/>
              <a:t>C)</a:t>
            </a:r>
            <a:r>
              <a:rPr lang="zh-CN" altLang="en-US" sz="3200"/>
              <a:t>。每人一个按键，如果同意则按下，不同意则不按。结果用指示灯表示，要求多数同意时指示灯亮，否则不亮。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1388745" y="2319655"/>
            <a:ext cx="44596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思路：找出重点语句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1388745" y="2752090"/>
            <a:ext cx="6294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542FF"/>
                </a:solidFill>
              </a:rPr>
              <a:t>(1)</a:t>
            </a:r>
            <a:r>
              <a:rPr lang="zh-CN" altLang="en-US" sz="2800" b="1">
                <a:solidFill>
                  <a:srgbClr val="1542FF"/>
                </a:solidFill>
              </a:rPr>
              <a:t>根据逻辑要求列真值表</a:t>
            </a:r>
            <a:endParaRPr lang="zh-CN" altLang="en-US" sz="2800" b="1">
              <a:solidFill>
                <a:srgbClr val="1542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60500" y="3274060"/>
            <a:ext cx="72834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首先确定逻辑变量取</a:t>
            </a:r>
            <a:r>
              <a:rPr lang="en-US" altLang="zh-CN" sz="2800" b="1">
                <a:solidFill>
                  <a:srgbClr val="FF0000"/>
                </a:solidFill>
              </a:rPr>
              <a:t>0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的含义</a:t>
            </a:r>
            <a:r>
              <a:rPr lang="zh-CN" altLang="en-US" sz="2800" b="1">
                <a:solidFill>
                  <a:srgbClr val="02184F"/>
                </a:solidFill>
              </a:rPr>
              <a:t>：</a:t>
            </a:r>
            <a:r>
              <a:rPr lang="en-US" altLang="zh-CN" sz="2800" b="1">
                <a:solidFill>
                  <a:srgbClr val="02184F"/>
                </a:solidFill>
              </a:rPr>
              <a:t>A</a:t>
            </a:r>
            <a:r>
              <a:rPr lang="zh-CN" altLang="en-US" sz="2800" b="1">
                <a:solidFill>
                  <a:srgbClr val="02184F"/>
                </a:solidFill>
              </a:rPr>
              <a:t>、</a:t>
            </a:r>
            <a:r>
              <a:rPr lang="en-US" altLang="zh-CN" sz="2800" b="1">
                <a:solidFill>
                  <a:srgbClr val="02184F"/>
                </a:solidFill>
              </a:rPr>
              <a:t>B</a:t>
            </a:r>
            <a:r>
              <a:rPr lang="zh-CN" altLang="en-US" sz="2800" b="1">
                <a:solidFill>
                  <a:srgbClr val="02184F"/>
                </a:solidFill>
              </a:rPr>
              <a:t>、</a:t>
            </a:r>
            <a:endParaRPr lang="zh-CN" altLang="en-US" sz="2800" b="1">
              <a:solidFill>
                <a:srgbClr val="02184F"/>
              </a:solidFill>
            </a:endParaRPr>
          </a:p>
          <a:p>
            <a:r>
              <a:rPr lang="en-US" altLang="zh-CN" sz="2800" b="1">
                <a:solidFill>
                  <a:srgbClr val="02184F"/>
                </a:solidFill>
              </a:rPr>
              <a:t>C</a:t>
            </a:r>
            <a:r>
              <a:rPr lang="zh-CN" altLang="en-US" sz="2800" b="1">
                <a:solidFill>
                  <a:srgbClr val="02184F"/>
                </a:solidFill>
              </a:rPr>
              <a:t>分别表示三人按键的状态，键按下时为</a:t>
            </a:r>
            <a:r>
              <a:rPr lang="en-US" altLang="zh-CN" sz="2800" b="1">
                <a:solidFill>
                  <a:srgbClr val="02184F"/>
                </a:solidFill>
              </a:rPr>
              <a:t>”1”</a:t>
            </a:r>
            <a:r>
              <a:rPr lang="zh-CN" altLang="en-US" sz="2800" b="1">
                <a:solidFill>
                  <a:srgbClr val="02184F"/>
                </a:solidFill>
              </a:rPr>
              <a:t>，不按时为</a:t>
            </a:r>
            <a:r>
              <a:rPr lang="en-US" altLang="zh-CN" sz="2800" b="1">
                <a:solidFill>
                  <a:srgbClr val="02184F"/>
                </a:solidFill>
              </a:rPr>
              <a:t>”0”</a:t>
            </a:r>
            <a:r>
              <a:rPr lang="zh-CN" altLang="en-US" sz="2800" b="1">
                <a:solidFill>
                  <a:srgbClr val="02184F"/>
                </a:solidFill>
              </a:rPr>
              <a:t>。</a:t>
            </a:r>
            <a:r>
              <a:rPr lang="en-US" altLang="zh-CN" sz="2800" b="1">
                <a:solidFill>
                  <a:srgbClr val="02184F"/>
                </a:solidFill>
              </a:rPr>
              <a:t>F</a:t>
            </a:r>
            <a:r>
              <a:rPr lang="zh-CN" altLang="en-US" sz="2800" b="1">
                <a:solidFill>
                  <a:srgbClr val="02184F"/>
                </a:solidFill>
              </a:rPr>
              <a:t>表示指示灯的亮灭，灯亮为</a:t>
            </a:r>
            <a:r>
              <a:rPr lang="en-US" altLang="zh-CN" sz="2800" b="1">
                <a:solidFill>
                  <a:srgbClr val="02184F"/>
                </a:solidFill>
              </a:rPr>
              <a:t>”1”,</a:t>
            </a:r>
            <a:r>
              <a:rPr lang="zh-CN" altLang="en-US" sz="2800" b="1">
                <a:solidFill>
                  <a:srgbClr val="02184F"/>
                </a:solidFill>
              </a:rPr>
              <a:t>不亮为</a:t>
            </a:r>
            <a:r>
              <a:rPr lang="en-US" altLang="zh-CN" sz="2800" b="1">
                <a:solidFill>
                  <a:srgbClr val="02184F"/>
                </a:solidFill>
              </a:rPr>
              <a:t>”0”</a:t>
            </a:r>
            <a:r>
              <a:rPr lang="zh-CN" altLang="en-US" sz="2800" b="1">
                <a:solidFill>
                  <a:srgbClr val="02184F"/>
                </a:solidFill>
              </a:rPr>
              <a:t>。</a:t>
            </a:r>
            <a:endParaRPr lang="zh-CN" altLang="en-US" sz="2800" b="1">
              <a:solidFill>
                <a:srgbClr val="02184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1135" y="5017135"/>
            <a:ext cx="7134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2184F"/>
                </a:solidFill>
              </a:rPr>
              <a:t>逻辑要求：多数同意时指示灯亮。</a:t>
            </a:r>
            <a:endParaRPr lang="zh-CN" altLang="en-US" sz="2400">
              <a:solidFill>
                <a:srgbClr val="02184F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680" y="2176145"/>
            <a:ext cx="2225040" cy="43510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005" y="2967990"/>
            <a:ext cx="358140" cy="33604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88745" y="5424170"/>
            <a:ext cx="6294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542FF"/>
                </a:solidFill>
              </a:rPr>
              <a:t>(2)</a:t>
            </a:r>
            <a:r>
              <a:rPr lang="zh-CN" altLang="en-US" sz="2800" b="1">
                <a:solidFill>
                  <a:srgbClr val="1542FF"/>
                </a:solidFill>
              </a:rPr>
              <a:t>由状态表写出逻辑式</a:t>
            </a:r>
            <a:r>
              <a:rPr lang="en-US" altLang="zh-CN" sz="1800" b="1">
                <a:solidFill>
                  <a:srgbClr val="1542FF"/>
                </a:solidFill>
              </a:rPr>
              <a:t>(</a:t>
            </a:r>
            <a:r>
              <a:rPr lang="zh-CN" altLang="en-US" sz="1800" b="1">
                <a:solidFill>
                  <a:srgbClr val="1542FF"/>
                </a:solidFill>
              </a:rPr>
              <a:t>把所有值为</a:t>
            </a:r>
            <a:r>
              <a:rPr lang="en-US" altLang="zh-CN" sz="1800" b="1">
                <a:solidFill>
                  <a:srgbClr val="1542FF"/>
                </a:solidFill>
              </a:rPr>
              <a:t>1</a:t>
            </a:r>
            <a:r>
              <a:rPr lang="zh-CN" altLang="en-US" sz="1800" b="1">
                <a:solidFill>
                  <a:srgbClr val="1542FF"/>
                </a:solidFill>
              </a:rPr>
              <a:t>的加起来</a:t>
            </a:r>
            <a:r>
              <a:rPr lang="en-US" altLang="zh-CN" sz="1800" b="1">
                <a:solidFill>
                  <a:srgbClr val="1542FF"/>
                </a:solidFill>
              </a:rPr>
              <a:t>)</a:t>
            </a:r>
            <a:endParaRPr lang="en-US" altLang="zh-CN" sz="1800" b="1">
              <a:solidFill>
                <a:srgbClr val="1542FF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445" y="5992495"/>
            <a:ext cx="4762500" cy="472440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0013950" y="1772285"/>
            <a:ext cx="19685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028700" y="2247900"/>
            <a:ext cx="157416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949690" y="1844040"/>
            <a:ext cx="528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≥2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9381490" y="1816100"/>
            <a:ext cx="864235" cy="2882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7" grpId="0"/>
      <p:bldP spid="7" grpId="1"/>
      <p:bldP spid="11" grpId="0"/>
      <p:bldP spid="11" grpId="1"/>
      <p:bldP spid="14" grpId="0"/>
      <p:bldP spid="14" grpId="1"/>
      <p:bldP spid="20" grpId="0"/>
      <p:bldP spid="2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0500" y="723265"/>
            <a:ext cx="6294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542FF"/>
                </a:solidFill>
              </a:rPr>
              <a:t>(3)</a:t>
            </a:r>
            <a:r>
              <a:rPr lang="zh-CN" altLang="en-US" sz="2800" b="1">
                <a:solidFill>
                  <a:srgbClr val="1542FF"/>
                </a:solidFill>
              </a:rPr>
              <a:t>化简逻辑式可</a:t>
            </a:r>
            <a:r>
              <a:rPr lang="zh-CN" altLang="en-US" sz="2800" b="1">
                <a:solidFill>
                  <a:srgbClr val="1542FF"/>
                </a:solidFill>
              </a:rPr>
              <a:t>得</a:t>
            </a:r>
            <a:endParaRPr lang="zh-CN" altLang="en-US" sz="2800" b="1">
              <a:solidFill>
                <a:srgbClr val="1542FF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61135" y="1783080"/>
            <a:ext cx="7637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542FF"/>
                </a:solidFill>
              </a:rPr>
              <a:t>(4)</a:t>
            </a:r>
            <a:r>
              <a:rPr lang="zh-CN" altLang="en-US" sz="2800" b="1">
                <a:solidFill>
                  <a:srgbClr val="1542FF"/>
                </a:solidFill>
              </a:rPr>
              <a:t>用与非门实现逻辑函数辑式</a:t>
            </a:r>
            <a:r>
              <a:rPr lang="en-US" altLang="zh-CN" sz="1800" b="1">
                <a:solidFill>
                  <a:srgbClr val="1542FF"/>
                </a:solidFill>
              </a:rPr>
              <a:t>(</a:t>
            </a:r>
            <a:r>
              <a:rPr lang="zh-CN" altLang="en-US" sz="1800" b="1">
                <a:solidFill>
                  <a:srgbClr val="1542FF"/>
                </a:solidFill>
              </a:rPr>
              <a:t>如果题目要求</a:t>
            </a:r>
            <a:r>
              <a:rPr lang="en-US" altLang="zh-CN" sz="1800" b="1">
                <a:solidFill>
                  <a:srgbClr val="1542FF"/>
                </a:solidFill>
              </a:rPr>
              <a:t>)</a:t>
            </a:r>
            <a:endParaRPr lang="en-US" altLang="zh-CN" sz="1800" b="1">
              <a:solidFill>
                <a:srgbClr val="1542FF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5" y="1249045"/>
            <a:ext cx="4466590" cy="4775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035" y="2326005"/>
            <a:ext cx="8176260" cy="5562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735" y="3046095"/>
            <a:ext cx="5364480" cy="27813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535" y="2956560"/>
            <a:ext cx="4587240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、步骤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(1)</a:t>
            </a:r>
            <a:r>
              <a:rPr lang="zh-CN" altLang="en-US" sz="2800" dirty="0"/>
              <a:t>由逻辑要求，列真值</a:t>
            </a:r>
            <a:r>
              <a:rPr lang="zh-CN" altLang="en-US" sz="2800" dirty="0"/>
              <a:t>表。</a:t>
            </a:r>
            <a:endParaRPr lang="zh-CN" altLang="en-US" sz="2800" dirty="0"/>
          </a:p>
          <a:p>
            <a:pPr marL="0" indent="0" algn="l" eaLnBrk="1" latinLnBrk="0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/>
              <a:t>(2)</a:t>
            </a:r>
            <a:r>
              <a:rPr lang="zh-CN" altLang="en-US" sz="2800" dirty="0"/>
              <a:t>由真值表写出逻辑</a:t>
            </a:r>
            <a:r>
              <a:rPr lang="zh-CN" altLang="en-US" sz="2800" dirty="0"/>
              <a:t>表达式</a:t>
            </a:r>
            <a:endParaRPr lang="zh-CN" altLang="en-US" sz="2800" dirty="0"/>
          </a:p>
          <a:p>
            <a:pPr marL="0" indent="0" algn="l" eaLnBrk="1" latinLnBrk="0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/>
              <a:t>(3)</a:t>
            </a:r>
            <a:r>
              <a:rPr lang="zh-CN" altLang="en-US" sz="2800" dirty="0"/>
              <a:t>化简和变换</a:t>
            </a:r>
            <a:r>
              <a:rPr lang="zh-CN" altLang="en-US" sz="2800" dirty="0"/>
              <a:t>逻辑表达式</a:t>
            </a:r>
            <a:endParaRPr lang="zh-CN" altLang="en-US" sz="2800" dirty="0"/>
          </a:p>
          <a:p>
            <a:pPr marL="0" indent="0" algn="l" eaLnBrk="1" latinLnBrk="0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/>
              <a:t>(4)</a:t>
            </a:r>
            <a:r>
              <a:rPr lang="zh-CN" altLang="en-US" sz="2800" dirty="0"/>
              <a:t>画出逻辑</a:t>
            </a:r>
            <a:r>
              <a:rPr lang="zh-CN" altLang="en-US" sz="2800" dirty="0"/>
              <a:t>图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一、组合逻辑电路的</a:t>
            </a:r>
            <a:r>
              <a:rPr lang="zh-CN" altLang="en-US" sz="3600" b="1" dirty="0"/>
              <a:t>设计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664210"/>
            <a:ext cx="1160526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zh-CN" altLang="en-US" sz="2800" b="1">
                <a:solidFill>
                  <a:srgbClr val="FF0000"/>
                </a:solidFill>
              </a:rPr>
              <a:t>高考题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en-US" altLang="zh-CN" sz="2800">
                <a:solidFill>
                  <a:schemeClr val="tx1"/>
                </a:solidFill>
              </a:rPr>
              <a:t>87</a:t>
            </a:r>
            <a:r>
              <a:rPr lang="zh-CN" altLang="en-US" sz="2800">
                <a:solidFill>
                  <a:schemeClr val="tx1"/>
                </a:solidFill>
              </a:rPr>
              <a:t>题：</a:t>
            </a:r>
            <a:r>
              <a:rPr lang="zh-CN" altLang="en-US" sz="2800"/>
              <a:t>某举重比赛有</a:t>
            </a:r>
            <a:r>
              <a:rPr lang="en-US" altLang="zh-CN" sz="2800"/>
              <a:t>A</a:t>
            </a:r>
            <a:r>
              <a:rPr lang="zh-CN" altLang="en-US" sz="2800"/>
              <a:t>、</a:t>
            </a:r>
            <a:r>
              <a:rPr lang="en-US" altLang="zh-CN" sz="2800"/>
              <a:t>B</a:t>
            </a:r>
            <a:r>
              <a:rPr lang="zh-CN" altLang="en-US" sz="2800"/>
              <a:t>、</a:t>
            </a:r>
            <a:r>
              <a:rPr lang="en-US" altLang="zh-CN" sz="2800"/>
              <a:t>C</a:t>
            </a:r>
            <a:r>
              <a:rPr lang="zh-CN" altLang="en-US" sz="2800"/>
              <a:t>三个裁判和一个总裁判</a:t>
            </a:r>
            <a:r>
              <a:rPr lang="en-US" altLang="zh-CN" sz="2800"/>
              <a:t>D</a:t>
            </a:r>
            <a:r>
              <a:rPr lang="zh-CN" altLang="en-US" sz="2800"/>
              <a:t>。当总裁判</a:t>
            </a:r>
            <a:r>
              <a:rPr lang="en-US" altLang="zh-CN" sz="2800"/>
              <a:t>D</a:t>
            </a:r>
            <a:r>
              <a:rPr lang="zh-CN" altLang="en-US" sz="2800"/>
              <a:t>同意通过时，运动员可得两票</a:t>
            </a:r>
            <a:r>
              <a:rPr lang="en-US" altLang="zh-CN" sz="2800"/>
              <a:t>;A</a:t>
            </a:r>
            <a:r>
              <a:rPr lang="zh-CN" altLang="en-US" sz="2800"/>
              <a:t>、</a:t>
            </a:r>
            <a:r>
              <a:rPr lang="en-US" altLang="zh-CN" sz="2800"/>
              <a:t>B</a:t>
            </a:r>
            <a:r>
              <a:rPr lang="zh-CN" altLang="en-US" sz="2800"/>
              <a:t>、</a:t>
            </a:r>
            <a:r>
              <a:rPr lang="en-US" altLang="zh-CN" sz="2800"/>
              <a:t>C</a:t>
            </a:r>
            <a:r>
              <a:rPr lang="zh-CN" altLang="en-US" sz="2800"/>
              <a:t>三个裁判每人拥有</a:t>
            </a:r>
            <a:r>
              <a:rPr lang="en-US" altLang="zh-CN" sz="2800"/>
              <a:t>1</a:t>
            </a:r>
            <a:r>
              <a:rPr lang="zh-CN" altLang="en-US" sz="2800"/>
              <a:t>票，当一个裁判同意通过时，运动员可得</a:t>
            </a:r>
            <a:r>
              <a:rPr lang="en-US" altLang="zh-CN" sz="2800"/>
              <a:t>1</a:t>
            </a:r>
            <a:r>
              <a:rPr lang="zh-CN" altLang="en-US" sz="2800"/>
              <a:t>票，总票数为</a:t>
            </a:r>
            <a:r>
              <a:rPr lang="en-US" altLang="zh-CN" sz="2800"/>
              <a:t>5</a:t>
            </a:r>
            <a:r>
              <a:rPr lang="zh-CN" altLang="en-US" sz="2800"/>
              <a:t>，获得</a:t>
            </a:r>
            <a:r>
              <a:rPr lang="en-US" altLang="zh-CN" sz="2800"/>
              <a:t>3</a:t>
            </a:r>
            <a:r>
              <a:rPr lang="zh-CN" altLang="en-US" sz="2800"/>
              <a:t>票或以上者为举重成功。试设计裁判表决电路。</a:t>
            </a:r>
            <a:r>
              <a:rPr lang="en-US" altLang="zh-CN" sz="2800"/>
              <a:t>(</a:t>
            </a:r>
            <a:r>
              <a:rPr lang="zh-CN" altLang="en-US" sz="2800"/>
              <a:t>设</a:t>
            </a:r>
            <a:r>
              <a:rPr lang="en-US" altLang="zh-CN" sz="2800"/>
              <a:t>A</a:t>
            </a:r>
            <a:r>
              <a:rPr lang="zh-CN" altLang="en-US" sz="2800"/>
              <a:t>、</a:t>
            </a:r>
            <a:r>
              <a:rPr lang="en-US" altLang="zh-CN" sz="2800"/>
              <a:t>B</a:t>
            </a:r>
            <a:r>
              <a:rPr lang="zh-CN" altLang="en-US" sz="2800"/>
              <a:t>、</a:t>
            </a:r>
            <a:r>
              <a:rPr lang="en-US" altLang="zh-CN" sz="2800"/>
              <a:t>C</a:t>
            </a:r>
            <a:r>
              <a:rPr lang="zh-CN" altLang="en-US" sz="2800"/>
              <a:t>、</a:t>
            </a:r>
            <a:r>
              <a:rPr lang="en-US" altLang="zh-CN" sz="2800"/>
              <a:t>D</a:t>
            </a:r>
            <a:r>
              <a:rPr lang="zh-CN" altLang="en-US" sz="2800"/>
              <a:t>同意通过为</a:t>
            </a:r>
            <a:r>
              <a:rPr lang="en-US" altLang="zh-CN" sz="2800"/>
              <a:t>1</a:t>
            </a:r>
            <a:r>
              <a:rPr lang="zh-CN" altLang="en-US" sz="2800"/>
              <a:t>，举重成功</a:t>
            </a:r>
            <a:r>
              <a:rPr lang="en-US" altLang="zh-CN" sz="2800"/>
              <a:t>Y</a:t>
            </a:r>
            <a:r>
              <a:rPr lang="zh-CN" altLang="en-US" sz="2800"/>
              <a:t>为</a:t>
            </a:r>
            <a:r>
              <a:rPr lang="en-US" altLang="zh-CN" sz="2800"/>
              <a:t>1)</a:t>
            </a:r>
            <a:r>
              <a:rPr lang="zh-CN" altLang="en-US" sz="2800"/>
              <a:t>。</a:t>
            </a:r>
            <a:endParaRPr lang="zh-CN" altLang="en-US" sz="2800"/>
          </a:p>
          <a:p>
            <a:r>
              <a:rPr lang="en-US" altLang="zh-CN" sz="2800"/>
              <a:t>(1)</a:t>
            </a:r>
            <a:r>
              <a:rPr lang="zh-CN" altLang="en-US" sz="2800"/>
              <a:t>列出真值表。</a:t>
            </a:r>
            <a:r>
              <a:rPr lang="en-US" altLang="zh-CN" sz="2800"/>
              <a:t>(4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(</a:t>
            </a:r>
            <a:r>
              <a:rPr lang="en-US" altLang="zh-CN" sz="2800"/>
              <a:t>2</a:t>
            </a:r>
            <a:r>
              <a:rPr lang="en-US" altLang="zh-CN" sz="2800">
                <a:sym typeface="+mn-ea"/>
              </a:rPr>
              <a:t>)</a:t>
            </a:r>
            <a:r>
              <a:rPr lang="zh-CN" altLang="en-US" sz="2800"/>
              <a:t>写出逻辑表达式</a:t>
            </a:r>
            <a:r>
              <a:rPr lang="en-US" altLang="zh-CN" sz="2800"/>
              <a:t>(2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r>
              <a:rPr lang="zh-CN" altLang="en-US" sz="2800"/>
              <a:t>，并化简。</a:t>
            </a:r>
            <a:r>
              <a:rPr lang="en-US" altLang="zh-CN" sz="2800"/>
              <a:t>(2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(3)</a:t>
            </a:r>
            <a:r>
              <a:rPr lang="zh-CN" altLang="en-US" sz="2800"/>
              <a:t>用与非门画出实现该逻辑功能的电路。</a:t>
            </a:r>
            <a:r>
              <a:rPr lang="en-US" altLang="zh-CN" sz="2800"/>
              <a:t>(4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endParaRPr lang="en-US" altLang="zh-CN" sz="2800"/>
          </a:p>
        </p:txBody>
      </p:sp>
      <p:cxnSp>
        <p:nvCxnSpPr>
          <p:cNvPr id="4" name="直接连接符 3"/>
          <p:cNvCxnSpPr/>
          <p:nvPr/>
        </p:nvCxnSpPr>
        <p:spPr>
          <a:xfrm>
            <a:off x="7822565" y="1976755"/>
            <a:ext cx="41059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664210"/>
            <a:ext cx="116052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(1)</a:t>
            </a:r>
            <a:r>
              <a:rPr lang="zh-CN" altLang="en-US" sz="2800"/>
              <a:t>列出真值表</a:t>
            </a:r>
            <a:r>
              <a:rPr lang="en-US" altLang="zh-CN" sz="2800"/>
              <a:t>(4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1167765"/>
            <a:ext cx="7292340" cy="3512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664210"/>
            <a:ext cx="116052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(</a:t>
            </a:r>
            <a:r>
              <a:rPr lang="en-US" altLang="zh-CN" sz="2800"/>
              <a:t>2</a:t>
            </a:r>
            <a:r>
              <a:rPr lang="en-US" altLang="zh-CN" sz="2800">
                <a:sym typeface="+mn-ea"/>
              </a:rPr>
              <a:t>)</a:t>
            </a:r>
            <a:r>
              <a:rPr lang="zh-CN" altLang="en-US" sz="2800"/>
              <a:t>写出逻辑表达式</a:t>
            </a:r>
            <a:r>
              <a:rPr lang="en-US" altLang="zh-CN" sz="2800"/>
              <a:t>(2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r>
              <a:rPr lang="zh-CN" altLang="en-US" sz="2800"/>
              <a:t>，并化简。</a:t>
            </a:r>
            <a:r>
              <a:rPr lang="en-US" altLang="zh-CN" sz="2800"/>
              <a:t>(2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55" y="1311910"/>
            <a:ext cx="6713220" cy="1051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45" y="3039745"/>
            <a:ext cx="4343400" cy="510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664210"/>
            <a:ext cx="116052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(3)</a:t>
            </a:r>
            <a:r>
              <a:rPr lang="zh-CN" altLang="en-US" sz="2800"/>
              <a:t>用与非门画出实现该逻辑功能的电路。</a:t>
            </a:r>
            <a:r>
              <a:rPr lang="en-US" altLang="zh-CN" sz="2800"/>
              <a:t>(4</a:t>
            </a:r>
            <a:r>
              <a:rPr lang="zh-CN" altLang="en-US" sz="2800"/>
              <a:t>分</a:t>
            </a:r>
            <a:r>
              <a:rPr lang="en-US" altLang="zh-CN" sz="2800"/>
              <a:t>)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935" y="1311910"/>
            <a:ext cx="3124200" cy="594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45" y="1907540"/>
            <a:ext cx="6615430" cy="3647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664210"/>
            <a:ext cx="1160526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(2017</a:t>
            </a:r>
            <a:r>
              <a:rPr lang="zh-CN" altLang="en-US" sz="2800" b="1">
                <a:solidFill>
                  <a:srgbClr val="FF0000"/>
                </a:solidFill>
              </a:rPr>
              <a:t>年高考题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/>
              <a:t>试设计一个实现一位二进制全减功能的逻辑电路。其中</a:t>
            </a:r>
            <a:r>
              <a:rPr lang="en-US" altLang="zh-CN" sz="2800"/>
              <a:t>An</a:t>
            </a:r>
            <a:r>
              <a:rPr lang="zh-CN" altLang="en-US" sz="2800"/>
              <a:t>为被减数，</a:t>
            </a:r>
            <a:r>
              <a:rPr lang="en-US" altLang="zh-CN" sz="2800"/>
              <a:t>Bn</a:t>
            </a:r>
            <a:r>
              <a:rPr lang="zh-CN" altLang="en-US" sz="2800"/>
              <a:t>为减数，</a:t>
            </a:r>
            <a:r>
              <a:rPr lang="en-US" altLang="zh-CN" sz="2800"/>
              <a:t>Cn-1</a:t>
            </a:r>
            <a:r>
              <a:rPr lang="zh-CN" altLang="en-US" sz="2800"/>
              <a:t>为低位的借位，</a:t>
            </a:r>
            <a:r>
              <a:rPr lang="en-US" altLang="zh-CN" sz="2800"/>
              <a:t>Sn</a:t>
            </a:r>
            <a:r>
              <a:rPr lang="zh-CN" altLang="en-US" sz="2800"/>
              <a:t>为</a:t>
            </a:r>
            <a:r>
              <a:rPr lang="en-US" altLang="zh-CN" sz="2800"/>
              <a:t>An</a:t>
            </a:r>
            <a:r>
              <a:rPr lang="zh-CN" altLang="en-US" sz="2800"/>
              <a:t>和</a:t>
            </a:r>
            <a:r>
              <a:rPr lang="en-US" altLang="zh-CN" sz="2800"/>
              <a:t>Bn </a:t>
            </a:r>
            <a:r>
              <a:rPr lang="zh-CN" altLang="en-US" sz="2800"/>
              <a:t>的本位差，</a:t>
            </a:r>
            <a:r>
              <a:rPr lang="en-US" altLang="zh-CN" sz="2800"/>
              <a:t>Cn</a:t>
            </a:r>
            <a:r>
              <a:rPr lang="zh-CN" altLang="en-US" sz="2800"/>
              <a:t>为向高一位的借位。</a:t>
            </a:r>
            <a:endParaRPr lang="zh-CN" altLang="en-US" sz="2800"/>
          </a:p>
          <a:p>
            <a:r>
              <a:rPr lang="en-US" altLang="zh-CN" sz="2400"/>
              <a:t>(1)</a:t>
            </a:r>
            <a:r>
              <a:rPr lang="zh-CN" altLang="en-US" sz="2400"/>
              <a:t>列出真值表</a:t>
            </a:r>
            <a:r>
              <a:rPr lang="en-US" altLang="zh-CN" sz="2400"/>
              <a:t>:(4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(2)</a:t>
            </a:r>
            <a:r>
              <a:rPr lang="zh-CN" altLang="en-US" sz="2400"/>
              <a:t>写出逻辑表达式，</a:t>
            </a:r>
            <a:r>
              <a:rPr lang="en-US" altLang="zh-CN" sz="2400"/>
              <a:t>(4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r>
              <a:rPr lang="zh-CN" altLang="en-US" sz="2400"/>
              <a:t>并化简</a:t>
            </a:r>
            <a:r>
              <a:rPr lang="en-US" altLang="zh-CN" sz="2400"/>
              <a:t>;(1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(3)</a:t>
            </a:r>
            <a:r>
              <a:rPr lang="zh-CN" altLang="en-US" sz="2400"/>
              <a:t>用与非门画出实现该逻辑功能的电路。</a:t>
            </a:r>
            <a:r>
              <a:rPr lang="en-US" altLang="zh-CN" sz="2400"/>
              <a:t>(3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455" y="3399790"/>
            <a:ext cx="3375660" cy="33299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33115" y="3112135"/>
            <a:ext cx="479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差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09060" y="3112135"/>
            <a:ext cx="1005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借</a:t>
            </a:r>
            <a:r>
              <a:rPr lang="en-US" altLang="zh-CN" b="1">
                <a:solidFill>
                  <a:srgbClr val="FF0000"/>
                </a:solidFill>
              </a:rPr>
              <a:t>(</a:t>
            </a:r>
            <a:r>
              <a:rPr lang="zh-CN" altLang="en-US" b="1">
                <a:solidFill>
                  <a:srgbClr val="FF0000"/>
                </a:solidFill>
              </a:rPr>
              <a:t>高位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en-US" altLang="zh-CN" b="1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985" y="3837305"/>
            <a:ext cx="1061720" cy="27901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49465" y="1743710"/>
            <a:ext cx="5289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542FF"/>
                </a:solidFill>
              </a:rPr>
              <a:t>全减运算本质是计算</a:t>
            </a:r>
            <a:r>
              <a:rPr lang="en-US" altLang="zh-CN" sz="2400" b="1">
                <a:solidFill>
                  <a:srgbClr val="1542FF"/>
                </a:solidFill>
              </a:rPr>
              <a:t>An </a:t>
            </a:r>
            <a:r>
              <a:rPr lang="zh-CN" altLang="en-US" sz="2400" b="1">
                <a:solidFill>
                  <a:srgbClr val="1542FF"/>
                </a:solidFill>
              </a:rPr>
              <a:t>、</a:t>
            </a:r>
            <a:r>
              <a:rPr lang="en-US" altLang="zh-CN" sz="2400" b="1">
                <a:solidFill>
                  <a:srgbClr val="1542FF"/>
                </a:solidFill>
              </a:rPr>
              <a:t> Bn</a:t>
            </a:r>
            <a:r>
              <a:rPr lang="zh-CN" altLang="en-US" sz="2400" b="1">
                <a:solidFill>
                  <a:srgbClr val="1542FF"/>
                </a:solidFill>
              </a:rPr>
              <a:t>、</a:t>
            </a:r>
            <a:r>
              <a:rPr lang="en-US" altLang="zh-CN" sz="2400" b="1">
                <a:solidFill>
                  <a:srgbClr val="1542FF"/>
                </a:solidFill>
              </a:rPr>
              <a:t> Cn-1</a:t>
            </a:r>
            <a:endParaRPr lang="en-US" altLang="zh-CN" sz="2400" b="1">
              <a:solidFill>
                <a:srgbClr val="1542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5001895" y="3254375"/>
                <a:ext cx="7620000" cy="2272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/>
                  <a:t>Sn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𝐴𝑛</m:t>
                        </m:r>
                      </m:e>
                    </m:acc>
                    <m:r>
                      <a:rPr lang="en-US" altLang="zh-CN" sz="2800">
                        <a:latin typeface="Cambria Math" panose="02040503050406030204" charset="0"/>
                        <a:sym typeface="+mn-ea"/>
                      </a:rPr>
                      <m:t>·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𝐵𝑛</m:t>
                        </m:r>
                      </m:e>
                    </m:acc>
                  </m:oMath>
                </a14:m>
                <a:r>
                  <a:rPr lang="en-US" altLang="zh-CN" sz="2800"/>
                  <a:t>·Cn-1</a:t>
                </a:r>
                <a:endParaRPr lang="en-US" altLang="zh-CN" sz="2800"/>
              </a:p>
              <a:p>
                <a:r>
                  <a:rPr lang="en-US" altLang="zh-CN" sz="2800"/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𝐴𝑛</m:t>
                        </m:r>
                      </m:e>
                    </m:acc>
                  </m:oMath>
                </a14:m>
                <a:r>
                  <a:rPr lang="en-US" altLang="zh-CN" sz="2800"/>
                  <a:t>·Bn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</m:acc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</m:oMath>
                </a14:m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An·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𝐵𝑛</m:t>
                        </m:r>
                      </m:e>
                    </m:acc>
                  </m:oMath>
                </a14:m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</m:acc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</m:oMath>
                </a14:m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An·Bn</a:t>
                </a:r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·Cn-1</a:t>
                </a:r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 sz="28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sz="28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Cn</a:t>
                </a:r>
                <a:r>
                  <a:rPr lang="en-US" altLang="zh-CN" sz="2800">
                    <a:sym typeface="+mn-ea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𝐴𝑛</m:t>
                        </m:r>
                      </m:e>
                    </m:acc>
                    <m:r>
                      <a:rPr lang="en-US" altLang="zh-CN" sz="2800">
                        <a:latin typeface="Cambria Math" panose="02040503050406030204" charset="0"/>
                        <a:sym typeface="+mn-ea"/>
                      </a:rPr>
                      <m:t>·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𝐵𝑛</m:t>
                        </m:r>
                      </m:e>
                    </m:acc>
                  </m:oMath>
                </a14:m>
                <a:r>
                  <a:rPr lang="en-US" altLang="zh-CN" sz="2800">
                    <a:sym typeface="+mn-ea"/>
                  </a:rPr>
                  <a:t>·Cn+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𝐴𝑛</m:t>
                        </m:r>
                      </m:e>
                    </m:acc>
                  </m:oMath>
                </a14:m>
                <a:r>
                  <a:rPr lang="en-US" altLang="zh-CN" sz="2800">
                    <a:sym typeface="+mn-ea"/>
                  </a:rPr>
                  <a:t>·Bn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</m:acc>
                    <m:r>
                      <a:rPr lang="en-US" altLang="zh-CN" sz="2800">
                        <a:latin typeface="Cambria Math" panose="02040503050406030204" charset="0"/>
                        <a:sym typeface="+mn-ea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𝐴𝑛</m:t>
                        </m:r>
                      </m:e>
                    </m:acc>
                  </m:oMath>
                </a14:m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BnCn-1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charset="0"/>
                        <a:sym typeface="+mn-ea"/>
                      </a:rPr>
                      <m:t>+</m:t>
                    </m:r>
                  </m:oMath>
                </a14:m>
                <a:endParaRPr lang="en-US" altLang="zh-CN" sz="2800">
                  <a:latin typeface="Cambria Math" panose="02040503050406030204" charset="0"/>
                  <a:sym typeface="+mn-ea"/>
                </a:endParaRPr>
              </a:p>
              <a:p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An·Bn·Cn-1</a:t>
                </a:r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 sz="280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895" y="3254375"/>
                <a:ext cx="7620000" cy="2272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6265" y="592455"/>
            <a:ext cx="116052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(2016</a:t>
            </a:r>
            <a:r>
              <a:rPr lang="zh-CN" altLang="en-US" sz="2400" b="1">
                <a:solidFill>
                  <a:srgbClr val="FF0000"/>
                </a:solidFill>
              </a:rPr>
              <a:t>年高考题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r>
              <a:rPr lang="en-US" altLang="zh-CN" sz="2400"/>
              <a:t>87.</a:t>
            </a:r>
            <a:r>
              <a:rPr lang="zh-CN" altLang="en-US" sz="2400"/>
              <a:t>设计一个实现四个触摸开关控制一盏楼道灯的电路。要求</a:t>
            </a:r>
            <a:r>
              <a:rPr lang="en-US" altLang="zh-CN" sz="2400"/>
              <a:t>:</a:t>
            </a:r>
            <a:r>
              <a:rPr lang="zh-CN" altLang="en-US" sz="2400"/>
              <a:t>在任一</a:t>
            </a:r>
            <a:r>
              <a:rPr lang="zh-CN" altLang="en-US" sz="2400"/>
              <a:t>时刻，每触摸四个开关中的任一开关</a:t>
            </a:r>
            <a:r>
              <a:rPr lang="en-US" altLang="zh-CN" sz="2400"/>
              <a:t>1</a:t>
            </a:r>
            <a:r>
              <a:rPr lang="zh-CN" altLang="en-US" sz="2400"/>
              <a:t>次，灯的状态就会改变。设</a:t>
            </a:r>
            <a:r>
              <a:rPr lang="en-US" altLang="zh-CN" sz="2400"/>
              <a:t>:</a:t>
            </a:r>
            <a:r>
              <a:rPr lang="zh-CN" altLang="en-US" sz="2400"/>
              <a:t>四个开关分别用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、</a:t>
            </a:r>
            <a:r>
              <a:rPr lang="en-US" altLang="zh-CN" sz="2400"/>
              <a:t>C</a:t>
            </a:r>
            <a:r>
              <a:rPr lang="zh-CN" altLang="en-US" sz="2400"/>
              <a:t>、</a:t>
            </a:r>
            <a:r>
              <a:rPr lang="en-US" altLang="zh-CN" sz="2400"/>
              <a:t>D</a:t>
            </a:r>
            <a:r>
              <a:rPr lang="zh-CN" altLang="en-US" sz="2400"/>
              <a:t>表示，灯用</a:t>
            </a:r>
            <a:r>
              <a:rPr lang="en-US" altLang="zh-CN" sz="2400"/>
              <a:t>y</a:t>
            </a:r>
            <a:r>
              <a:rPr lang="zh-CN" altLang="en-US" sz="2400"/>
              <a:t>表示</a:t>
            </a:r>
            <a:r>
              <a:rPr lang="en-US" altLang="zh-CN" sz="2400"/>
              <a:t>;</a:t>
            </a:r>
            <a:r>
              <a:rPr lang="zh-CN" altLang="en-US" sz="2400"/>
              <a:t>灯亮时用</a:t>
            </a:r>
            <a:r>
              <a:rPr lang="en-US" altLang="zh-CN" sz="2400"/>
              <a:t>“1”</a:t>
            </a:r>
            <a:r>
              <a:rPr lang="zh-CN" altLang="en-US" sz="2400"/>
              <a:t>表示</a:t>
            </a:r>
            <a:r>
              <a:rPr lang="en-US" altLang="zh-CN" sz="2400"/>
              <a:t>;</a:t>
            </a:r>
            <a:r>
              <a:rPr lang="zh-CN" altLang="en-US" sz="2400"/>
              <a:t>当</a:t>
            </a:r>
            <a:r>
              <a:rPr lang="en-US" altLang="zh-CN" sz="2400"/>
              <a:t>ABCD=0000</a:t>
            </a:r>
            <a:r>
              <a:rPr lang="zh-CN" altLang="en-US" sz="2400"/>
              <a:t>时灯熄灭。</a:t>
            </a:r>
            <a:endParaRPr lang="zh-CN" altLang="en-US" sz="2400"/>
          </a:p>
          <a:p>
            <a:r>
              <a:rPr lang="en-US" altLang="zh-CN" sz="2400"/>
              <a:t>(1)</a:t>
            </a:r>
            <a:r>
              <a:rPr lang="zh-CN" altLang="en-US" sz="2400"/>
              <a:t>完善真值表</a:t>
            </a:r>
            <a:r>
              <a:rPr lang="en-US" altLang="zh-CN" sz="2400"/>
              <a:t>;(4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(2)</a:t>
            </a:r>
            <a:r>
              <a:rPr lang="zh-CN" altLang="en-US" sz="2400"/>
              <a:t>写出逻辑表达式</a:t>
            </a:r>
            <a:r>
              <a:rPr lang="en-US" altLang="zh-CN" sz="2400"/>
              <a:t>(2</a:t>
            </a:r>
            <a:r>
              <a:rPr lang="zh-CN" altLang="en-US" sz="2400"/>
              <a:t>分</a:t>
            </a:r>
            <a:r>
              <a:rPr lang="en-US" altLang="zh-CN" sz="2400"/>
              <a:t>) 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>
                <a:sym typeface="+mn-ea"/>
              </a:rPr>
              <a:t>并化简</a:t>
            </a:r>
            <a:r>
              <a:rPr lang="en-US" altLang="zh-CN" sz="2400">
                <a:sym typeface="+mn-ea"/>
              </a:rPr>
              <a:t>(2</a:t>
            </a:r>
            <a:r>
              <a:rPr lang="zh-CN" altLang="en-US" sz="2400">
                <a:sym typeface="+mn-ea"/>
              </a:rPr>
              <a:t>分</a:t>
            </a:r>
            <a:r>
              <a:rPr lang="en-US" altLang="zh-CN" sz="2400">
                <a:sym typeface="+mn-ea"/>
              </a:rPr>
              <a:t>)</a:t>
            </a:r>
            <a:endParaRPr lang="en-US" altLang="zh-CN" sz="2400"/>
          </a:p>
          <a:p>
            <a:r>
              <a:rPr lang="en-US" altLang="zh-CN" sz="2400"/>
              <a:t>(3)</a:t>
            </a:r>
            <a:r>
              <a:rPr lang="zh-CN" altLang="en-US" sz="2400"/>
              <a:t>画出由异或门组成的最简逻辑电路图。</a:t>
            </a:r>
            <a:r>
              <a:rPr lang="en-US" altLang="zh-CN" sz="2400"/>
              <a:t>(4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endParaRPr lang="en-US" altLang="zh-CN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590" y="1383665"/>
            <a:ext cx="2644140" cy="5486400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346835" y="1335405"/>
            <a:ext cx="71970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3470" y="1959610"/>
            <a:ext cx="343535" cy="46666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" y="3039745"/>
            <a:ext cx="5852160" cy="3025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电位的基础知识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电位的计算步骤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1803</Words>
  <Application>WPS 演示</Application>
  <PresentationFormat>自定义</PresentationFormat>
  <Paragraphs>145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Cambria Math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779</cp:revision>
  <dcterms:created xsi:type="dcterms:W3CDTF">2017-01-08T15:59:00Z</dcterms:created>
  <dcterms:modified xsi:type="dcterms:W3CDTF">2025-05-19T01:32:20Z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FCA88555D3D44735BAA1F56722F3B997</vt:lpwstr>
  </property>
</Properties>
</file>