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6"/>
  </p:notesMasterIdLst>
  <p:handoutMasterIdLst>
    <p:handoutMasterId r:id="rId27"/>
  </p:handoutMasterIdLst>
  <p:sldIdLst>
    <p:sldId id="3705" r:id="rId3"/>
    <p:sldId id="3701" r:id="rId4"/>
    <p:sldId id="3646" r:id="rId5"/>
    <p:sldId id="3737" r:id="rId7"/>
    <p:sldId id="3746" r:id="rId8"/>
    <p:sldId id="3747" r:id="rId9"/>
    <p:sldId id="3748" r:id="rId10"/>
    <p:sldId id="3749" r:id="rId11"/>
    <p:sldId id="3750" r:id="rId12"/>
    <p:sldId id="3751" r:id="rId13"/>
    <p:sldId id="3752" r:id="rId14"/>
    <p:sldId id="3712" r:id="rId15"/>
    <p:sldId id="3753" r:id="rId16"/>
    <p:sldId id="3755" r:id="rId17"/>
    <p:sldId id="3756" r:id="rId18"/>
    <p:sldId id="3757" r:id="rId19"/>
    <p:sldId id="3758" r:id="rId20"/>
    <p:sldId id="3759" r:id="rId21"/>
    <p:sldId id="3754" r:id="rId22"/>
    <p:sldId id="3761" r:id="rId23"/>
    <p:sldId id="3760" r:id="rId24"/>
    <p:sldId id="3700" r:id="rId25"/>
    <p:sldId id="3702" r:id="rId26"/>
  </p:sldIdLst>
  <p:sldSz cx="12858750" cy="7232650"/>
  <p:notesSz cx="6858000" cy="9144000"/>
  <p:custDataLst>
    <p:tags r:id="rId32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640080" indent="-18288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1282700" indent="-3683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925955" indent="-55435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2568575" indent="-73977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64" userDrawn="1">
          <p15:clr>
            <a:srgbClr val="A4A3A4"/>
          </p15:clr>
        </p15:guide>
        <p15:guide id="2" orient="horz" pos="4128" userDrawn="1">
          <p15:clr>
            <a:srgbClr val="A4A3A4"/>
          </p15:clr>
        </p15:guide>
        <p15:guide id="3" pos="4093" userDrawn="1">
          <p15:clr>
            <a:srgbClr val="A4A3A4"/>
          </p15:clr>
        </p15:guide>
        <p15:guide id="4" pos="520" userDrawn="1">
          <p15:clr>
            <a:srgbClr val="A4A3A4"/>
          </p15:clr>
        </p15:guide>
        <p15:guide id="5" pos="7533" userDrawn="1">
          <p15:clr>
            <a:srgbClr val="A4A3A4"/>
          </p15:clr>
        </p15:guide>
        <p15:guide id="6" pos="6885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113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1542FF"/>
    <a:srgbClr val="FFFFFF"/>
    <a:srgbClr val="FFC000"/>
    <a:srgbClr val="E949F8"/>
    <a:srgbClr val="02184F"/>
    <a:srgbClr val="FFBF00"/>
    <a:srgbClr val="066197"/>
    <a:srgbClr val="0C6AC7"/>
    <a:srgbClr val="262626"/>
    <a:srgbClr val="0767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61" autoAdjust="0"/>
    <p:restoredTop sz="96366" autoAdjust="0"/>
  </p:normalViewPr>
  <p:slideViewPr>
    <p:cSldViewPr showGuides="1">
      <p:cViewPr varScale="1">
        <p:scale>
          <a:sx n="85" d="100"/>
          <a:sy n="85" d="100"/>
        </p:scale>
        <p:origin x="77" y="158"/>
      </p:cViewPr>
      <p:guideLst>
        <p:guide orient="horz" pos="264"/>
        <p:guide orient="horz" pos="4128"/>
        <p:guide pos="4093"/>
        <p:guide pos="520"/>
        <p:guide pos="7533"/>
        <p:guide pos="6885"/>
      </p:guideLst>
    </p:cSldViewPr>
  </p:slideViewPr>
  <p:outlineViewPr>
    <p:cViewPr>
      <p:scale>
        <a:sx n="100" d="100"/>
        <a:sy n="100" d="100"/>
      </p:scale>
      <p:origin x="0" y="-997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notesViewPr>
    <p:cSldViewPr>
      <p:cViewPr varScale="1">
        <p:scale>
          <a:sx n="87" d="100"/>
          <a:sy n="87" d="100"/>
        </p:scale>
        <p:origin x="384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2" Type="http://schemas.openxmlformats.org/officeDocument/2006/relationships/tags" Target="tags/tag1.xml"/><Relationship Id="rId31" Type="http://schemas.openxmlformats.org/officeDocument/2006/relationships/commentAuthors" Target="commentAuthors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handoutMaster" Target="handoutMasters/handoutMaster1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630DBF-D010-4114-9DE3-41E342A27C18}" type="datetimeFigureOut">
              <a:rPr lang="zh-CN" altLang="en-US" smtClean="0">
                <a:latin typeface="印品黑体" panose="00000500000000000000" pitchFamily="2" charset="-122"/>
              </a:rPr>
            </a:fld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D1D107-4CC9-43CA-8CA8-36E1DF70D5F2}" type="slidenum">
              <a:rPr lang="zh-CN" altLang="en-US" smtClean="0">
                <a:latin typeface="印品黑体" panose="00000500000000000000" pitchFamily="2" charset="-122"/>
              </a:rPr>
            </a:fld>
            <a:endParaRPr lang="zh-CN" altLang="en-US" dirty="0">
              <a:latin typeface="印品黑体" panose="00000500000000000000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fld id="{06024D97-E667-405D-B634-E583E2108D71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 dirty="0"/>
              <a:t>单击此处编辑母版文本样式</a:t>
            </a:r>
            <a:endParaRPr lang="zh-CN" altLang="en-US" noProof="0" dirty="0"/>
          </a:p>
          <a:p>
            <a:pPr lvl="1"/>
            <a:r>
              <a:rPr lang="zh-CN" altLang="en-US" noProof="0" dirty="0"/>
              <a:t>第二级</a:t>
            </a:r>
            <a:endParaRPr lang="zh-CN" altLang="en-US" noProof="0" dirty="0"/>
          </a:p>
          <a:p>
            <a:pPr lvl="2"/>
            <a:r>
              <a:rPr lang="zh-CN" altLang="en-US" noProof="0" dirty="0"/>
              <a:t>第三级</a:t>
            </a:r>
            <a:endParaRPr lang="zh-CN" altLang="en-US" noProof="0" dirty="0"/>
          </a:p>
          <a:p>
            <a:pPr lvl="3"/>
            <a:r>
              <a:rPr lang="zh-CN" altLang="en-US" noProof="0" dirty="0"/>
              <a:t>第四级</a:t>
            </a:r>
            <a:endParaRPr lang="zh-CN" altLang="en-US" noProof="0" dirty="0"/>
          </a:p>
          <a:p>
            <a:pPr lvl="4"/>
            <a:r>
              <a:rPr lang="zh-CN" altLang="en-US" noProof="0" dirty="0"/>
              <a:t>第五级</a:t>
            </a:r>
            <a:endParaRPr lang="zh-CN" altLang="en-US" noProof="0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印品黑体" panose="00000500000000000000" pitchFamily="2" charset="-122"/>
              </a:defRPr>
            </a:lvl1pPr>
          </a:lstStyle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1pPr>
    <a:lvl2pPr marL="4559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2pPr>
    <a:lvl3pPr marL="9131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3pPr>
    <a:lvl4pPr marL="13703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4pPr>
    <a:lvl5pPr marL="18275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5pPr>
    <a:lvl6pPr marL="22853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27425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36569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25" y="635"/>
            <a:ext cx="12849225" cy="72320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270"/>
            <a:ext cx="12858750" cy="723138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2791" y="4984477"/>
            <a:ext cx="3161905" cy="6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25119" y="4804672"/>
            <a:ext cx="3161905" cy="6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17207" y="5282442"/>
            <a:ext cx="3161905" cy="619048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88582" y="4804672"/>
            <a:ext cx="3161905" cy="619048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621338" y="5337044"/>
            <a:ext cx="3161905" cy="619048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991155" y="4781605"/>
            <a:ext cx="3161905" cy="619048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20821" y="5346680"/>
            <a:ext cx="3161905" cy="619048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12692" y="4781605"/>
            <a:ext cx="3161905" cy="619048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88582" y="1366761"/>
            <a:ext cx="3161905" cy="619048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75773" y="1359987"/>
            <a:ext cx="3161905" cy="619048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84039" y="1359987"/>
            <a:ext cx="1580953" cy="619048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43501" y="4781605"/>
            <a:ext cx="764270" cy="619048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59461" y="1262924"/>
            <a:ext cx="860873" cy="619048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560390" y="1354452"/>
            <a:ext cx="356817" cy="61904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017"/>
            <a:ext cx="12858750" cy="728535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2791" y="1528093"/>
            <a:ext cx="2857143" cy="141904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77047" y="1518648"/>
            <a:ext cx="2857143" cy="141904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09175" y="1528093"/>
            <a:ext cx="2857143" cy="14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65679" y="1600101"/>
            <a:ext cx="2857143" cy="14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12751" y="4624437"/>
            <a:ext cx="2857143" cy="1419048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69135" y="4407232"/>
            <a:ext cx="2857143" cy="1419048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96947" y="4416677"/>
            <a:ext cx="2857143" cy="1419048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37687" y="4474217"/>
            <a:ext cx="2857143" cy="14190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箭头: V 形 3"/>
          <p:cNvSpPr/>
          <p:nvPr userDrawn="1"/>
        </p:nvSpPr>
        <p:spPr>
          <a:xfrm>
            <a:off x="435610" y="224155"/>
            <a:ext cx="405130" cy="405130"/>
          </a:xfrm>
          <a:prstGeom prst="chevron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6" name="等腰三角形 75"/>
          <p:cNvSpPr/>
          <p:nvPr userDrawn="1"/>
        </p:nvSpPr>
        <p:spPr>
          <a:xfrm rot="5400000">
            <a:off x="-146685" y="156845"/>
            <a:ext cx="852805" cy="540385"/>
          </a:xfrm>
          <a:prstGeom prst="triangle">
            <a:avLst/>
          </a:prstGeom>
          <a:solidFill>
            <a:srgbClr val="0767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3" name="组合 12"/>
          <p:cNvGrpSpPr/>
          <p:nvPr userDrawn="1"/>
        </p:nvGrpSpPr>
        <p:grpSpPr>
          <a:xfrm>
            <a:off x="16656" y="5177155"/>
            <a:ext cx="752744" cy="2098793"/>
            <a:chOff x="13891297" y="2075351"/>
            <a:chExt cx="1066248" cy="2972900"/>
          </a:xfrm>
        </p:grpSpPr>
        <p:sp>
          <p:nvSpPr>
            <p:cNvPr id="14" name="椭圆 13"/>
            <p:cNvSpPr/>
            <p:nvPr/>
          </p:nvSpPr>
          <p:spPr>
            <a:xfrm>
              <a:off x="13891297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/>
            <p:cNvSpPr/>
            <p:nvPr/>
          </p:nvSpPr>
          <p:spPr>
            <a:xfrm>
              <a:off x="14142396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/>
            <p:cNvSpPr/>
            <p:nvPr/>
          </p:nvSpPr>
          <p:spPr>
            <a:xfrm>
              <a:off x="14393495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/>
          </p:nvSpPr>
          <p:spPr>
            <a:xfrm>
              <a:off x="14644594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/>
            <p:cNvSpPr/>
            <p:nvPr/>
          </p:nvSpPr>
          <p:spPr>
            <a:xfrm>
              <a:off x="14895693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/>
          </p:nvSpPr>
          <p:spPr>
            <a:xfrm>
              <a:off x="13891297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椭圆 19"/>
            <p:cNvSpPr/>
            <p:nvPr/>
          </p:nvSpPr>
          <p:spPr>
            <a:xfrm>
              <a:off x="14142396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椭圆 20"/>
            <p:cNvSpPr/>
            <p:nvPr/>
          </p:nvSpPr>
          <p:spPr>
            <a:xfrm>
              <a:off x="14393495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/>
            <p:cNvSpPr/>
            <p:nvPr/>
          </p:nvSpPr>
          <p:spPr>
            <a:xfrm>
              <a:off x="14644594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椭圆 22"/>
            <p:cNvSpPr/>
            <p:nvPr/>
          </p:nvSpPr>
          <p:spPr>
            <a:xfrm>
              <a:off x="14895693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椭圆 23"/>
            <p:cNvSpPr/>
            <p:nvPr/>
          </p:nvSpPr>
          <p:spPr>
            <a:xfrm>
              <a:off x="13891297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椭圆 24"/>
            <p:cNvSpPr/>
            <p:nvPr/>
          </p:nvSpPr>
          <p:spPr>
            <a:xfrm>
              <a:off x="14142396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椭圆 25"/>
            <p:cNvSpPr/>
            <p:nvPr/>
          </p:nvSpPr>
          <p:spPr>
            <a:xfrm>
              <a:off x="14393495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椭圆 26"/>
            <p:cNvSpPr/>
            <p:nvPr/>
          </p:nvSpPr>
          <p:spPr>
            <a:xfrm>
              <a:off x="14644594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椭圆 27"/>
            <p:cNvSpPr/>
            <p:nvPr/>
          </p:nvSpPr>
          <p:spPr>
            <a:xfrm>
              <a:off x="14895693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椭圆 28"/>
            <p:cNvSpPr/>
            <p:nvPr/>
          </p:nvSpPr>
          <p:spPr>
            <a:xfrm>
              <a:off x="13891297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椭圆 29"/>
            <p:cNvSpPr/>
            <p:nvPr/>
          </p:nvSpPr>
          <p:spPr>
            <a:xfrm>
              <a:off x="14142396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椭圆 30"/>
            <p:cNvSpPr/>
            <p:nvPr/>
          </p:nvSpPr>
          <p:spPr>
            <a:xfrm>
              <a:off x="14393495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椭圆 31"/>
            <p:cNvSpPr/>
            <p:nvPr/>
          </p:nvSpPr>
          <p:spPr>
            <a:xfrm>
              <a:off x="14644594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椭圆 32"/>
            <p:cNvSpPr/>
            <p:nvPr/>
          </p:nvSpPr>
          <p:spPr>
            <a:xfrm>
              <a:off x="14895693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椭圆 33"/>
            <p:cNvSpPr/>
            <p:nvPr/>
          </p:nvSpPr>
          <p:spPr>
            <a:xfrm>
              <a:off x="13891297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椭圆 34"/>
            <p:cNvSpPr/>
            <p:nvPr/>
          </p:nvSpPr>
          <p:spPr>
            <a:xfrm>
              <a:off x="14142396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椭圆 35"/>
            <p:cNvSpPr/>
            <p:nvPr/>
          </p:nvSpPr>
          <p:spPr>
            <a:xfrm>
              <a:off x="14393495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椭圆 36"/>
            <p:cNvSpPr/>
            <p:nvPr/>
          </p:nvSpPr>
          <p:spPr>
            <a:xfrm>
              <a:off x="14644594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椭圆 37"/>
            <p:cNvSpPr/>
            <p:nvPr/>
          </p:nvSpPr>
          <p:spPr>
            <a:xfrm>
              <a:off x="14895693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椭圆 38"/>
            <p:cNvSpPr/>
            <p:nvPr/>
          </p:nvSpPr>
          <p:spPr>
            <a:xfrm>
              <a:off x="13891297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椭圆 39"/>
            <p:cNvSpPr/>
            <p:nvPr/>
          </p:nvSpPr>
          <p:spPr>
            <a:xfrm>
              <a:off x="14142396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椭圆 40"/>
            <p:cNvSpPr/>
            <p:nvPr/>
          </p:nvSpPr>
          <p:spPr>
            <a:xfrm>
              <a:off x="14393495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椭圆 41"/>
            <p:cNvSpPr/>
            <p:nvPr/>
          </p:nvSpPr>
          <p:spPr>
            <a:xfrm>
              <a:off x="14644594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椭圆 42"/>
            <p:cNvSpPr/>
            <p:nvPr/>
          </p:nvSpPr>
          <p:spPr>
            <a:xfrm>
              <a:off x="14895693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椭圆 43"/>
            <p:cNvSpPr/>
            <p:nvPr/>
          </p:nvSpPr>
          <p:spPr>
            <a:xfrm>
              <a:off x="13891297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椭圆 44"/>
            <p:cNvSpPr/>
            <p:nvPr/>
          </p:nvSpPr>
          <p:spPr>
            <a:xfrm>
              <a:off x="14142396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椭圆 45"/>
            <p:cNvSpPr/>
            <p:nvPr/>
          </p:nvSpPr>
          <p:spPr>
            <a:xfrm>
              <a:off x="14393495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椭圆 46"/>
            <p:cNvSpPr/>
            <p:nvPr/>
          </p:nvSpPr>
          <p:spPr>
            <a:xfrm>
              <a:off x="14644594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椭圆 47"/>
            <p:cNvSpPr/>
            <p:nvPr/>
          </p:nvSpPr>
          <p:spPr>
            <a:xfrm>
              <a:off x="14895693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椭圆 48"/>
            <p:cNvSpPr/>
            <p:nvPr/>
          </p:nvSpPr>
          <p:spPr>
            <a:xfrm>
              <a:off x="13891297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椭圆 49"/>
            <p:cNvSpPr/>
            <p:nvPr/>
          </p:nvSpPr>
          <p:spPr>
            <a:xfrm>
              <a:off x="14142396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椭圆 50"/>
            <p:cNvSpPr/>
            <p:nvPr/>
          </p:nvSpPr>
          <p:spPr>
            <a:xfrm>
              <a:off x="14393495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椭圆 51"/>
            <p:cNvSpPr/>
            <p:nvPr/>
          </p:nvSpPr>
          <p:spPr>
            <a:xfrm>
              <a:off x="14644594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椭圆 52"/>
            <p:cNvSpPr/>
            <p:nvPr/>
          </p:nvSpPr>
          <p:spPr>
            <a:xfrm>
              <a:off x="14895693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椭圆 53"/>
            <p:cNvSpPr/>
            <p:nvPr/>
          </p:nvSpPr>
          <p:spPr>
            <a:xfrm>
              <a:off x="13891297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椭圆 54"/>
            <p:cNvSpPr/>
            <p:nvPr/>
          </p:nvSpPr>
          <p:spPr>
            <a:xfrm>
              <a:off x="14142396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椭圆 55"/>
            <p:cNvSpPr/>
            <p:nvPr/>
          </p:nvSpPr>
          <p:spPr>
            <a:xfrm>
              <a:off x="14393495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椭圆 56"/>
            <p:cNvSpPr/>
            <p:nvPr/>
          </p:nvSpPr>
          <p:spPr>
            <a:xfrm>
              <a:off x="14644594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椭圆 57"/>
            <p:cNvSpPr/>
            <p:nvPr/>
          </p:nvSpPr>
          <p:spPr>
            <a:xfrm>
              <a:off x="14895693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椭圆 58"/>
            <p:cNvSpPr/>
            <p:nvPr/>
          </p:nvSpPr>
          <p:spPr>
            <a:xfrm>
              <a:off x="13891297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椭圆 59"/>
            <p:cNvSpPr/>
            <p:nvPr/>
          </p:nvSpPr>
          <p:spPr>
            <a:xfrm>
              <a:off x="14142396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椭圆 60"/>
            <p:cNvSpPr/>
            <p:nvPr/>
          </p:nvSpPr>
          <p:spPr>
            <a:xfrm>
              <a:off x="14393495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椭圆 61"/>
            <p:cNvSpPr/>
            <p:nvPr/>
          </p:nvSpPr>
          <p:spPr>
            <a:xfrm>
              <a:off x="14644594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椭圆 62"/>
            <p:cNvSpPr/>
            <p:nvPr/>
          </p:nvSpPr>
          <p:spPr>
            <a:xfrm>
              <a:off x="14895693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椭圆 63"/>
            <p:cNvSpPr/>
            <p:nvPr/>
          </p:nvSpPr>
          <p:spPr>
            <a:xfrm>
              <a:off x="13891297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椭圆 64"/>
            <p:cNvSpPr/>
            <p:nvPr/>
          </p:nvSpPr>
          <p:spPr>
            <a:xfrm>
              <a:off x="14142396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椭圆 65"/>
            <p:cNvSpPr/>
            <p:nvPr/>
          </p:nvSpPr>
          <p:spPr>
            <a:xfrm>
              <a:off x="14393495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椭圆 66"/>
            <p:cNvSpPr/>
            <p:nvPr/>
          </p:nvSpPr>
          <p:spPr>
            <a:xfrm>
              <a:off x="14644594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椭圆 67"/>
            <p:cNvSpPr/>
            <p:nvPr/>
          </p:nvSpPr>
          <p:spPr>
            <a:xfrm>
              <a:off x="14895693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椭圆 68"/>
            <p:cNvSpPr/>
            <p:nvPr/>
          </p:nvSpPr>
          <p:spPr>
            <a:xfrm>
              <a:off x="13891297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椭圆 69"/>
            <p:cNvSpPr/>
            <p:nvPr/>
          </p:nvSpPr>
          <p:spPr>
            <a:xfrm>
              <a:off x="14142396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椭圆 70"/>
            <p:cNvSpPr/>
            <p:nvPr/>
          </p:nvSpPr>
          <p:spPr>
            <a:xfrm>
              <a:off x="14393495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椭圆 71"/>
            <p:cNvSpPr/>
            <p:nvPr/>
          </p:nvSpPr>
          <p:spPr>
            <a:xfrm>
              <a:off x="14644594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椭圆 72"/>
            <p:cNvSpPr/>
            <p:nvPr/>
          </p:nvSpPr>
          <p:spPr>
            <a:xfrm>
              <a:off x="14895693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椭圆 73"/>
            <p:cNvSpPr/>
            <p:nvPr/>
          </p:nvSpPr>
          <p:spPr>
            <a:xfrm>
              <a:off x="13891297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椭圆 80"/>
            <p:cNvSpPr/>
            <p:nvPr/>
          </p:nvSpPr>
          <p:spPr>
            <a:xfrm>
              <a:off x="14142396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椭圆 81"/>
            <p:cNvSpPr/>
            <p:nvPr/>
          </p:nvSpPr>
          <p:spPr>
            <a:xfrm>
              <a:off x="14393495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" name="椭圆 82"/>
            <p:cNvSpPr/>
            <p:nvPr/>
          </p:nvSpPr>
          <p:spPr>
            <a:xfrm>
              <a:off x="14644594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" name="椭圆 83"/>
            <p:cNvSpPr/>
            <p:nvPr/>
          </p:nvSpPr>
          <p:spPr>
            <a:xfrm>
              <a:off x="14895693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5" name="矩形 134"/>
          <p:cNvSpPr/>
          <p:nvPr userDrawn="1"/>
        </p:nvSpPr>
        <p:spPr>
          <a:xfrm>
            <a:off x="635" y="7160260"/>
            <a:ext cx="12858750" cy="87630"/>
          </a:xfrm>
          <a:prstGeom prst="rect">
            <a:avLst/>
          </a:prstGeom>
          <a:solidFill>
            <a:srgbClr val="0767A3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3475" y="1461770"/>
            <a:ext cx="1497330" cy="1257935"/>
          </a:xfrm>
          <a:prstGeom prst="rect">
            <a:avLst/>
          </a:prstGeom>
        </p:spPr>
      </p:pic>
      <p:pic>
        <p:nvPicPr>
          <p:cNvPr id="77" name="图片 7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73215" y="1393190"/>
            <a:ext cx="1497330" cy="1257935"/>
          </a:xfrm>
          <a:prstGeom prst="rect">
            <a:avLst/>
          </a:prstGeom>
        </p:spPr>
      </p:pic>
      <p:pic>
        <p:nvPicPr>
          <p:cNvPr id="78" name="图片 77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66845" y="1461770"/>
            <a:ext cx="1497330" cy="1257935"/>
          </a:xfrm>
          <a:prstGeom prst="rect">
            <a:avLst/>
          </a:prstGeom>
        </p:spPr>
      </p:pic>
      <p:pic>
        <p:nvPicPr>
          <p:cNvPr id="79" name="图片 78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66020" y="1290955"/>
            <a:ext cx="1497330" cy="1257935"/>
          </a:xfrm>
          <a:prstGeom prst="rect">
            <a:avLst/>
          </a:prstGeom>
        </p:spPr>
      </p:pic>
      <p:pic>
        <p:nvPicPr>
          <p:cNvPr id="80" name="图片 79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371600" y="4476750"/>
            <a:ext cx="1497330" cy="1257935"/>
          </a:xfrm>
          <a:prstGeom prst="rect">
            <a:avLst/>
          </a:prstGeom>
        </p:spPr>
      </p:pic>
      <p:pic>
        <p:nvPicPr>
          <p:cNvPr id="85" name="图片 84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12280" y="4305300"/>
            <a:ext cx="1497330" cy="1257935"/>
          </a:xfrm>
          <a:prstGeom prst="rect">
            <a:avLst/>
          </a:prstGeom>
        </p:spPr>
      </p:pic>
      <p:pic>
        <p:nvPicPr>
          <p:cNvPr id="86" name="图片 85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66845" y="4305300"/>
            <a:ext cx="1497330" cy="1257935"/>
          </a:xfrm>
          <a:prstGeom prst="rect">
            <a:avLst/>
          </a:prstGeom>
        </p:spPr>
      </p:pic>
      <p:pic>
        <p:nvPicPr>
          <p:cNvPr id="87" name="图片 8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66020" y="4305300"/>
            <a:ext cx="1497330" cy="1257935"/>
          </a:xfrm>
          <a:prstGeom prst="rect">
            <a:avLst/>
          </a:prstGeom>
        </p:spPr>
      </p:pic>
      <p:sp>
        <p:nvSpPr>
          <p:cNvPr id="4" name="任意多边形: 形状 50"/>
          <p:cNvSpPr/>
          <p:nvPr userDrawn="1"/>
        </p:nvSpPr>
        <p:spPr>
          <a:xfrm rot="18932100">
            <a:off x="9102985" y="1473268"/>
            <a:ext cx="1159449" cy="1159449"/>
          </a:xfrm>
          <a:custGeom>
            <a:avLst/>
            <a:gdLst>
              <a:gd name="connsiteX0" fmla="*/ 638672 w 2160240"/>
              <a:gd name="connsiteY0" fmla="*/ 411048 h 2160240"/>
              <a:gd name="connsiteX1" fmla="*/ 417942 w 2160240"/>
              <a:gd name="connsiteY1" fmla="*/ 631778 h 2160240"/>
              <a:gd name="connsiteX2" fmla="*/ 417942 w 2160240"/>
              <a:gd name="connsiteY2" fmla="*/ 1514674 h 2160240"/>
              <a:gd name="connsiteX3" fmla="*/ 638672 w 2160240"/>
              <a:gd name="connsiteY3" fmla="*/ 1735404 h 2160240"/>
              <a:gd name="connsiteX4" fmla="*/ 1521568 w 2160240"/>
              <a:gd name="connsiteY4" fmla="*/ 1735404 h 2160240"/>
              <a:gd name="connsiteX5" fmla="*/ 1742298 w 2160240"/>
              <a:gd name="connsiteY5" fmla="*/ 1514674 h 2160240"/>
              <a:gd name="connsiteX6" fmla="*/ 1742298 w 2160240"/>
              <a:gd name="connsiteY6" fmla="*/ 631778 h 2160240"/>
              <a:gd name="connsiteX7" fmla="*/ 1521568 w 2160240"/>
              <a:gd name="connsiteY7" fmla="*/ 411048 h 2160240"/>
              <a:gd name="connsiteX8" fmla="*/ 360047 w 2160240"/>
              <a:gd name="connsiteY8" fmla="*/ 0 h 2160240"/>
              <a:gd name="connsiteX9" fmla="*/ 1800193 w 2160240"/>
              <a:gd name="connsiteY9" fmla="*/ 0 h 2160240"/>
              <a:gd name="connsiteX10" fmla="*/ 2160240 w 2160240"/>
              <a:gd name="connsiteY10" fmla="*/ 360047 h 2160240"/>
              <a:gd name="connsiteX11" fmla="*/ 2160240 w 2160240"/>
              <a:gd name="connsiteY11" fmla="*/ 1800193 h 2160240"/>
              <a:gd name="connsiteX12" fmla="*/ 1800193 w 2160240"/>
              <a:gd name="connsiteY12" fmla="*/ 2160240 h 2160240"/>
              <a:gd name="connsiteX13" fmla="*/ 360047 w 2160240"/>
              <a:gd name="connsiteY13" fmla="*/ 2160240 h 2160240"/>
              <a:gd name="connsiteX14" fmla="*/ 0 w 2160240"/>
              <a:gd name="connsiteY14" fmla="*/ 1800193 h 2160240"/>
              <a:gd name="connsiteX15" fmla="*/ 0 w 2160240"/>
              <a:gd name="connsiteY15" fmla="*/ 360047 h 2160240"/>
              <a:gd name="connsiteX16" fmla="*/ 360047 w 2160240"/>
              <a:gd name="connsiteY16" fmla="*/ 0 h 216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240" h="2160240">
                <a:moveTo>
                  <a:pt x="638672" y="411048"/>
                </a:moveTo>
                <a:cubicBezTo>
                  <a:pt x="516766" y="411048"/>
                  <a:pt x="417942" y="509872"/>
                  <a:pt x="417942" y="631778"/>
                </a:cubicBezTo>
                <a:lnTo>
                  <a:pt x="417942" y="1514674"/>
                </a:lnTo>
                <a:cubicBezTo>
                  <a:pt x="417942" y="1636580"/>
                  <a:pt x="516766" y="1735404"/>
                  <a:pt x="638672" y="1735404"/>
                </a:cubicBezTo>
                <a:lnTo>
                  <a:pt x="1521568" y="1735404"/>
                </a:lnTo>
                <a:cubicBezTo>
                  <a:pt x="1643474" y="1735404"/>
                  <a:pt x="1742298" y="1636580"/>
                  <a:pt x="1742298" y="1514674"/>
                </a:cubicBezTo>
                <a:lnTo>
                  <a:pt x="1742298" y="631778"/>
                </a:lnTo>
                <a:cubicBezTo>
                  <a:pt x="1742298" y="509872"/>
                  <a:pt x="1643474" y="411048"/>
                  <a:pt x="1521568" y="411048"/>
                </a:cubicBezTo>
                <a:close/>
                <a:moveTo>
                  <a:pt x="360047" y="0"/>
                </a:moveTo>
                <a:lnTo>
                  <a:pt x="1800193" y="0"/>
                </a:lnTo>
                <a:cubicBezTo>
                  <a:pt x="1999041" y="0"/>
                  <a:pt x="2160240" y="161199"/>
                  <a:pt x="2160240" y="360047"/>
                </a:cubicBezTo>
                <a:lnTo>
                  <a:pt x="2160240" y="1800193"/>
                </a:lnTo>
                <a:cubicBezTo>
                  <a:pt x="2160240" y="1999041"/>
                  <a:pt x="1999041" y="2160240"/>
                  <a:pt x="1800193" y="2160240"/>
                </a:cubicBezTo>
                <a:lnTo>
                  <a:pt x="360047" y="2160240"/>
                </a:lnTo>
                <a:cubicBezTo>
                  <a:pt x="161199" y="2160240"/>
                  <a:pt x="0" y="1999041"/>
                  <a:pt x="0" y="1800193"/>
                </a:cubicBezTo>
                <a:lnTo>
                  <a:pt x="0" y="360047"/>
                </a:lnTo>
                <a:cubicBezTo>
                  <a:pt x="0" y="161199"/>
                  <a:pt x="161199" y="0"/>
                  <a:pt x="360047" y="0"/>
                </a:cubicBezTo>
                <a:close/>
              </a:path>
            </a:pathLst>
          </a:custGeom>
          <a:solidFill>
            <a:srgbClr val="0767A3">
              <a:alpha val="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任意多边形: 形状 51"/>
          <p:cNvSpPr/>
          <p:nvPr userDrawn="1"/>
        </p:nvSpPr>
        <p:spPr>
          <a:xfrm rot="18958199">
            <a:off x="10136715" y="3266146"/>
            <a:ext cx="462942" cy="462942"/>
          </a:xfrm>
          <a:custGeom>
            <a:avLst/>
            <a:gdLst>
              <a:gd name="connsiteX0" fmla="*/ 638672 w 2160240"/>
              <a:gd name="connsiteY0" fmla="*/ 411048 h 2160240"/>
              <a:gd name="connsiteX1" fmla="*/ 417942 w 2160240"/>
              <a:gd name="connsiteY1" fmla="*/ 631778 h 2160240"/>
              <a:gd name="connsiteX2" fmla="*/ 417942 w 2160240"/>
              <a:gd name="connsiteY2" fmla="*/ 1514674 h 2160240"/>
              <a:gd name="connsiteX3" fmla="*/ 638672 w 2160240"/>
              <a:gd name="connsiteY3" fmla="*/ 1735404 h 2160240"/>
              <a:gd name="connsiteX4" fmla="*/ 1521568 w 2160240"/>
              <a:gd name="connsiteY4" fmla="*/ 1735404 h 2160240"/>
              <a:gd name="connsiteX5" fmla="*/ 1742298 w 2160240"/>
              <a:gd name="connsiteY5" fmla="*/ 1514674 h 2160240"/>
              <a:gd name="connsiteX6" fmla="*/ 1742298 w 2160240"/>
              <a:gd name="connsiteY6" fmla="*/ 631778 h 2160240"/>
              <a:gd name="connsiteX7" fmla="*/ 1521568 w 2160240"/>
              <a:gd name="connsiteY7" fmla="*/ 411048 h 2160240"/>
              <a:gd name="connsiteX8" fmla="*/ 360047 w 2160240"/>
              <a:gd name="connsiteY8" fmla="*/ 0 h 2160240"/>
              <a:gd name="connsiteX9" fmla="*/ 1800193 w 2160240"/>
              <a:gd name="connsiteY9" fmla="*/ 0 h 2160240"/>
              <a:gd name="connsiteX10" fmla="*/ 2160240 w 2160240"/>
              <a:gd name="connsiteY10" fmla="*/ 360047 h 2160240"/>
              <a:gd name="connsiteX11" fmla="*/ 2160240 w 2160240"/>
              <a:gd name="connsiteY11" fmla="*/ 1800193 h 2160240"/>
              <a:gd name="connsiteX12" fmla="*/ 1800193 w 2160240"/>
              <a:gd name="connsiteY12" fmla="*/ 2160240 h 2160240"/>
              <a:gd name="connsiteX13" fmla="*/ 360047 w 2160240"/>
              <a:gd name="connsiteY13" fmla="*/ 2160240 h 2160240"/>
              <a:gd name="connsiteX14" fmla="*/ 0 w 2160240"/>
              <a:gd name="connsiteY14" fmla="*/ 1800193 h 2160240"/>
              <a:gd name="connsiteX15" fmla="*/ 0 w 2160240"/>
              <a:gd name="connsiteY15" fmla="*/ 360047 h 2160240"/>
              <a:gd name="connsiteX16" fmla="*/ 360047 w 2160240"/>
              <a:gd name="connsiteY16" fmla="*/ 0 h 216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240" h="2160240">
                <a:moveTo>
                  <a:pt x="638672" y="411048"/>
                </a:moveTo>
                <a:cubicBezTo>
                  <a:pt x="516766" y="411048"/>
                  <a:pt x="417942" y="509872"/>
                  <a:pt x="417942" y="631778"/>
                </a:cubicBezTo>
                <a:lnTo>
                  <a:pt x="417942" y="1514674"/>
                </a:lnTo>
                <a:cubicBezTo>
                  <a:pt x="417942" y="1636580"/>
                  <a:pt x="516766" y="1735404"/>
                  <a:pt x="638672" y="1735404"/>
                </a:cubicBezTo>
                <a:lnTo>
                  <a:pt x="1521568" y="1735404"/>
                </a:lnTo>
                <a:cubicBezTo>
                  <a:pt x="1643474" y="1735404"/>
                  <a:pt x="1742298" y="1636580"/>
                  <a:pt x="1742298" y="1514674"/>
                </a:cubicBezTo>
                <a:lnTo>
                  <a:pt x="1742298" y="631778"/>
                </a:lnTo>
                <a:cubicBezTo>
                  <a:pt x="1742298" y="509872"/>
                  <a:pt x="1643474" y="411048"/>
                  <a:pt x="1521568" y="411048"/>
                </a:cubicBezTo>
                <a:close/>
                <a:moveTo>
                  <a:pt x="360047" y="0"/>
                </a:moveTo>
                <a:lnTo>
                  <a:pt x="1800193" y="0"/>
                </a:lnTo>
                <a:cubicBezTo>
                  <a:pt x="1999041" y="0"/>
                  <a:pt x="2160240" y="161199"/>
                  <a:pt x="2160240" y="360047"/>
                </a:cubicBezTo>
                <a:lnTo>
                  <a:pt x="2160240" y="1800193"/>
                </a:lnTo>
                <a:cubicBezTo>
                  <a:pt x="2160240" y="1999041"/>
                  <a:pt x="1999041" y="2160240"/>
                  <a:pt x="1800193" y="2160240"/>
                </a:cubicBezTo>
                <a:lnTo>
                  <a:pt x="360047" y="2160240"/>
                </a:lnTo>
                <a:cubicBezTo>
                  <a:pt x="161199" y="2160240"/>
                  <a:pt x="0" y="1999041"/>
                  <a:pt x="0" y="1800193"/>
                </a:cubicBezTo>
                <a:lnTo>
                  <a:pt x="0" y="360047"/>
                </a:lnTo>
                <a:cubicBezTo>
                  <a:pt x="0" y="161199"/>
                  <a:pt x="161199" y="0"/>
                  <a:pt x="360047" y="0"/>
                </a:cubicBezTo>
                <a:close/>
              </a:path>
            </a:pathLst>
          </a:custGeom>
          <a:solidFill>
            <a:srgbClr val="FFC00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文本框 1"/>
          <p:cNvSpPr txBox="1"/>
          <p:nvPr userDrawn="1"/>
        </p:nvSpPr>
        <p:spPr>
          <a:xfrm>
            <a:off x="3907790" y="2265045"/>
            <a:ext cx="503745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7200" b="1" dirty="0">
                <a:solidFill>
                  <a:srgbClr val="06619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 You!</a:t>
            </a:r>
            <a:endParaRPr lang="en-US" altLang="zh-CN" sz="7200" b="1" dirty="0">
              <a:solidFill>
                <a:srgbClr val="06619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9" name="直接连接符 88"/>
          <p:cNvCxnSpPr/>
          <p:nvPr userDrawn="1"/>
        </p:nvCxnSpPr>
        <p:spPr>
          <a:xfrm>
            <a:off x="3900805" y="3392170"/>
            <a:ext cx="5051425" cy="0"/>
          </a:xfrm>
          <a:prstGeom prst="line">
            <a:avLst/>
          </a:prstGeom>
          <a:ln>
            <a:solidFill>
              <a:srgbClr val="53535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0" name="文本框 6"/>
          <p:cNvSpPr txBox="1"/>
          <p:nvPr userDrawn="1"/>
        </p:nvSpPr>
        <p:spPr>
          <a:xfrm>
            <a:off x="4038600" y="3468370"/>
            <a:ext cx="477583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45" algn="dist" eaLnBrk="1" latinLnBrk="0" hangingPunct="1"/>
            <a:r>
              <a:rPr lang="zh-CN" altLang="en-US" sz="3200">
                <a:solidFill>
                  <a:schemeClr val="accent4">
                    <a:lumMod val="50000"/>
                  </a:schemeClr>
                </a:solidFill>
                <a:latin typeface="字魂73号-江南手书" panose="00000500000000000000" charset="-122"/>
                <a:ea typeface="字魂73号-江南手书" panose="00000500000000000000" charset="-122"/>
                <a:cs typeface="字魂73号-江南手书" panose="00000500000000000000" charset="-122"/>
              </a:rPr>
              <a:t>力学笃行  志存高远</a:t>
            </a:r>
            <a:endParaRPr lang="zh-CN" altLang="en-US" sz="3200">
              <a:solidFill>
                <a:schemeClr val="accent4">
                  <a:lumMod val="50000"/>
                </a:schemeClr>
              </a:solidFill>
              <a:latin typeface="字魂73号-江南手书" panose="00000500000000000000" charset="-122"/>
              <a:ea typeface="字魂73号-江南手书" panose="00000500000000000000" charset="-122"/>
              <a:cs typeface="字魂73号-江南手书" panose="00000500000000000000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3729" y="4375800"/>
            <a:ext cx="2857143" cy="141904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816072" y="4410145"/>
            <a:ext cx="2857143" cy="14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92013" y="4278768"/>
            <a:ext cx="2857143" cy="14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65679" y="4238224"/>
            <a:ext cx="2857143" cy="1419048"/>
          </a:xfrm>
          <a:prstGeom prst="rect">
            <a:avLst/>
          </a:prstGeom>
        </p:spPr>
      </p:pic>
      <p:pic>
        <p:nvPicPr>
          <p:cNvPr id="92" name="图片 9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66302" y="1013956"/>
            <a:ext cx="2857143" cy="1419048"/>
          </a:xfrm>
          <a:prstGeom prst="rect">
            <a:avLst/>
          </a:prstGeom>
        </p:spPr>
      </p:pic>
      <p:pic>
        <p:nvPicPr>
          <p:cNvPr id="94" name="图片 9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069" y="1173658"/>
            <a:ext cx="2857143" cy="1419048"/>
          </a:xfrm>
          <a:prstGeom prst="rect">
            <a:avLst/>
          </a:prstGeom>
        </p:spPr>
      </p:pic>
      <p:pic>
        <p:nvPicPr>
          <p:cNvPr id="128" name="图片 12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877818" y="1024383"/>
            <a:ext cx="2857143" cy="1419048"/>
          </a:xfrm>
          <a:prstGeom prst="rect">
            <a:avLst/>
          </a:prstGeom>
        </p:spPr>
      </p:pic>
      <p:pic>
        <p:nvPicPr>
          <p:cNvPr id="130" name="图片 12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957292" y="995663"/>
            <a:ext cx="2857143" cy="141904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4039" y="6703595"/>
            <a:ext cx="2893219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fld id="{32BF82D2-7A68-459D-A996-9BDDA2518FA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59461" y="6703595"/>
            <a:ext cx="4339828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81492" y="6703595"/>
            <a:ext cx="2893219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fld id="{3E01EE5D-26FB-46D5-A381-ECFB35BF1D34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64565" rtl="0" eaLnBrk="1" latinLnBrk="0" hangingPunct="1">
        <a:lnSpc>
          <a:spcPct val="90000"/>
        </a:lnSpc>
        <a:spcBef>
          <a:spcPct val="0"/>
        </a:spcBef>
        <a:buNone/>
        <a:defRPr sz="4640" kern="1200">
          <a:solidFill>
            <a:schemeClr val="tx1"/>
          </a:solidFill>
          <a:latin typeface="印品黑体" panose="00000500000000000000" pitchFamily="2" charset="-122"/>
          <a:ea typeface="+mj-ea"/>
          <a:cs typeface="+mj-cs"/>
        </a:defRPr>
      </a:lvl1pPr>
    </p:titleStyle>
    <p:bodyStyle>
      <a:lvl1pPr marL="241300" indent="-241300" algn="l" defTabSz="964565" rtl="0" eaLnBrk="1" latinLnBrk="0" hangingPunct="1">
        <a:lnSpc>
          <a:spcPct val="90000"/>
        </a:lnSpc>
        <a:spcBef>
          <a:spcPts val="1055"/>
        </a:spcBef>
        <a:buFont typeface="Arial" panose="020B0604020202020204" pitchFamily="34" charset="0"/>
        <a:buChar char="•"/>
        <a:defRPr sz="2955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1pPr>
      <a:lvl2pPr marL="72326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53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2pPr>
      <a:lvl3pPr marL="120523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11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3pPr>
      <a:lvl4pPr marL="168783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4pPr>
      <a:lvl5pPr marL="216979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5pPr>
      <a:lvl6pPr marL="265176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313436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61632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409829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8196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6456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4653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2849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41109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9306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37502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5699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1.png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2.png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3.png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4.png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3.png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26.png"/><Relationship Id="rId2" Type="http://schemas.openxmlformats.org/officeDocument/2006/relationships/image" Target="../media/image24.png"/><Relationship Id="rId1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29.png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32.png"/><Relationship Id="rId1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7.xml"/><Relationship Id="rId6" Type="http://schemas.openxmlformats.org/officeDocument/2006/relationships/slideLayout" Target="../slideLayouts/slideLayout3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8.xml"/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39.png"/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684959" y="1498476"/>
            <a:ext cx="76060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JK</a:t>
            </a:r>
            <a:r>
              <a:rPr lang="zh-CN" altLang="en-US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en-US" altLang="zh-CN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</a:t>
            </a:r>
            <a:r>
              <a:rPr lang="zh-CN" altLang="en-US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en-US" altLang="zh-CN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</a:t>
            </a:r>
            <a:r>
              <a:rPr lang="zh-CN" altLang="en-US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触发器</a:t>
            </a:r>
            <a:endParaRPr lang="en-US" altLang="zh-CN" sz="5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6" name="TextBox 7"/>
          <p:cNvSpPr txBox="1"/>
          <p:nvPr/>
        </p:nvSpPr>
        <p:spPr>
          <a:xfrm>
            <a:off x="4125119" y="3456629"/>
            <a:ext cx="4968552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葛以伟</a:t>
            </a:r>
            <a:endParaRPr lang="en-US" altLang="zh-CN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81103" y="5272509"/>
            <a:ext cx="5582514" cy="1080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/>
        </p:nvSpPr>
        <p:spPr>
          <a:xfrm>
            <a:off x="710881" y="1646134"/>
            <a:ext cx="10749598" cy="4462058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数字电路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/>
        </p:nvSpPr>
        <p:spPr>
          <a:xfrm>
            <a:off x="884870" y="855626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solidFill>
                <a:srgbClr val="FF0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</a:t>
            </a:r>
            <a:r>
              <a:rPr lang="zh-CN" altLang="en-US" sz="2000" b="1" dirty="0">
                <a:solidFill>
                  <a:schemeClr val="bg1"/>
                </a:solidFill>
              </a:rPr>
              <a:t>新课导入</a:t>
            </a:r>
            <a:r>
              <a:rPr lang="zh-CN" altLang="en-US" sz="2000" b="1" dirty="0"/>
              <a:t>  </a:t>
            </a:r>
            <a:r>
              <a:rPr lang="zh-CN" altLang="en-US" b="1" dirty="0"/>
              <a:t>目标及重难点  新授 总结与合作探究  作业  限时检测</a:t>
            </a:r>
            <a:endParaRPr lang="zh-CN" altLang="en-US" b="1" dirty="0"/>
          </a:p>
        </p:txBody>
      </p:sp>
      <p:sp>
        <p:nvSpPr>
          <p:cNvPr id="2" name="箭头: 上 1"/>
          <p:cNvSpPr/>
          <p:nvPr/>
        </p:nvSpPr>
        <p:spPr>
          <a:xfrm>
            <a:off x="1460823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028775" y="1240061"/>
            <a:ext cx="3528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考纲要求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108895" y="2032149"/>
            <a:ext cx="9525574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ym typeface="+mn-ea"/>
              </a:rPr>
              <a:t>掌握</a:t>
            </a:r>
            <a:r>
              <a:rPr lang="en-US" altLang="zh-CN" sz="3200" b="1" dirty="0"/>
              <a:t>JK</a:t>
            </a:r>
            <a:r>
              <a:rPr lang="zh-CN" altLang="en-US" sz="3200" b="1" dirty="0"/>
              <a:t>触发器逻辑图、逻辑功能、真值表，并能由输入波形画出输出波形</a:t>
            </a:r>
            <a:endParaRPr lang="zh-CN" altLang="en-US" sz="32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/>
        </p:nvSpPr>
        <p:spPr>
          <a:xfrm>
            <a:off x="710880" y="2225952"/>
            <a:ext cx="10749598" cy="3882240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数字电路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</a:t>
            </a:r>
            <a:r>
              <a:rPr lang="zh-CN" altLang="en-US" sz="2000" b="1" dirty="0">
                <a:solidFill>
                  <a:schemeClr val="bg1"/>
                </a:solidFill>
              </a:rPr>
              <a:t>目标及重难点  </a:t>
            </a:r>
            <a:r>
              <a:rPr lang="zh-CN" altLang="en-US" b="1" dirty="0"/>
              <a:t>新授 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2756967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标题 3"/>
          <p:cNvSpPr>
            <a:spLocks noGrp="1"/>
          </p:cNvSpPr>
          <p:nvPr/>
        </p:nvSpPr>
        <p:spPr>
          <a:xfrm>
            <a:off x="2026555" y="2968253"/>
            <a:ext cx="2160240" cy="81407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lang="zh-CN" altLang="en-US" sz="4800" dirty="0"/>
              <a:t>目标：</a:t>
            </a:r>
            <a:endParaRPr lang="en-US" altLang="zh-CN" sz="4800" dirty="0"/>
          </a:p>
        </p:txBody>
      </p:sp>
      <p:sp>
        <p:nvSpPr>
          <p:cNvPr id="4" name="文本占位符 2"/>
          <p:cNvSpPr>
            <a:spLocks noGrp="1"/>
          </p:cNvSpPr>
          <p:nvPr/>
        </p:nvSpPr>
        <p:spPr>
          <a:xfrm>
            <a:off x="3909095" y="1262279"/>
            <a:ext cx="8136904" cy="398818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CN" sz="4000" dirty="0"/>
              <a:t>JK</a:t>
            </a:r>
            <a:r>
              <a:rPr lang="zh-CN" altLang="en-US" sz="4000" dirty="0"/>
              <a:t>触发器</a:t>
            </a:r>
            <a:endParaRPr lang="en-US" altLang="zh-CN" sz="40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4000" dirty="0">
                <a:sym typeface="+mn-ea"/>
              </a:rPr>
              <a:t>D</a:t>
            </a:r>
            <a:r>
              <a:rPr lang="zh-CN" altLang="en-US" sz="4000" dirty="0">
                <a:sym typeface="+mn-ea"/>
              </a:rPr>
              <a:t>触发器</a:t>
            </a:r>
            <a:endParaRPr lang="zh-CN" altLang="en-US" sz="4000" dirty="0">
              <a:sym typeface="+mn-ea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4000" dirty="0">
                <a:sym typeface="+mn-ea"/>
              </a:rPr>
              <a:t>T</a:t>
            </a:r>
            <a:r>
              <a:rPr lang="zh-CN" altLang="en-US" sz="4000" dirty="0">
                <a:sym typeface="+mn-ea"/>
              </a:rPr>
              <a:t>触发器</a:t>
            </a:r>
            <a:endParaRPr lang="en-US" altLang="zh-CN" sz="4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数字电路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41045" y="1269365"/>
            <a:ext cx="32639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</a:rPr>
              <a:t>1</a:t>
            </a:r>
            <a:r>
              <a:rPr lang="zh-CN" altLang="en-US" sz="2800" b="1" dirty="0">
                <a:solidFill>
                  <a:srgbClr val="FF0000"/>
                </a:solidFill>
              </a:rPr>
              <a:t>、电路结构</a:t>
            </a:r>
            <a:endParaRPr lang="en-US" altLang="zh-CN" dirty="0"/>
          </a:p>
        </p:txBody>
      </p:sp>
      <p:sp>
        <p:nvSpPr>
          <p:cNvPr id="6" name="文本框 5"/>
          <p:cNvSpPr txBox="1"/>
          <p:nvPr/>
        </p:nvSpPr>
        <p:spPr>
          <a:xfrm>
            <a:off x="810912" y="665738"/>
            <a:ext cx="590649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/>
              <a:t>一、主从</a:t>
            </a:r>
            <a:r>
              <a:rPr lang="en-US" altLang="zh-CN" sz="3600" b="1" dirty="0"/>
              <a:t>JK</a:t>
            </a:r>
            <a:r>
              <a:rPr lang="zh-CN" altLang="en-US" sz="3600" b="1" dirty="0"/>
              <a:t>触发器</a:t>
            </a:r>
            <a:endParaRPr lang="zh-CN" altLang="en-US" sz="3600" b="1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1130" y="375920"/>
            <a:ext cx="4522470" cy="592137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455" y="2167890"/>
            <a:ext cx="2697480" cy="3543300"/>
          </a:xfrm>
          <a:prstGeom prst="rect">
            <a:avLst/>
          </a:prstGeom>
        </p:spPr>
      </p:pic>
      <p:cxnSp>
        <p:nvCxnSpPr>
          <p:cNvPr id="13" name="直接连接符 12"/>
          <p:cNvCxnSpPr/>
          <p:nvPr/>
        </p:nvCxnSpPr>
        <p:spPr>
          <a:xfrm flipH="1">
            <a:off x="6406515" y="1059180"/>
            <a:ext cx="2654300" cy="0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6429375" y="1023620"/>
            <a:ext cx="0" cy="4608830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6429375" y="5632450"/>
            <a:ext cx="791845" cy="0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 flipH="1">
            <a:off x="7292975" y="1311910"/>
            <a:ext cx="2592705" cy="1270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9852660" y="1290955"/>
            <a:ext cx="0" cy="4150360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9060815" y="5441315"/>
            <a:ext cx="791845" cy="0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7221220" y="5344160"/>
            <a:ext cx="0" cy="288290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9060815" y="5272405"/>
            <a:ext cx="0" cy="186690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3" name="矩形 22"/>
          <p:cNvSpPr/>
          <p:nvPr/>
        </p:nvSpPr>
        <p:spPr>
          <a:xfrm>
            <a:off x="5565140" y="2176145"/>
            <a:ext cx="647700" cy="1583690"/>
          </a:xfrm>
          <a:prstGeom prst="rect">
            <a:avLst/>
          </a:prstGeom>
          <a:noFill/>
          <a:ln w="38100">
            <a:solidFill>
              <a:srgbClr val="FFC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>
                <a:solidFill>
                  <a:schemeClr val="tx1"/>
                </a:solidFill>
              </a:rPr>
              <a:t>反馈线</a:t>
            </a:r>
            <a:endParaRPr lang="zh-CN" altLang="en-US" sz="320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5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3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数字电路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10912" y="665738"/>
            <a:ext cx="590649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/>
              <a:t>一、主从</a:t>
            </a:r>
            <a:r>
              <a:rPr lang="en-US" altLang="zh-CN" sz="3600" b="1" dirty="0"/>
              <a:t>JK</a:t>
            </a:r>
            <a:r>
              <a:rPr lang="zh-CN" altLang="en-US" sz="3600" b="1" dirty="0"/>
              <a:t>触发器</a:t>
            </a:r>
            <a:endParaRPr lang="zh-CN" altLang="en-US" sz="3600" b="1" dirty="0"/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9060" y="1311910"/>
            <a:ext cx="3355975" cy="3872230"/>
          </a:xfrm>
          <a:prstGeom prst="rect">
            <a:avLst/>
          </a:prstGeom>
        </p:spPr>
      </p:pic>
      <p:sp>
        <p:nvSpPr>
          <p:cNvPr id="28" name="文本框 27"/>
          <p:cNvSpPr txBox="1"/>
          <p:nvPr/>
        </p:nvSpPr>
        <p:spPr>
          <a:xfrm>
            <a:off x="3260725" y="5262880"/>
            <a:ext cx="521462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>
                <a:solidFill>
                  <a:srgbClr val="1542FF"/>
                </a:solidFill>
              </a:rPr>
              <a:t>00</a:t>
            </a:r>
            <a:r>
              <a:rPr lang="zh-CN" altLang="en-US" sz="2800" b="1">
                <a:solidFill>
                  <a:srgbClr val="1542FF"/>
                </a:solidFill>
              </a:rPr>
              <a:t>保持，</a:t>
            </a:r>
            <a:r>
              <a:rPr lang="en-US" altLang="zh-CN" sz="2800" b="1">
                <a:solidFill>
                  <a:srgbClr val="1542FF"/>
                </a:solidFill>
              </a:rPr>
              <a:t>11</a:t>
            </a:r>
            <a:r>
              <a:rPr lang="zh-CN" altLang="en-US" sz="2800" b="1">
                <a:solidFill>
                  <a:srgbClr val="1542FF"/>
                </a:solidFill>
              </a:rPr>
              <a:t>反转</a:t>
            </a:r>
            <a:r>
              <a:rPr lang="en-US" altLang="zh-CN" sz="2800" b="1">
                <a:solidFill>
                  <a:srgbClr val="1542FF"/>
                </a:solidFill>
              </a:rPr>
              <a:t>(</a:t>
            </a:r>
            <a:r>
              <a:rPr lang="zh-CN" altLang="en-US" sz="2800" b="1">
                <a:solidFill>
                  <a:srgbClr val="1542FF"/>
                </a:solidFill>
              </a:rPr>
              <a:t>具有计数功能</a:t>
            </a:r>
            <a:r>
              <a:rPr lang="en-US" altLang="zh-CN" sz="2800" b="1">
                <a:solidFill>
                  <a:srgbClr val="1542FF"/>
                </a:solidFill>
              </a:rPr>
              <a:t>)</a:t>
            </a:r>
            <a:endParaRPr lang="zh-CN" altLang="en-US" sz="2800" b="1">
              <a:solidFill>
                <a:srgbClr val="1542FF"/>
              </a:solidFill>
            </a:endParaRPr>
          </a:p>
          <a:p>
            <a:r>
              <a:rPr lang="en-US" altLang="zh-CN" sz="2800" b="1">
                <a:solidFill>
                  <a:srgbClr val="1542FF"/>
                </a:solidFill>
              </a:rPr>
              <a:t>01,10</a:t>
            </a:r>
            <a:r>
              <a:rPr lang="zh-CN" altLang="en-US" sz="2800" b="1">
                <a:solidFill>
                  <a:srgbClr val="1542FF"/>
                </a:solidFill>
              </a:rPr>
              <a:t>同</a:t>
            </a:r>
            <a:r>
              <a:rPr lang="en-US" altLang="zh-CN" sz="2800" b="1">
                <a:solidFill>
                  <a:srgbClr val="1542FF"/>
                </a:solidFill>
              </a:rPr>
              <a:t>J</a:t>
            </a:r>
            <a:endParaRPr lang="en-US" altLang="zh-CN" sz="2800" b="1">
              <a:solidFill>
                <a:srgbClr val="1542FF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7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8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645" y="87630"/>
            <a:ext cx="10021570" cy="5904230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/>
        </p:nvSpPr>
        <p:spPr>
          <a:xfrm>
            <a:off x="850900" y="160020"/>
            <a:ext cx="1645920" cy="5168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数字电路</a:t>
            </a:r>
            <a:endParaRPr kumimoji="1" lang="zh-CN" altLang="en-US" dirty="0"/>
          </a:p>
        </p:txBody>
      </p:sp>
      <p:cxnSp>
        <p:nvCxnSpPr>
          <p:cNvPr id="7" name="直接连接符 6"/>
          <p:cNvCxnSpPr/>
          <p:nvPr/>
        </p:nvCxnSpPr>
        <p:spPr>
          <a:xfrm>
            <a:off x="6655435" y="1397635"/>
            <a:ext cx="0" cy="4765675"/>
          </a:xfrm>
          <a:prstGeom prst="line">
            <a:avLst/>
          </a:prstGeom>
          <a:ln w="38100">
            <a:solidFill>
              <a:srgbClr val="E949F8"/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8408670" y="1397635"/>
            <a:ext cx="0" cy="4765675"/>
          </a:xfrm>
          <a:prstGeom prst="line">
            <a:avLst/>
          </a:prstGeom>
          <a:ln w="38100">
            <a:solidFill>
              <a:srgbClr val="E949F8"/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7532370" y="1397635"/>
            <a:ext cx="0" cy="4765675"/>
          </a:xfrm>
          <a:prstGeom prst="line">
            <a:avLst/>
          </a:prstGeom>
          <a:ln w="38100">
            <a:solidFill>
              <a:srgbClr val="E949F8"/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9309735" y="1383665"/>
            <a:ext cx="0" cy="4765675"/>
          </a:xfrm>
          <a:prstGeom prst="line">
            <a:avLst/>
          </a:prstGeom>
          <a:ln w="38100">
            <a:solidFill>
              <a:srgbClr val="E949F8"/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10173335" y="1397635"/>
            <a:ext cx="0" cy="4765675"/>
          </a:xfrm>
          <a:prstGeom prst="line">
            <a:avLst/>
          </a:prstGeom>
          <a:ln w="38100">
            <a:solidFill>
              <a:srgbClr val="E949F8"/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179705" y="1311910"/>
            <a:ext cx="145161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rgbClr val="E949F8"/>
                </a:solidFill>
              </a:rPr>
              <a:t>假设</a:t>
            </a:r>
            <a:r>
              <a:rPr lang="en-US" altLang="zh-CN" sz="2400" b="1">
                <a:solidFill>
                  <a:srgbClr val="E949F8"/>
                </a:solidFill>
              </a:rPr>
              <a:t>Q</a:t>
            </a:r>
            <a:r>
              <a:rPr lang="zh-CN" altLang="en-US" sz="2400" b="1">
                <a:solidFill>
                  <a:srgbClr val="E949F8"/>
                </a:solidFill>
              </a:rPr>
              <a:t>的初态为</a:t>
            </a:r>
            <a:r>
              <a:rPr lang="en-US" altLang="zh-CN" sz="2400" b="1">
                <a:solidFill>
                  <a:srgbClr val="E949F8"/>
                </a:solidFill>
              </a:rPr>
              <a:t>0</a:t>
            </a:r>
            <a:endParaRPr lang="en-US" altLang="zh-CN" sz="2400" b="1">
              <a:solidFill>
                <a:srgbClr val="E949F8"/>
              </a:solidFill>
            </a:endParaRPr>
          </a:p>
        </p:txBody>
      </p:sp>
      <p:cxnSp>
        <p:nvCxnSpPr>
          <p:cNvPr id="16" name="直接连接符 15"/>
          <p:cNvCxnSpPr/>
          <p:nvPr/>
        </p:nvCxnSpPr>
        <p:spPr>
          <a:xfrm>
            <a:off x="6548120" y="5005070"/>
            <a:ext cx="979805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6572885" y="5354320"/>
            <a:ext cx="979805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/>
          <p:nvPr/>
        </p:nvCxnSpPr>
        <p:spPr>
          <a:xfrm flipH="1">
            <a:off x="6285230" y="2832100"/>
            <a:ext cx="405130" cy="495935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/>
          <p:nvPr/>
        </p:nvCxnSpPr>
        <p:spPr>
          <a:xfrm flipH="1" flipV="1">
            <a:off x="6285230" y="3472180"/>
            <a:ext cx="504190" cy="50419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1" name="文本框 30"/>
          <p:cNvSpPr txBox="1"/>
          <p:nvPr/>
        </p:nvSpPr>
        <p:spPr>
          <a:xfrm>
            <a:off x="5996940" y="3183890"/>
            <a:ext cx="3708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rgbClr val="FF0000"/>
                </a:solidFill>
              </a:rPr>
              <a:t>0</a:t>
            </a:r>
            <a:endParaRPr lang="en-US" altLang="zh-CN" sz="2400">
              <a:solidFill>
                <a:srgbClr val="FF0000"/>
              </a:solidFill>
            </a:endParaRPr>
          </a:p>
        </p:txBody>
      </p:sp>
      <p:cxnSp>
        <p:nvCxnSpPr>
          <p:cNvPr id="32" name="直接箭头连接符 31"/>
          <p:cNvCxnSpPr/>
          <p:nvPr/>
        </p:nvCxnSpPr>
        <p:spPr>
          <a:xfrm flipH="1">
            <a:off x="7221220" y="2247900"/>
            <a:ext cx="405130" cy="495935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3" name="文本框 32"/>
          <p:cNvSpPr txBox="1"/>
          <p:nvPr/>
        </p:nvSpPr>
        <p:spPr>
          <a:xfrm>
            <a:off x="6908165" y="2536190"/>
            <a:ext cx="3708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rgbClr val="FF0000"/>
                </a:solidFill>
              </a:rPr>
              <a:t>1</a:t>
            </a:r>
            <a:endParaRPr lang="en-US" altLang="zh-CN" sz="2400">
              <a:solidFill>
                <a:srgbClr val="FF0000"/>
              </a:solidFill>
            </a:endParaRPr>
          </a:p>
        </p:txBody>
      </p:sp>
      <p:cxnSp>
        <p:nvCxnSpPr>
          <p:cNvPr id="34" name="直接箭头连接符 33"/>
          <p:cNvCxnSpPr/>
          <p:nvPr/>
        </p:nvCxnSpPr>
        <p:spPr>
          <a:xfrm flipH="1" flipV="1">
            <a:off x="7136130" y="3472180"/>
            <a:ext cx="504190" cy="50419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5" name="文本框 34"/>
          <p:cNvSpPr txBox="1"/>
          <p:nvPr/>
        </p:nvSpPr>
        <p:spPr>
          <a:xfrm>
            <a:off x="6861175" y="3183890"/>
            <a:ext cx="3708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rgbClr val="FF0000"/>
                </a:solidFill>
              </a:rPr>
              <a:t>0</a:t>
            </a:r>
            <a:endParaRPr lang="en-US" altLang="zh-CN" sz="2400">
              <a:solidFill>
                <a:srgbClr val="FF0000"/>
              </a:solidFill>
            </a:endParaRPr>
          </a:p>
        </p:txBody>
      </p:sp>
      <p:cxnSp>
        <p:nvCxnSpPr>
          <p:cNvPr id="36" name="直接连接符 35"/>
          <p:cNvCxnSpPr/>
          <p:nvPr/>
        </p:nvCxnSpPr>
        <p:spPr>
          <a:xfrm>
            <a:off x="7509510" y="4479925"/>
            <a:ext cx="880745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>
            <a:off x="7529830" y="5848350"/>
            <a:ext cx="880745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>
          <a:xfrm flipH="1" flipV="1">
            <a:off x="7509510" y="4479925"/>
            <a:ext cx="11430" cy="53657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 flipH="1" flipV="1">
            <a:off x="7526020" y="5311775"/>
            <a:ext cx="11430" cy="53657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1" name="直接箭头连接符 40"/>
          <p:cNvCxnSpPr/>
          <p:nvPr/>
        </p:nvCxnSpPr>
        <p:spPr>
          <a:xfrm flipH="1" flipV="1">
            <a:off x="8229600" y="2607945"/>
            <a:ext cx="332740" cy="21590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2" name="文本框 41"/>
          <p:cNvSpPr txBox="1"/>
          <p:nvPr/>
        </p:nvSpPr>
        <p:spPr>
          <a:xfrm>
            <a:off x="7880985" y="2392045"/>
            <a:ext cx="3708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rgbClr val="FF0000"/>
                </a:solidFill>
              </a:rPr>
              <a:t>0</a:t>
            </a:r>
            <a:endParaRPr lang="en-US" altLang="zh-CN" sz="2400">
              <a:solidFill>
                <a:srgbClr val="FF0000"/>
              </a:solidFill>
            </a:endParaRPr>
          </a:p>
        </p:txBody>
      </p:sp>
      <p:cxnSp>
        <p:nvCxnSpPr>
          <p:cNvPr id="43" name="直接箭头连接符 42"/>
          <p:cNvCxnSpPr/>
          <p:nvPr/>
        </p:nvCxnSpPr>
        <p:spPr>
          <a:xfrm flipH="1" flipV="1">
            <a:off x="8157210" y="3256280"/>
            <a:ext cx="430530" cy="14351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4" name="文本框 43"/>
          <p:cNvSpPr txBox="1"/>
          <p:nvPr/>
        </p:nvSpPr>
        <p:spPr>
          <a:xfrm>
            <a:off x="7884160" y="2939415"/>
            <a:ext cx="3708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rgbClr val="FF0000"/>
                </a:solidFill>
              </a:rPr>
              <a:t>1</a:t>
            </a:r>
            <a:endParaRPr lang="en-US" altLang="zh-CN" sz="2400">
              <a:solidFill>
                <a:srgbClr val="FF0000"/>
              </a:solidFill>
            </a:endParaRPr>
          </a:p>
        </p:txBody>
      </p:sp>
      <p:cxnSp>
        <p:nvCxnSpPr>
          <p:cNvPr id="45" name="直接连接符 44"/>
          <p:cNvCxnSpPr/>
          <p:nvPr/>
        </p:nvCxnSpPr>
        <p:spPr>
          <a:xfrm>
            <a:off x="8409305" y="5007610"/>
            <a:ext cx="92202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>
          <a:xfrm>
            <a:off x="8385175" y="5344160"/>
            <a:ext cx="932815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7" name="直接连接符 46"/>
          <p:cNvCxnSpPr/>
          <p:nvPr/>
        </p:nvCxnSpPr>
        <p:spPr>
          <a:xfrm flipH="1" flipV="1">
            <a:off x="8413115" y="4471035"/>
            <a:ext cx="11430" cy="53657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/>
        </p:nvCxnSpPr>
        <p:spPr>
          <a:xfrm flipH="1" flipV="1">
            <a:off x="8408670" y="5311775"/>
            <a:ext cx="11430" cy="53657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9" name="直接箭头连接符 48"/>
          <p:cNvCxnSpPr/>
          <p:nvPr/>
        </p:nvCxnSpPr>
        <p:spPr>
          <a:xfrm flipH="1">
            <a:off x="9093200" y="2247900"/>
            <a:ext cx="360045" cy="575945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0" name="直接箭头连接符 49"/>
          <p:cNvCxnSpPr/>
          <p:nvPr/>
        </p:nvCxnSpPr>
        <p:spPr>
          <a:xfrm flipH="1" flipV="1">
            <a:off x="9165590" y="3183890"/>
            <a:ext cx="287655" cy="21590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1" name="文本框 50"/>
          <p:cNvSpPr txBox="1"/>
          <p:nvPr/>
        </p:nvSpPr>
        <p:spPr>
          <a:xfrm>
            <a:off x="8949055" y="2795905"/>
            <a:ext cx="3708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rgbClr val="FF0000"/>
                </a:solidFill>
              </a:rPr>
              <a:t>1</a:t>
            </a:r>
            <a:endParaRPr lang="en-US" altLang="zh-CN" sz="2400">
              <a:solidFill>
                <a:srgbClr val="FF0000"/>
              </a:solidFill>
            </a:endParaRPr>
          </a:p>
        </p:txBody>
      </p:sp>
      <p:cxnSp>
        <p:nvCxnSpPr>
          <p:cNvPr id="52" name="直接连接符 51"/>
          <p:cNvCxnSpPr/>
          <p:nvPr/>
        </p:nvCxnSpPr>
        <p:spPr>
          <a:xfrm>
            <a:off x="9305290" y="4479925"/>
            <a:ext cx="868045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3" name="直接连接符 52"/>
          <p:cNvCxnSpPr/>
          <p:nvPr/>
        </p:nvCxnSpPr>
        <p:spPr>
          <a:xfrm>
            <a:off x="9300210" y="5848350"/>
            <a:ext cx="866775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4" name="直接连接符 53"/>
          <p:cNvCxnSpPr/>
          <p:nvPr/>
        </p:nvCxnSpPr>
        <p:spPr>
          <a:xfrm flipH="1" flipV="1">
            <a:off x="9309735" y="4479925"/>
            <a:ext cx="11430" cy="53657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5" name="直接连接符 54"/>
          <p:cNvCxnSpPr/>
          <p:nvPr/>
        </p:nvCxnSpPr>
        <p:spPr>
          <a:xfrm flipH="1" flipV="1">
            <a:off x="9296400" y="5311775"/>
            <a:ext cx="11430" cy="53657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6" name="文本框 55"/>
          <p:cNvSpPr txBox="1"/>
          <p:nvPr/>
        </p:nvSpPr>
        <p:spPr>
          <a:xfrm>
            <a:off x="10341610" y="2392045"/>
            <a:ext cx="3708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rgbClr val="FF0000"/>
                </a:solidFill>
              </a:rPr>
              <a:t>0</a:t>
            </a:r>
            <a:endParaRPr lang="en-US" altLang="zh-CN" sz="2400">
              <a:solidFill>
                <a:srgbClr val="FF0000"/>
              </a:solidFill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10341610" y="3472180"/>
            <a:ext cx="3708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rgbClr val="FF0000"/>
                </a:solidFill>
              </a:rPr>
              <a:t>0</a:t>
            </a:r>
            <a:endParaRPr lang="en-US" altLang="zh-CN" sz="2400">
              <a:solidFill>
                <a:srgbClr val="FF0000"/>
              </a:solidFill>
            </a:endParaRPr>
          </a:p>
        </p:txBody>
      </p:sp>
      <p:cxnSp>
        <p:nvCxnSpPr>
          <p:cNvPr id="58" name="直接连接符 57"/>
          <p:cNvCxnSpPr/>
          <p:nvPr/>
        </p:nvCxnSpPr>
        <p:spPr>
          <a:xfrm>
            <a:off x="10029825" y="4479925"/>
            <a:ext cx="44577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9" name="直接连接符 58"/>
          <p:cNvCxnSpPr/>
          <p:nvPr/>
        </p:nvCxnSpPr>
        <p:spPr>
          <a:xfrm>
            <a:off x="10029825" y="5848350"/>
            <a:ext cx="42799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7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7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3" dur="7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6" dur="7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9" dur="7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7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7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0" dur="7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3" dur="7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6" dur="7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1" dur="7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4" dur="7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7" dur="7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0" dur="7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5" dur="7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8" dur="7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1" dur="7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4" dur="7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9" dur="7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2" dur="7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5" dur="7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0" dur="7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3" dur="7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6" dur="7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9" dur="7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4" dur="7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7" dur="7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2" dur="7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5" dur="7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1" grpId="1"/>
      <p:bldP spid="33" grpId="0"/>
      <p:bldP spid="33" grpId="1"/>
      <p:bldP spid="35" grpId="0"/>
      <p:bldP spid="35" grpId="1"/>
      <p:bldP spid="42" grpId="0"/>
      <p:bldP spid="42" grpId="1"/>
      <p:bldP spid="44" grpId="0"/>
      <p:bldP spid="44" grpId="1"/>
      <p:bldP spid="51" grpId="0"/>
      <p:bldP spid="51" grpId="1"/>
      <p:bldP spid="56" grpId="0"/>
      <p:bldP spid="56" grpId="1"/>
      <p:bldP spid="57" grpId="0"/>
      <p:bldP spid="57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50900" y="160020"/>
            <a:ext cx="1645920" cy="5168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数字电路</a:t>
            </a:r>
            <a:endParaRPr kumimoji="1"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810912" y="665738"/>
            <a:ext cx="590649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 b="1" dirty="0"/>
              <a:t>一、主从</a:t>
            </a:r>
            <a:r>
              <a:rPr lang="en-US" altLang="zh-CN" sz="3600" b="1" dirty="0"/>
              <a:t>JK</a:t>
            </a:r>
            <a:r>
              <a:rPr lang="zh-CN" altLang="en-US" sz="3600" b="1" dirty="0"/>
              <a:t>触发器</a:t>
            </a:r>
            <a:endParaRPr lang="zh-CN" altLang="en-US" sz="3600" b="1" dirty="0"/>
          </a:p>
        </p:txBody>
      </p:sp>
      <p:sp>
        <p:nvSpPr>
          <p:cNvPr id="18" name="文本框 17"/>
          <p:cNvSpPr txBox="1"/>
          <p:nvPr/>
        </p:nvSpPr>
        <p:spPr>
          <a:xfrm>
            <a:off x="741045" y="1311275"/>
            <a:ext cx="52692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 dirty="0">
                <a:solidFill>
                  <a:srgbClr val="FF0000"/>
                </a:solidFill>
              </a:rPr>
              <a:t>5</a:t>
            </a:r>
            <a:r>
              <a:rPr lang="zh-CN" altLang="en-US" sz="2800" b="1" dirty="0">
                <a:solidFill>
                  <a:srgbClr val="FF0000"/>
                </a:solidFill>
              </a:rPr>
              <a:t>、动作</a:t>
            </a:r>
            <a:r>
              <a:rPr lang="zh-CN" altLang="en-US" sz="2800" b="1" dirty="0">
                <a:solidFill>
                  <a:srgbClr val="FF0000"/>
                </a:solidFill>
              </a:rPr>
              <a:t>特点：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962660" y="1943100"/>
            <a:ext cx="11012805" cy="35382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>
                <a:solidFill>
                  <a:srgbClr val="1542FF"/>
                </a:solidFill>
              </a:rPr>
              <a:t>1.</a:t>
            </a:r>
            <a:r>
              <a:rPr lang="zh-CN" altLang="en-US" sz="3200" b="1">
                <a:solidFill>
                  <a:srgbClr val="1542FF"/>
                </a:solidFill>
              </a:rPr>
              <a:t>主从触发器分两步工作</a:t>
            </a:r>
            <a:r>
              <a:rPr lang="en-US" altLang="zh-CN" sz="3200" b="1">
                <a:solidFill>
                  <a:srgbClr val="1542FF"/>
                </a:solidFill>
              </a:rPr>
              <a:t>:</a:t>
            </a:r>
            <a:endParaRPr lang="en-US" altLang="zh-CN" sz="3200" b="1">
              <a:solidFill>
                <a:srgbClr val="1542FF"/>
              </a:solidFill>
            </a:endParaRPr>
          </a:p>
          <a:p>
            <a:r>
              <a:rPr lang="zh-CN" altLang="en-US" sz="3200" b="1">
                <a:solidFill>
                  <a:schemeClr val="tx1"/>
                </a:solidFill>
              </a:rPr>
              <a:t>第一步，</a:t>
            </a:r>
            <a:r>
              <a:rPr lang="en-US" altLang="zh-CN" sz="3200" b="1">
                <a:solidFill>
                  <a:schemeClr val="tx1"/>
                </a:solidFill>
              </a:rPr>
              <a:t>CP=1</a:t>
            </a:r>
            <a:r>
              <a:rPr lang="zh-CN" altLang="en-US" sz="3200" b="1">
                <a:solidFill>
                  <a:schemeClr val="tx1"/>
                </a:solidFill>
              </a:rPr>
              <a:t>期间，主触发器的输出状态由输入信号的状态确定，从触发器的输出状态保持不变。</a:t>
            </a:r>
            <a:endParaRPr lang="zh-CN" altLang="en-US" sz="3200" b="1">
              <a:solidFill>
                <a:schemeClr val="tx1"/>
              </a:solidFill>
            </a:endParaRPr>
          </a:p>
          <a:p>
            <a:r>
              <a:rPr lang="zh-CN" altLang="en-US" sz="3200" b="1">
                <a:solidFill>
                  <a:schemeClr val="tx1"/>
                </a:solidFill>
              </a:rPr>
              <a:t>第二步，当</a:t>
            </a:r>
            <a:r>
              <a:rPr lang="en-US" altLang="zh-CN" sz="3200" b="1">
                <a:solidFill>
                  <a:schemeClr val="tx1"/>
                </a:solidFill>
              </a:rPr>
              <a:t>CP</a:t>
            </a:r>
            <a:r>
              <a:rPr lang="zh-CN" altLang="en-US" sz="3200" b="1">
                <a:solidFill>
                  <a:schemeClr val="tx1"/>
                </a:solidFill>
              </a:rPr>
              <a:t>从</a:t>
            </a:r>
            <a:r>
              <a:rPr lang="en-US" altLang="zh-CN" sz="3200" b="1">
                <a:solidFill>
                  <a:schemeClr val="tx1"/>
                </a:solidFill>
              </a:rPr>
              <a:t>1</a:t>
            </a:r>
            <a:r>
              <a:rPr lang="zh-CN" altLang="en-US" sz="3200" b="1">
                <a:solidFill>
                  <a:schemeClr val="tx1"/>
                </a:solidFill>
              </a:rPr>
              <a:t>变为</a:t>
            </a:r>
            <a:r>
              <a:rPr lang="en-US" altLang="zh-CN" sz="3200" b="1">
                <a:solidFill>
                  <a:schemeClr val="tx1"/>
                </a:solidFill>
              </a:rPr>
              <a:t>0</a:t>
            </a:r>
            <a:r>
              <a:rPr lang="zh-CN" altLang="en-US" sz="3200" b="1">
                <a:solidFill>
                  <a:schemeClr val="tx1"/>
                </a:solidFill>
              </a:rPr>
              <a:t>时，从触发器的输出状态由主触发器当时的状态决定。</a:t>
            </a:r>
            <a:endParaRPr lang="zh-CN" altLang="en-US" sz="3200" b="1">
              <a:solidFill>
                <a:schemeClr val="tx1"/>
              </a:solidFill>
            </a:endParaRPr>
          </a:p>
          <a:p>
            <a:r>
              <a:rPr lang="en-US" altLang="zh-CN" sz="3200" b="1">
                <a:solidFill>
                  <a:srgbClr val="1542FF"/>
                </a:solidFill>
              </a:rPr>
              <a:t>2.</a:t>
            </a:r>
            <a:r>
              <a:rPr lang="zh-CN" altLang="en-US" sz="3200" b="1">
                <a:solidFill>
                  <a:srgbClr val="1542FF"/>
                </a:solidFill>
              </a:rPr>
              <a:t>在</a:t>
            </a:r>
            <a:r>
              <a:rPr lang="en-US" altLang="zh-CN" sz="3200" b="1">
                <a:solidFill>
                  <a:srgbClr val="FF0000"/>
                </a:solidFill>
              </a:rPr>
              <a:t>CP=1</a:t>
            </a:r>
            <a:r>
              <a:rPr lang="zh-CN" altLang="en-US" sz="3200" b="1">
                <a:solidFill>
                  <a:srgbClr val="1542FF"/>
                </a:solidFill>
              </a:rPr>
              <a:t>的全部时间里</a:t>
            </a:r>
            <a:r>
              <a:rPr lang="zh-CN" altLang="en-US" sz="3200" b="1">
                <a:solidFill>
                  <a:srgbClr val="FF0000"/>
                </a:solidFill>
              </a:rPr>
              <a:t>输入信号的变化</a:t>
            </a:r>
            <a:r>
              <a:rPr lang="zh-CN" altLang="en-US" sz="3200" b="1">
                <a:solidFill>
                  <a:srgbClr val="1542FF"/>
                </a:solidFill>
              </a:rPr>
              <a:t>都将对</a:t>
            </a:r>
            <a:r>
              <a:rPr lang="zh-CN" altLang="en-US" sz="3200" b="1">
                <a:solidFill>
                  <a:srgbClr val="FF0000"/>
                </a:solidFill>
              </a:rPr>
              <a:t>主触发器</a:t>
            </a:r>
            <a:r>
              <a:rPr lang="zh-CN" altLang="en-US" sz="3200" b="1">
                <a:solidFill>
                  <a:srgbClr val="1542FF"/>
                </a:solidFill>
              </a:rPr>
              <a:t>起控制作用。</a:t>
            </a:r>
            <a:endParaRPr lang="zh-CN" altLang="en-US" sz="3200" b="1">
              <a:solidFill>
                <a:srgbClr val="1542FF"/>
              </a:solidFill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6580" y="5200015"/>
            <a:ext cx="6442710" cy="7658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50900" y="160020"/>
            <a:ext cx="1645920" cy="5168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数字电路</a:t>
            </a:r>
            <a:endParaRPr kumimoji="1"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810912" y="665738"/>
            <a:ext cx="590649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 b="1" dirty="0"/>
              <a:t>一、主从</a:t>
            </a:r>
            <a:r>
              <a:rPr lang="en-US" altLang="zh-CN" sz="3600" b="1" dirty="0"/>
              <a:t>JK</a:t>
            </a:r>
            <a:r>
              <a:rPr lang="zh-CN" altLang="en-US" sz="3600" b="1" dirty="0"/>
              <a:t>触发器</a:t>
            </a:r>
            <a:endParaRPr lang="zh-CN" altLang="en-US" sz="3600" b="1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0500" y="1310640"/>
            <a:ext cx="9251950" cy="45180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50900" y="160020"/>
            <a:ext cx="1645920" cy="5168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数字电路</a:t>
            </a:r>
            <a:endParaRPr kumimoji="1"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810895" y="665480"/>
            <a:ext cx="82035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 b="1" dirty="0"/>
              <a:t>二、具有</a:t>
            </a:r>
            <a:r>
              <a:rPr lang="zh-CN" altLang="en-US" sz="3600" b="1" dirty="0">
                <a:solidFill>
                  <a:srgbClr val="FF0000"/>
                </a:solidFill>
              </a:rPr>
              <a:t>多输入端</a:t>
            </a:r>
            <a:r>
              <a:rPr lang="zh-CN" altLang="en-US" sz="3600" b="1" dirty="0"/>
              <a:t>的主从</a:t>
            </a:r>
            <a:r>
              <a:rPr lang="en-US" altLang="zh-CN" sz="3600" b="1" dirty="0"/>
              <a:t>JK</a:t>
            </a:r>
            <a:r>
              <a:rPr lang="zh-CN" altLang="en-US" sz="3600" b="1" dirty="0"/>
              <a:t>触发器</a:t>
            </a:r>
            <a:endParaRPr lang="zh-CN" altLang="en-US" sz="3600" b="1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8790" y="1527810"/>
            <a:ext cx="3213100" cy="357505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4645" y="5320030"/>
            <a:ext cx="1714500" cy="61722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4870" y="5320030"/>
            <a:ext cx="1882140" cy="6172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50900" y="160020"/>
            <a:ext cx="1645920" cy="5168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数字电路</a:t>
            </a:r>
            <a:endParaRPr kumimoji="1"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0" y="735965"/>
            <a:ext cx="11396345" cy="3681730"/>
          </a:xfrm>
          <a:prstGeom prst="rect">
            <a:avLst/>
          </a:prstGeom>
        </p:spPr>
      </p:pic>
      <p:cxnSp>
        <p:nvCxnSpPr>
          <p:cNvPr id="12" name="直接箭头连接符 11"/>
          <p:cNvCxnSpPr/>
          <p:nvPr/>
        </p:nvCxnSpPr>
        <p:spPr>
          <a:xfrm flipH="1" flipV="1">
            <a:off x="5565140" y="2319655"/>
            <a:ext cx="297815" cy="467995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5205095" y="1887855"/>
            <a:ext cx="6051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solidFill>
                  <a:srgbClr val="FF0000"/>
                </a:solidFill>
              </a:rPr>
              <a:t>CP</a:t>
            </a:r>
            <a:endParaRPr lang="en-US" altLang="zh-CN" sz="2800">
              <a:solidFill>
                <a:srgbClr val="FF0000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850900" y="4624070"/>
            <a:ext cx="416496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rgbClr val="1542FF"/>
                </a:solidFill>
              </a:rPr>
              <a:t>思路：</a:t>
            </a:r>
            <a:endParaRPr lang="zh-CN" altLang="en-US" sz="2000" b="1">
              <a:solidFill>
                <a:srgbClr val="1542FF"/>
              </a:solidFill>
            </a:endParaRPr>
          </a:p>
          <a:p>
            <a:r>
              <a:rPr lang="zh-CN" altLang="en-US" sz="2000" b="1">
                <a:solidFill>
                  <a:srgbClr val="1542FF"/>
                </a:solidFill>
              </a:rPr>
              <a:t>找波形</a:t>
            </a:r>
            <a:r>
              <a:rPr lang="zh-CN" altLang="en-US" sz="2000" b="1">
                <a:solidFill>
                  <a:srgbClr val="FF0000"/>
                </a:solidFill>
              </a:rPr>
              <a:t>是</a:t>
            </a:r>
            <a:r>
              <a:rPr lang="zh-CN" altLang="en-US" sz="2000" b="1">
                <a:solidFill>
                  <a:srgbClr val="1542FF"/>
                </a:solidFill>
              </a:rPr>
              <a:t>上升沿，</a:t>
            </a:r>
            <a:r>
              <a:rPr lang="zh-CN" altLang="en-US" sz="2000" b="1">
                <a:solidFill>
                  <a:srgbClr val="FF0000"/>
                </a:solidFill>
              </a:rPr>
              <a:t>还是</a:t>
            </a:r>
            <a:r>
              <a:rPr lang="zh-CN" altLang="en-US" sz="2000" b="1">
                <a:solidFill>
                  <a:srgbClr val="1542FF"/>
                </a:solidFill>
              </a:rPr>
              <a:t>下降沿触发</a:t>
            </a:r>
            <a:endParaRPr lang="zh-CN" altLang="en-US" sz="2000" b="1">
              <a:solidFill>
                <a:srgbClr val="1542FF"/>
              </a:solidFill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2396490" y="3472180"/>
            <a:ext cx="1008380" cy="360045"/>
          </a:xfrm>
          <a:prstGeom prst="roundRect">
            <a:avLst/>
          </a:prstGeom>
          <a:noFill/>
          <a:ln w="38100">
            <a:solidFill>
              <a:srgbClr val="1542FF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6" name="直接箭头连接符 15"/>
          <p:cNvCxnSpPr/>
          <p:nvPr/>
        </p:nvCxnSpPr>
        <p:spPr>
          <a:xfrm flipH="1">
            <a:off x="1748790" y="3820795"/>
            <a:ext cx="657860" cy="83185"/>
          </a:xfrm>
          <a:prstGeom prst="straightConnector1">
            <a:avLst/>
          </a:prstGeom>
          <a:ln w="38100">
            <a:solidFill>
              <a:srgbClr val="1542FF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362585" y="3776345"/>
            <a:ext cx="13862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1542FF"/>
                </a:solidFill>
              </a:rPr>
              <a:t>下降沿触发</a:t>
            </a:r>
            <a:endParaRPr lang="zh-CN" altLang="en-US" b="1">
              <a:solidFill>
                <a:srgbClr val="1542FF"/>
              </a:solidFill>
            </a:endParaRPr>
          </a:p>
        </p:txBody>
      </p:sp>
      <p:cxnSp>
        <p:nvCxnSpPr>
          <p:cNvPr id="18" name="直接连接符 17"/>
          <p:cNvCxnSpPr/>
          <p:nvPr/>
        </p:nvCxnSpPr>
        <p:spPr>
          <a:xfrm>
            <a:off x="6753860" y="2564765"/>
            <a:ext cx="0" cy="2137410"/>
          </a:xfrm>
          <a:prstGeom prst="line">
            <a:avLst/>
          </a:prstGeom>
          <a:ln w="38100">
            <a:solidFill>
              <a:srgbClr val="E949F8"/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7437120" y="2607945"/>
            <a:ext cx="0" cy="2058670"/>
          </a:xfrm>
          <a:prstGeom prst="line">
            <a:avLst/>
          </a:prstGeom>
          <a:ln w="38100">
            <a:solidFill>
              <a:srgbClr val="E949F8"/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8120380" y="2607945"/>
            <a:ext cx="0" cy="2049780"/>
          </a:xfrm>
          <a:prstGeom prst="line">
            <a:avLst/>
          </a:prstGeom>
          <a:ln w="38100">
            <a:solidFill>
              <a:srgbClr val="E949F8"/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9525635" y="2607945"/>
            <a:ext cx="0" cy="2129790"/>
          </a:xfrm>
          <a:prstGeom prst="line">
            <a:avLst/>
          </a:prstGeom>
          <a:ln w="38100">
            <a:solidFill>
              <a:srgbClr val="E949F8"/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8823325" y="2564765"/>
            <a:ext cx="0" cy="2164080"/>
          </a:xfrm>
          <a:prstGeom prst="line">
            <a:avLst/>
          </a:prstGeom>
          <a:ln w="38100">
            <a:solidFill>
              <a:srgbClr val="E949F8"/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3" name="左大括号 22"/>
          <p:cNvSpPr/>
          <p:nvPr/>
        </p:nvSpPr>
        <p:spPr>
          <a:xfrm>
            <a:off x="10389870" y="1527810"/>
            <a:ext cx="324485" cy="1344930"/>
          </a:xfrm>
          <a:prstGeom prst="leftBrace">
            <a:avLst>
              <a:gd name="adj1" fmla="val 99021"/>
              <a:gd name="adj2" fmla="val 50000"/>
            </a:avLst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文本框 23"/>
              <p:cNvSpPr txBox="1"/>
              <p:nvPr/>
            </p:nvSpPr>
            <p:spPr>
              <a:xfrm>
                <a:off x="10601325" y="1602740"/>
                <a:ext cx="1744345" cy="122110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r>
                  <a:rPr lang="en-US" altLang="zh-CN" sz="3600">
                    <a:solidFill>
                      <a:srgbClr val="00B050"/>
                    </a:solidFill>
                  </a:rPr>
                  <a:t>J =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3600" i="1">
                            <a:solidFill>
                              <a:srgbClr val="00B05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accPr>
                      <m:e>
                        <m:r>
                          <a:rPr lang="en-US" altLang="zh-CN" sz="3600" i="1">
                            <a:solidFill>
                              <a:srgbClr val="00B05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𝐴𝐵</m:t>
                        </m:r>
                      </m:e>
                    </m:acc>
                  </m:oMath>
                </a14:m>
                <a:endParaRPr lang="en-US" altLang="zh-CN" sz="3600">
                  <a:solidFill>
                    <a:srgbClr val="00B050"/>
                  </a:solidFill>
                </a:endParaRPr>
              </a:p>
              <a:p>
                <a:r>
                  <a:rPr lang="en-US" altLang="zh-CN" sz="3600">
                    <a:solidFill>
                      <a:srgbClr val="00B050"/>
                    </a:solidFill>
                  </a:rPr>
                  <a:t>K = 1</a:t>
                </a:r>
                <a:endParaRPr lang="en-US" altLang="zh-CN" sz="360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24" name="文本框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01325" y="1602740"/>
                <a:ext cx="1744345" cy="122110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直接连接符 24"/>
          <p:cNvCxnSpPr/>
          <p:nvPr/>
        </p:nvCxnSpPr>
        <p:spPr>
          <a:xfrm>
            <a:off x="6145530" y="4328160"/>
            <a:ext cx="596900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6765290" y="4119880"/>
            <a:ext cx="674370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 flipV="1">
            <a:off x="6765290" y="4119880"/>
            <a:ext cx="0" cy="21717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7446645" y="4328160"/>
            <a:ext cx="674370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 flipV="1">
            <a:off x="7442835" y="4144645"/>
            <a:ext cx="0" cy="21717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8120380" y="4119880"/>
            <a:ext cx="691515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 flipV="1">
            <a:off x="8120380" y="4119880"/>
            <a:ext cx="0" cy="21717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8834755" y="4337050"/>
            <a:ext cx="674370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 flipV="1">
            <a:off x="8830945" y="4105275"/>
            <a:ext cx="0" cy="26543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9486900" y="4328160"/>
            <a:ext cx="375920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5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8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7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3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8" dur="7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3" dur="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6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1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4" dur="7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9" dur="7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2" dur="7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7" dur="7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0" dur="7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5" dur="7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4" grpId="1"/>
      <p:bldP spid="15" grpId="0" animBg="1"/>
      <p:bldP spid="17" grpId="0"/>
      <p:bldP spid="15" grpId="1" animBg="1"/>
      <p:bldP spid="17" grpId="1"/>
      <p:bldP spid="24" grpId="0"/>
      <p:bldP spid="23" grpId="0" animBg="1"/>
      <p:bldP spid="24" grpId="1"/>
      <p:bldP spid="23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900" y="520065"/>
            <a:ext cx="11482705" cy="4732020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/>
        </p:nvSpPr>
        <p:spPr>
          <a:xfrm>
            <a:off x="850900" y="160020"/>
            <a:ext cx="1645920" cy="5168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数字电路</a:t>
            </a:r>
            <a:endParaRPr kumimoji="1"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7292975" y="4192270"/>
            <a:ext cx="4508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rgbClr val="FF0000"/>
                </a:solidFill>
              </a:rPr>
              <a:t>Q</a:t>
            </a:r>
            <a:endParaRPr lang="en-US" altLang="zh-CN" sz="240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/>
            </p:nvSpPr>
            <p:spPr>
              <a:xfrm>
                <a:off x="7077075" y="4911725"/>
                <a:ext cx="710565" cy="4692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accPr>
                        <m:e>
                          <m: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𝑄𝐶</m:t>
                          </m:r>
                        </m:e>
                      </m:acc>
                    </m:oMath>
                  </m:oMathPara>
                </a14:m>
                <a:endParaRPr lang="en-US" altLang="zh-CN" sz="240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7075" y="4911725"/>
                <a:ext cx="710565" cy="46926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左大括号 31"/>
          <p:cNvSpPr/>
          <p:nvPr/>
        </p:nvSpPr>
        <p:spPr>
          <a:xfrm>
            <a:off x="5387975" y="4479925"/>
            <a:ext cx="321310" cy="901065"/>
          </a:xfrm>
          <a:prstGeom prst="leftBrace">
            <a:avLst>
              <a:gd name="adj1" fmla="val 37132"/>
              <a:gd name="adj2" fmla="val 50035"/>
            </a:avLst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>
              <a:solidFill>
                <a:srgbClr val="00B05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文本框 35"/>
              <p:cNvSpPr txBox="1"/>
              <p:nvPr/>
            </p:nvSpPr>
            <p:spPr>
              <a:xfrm>
                <a:off x="5709285" y="4418330"/>
                <a:ext cx="1006475" cy="962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2800">
                    <a:solidFill>
                      <a:srgbClr val="00B050"/>
                    </a:solidFill>
                  </a:rPr>
                  <a:t>J =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rgbClr val="00B05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accPr>
                      <m:e>
                        <m:r>
                          <a:rPr lang="en-US" altLang="zh-CN" sz="2800" i="1">
                            <a:solidFill>
                              <a:srgbClr val="00B05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𝑄</m:t>
                        </m:r>
                      </m:e>
                    </m:acc>
                  </m:oMath>
                </a14:m>
                <a:endParaRPr lang="en-US" altLang="zh-CN" sz="2800">
                  <a:solidFill>
                    <a:srgbClr val="00B050"/>
                  </a:solidFill>
                </a:endParaRPr>
              </a:p>
              <a:p>
                <a:r>
                  <a:rPr lang="en-US" altLang="zh-CN" sz="2800">
                    <a:solidFill>
                      <a:srgbClr val="00B050"/>
                    </a:solidFill>
                  </a:rPr>
                  <a:t>K= Q</a:t>
                </a:r>
                <a:endParaRPr lang="en-US" altLang="zh-CN" sz="280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36" name="文本框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9285" y="4418330"/>
                <a:ext cx="1006475" cy="96266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圆角矩形 36"/>
          <p:cNvSpPr/>
          <p:nvPr/>
        </p:nvSpPr>
        <p:spPr>
          <a:xfrm>
            <a:off x="2540635" y="3976370"/>
            <a:ext cx="432435" cy="21590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8" name="直接箭头连接符 37"/>
          <p:cNvCxnSpPr/>
          <p:nvPr/>
        </p:nvCxnSpPr>
        <p:spPr>
          <a:xfrm flipH="1" flipV="1">
            <a:off x="1676400" y="3543935"/>
            <a:ext cx="900430" cy="42799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9" name="文本框 38"/>
          <p:cNvSpPr txBox="1"/>
          <p:nvPr/>
        </p:nvSpPr>
        <p:spPr>
          <a:xfrm>
            <a:off x="380365" y="3167380"/>
            <a:ext cx="1327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下降沿触发</a:t>
            </a:r>
            <a:endParaRPr lang="zh-CN" altLang="en-US">
              <a:solidFill>
                <a:srgbClr val="FF0000"/>
              </a:solidFill>
            </a:endParaRPr>
          </a:p>
        </p:txBody>
      </p:sp>
      <p:cxnSp>
        <p:nvCxnSpPr>
          <p:cNvPr id="40" name="直接连接符 39"/>
          <p:cNvCxnSpPr/>
          <p:nvPr/>
        </p:nvCxnSpPr>
        <p:spPr>
          <a:xfrm>
            <a:off x="8713470" y="3553460"/>
            <a:ext cx="0" cy="1122045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>
            <a:off x="9453245" y="3543935"/>
            <a:ext cx="0" cy="1122045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>
          <a:xfrm>
            <a:off x="10173335" y="3553460"/>
            <a:ext cx="0" cy="1122045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/>
        </p:nvCxnSpPr>
        <p:spPr>
          <a:xfrm>
            <a:off x="10893425" y="3553460"/>
            <a:ext cx="0" cy="1122045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4" name="直接连接符 43"/>
          <p:cNvCxnSpPr/>
          <p:nvPr/>
        </p:nvCxnSpPr>
        <p:spPr>
          <a:xfrm>
            <a:off x="8045450" y="4506595"/>
            <a:ext cx="668020" cy="0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" name="直接连接符 1"/>
          <p:cNvCxnSpPr/>
          <p:nvPr/>
        </p:nvCxnSpPr>
        <p:spPr>
          <a:xfrm>
            <a:off x="8713470" y="4192270"/>
            <a:ext cx="739775" cy="0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 flipH="1" flipV="1">
            <a:off x="8713470" y="4192270"/>
            <a:ext cx="19685" cy="360045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 flipH="1" flipV="1">
            <a:off x="9443720" y="4192270"/>
            <a:ext cx="19685" cy="360045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9490710" y="4506595"/>
            <a:ext cx="683260" cy="0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 flipH="1" flipV="1">
            <a:off x="10173970" y="4146550"/>
            <a:ext cx="19685" cy="360045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10193020" y="4146550"/>
            <a:ext cx="683260" cy="0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 flipH="1" flipV="1">
            <a:off x="10863580" y="4165600"/>
            <a:ext cx="19685" cy="360045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10910570" y="4479925"/>
            <a:ext cx="377190" cy="0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8357235" y="3535680"/>
            <a:ext cx="0" cy="1968500"/>
          </a:xfrm>
          <a:prstGeom prst="line">
            <a:avLst/>
          </a:prstGeom>
          <a:ln w="38100">
            <a:solidFill>
              <a:srgbClr val="FFC000"/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8733155" y="3535680"/>
            <a:ext cx="0" cy="1968500"/>
          </a:xfrm>
          <a:prstGeom prst="line">
            <a:avLst/>
          </a:prstGeom>
          <a:ln w="38100">
            <a:solidFill>
              <a:srgbClr val="FFC000"/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9102090" y="3553460"/>
            <a:ext cx="0" cy="1968500"/>
          </a:xfrm>
          <a:prstGeom prst="line">
            <a:avLst/>
          </a:prstGeom>
          <a:ln w="38100">
            <a:solidFill>
              <a:srgbClr val="FFC000"/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9453245" y="3553460"/>
            <a:ext cx="0" cy="1968500"/>
          </a:xfrm>
          <a:prstGeom prst="line">
            <a:avLst/>
          </a:prstGeom>
          <a:ln w="38100">
            <a:solidFill>
              <a:srgbClr val="FFC000"/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9798050" y="3535680"/>
            <a:ext cx="0" cy="1968500"/>
          </a:xfrm>
          <a:prstGeom prst="line">
            <a:avLst/>
          </a:prstGeom>
          <a:ln w="38100">
            <a:solidFill>
              <a:srgbClr val="FFC000"/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10183495" y="3543935"/>
            <a:ext cx="0" cy="1968500"/>
          </a:xfrm>
          <a:prstGeom prst="line">
            <a:avLst/>
          </a:prstGeom>
          <a:ln w="38100">
            <a:solidFill>
              <a:srgbClr val="FFC000"/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10549890" y="3553460"/>
            <a:ext cx="0" cy="1968500"/>
          </a:xfrm>
          <a:prstGeom prst="line">
            <a:avLst/>
          </a:prstGeom>
          <a:ln w="38100">
            <a:solidFill>
              <a:srgbClr val="FFC000"/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10906125" y="3535680"/>
            <a:ext cx="0" cy="1968500"/>
          </a:xfrm>
          <a:prstGeom prst="line">
            <a:avLst/>
          </a:prstGeom>
          <a:ln w="38100">
            <a:solidFill>
              <a:srgbClr val="FFC000"/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8036560" y="4853940"/>
            <a:ext cx="109601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9116695" y="4853940"/>
            <a:ext cx="1270" cy="27432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9117330" y="5132705"/>
            <a:ext cx="33528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9457690" y="4858385"/>
            <a:ext cx="1270" cy="27432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9435465" y="4839970"/>
            <a:ext cx="1148715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10563860" y="4849495"/>
            <a:ext cx="1270" cy="27432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10564495" y="5128260"/>
            <a:ext cx="33528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10904855" y="4853940"/>
            <a:ext cx="1270" cy="27432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10893425" y="4839970"/>
            <a:ext cx="349885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7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7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7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7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7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" dur="7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7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7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5" dur="7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0" dur="7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5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8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3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6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1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4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9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2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7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0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3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6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9" dur="7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2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5" dur="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8" dur="7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3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6" dur="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9" dur="7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2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5" dur="7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8" dur="7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1" dur="7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4" dur="7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7" dur="7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7" grpId="0"/>
      <p:bldP spid="7" grpId="1"/>
      <p:bldP spid="36" grpId="0"/>
      <p:bldP spid="32" grpId="0" bldLvl="0" animBg="1"/>
      <p:bldP spid="36" grpId="1"/>
      <p:bldP spid="32" grpId="1" animBg="1"/>
      <p:bldP spid="39" grpId="0"/>
      <p:bldP spid="37" grpId="0" animBg="1"/>
      <p:bldP spid="39" grpId="1"/>
      <p:bldP spid="37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/>
        </p:nvSpPr>
        <p:spPr>
          <a:xfrm>
            <a:off x="710880" y="2225952"/>
            <a:ext cx="10749598" cy="3882240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62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b="1" dirty="0">
                <a:solidFill>
                  <a:srgbClr val="FFFFFF"/>
                </a:solidFill>
              </a:rPr>
              <a:t>新授</a:t>
            </a:r>
            <a:r>
              <a:rPr lang="zh-CN" altLang="en-US" b="1" dirty="0"/>
              <a:t> </a:t>
            </a:r>
            <a:r>
              <a:rPr lang="zh-CN" altLang="en-US" sz="1800" b="1" dirty="0">
                <a:solidFill>
                  <a:srgbClr val="002060"/>
                </a:solidFill>
              </a:rPr>
              <a:t>总结与合作探究</a:t>
            </a:r>
            <a:r>
              <a:rPr lang="zh-CN" altLang="en-US" b="1" dirty="0"/>
              <a:t>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7119" y="6553641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文本占位符 3"/>
          <p:cNvSpPr>
            <a:spLocks noGrp="1"/>
          </p:cNvSpPr>
          <p:nvPr/>
        </p:nvSpPr>
        <p:spPr>
          <a:xfrm>
            <a:off x="850730" y="695080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dirty="0"/>
              <a:t> </a:t>
            </a:r>
            <a:endParaRPr kumimoji="1"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900" y="231775"/>
            <a:ext cx="11294745" cy="3597275"/>
          </a:xfrm>
          <a:prstGeom prst="rect">
            <a:avLst/>
          </a:prstGeom>
        </p:spPr>
      </p:pic>
      <p:cxnSp>
        <p:nvCxnSpPr>
          <p:cNvPr id="11" name="直接连接符 10"/>
          <p:cNvCxnSpPr/>
          <p:nvPr/>
        </p:nvCxnSpPr>
        <p:spPr>
          <a:xfrm>
            <a:off x="7216775" y="2341880"/>
            <a:ext cx="0" cy="2957195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7653020" y="2341880"/>
            <a:ext cx="0" cy="2957195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8089265" y="2341880"/>
            <a:ext cx="0" cy="2957195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8525510" y="2341880"/>
            <a:ext cx="0" cy="2957195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8961755" y="2341880"/>
            <a:ext cx="0" cy="2957195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9398000" y="2341880"/>
            <a:ext cx="0" cy="2957195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9834245" y="2341880"/>
            <a:ext cx="0" cy="2957195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10270490" y="2392045"/>
            <a:ext cx="0" cy="2957195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10706735" y="2341880"/>
            <a:ext cx="0" cy="2957195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11142980" y="2341880"/>
            <a:ext cx="0" cy="2957195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11579225" y="2341880"/>
            <a:ext cx="0" cy="2957195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1213485" y="3677920"/>
            <a:ext cx="272542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 flipV="1">
            <a:off x="3947795" y="2946075"/>
            <a:ext cx="1270" cy="74231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 flipV="1">
            <a:off x="1752600" y="2967990"/>
            <a:ext cx="3810" cy="74231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3938905" y="2945765"/>
            <a:ext cx="6604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1747520" y="2967990"/>
            <a:ext cx="229235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/>
        </p:nvSpPr>
        <p:spPr>
          <a:xfrm>
            <a:off x="6285230" y="4192270"/>
            <a:ext cx="5454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rgbClr val="FF0000"/>
                </a:solidFill>
              </a:rPr>
              <a:t>Q</a:t>
            </a:r>
            <a:r>
              <a:rPr lang="en-US" altLang="zh-CN" sz="2400" baseline="-25000">
                <a:solidFill>
                  <a:srgbClr val="FF0000"/>
                </a:solidFill>
                <a:uFillTx/>
              </a:rPr>
              <a:t>1</a:t>
            </a:r>
            <a:endParaRPr lang="en-US" altLang="zh-CN" sz="2400" baseline="-25000">
              <a:solidFill>
                <a:srgbClr val="FF0000"/>
              </a:solidFill>
              <a:uFillTx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6285230" y="4912360"/>
            <a:ext cx="5454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rgbClr val="FF0000"/>
                </a:solidFill>
              </a:rPr>
              <a:t>Q</a:t>
            </a:r>
            <a:r>
              <a:rPr lang="en-US" altLang="zh-CN" sz="2400" baseline="-25000">
                <a:solidFill>
                  <a:srgbClr val="FF0000"/>
                </a:solidFill>
                <a:uFillTx/>
              </a:rPr>
              <a:t>2</a:t>
            </a:r>
            <a:endParaRPr lang="en-US" altLang="zh-CN" sz="2400" baseline="-25000">
              <a:solidFill>
                <a:srgbClr val="FF0000"/>
              </a:solidFill>
              <a:uFillTx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4916805" y="4192270"/>
            <a:ext cx="13684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rgbClr val="FF0000"/>
                </a:solidFill>
              </a:rPr>
              <a:t>J</a:t>
            </a:r>
            <a:r>
              <a:rPr lang="en-US" altLang="zh-CN" sz="2400" baseline="-25000">
                <a:solidFill>
                  <a:srgbClr val="FF0000"/>
                </a:solidFill>
                <a:uFillTx/>
              </a:rPr>
              <a:t>1</a:t>
            </a:r>
            <a:r>
              <a:rPr lang="en-US" altLang="zh-CN" sz="2400">
                <a:solidFill>
                  <a:srgbClr val="FF0000"/>
                </a:solidFill>
              </a:rPr>
              <a:t>=K</a:t>
            </a:r>
            <a:r>
              <a:rPr lang="en-US" altLang="zh-CN" sz="2400" baseline="-25000">
                <a:solidFill>
                  <a:srgbClr val="FF0000"/>
                </a:solidFill>
                <a:uFillTx/>
              </a:rPr>
              <a:t>1</a:t>
            </a:r>
            <a:r>
              <a:rPr lang="en-US" altLang="zh-CN" sz="2400">
                <a:solidFill>
                  <a:srgbClr val="FF0000"/>
                </a:solidFill>
              </a:rPr>
              <a:t>=1</a:t>
            </a:r>
            <a:endParaRPr lang="en-US" altLang="zh-CN" sz="2400">
              <a:solidFill>
                <a:srgbClr val="FF0000"/>
              </a:solidFill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4368800" y="4912360"/>
            <a:ext cx="19386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rgbClr val="FF0000"/>
                </a:solidFill>
              </a:rPr>
              <a:t>J</a:t>
            </a:r>
            <a:r>
              <a:rPr lang="en-US" altLang="zh-CN" sz="2400" baseline="-25000">
                <a:solidFill>
                  <a:srgbClr val="FF0000"/>
                </a:solidFill>
                <a:uFillTx/>
              </a:rPr>
              <a:t>2</a:t>
            </a:r>
            <a:r>
              <a:rPr lang="en-US" altLang="zh-CN" sz="2400">
                <a:solidFill>
                  <a:srgbClr val="FF0000"/>
                </a:solidFill>
              </a:rPr>
              <a:t>=K</a:t>
            </a:r>
            <a:r>
              <a:rPr lang="en-US" altLang="zh-CN" sz="2400" baseline="-25000">
                <a:solidFill>
                  <a:srgbClr val="FF0000"/>
                </a:solidFill>
                <a:uFillTx/>
              </a:rPr>
              <a:t>2</a:t>
            </a:r>
            <a:r>
              <a:rPr lang="en-US" altLang="zh-CN" sz="2400">
                <a:solidFill>
                  <a:srgbClr val="FF0000"/>
                </a:solidFill>
              </a:rPr>
              <a:t>=A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⊕</a:t>
            </a:r>
            <a:r>
              <a:rPr lang="en-US" altLang="zh-CN" sz="2400">
                <a:solidFill>
                  <a:srgbClr val="FF0000"/>
                </a:solidFill>
              </a:rPr>
              <a:t>Q</a:t>
            </a:r>
            <a:r>
              <a:rPr lang="en-US" altLang="zh-CN" sz="2400" baseline="-25000">
                <a:solidFill>
                  <a:srgbClr val="FF0000"/>
                </a:solidFill>
                <a:uFillTx/>
              </a:rPr>
              <a:t>1</a:t>
            </a:r>
            <a:endParaRPr lang="en-US" altLang="zh-CN" sz="2400" baseline="-25000">
              <a:solidFill>
                <a:srgbClr val="FF0000"/>
              </a:solidFill>
              <a:uFillTx/>
            </a:endParaRPr>
          </a:p>
        </p:txBody>
      </p:sp>
      <p:sp>
        <p:nvSpPr>
          <p:cNvPr id="33" name="圆角矩形 32"/>
          <p:cNvSpPr/>
          <p:nvPr/>
        </p:nvSpPr>
        <p:spPr>
          <a:xfrm>
            <a:off x="8853170" y="310515"/>
            <a:ext cx="2328545" cy="54483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圆角矩形 33"/>
          <p:cNvSpPr/>
          <p:nvPr/>
        </p:nvSpPr>
        <p:spPr>
          <a:xfrm>
            <a:off x="1026795" y="1096010"/>
            <a:ext cx="1021715" cy="54483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5" name="直接连接符 34"/>
          <p:cNvCxnSpPr/>
          <p:nvPr/>
        </p:nvCxnSpPr>
        <p:spPr>
          <a:xfrm>
            <a:off x="6727190" y="4500880"/>
            <a:ext cx="498475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>
            <a:off x="6731000" y="5200015"/>
            <a:ext cx="498475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>
            <a:off x="7201535" y="4164965"/>
            <a:ext cx="442595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>
            <a:off x="7221220" y="4164965"/>
            <a:ext cx="0" cy="344805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>
          <a:xfrm>
            <a:off x="8076565" y="4164965"/>
            <a:ext cx="449580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>
            <a:off x="8096250" y="4164965"/>
            <a:ext cx="0" cy="344805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>
            <a:off x="8930640" y="4164965"/>
            <a:ext cx="498475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>
          <a:xfrm>
            <a:off x="8950325" y="4164965"/>
            <a:ext cx="0" cy="344805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/>
        </p:nvCxnSpPr>
        <p:spPr>
          <a:xfrm>
            <a:off x="9813290" y="4164965"/>
            <a:ext cx="498475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4" name="直接连接符 43"/>
          <p:cNvCxnSpPr/>
          <p:nvPr/>
        </p:nvCxnSpPr>
        <p:spPr>
          <a:xfrm>
            <a:off x="9832975" y="4164965"/>
            <a:ext cx="0" cy="344805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5" name="直接连接符 44"/>
          <p:cNvCxnSpPr/>
          <p:nvPr/>
        </p:nvCxnSpPr>
        <p:spPr>
          <a:xfrm>
            <a:off x="10706735" y="4164965"/>
            <a:ext cx="447040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>
          <a:xfrm>
            <a:off x="10726420" y="4164965"/>
            <a:ext cx="0" cy="344805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7" name="直接连接符 46"/>
          <p:cNvCxnSpPr/>
          <p:nvPr/>
        </p:nvCxnSpPr>
        <p:spPr>
          <a:xfrm>
            <a:off x="7653020" y="4164965"/>
            <a:ext cx="0" cy="344805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/>
        </p:nvCxnSpPr>
        <p:spPr>
          <a:xfrm>
            <a:off x="7653020" y="4509770"/>
            <a:ext cx="454660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9" name="直接连接符 48"/>
          <p:cNvCxnSpPr/>
          <p:nvPr/>
        </p:nvCxnSpPr>
        <p:spPr>
          <a:xfrm>
            <a:off x="8525510" y="4156075"/>
            <a:ext cx="0" cy="344805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0" name="直接连接符 49"/>
          <p:cNvCxnSpPr/>
          <p:nvPr/>
        </p:nvCxnSpPr>
        <p:spPr>
          <a:xfrm>
            <a:off x="8525510" y="4500880"/>
            <a:ext cx="454660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1" name="直接连接符 50"/>
          <p:cNvCxnSpPr/>
          <p:nvPr/>
        </p:nvCxnSpPr>
        <p:spPr>
          <a:xfrm>
            <a:off x="9398000" y="4156075"/>
            <a:ext cx="0" cy="344805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2" name="直接连接符 51"/>
          <p:cNvCxnSpPr/>
          <p:nvPr/>
        </p:nvCxnSpPr>
        <p:spPr>
          <a:xfrm>
            <a:off x="9398000" y="4500880"/>
            <a:ext cx="454660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3" name="直接连接符 52"/>
          <p:cNvCxnSpPr/>
          <p:nvPr/>
        </p:nvCxnSpPr>
        <p:spPr>
          <a:xfrm>
            <a:off x="10270490" y="4164965"/>
            <a:ext cx="0" cy="344805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4" name="直接连接符 53"/>
          <p:cNvCxnSpPr/>
          <p:nvPr/>
        </p:nvCxnSpPr>
        <p:spPr>
          <a:xfrm>
            <a:off x="10270490" y="4509770"/>
            <a:ext cx="454660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5" name="直接连接符 54"/>
          <p:cNvCxnSpPr/>
          <p:nvPr/>
        </p:nvCxnSpPr>
        <p:spPr>
          <a:xfrm>
            <a:off x="11145520" y="4156075"/>
            <a:ext cx="0" cy="344805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6" name="直接连接符 55"/>
          <p:cNvCxnSpPr/>
          <p:nvPr/>
        </p:nvCxnSpPr>
        <p:spPr>
          <a:xfrm>
            <a:off x="11145520" y="4500880"/>
            <a:ext cx="454660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7" name="直接连接符 56"/>
          <p:cNvCxnSpPr/>
          <p:nvPr/>
        </p:nvCxnSpPr>
        <p:spPr>
          <a:xfrm>
            <a:off x="11572240" y="4156075"/>
            <a:ext cx="240665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/>
        </p:nvCxnSpPr>
        <p:spPr>
          <a:xfrm>
            <a:off x="11579225" y="4164965"/>
            <a:ext cx="0" cy="344805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9" name="文本框 58"/>
          <p:cNvSpPr txBox="1"/>
          <p:nvPr/>
        </p:nvSpPr>
        <p:spPr>
          <a:xfrm>
            <a:off x="11768455" y="3359785"/>
            <a:ext cx="9975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FF0000"/>
                </a:solidFill>
              </a:rPr>
              <a:t>没有记忆功能</a:t>
            </a:r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11768455" y="4048125"/>
            <a:ext cx="9975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FF0000"/>
                </a:solidFill>
              </a:rPr>
              <a:t>有记忆</a:t>
            </a:r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7292975" y="3390900"/>
            <a:ext cx="320040" cy="3822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olidFill>
                  <a:srgbClr val="00B050"/>
                </a:solidFill>
              </a:rPr>
              <a:t>0</a:t>
            </a:r>
            <a:endParaRPr lang="en-US" altLang="zh-CN">
              <a:solidFill>
                <a:srgbClr val="00B050"/>
              </a:solidFill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6830695" y="4156075"/>
            <a:ext cx="320040" cy="3822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olidFill>
                  <a:srgbClr val="00B050"/>
                </a:solidFill>
              </a:rPr>
              <a:t>0</a:t>
            </a:r>
            <a:endParaRPr lang="en-US" altLang="zh-CN">
              <a:solidFill>
                <a:srgbClr val="00B050"/>
              </a:solidFill>
            </a:endParaRPr>
          </a:p>
        </p:txBody>
      </p:sp>
      <p:cxnSp>
        <p:nvCxnSpPr>
          <p:cNvPr id="63" name="直接箭头连接符 62"/>
          <p:cNvCxnSpPr/>
          <p:nvPr/>
        </p:nvCxnSpPr>
        <p:spPr>
          <a:xfrm>
            <a:off x="7021830" y="4371975"/>
            <a:ext cx="399415" cy="4140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4" name="直接箭头连接符 63"/>
          <p:cNvCxnSpPr/>
          <p:nvPr/>
        </p:nvCxnSpPr>
        <p:spPr>
          <a:xfrm>
            <a:off x="7437755" y="3634105"/>
            <a:ext cx="0" cy="10001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5" name="直接连接符 64"/>
          <p:cNvCxnSpPr/>
          <p:nvPr/>
        </p:nvCxnSpPr>
        <p:spPr>
          <a:xfrm>
            <a:off x="7201535" y="5200015"/>
            <a:ext cx="451485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6" name="文本框 65"/>
          <p:cNvSpPr txBox="1"/>
          <p:nvPr/>
        </p:nvSpPr>
        <p:spPr>
          <a:xfrm>
            <a:off x="7706995" y="3374390"/>
            <a:ext cx="320040" cy="3822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olidFill>
                  <a:srgbClr val="00B050"/>
                </a:solidFill>
              </a:rPr>
              <a:t>0</a:t>
            </a:r>
            <a:endParaRPr lang="en-US" altLang="zh-CN">
              <a:solidFill>
                <a:srgbClr val="00B050"/>
              </a:solidFill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7365365" y="4119880"/>
            <a:ext cx="320040" cy="3822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olidFill>
                  <a:schemeClr val="tx1"/>
                </a:solidFill>
              </a:rPr>
              <a:t>1</a:t>
            </a:r>
            <a:endParaRPr lang="en-US" altLang="zh-CN">
              <a:solidFill>
                <a:schemeClr val="tx1"/>
              </a:solidFill>
            </a:endParaRPr>
          </a:p>
        </p:txBody>
      </p:sp>
      <p:cxnSp>
        <p:nvCxnSpPr>
          <p:cNvPr id="68" name="直接连接符 67"/>
          <p:cNvCxnSpPr/>
          <p:nvPr/>
        </p:nvCxnSpPr>
        <p:spPr>
          <a:xfrm>
            <a:off x="7653655" y="4912360"/>
            <a:ext cx="422910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9" name="直接连接符 68"/>
          <p:cNvCxnSpPr/>
          <p:nvPr/>
        </p:nvCxnSpPr>
        <p:spPr>
          <a:xfrm>
            <a:off x="7653020" y="4912360"/>
            <a:ext cx="0" cy="287655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0" name="文本框 69"/>
          <p:cNvSpPr txBox="1"/>
          <p:nvPr/>
        </p:nvSpPr>
        <p:spPr>
          <a:xfrm>
            <a:off x="8157210" y="3390900"/>
            <a:ext cx="320040" cy="3822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olidFill>
                  <a:srgbClr val="00B050"/>
                </a:solidFill>
              </a:rPr>
              <a:t>0</a:t>
            </a:r>
            <a:endParaRPr lang="en-US" altLang="zh-CN">
              <a:solidFill>
                <a:srgbClr val="00B050"/>
              </a:solidFill>
            </a:endParaRPr>
          </a:p>
        </p:txBody>
      </p:sp>
      <p:sp>
        <p:nvSpPr>
          <p:cNvPr id="71" name="文本框 70"/>
          <p:cNvSpPr txBox="1"/>
          <p:nvPr/>
        </p:nvSpPr>
        <p:spPr>
          <a:xfrm>
            <a:off x="7707630" y="4175125"/>
            <a:ext cx="320040" cy="3822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olidFill>
                  <a:schemeClr val="tx1"/>
                </a:solidFill>
              </a:rPr>
              <a:t>0</a:t>
            </a:r>
            <a:endParaRPr lang="en-US" altLang="zh-CN">
              <a:solidFill>
                <a:schemeClr val="tx1"/>
              </a:solidFill>
            </a:endParaRPr>
          </a:p>
        </p:txBody>
      </p:sp>
      <p:cxnSp>
        <p:nvCxnSpPr>
          <p:cNvPr id="72" name="直接箭头连接符 71"/>
          <p:cNvCxnSpPr/>
          <p:nvPr/>
        </p:nvCxnSpPr>
        <p:spPr>
          <a:xfrm>
            <a:off x="7509510" y="4336415"/>
            <a:ext cx="360045" cy="5035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3" name="直接连接符 72"/>
          <p:cNvCxnSpPr/>
          <p:nvPr/>
        </p:nvCxnSpPr>
        <p:spPr>
          <a:xfrm>
            <a:off x="8089900" y="5199380"/>
            <a:ext cx="436245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5" name="直接箭头连接符 74"/>
          <p:cNvCxnSpPr/>
          <p:nvPr/>
        </p:nvCxnSpPr>
        <p:spPr>
          <a:xfrm>
            <a:off x="7941310" y="4408805"/>
            <a:ext cx="288290" cy="3594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>
            <a:off x="8517255" y="4912995"/>
            <a:ext cx="462915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8526145" y="4912360"/>
            <a:ext cx="0" cy="287655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8950325" y="4912360"/>
            <a:ext cx="462915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4" name="直接连接符 73"/>
          <p:cNvCxnSpPr/>
          <p:nvPr/>
        </p:nvCxnSpPr>
        <p:spPr>
          <a:xfrm>
            <a:off x="9398000" y="4911725"/>
            <a:ext cx="0" cy="287655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6" name="直接连接符 75"/>
          <p:cNvCxnSpPr/>
          <p:nvPr/>
        </p:nvCxnSpPr>
        <p:spPr>
          <a:xfrm>
            <a:off x="9381490" y="5199380"/>
            <a:ext cx="462915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7" name="直接连接符 76"/>
          <p:cNvCxnSpPr/>
          <p:nvPr/>
        </p:nvCxnSpPr>
        <p:spPr>
          <a:xfrm>
            <a:off x="9807575" y="4912995"/>
            <a:ext cx="462915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8" name="直接连接符 77"/>
          <p:cNvCxnSpPr/>
          <p:nvPr/>
        </p:nvCxnSpPr>
        <p:spPr>
          <a:xfrm>
            <a:off x="9834245" y="4912360"/>
            <a:ext cx="0" cy="287655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9" name="直接连接符 78"/>
          <p:cNvCxnSpPr/>
          <p:nvPr/>
        </p:nvCxnSpPr>
        <p:spPr>
          <a:xfrm>
            <a:off x="10270490" y="5200015"/>
            <a:ext cx="462915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0" name="直接连接符 79"/>
          <p:cNvCxnSpPr/>
          <p:nvPr/>
        </p:nvCxnSpPr>
        <p:spPr>
          <a:xfrm>
            <a:off x="10718800" y="4912995"/>
            <a:ext cx="462915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1" name="直接连接符 80"/>
          <p:cNvCxnSpPr/>
          <p:nvPr/>
        </p:nvCxnSpPr>
        <p:spPr>
          <a:xfrm>
            <a:off x="11137265" y="4912360"/>
            <a:ext cx="462915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2" name="直接连接符 81"/>
          <p:cNvCxnSpPr/>
          <p:nvPr/>
        </p:nvCxnSpPr>
        <p:spPr>
          <a:xfrm>
            <a:off x="10718800" y="4912360"/>
            <a:ext cx="0" cy="287655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3" name="直接连接符 82"/>
          <p:cNvCxnSpPr/>
          <p:nvPr/>
        </p:nvCxnSpPr>
        <p:spPr>
          <a:xfrm>
            <a:off x="11541760" y="4912360"/>
            <a:ext cx="244475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3181985" y="5922645"/>
            <a:ext cx="454977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/>
              <a:t>输入端有</a:t>
            </a:r>
            <a:r>
              <a:rPr lang="en-US" altLang="zh-CN" sz="3200"/>
              <a:t>Q</a:t>
            </a:r>
            <a:r>
              <a:rPr lang="zh-CN" altLang="en-US" sz="3200"/>
              <a:t>就有记忆功能</a:t>
            </a:r>
            <a:endParaRPr lang="zh-CN" altLang="en-US" sz="3200"/>
          </a:p>
        </p:txBody>
      </p:sp>
      <p:cxnSp>
        <p:nvCxnSpPr>
          <p:cNvPr id="84" name="直接连接符 83"/>
          <p:cNvCxnSpPr/>
          <p:nvPr/>
        </p:nvCxnSpPr>
        <p:spPr>
          <a:xfrm>
            <a:off x="8096250" y="4912360"/>
            <a:ext cx="0" cy="287655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5" name="直接连接符 84"/>
          <p:cNvCxnSpPr/>
          <p:nvPr/>
        </p:nvCxnSpPr>
        <p:spPr>
          <a:xfrm>
            <a:off x="10270490" y="4912995"/>
            <a:ext cx="0" cy="287655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4" dur="7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9" dur="7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2" dur="7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indefinite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8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>
                      <p:stCondLst>
                        <p:cond delay="indefinite"/>
                      </p:stCondLst>
                      <p:childTnLst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id="23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4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>
                      <p:stCondLst>
                        <p:cond delay="indefinite"/>
                      </p:stCondLst>
                      <p:childTnLst>
                        <p:par>
                          <p:cTn id="246" fill="hold">
                            <p:stCondLst>
                              <p:cond delay="0"/>
                            </p:stCondLst>
                            <p:childTnLst>
                              <p:par>
                                <p:cTn id="24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0" fill="hold">
                      <p:stCondLst>
                        <p:cond delay="indefinite"/>
                      </p:stCondLst>
                      <p:childTnLst>
                        <p:par>
                          <p:cTn id="251" fill="hold">
                            <p:stCondLst>
                              <p:cond delay="0"/>
                            </p:stCondLst>
                            <p:childTnLst>
                              <p:par>
                                <p:cTn id="25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4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8" fill="hold">
                      <p:stCondLst>
                        <p:cond delay="indefinite"/>
                      </p:stCondLst>
                      <p:childTnLst>
                        <p:par>
                          <p:cTn id="259" fill="hold">
                            <p:stCondLst>
                              <p:cond delay="0"/>
                            </p:stCondLst>
                            <p:childTnLst>
                              <p:par>
                                <p:cTn id="26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>
                      <p:stCondLst>
                        <p:cond delay="indefinite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8" fill="hold">
                      <p:stCondLst>
                        <p:cond delay="indefinite"/>
                      </p:stCondLst>
                      <p:childTnLst>
                        <p:par>
                          <p:cTn id="269" fill="hold">
                            <p:stCondLst>
                              <p:cond delay="0"/>
                            </p:stCondLst>
                            <p:childTnLst>
                              <p:par>
                                <p:cTn id="27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5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6" fill="hold">
                      <p:stCondLst>
                        <p:cond delay="indefinite"/>
                      </p:stCondLst>
                      <p:childTnLst>
                        <p:par>
                          <p:cTn id="277" fill="hold">
                            <p:stCondLst>
                              <p:cond delay="0"/>
                            </p:stCondLst>
                            <p:childTnLst>
                              <p:par>
                                <p:cTn id="27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0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1" fill="hold">
                      <p:stCondLst>
                        <p:cond delay="indefinite"/>
                      </p:stCondLst>
                      <p:childTnLst>
                        <p:par>
                          <p:cTn id="282" fill="hold">
                            <p:stCondLst>
                              <p:cond delay="0"/>
                            </p:stCondLst>
                            <p:childTnLst>
                              <p:par>
                                <p:cTn id="28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8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9" fill="hold">
                      <p:stCondLst>
                        <p:cond delay="indefinite"/>
                      </p:stCondLst>
                      <p:childTnLst>
                        <p:par>
                          <p:cTn id="290" fill="hold">
                            <p:stCondLst>
                              <p:cond delay="0"/>
                            </p:stCondLst>
                            <p:childTnLst>
                              <p:par>
                                <p:cTn id="29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3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29" grpId="1"/>
      <p:bldP spid="30" grpId="0"/>
      <p:bldP spid="30" grpId="1"/>
      <p:bldP spid="31" grpId="0"/>
      <p:bldP spid="31" grpId="1"/>
      <p:bldP spid="32" grpId="0"/>
      <p:bldP spid="32" grpId="1"/>
      <p:bldP spid="33" grpId="0" animBg="1"/>
      <p:bldP spid="34" grpId="0" animBg="1"/>
      <p:bldP spid="33" grpId="1" animBg="1"/>
      <p:bldP spid="34" grpId="1" animBg="1"/>
      <p:bldP spid="59" grpId="0"/>
      <p:bldP spid="59" grpId="1"/>
      <p:bldP spid="60" grpId="0"/>
      <p:bldP spid="60" grpId="1"/>
      <p:bldP spid="61" grpId="0"/>
      <p:bldP spid="61" grpId="1"/>
      <p:bldP spid="62" grpId="0"/>
      <p:bldP spid="62" grpId="1"/>
      <p:bldP spid="66" grpId="0"/>
      <p:bldP spid="66" grpId="1"/>
      <p:bldP spid="67" grpId="0"/>
      <p:bldP spid="67" grpId="1"/>
      <p:bldP spid="70" grpId="0"/>
      <p:bldP spid="70" grpId="1"/>
      <p:bldP spid="71" grpId="0"/>
      <p:bldP spid="71" grpId="1"/>
      <p:bldP spid="2" grpId="0"/>
      <p:bldP spid="2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/>
        </p:nvSpPr>
        <p:spPr>
          <a:xfrm>
            <a:off x="710880" y="2225952"/>
            <a:ext cx="10749598" cy="3882240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dirty="0"/>
              <a:t>数字</a:t>
            </a:r>
            <a:r>
              <a:rPr kumimoji="1" dirty="0"/>
              <a:t>电路</a:t>
            </a:r>
            <a:endParaRPr kumimoji="1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62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rgbClr val="FFFFFF"/>
                </a:solidFill>
              </a:rPr>
              <a:t>新授</a:t>
            </a:r>
            <a:r>
              <a:rPr lang="zh-CN" altLang="en-US" b="1" dirty="0"/>
              <a:t> </a:t>
            </a:r>
            <a:r>
              <a:rPr lang="zh-CN" altLang="en-US" sz="1800" b="1" dirty="0">
                <a:solidFill>
                  <a:srgbClr val="02184F"/>
                </a:solidFill>
              </a:rPr>
              <a:t>总结与合作探究</a:t>
            </a:r>
            <a:r>
              <a:rPr lang="zh-CN" altLang="en-US" b="1" dirty="0"/>
              <a:t>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7119" y="6553641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文本占位符 3"/>
          <p:cNvSpPr>
            <a:spLocks noGrp="1"/>
          </p:cNvSpPr>
          <p:nvPr/>
        </p:nvSpPr>
        <p:spPr>
          <a:xfrm>
            <a:off x="850730" y="695080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dirty="0"/>
              <a:t> </a:t>
            </a:r>
            <a:endParaRPr kumimoji="1"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810912" y="665738"/>
            <a:ext cx="590649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 b="1" dirty="0"/>
              <a:t>三、</a:t>
            </a:r>
            <a:r>
              <a:rPr lang="en-US" altLang="zh-CN" sz="3600" b="1" dirty="0"/>
              <a:t>T</a:t>
            </a:r>
            <a:r>
              <a:rPr lang="zh-CN" altLang="en-US" sz="3600" b="1" dirty="0"/>
              <a:t>触发器</a:t>
            </a:r>
            <a:endParaRPr lang="zh-CN" altLang="en-US" sz="36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741045" y="1311275"/>
            <a:ext cx="52692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 dirty="0">
                <a:solidFill>
                  <a:srgbClr val="FF0000"/>
                </a:solidFill>
              </a:rPr>
              <a:t>1</a:t>
            </a:r>
            <a:r>
              <a:rPr lang="zh-CN" altLang="en-US" sz="2800" b="1" dirty="0">
                <a:solidFill>
                  <a:srgbClr val="FF0000"/>
                </a:solidFill>
              </a:rPr>
              <a:t>、电路</a:t>
            </a:r>
            <a:r>
              <a:rPr lang="zh-CN" altLang="en-US" sz="2800" b="1" dirty="0">
                <a:solidFill>
                  <a:srgbClr val="FF0000"/>
                </a:solidFill>
              </a:rPr>
              <a:t>结构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1445" y="807720"/>
            <a:ext cx="2633980" cy="500507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883920" y="1914525"/>
            <a:ext cx="79933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/>
              <a:t>把</a:t>
            </a:r>
            <a:r>
              <a:rPr lang="en-US" altLang="zh-CN" sz="2400" b="1"/>
              <a:t>JK</a:t>
            </a:r>
            <a:r>
              <a:rPr lang="zh-CN" altLang="en-US" sz="2400" b="1"/>
              <a:t>触发器的</a:t>
            </a:r>
            <a:r>
              <a:rPr lang="en-US" altLang="zh-CN" sz="2400" b="1"/>
              <a:t>J</a:t>
            </a:r>
            <a:r>
              <a:rPr lang="zh-CN" altLang="en-US" sz="2400" b="1"/>
              <a:t>端和</a:t>
            </a:r>
            <a:r>
              <a:rPr lang="en-US" altLang="zh-CN" sz="2400" b="1"/>
              <a:t>K</a:t>
            </a:r>
            <a:r>
              <a:rPr lang="zh-CN" altLang="en-US" sz="2400" b="1"/>
              <a:t>端相接作为控制端，称为</a:t>
            </a:r>
            <a:r>
              <a:rPr lang="en-US" altLang="zh-CN" sz="2400" b="1"/>
              <a:t>T</a:t>
            </a:r>
            <a:r>
              <a:rPr lang="zh-CN" altLang="en-US" sz="2400" b="1"/>
              <a:t>端。</a:t>
            </a:r>
            <a:endParaRPr lang="zh-CN" altLang="en-US" sz="2400" b="1"/>
          </a:p>
        </p:txBody>
      </p:sp>
      <p:sp>
        <p:nvSpPr>
          <p:cNvPr id="14" name="文本框 13"/>
          <p:cNvSpPr txBox="1"/>
          <p:nvPr/>
        </p:nvSpPr>
        <p:spPr>
          <a:xfrm>
            <a:off x="779145" y="2536190"/>
            <a:ext cx="52692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 dirty="0">
                <a:solidFill>
                  <a:srgbClr val="FF0000"/>
                </a:solidFill>
              </a:rPr>
              <a:t>2</a:t>
            </a:r>
            <a:r>
              <a:rPr lang="zh-CN" altLang="en-US" sz="2800" b="1" dirty="0">
                <a:solidFill>
                  <a:srgbClr val="FF0000"/>
                </a:solidFill>
              </a:rPr>
              <a:t>、逻辑</a:t>
            </a:r>
            <a:r>
              <a:rPr lang="zh-CN" altLang="en-US" sz="2800" b="1" dirty="0">
                <a:solidFill>
                  <a:srgbClr val="FF0000"/>
                </a:solidFill>
              </a:rPr>
              <a:t>功能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884555" y="3182620"/>
            <a:ext cx="79933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/>
              <a:t>当</a:t>
            </a:r>
            <a:r>
              <a:rPr lang="en-US" altLang="zh-CN" sz="2400" b="1"/>
              <a:t>J=K=0</a:t>
            </a:r>
            <a:r>
              <a:rPr lang="zh-CN" altLang="en-US" sz="2400" b="1"/>
              <a:t>时，触发脉冲不起</a:t>
            </a:r>
            <a:r>
              <a:rPr lang="zh-CN" altLang="en-US" sz="2400" b="1"/>
              <a:t>作用。</a:t>
            </a:r>
            <a:endParaRPr lang="zh-CN" altLang="en-US" sz="2400" b="1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文本框 15"/>
              <p:cNvSpPr txBox="1"/>
              <p:nvPr/>
            </p:nvSpPr>
            <p:spPr>
              <a:xfrm>
                <a:off x="884555" y="3767455"/>
                <a:ext cx="7993380" cy="8388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 sz="2400" b="1"/>
                  <a:t>当</a:t>
                </a:r>
                <a:r>
                  <a:rPr lang="en-US" altLang="zh-CN" sz="2400" b="1"/>
                  <a:t>J=K=1</a:t>
                </a:r>
                <a:r>
                  <a:rPr lang="zh-CN" altLang="en-US" sz="2400" b="1"/>
                  <a:t>时，每来一次触发器脉冲，触发器反转一次，</a:t>
                </a:r>
                <a:endParaRPr lang="zh-CN" altLang="en-US" sz="2400" b="1"/>
              </a:p>
              <a:p>
                <a:r>
                  <a:rPr lang="zh-CN" altLang="en-US" sz="2400" b="1"/>
                  <a:t>即</a:t>
                </a:r>
                <a:r>
                  <a:rPr lang="en-US" altLang="zh-CN" sz="2400" b="1"/>
                  <a:t>Q</a:t>
                </a:r>
                <a:r>
                  <a:rPr lang="en-US" altLang="zh-CN" sz="2400" b="1" baseline="-25000">
                    <a:solidFill>
                      <a:schemeClr val="tx1"/>
                    </a:solidFill>
                    <a:uFillTx/>
                  </a:rPr>
                  <a:t>n+1</a:t>
                </a:r>
                <a:r>
                  <a:rPr lang="en-US" altLang="zh-CN" sz="2400" b="1"/>
                  <a:t> =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accPr>
                      <m:e>
                        <m:r>
                          <a:rPr lang="en-US" altLang="zh-CN" sz="2400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𝑄</m:t>
                        </m:r>
                      </m:e>
                    </m:acc>
                  </m:oMath>
                </a14:m>
                <a:r>
                  <a:rPr lang="en-US" altLang="zh-CN" sz="2400" baseline="-25000">
                    <a:solidFill>
                      <a:schemeClr val="tx1"/>
                    </a:solidFill>
                    <a:uFillTx/>
                    <a:latin typeface="Cambria Math" panose="02040503050406030204" charset="0"/>
                    <a:cs typeface="Cambria Math" panose="02040503050406030204" charset="0"/>
                  </a:rPr>
                  <a:t>n</a:t>
                </a:r>
                <a:r>
                  <a:rPr lang="zh-CN" altLang="en-US" sz="2400" b="1"/>
                  <a:t>。</a:t>
                </a:r>
                <a:endParaRPr lang="zh-CN" altLang="en-US" sz="2400" b="1"/>
              </a:p>
            </p:txBody>
          </p:sp>
        </mc:Choice>
        <mc:Fallback>
          <p:sp>
            <p:nvSpPr>
              <p:cNvPr id="16" name="文本框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555" y="3767455"/>
                <a:ext cx="7993380" cy="838835"/>
              </a:xfrm>
              <a:prstGeom prst="rect">
                <a:avLst/>
              </a:prstGeom>
              <a:blipFill rotWithShape="1">
                <a:blip r:embed="rId3"/>
                <a:stretch>
                  <a:fillRect b="-9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4" grpId="1"/>
      <p:bldP spid="15" grpId="0"/>
      <p:bldP spid="15" grpId="1"/>
      <p:bldP spid="16" grpId="0"/>
      <p:bldP spid="16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/>
        </p:nvSpPr>
        <p:spPr>
          <a:xfrm>
            <a:off x="710880" y="2225952"/>
            <a:ext cx="10749598" cy="3882240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dirty="0"/>
              <a:t>数字</a:t>
            </a:r>
            <a:r>
              <a:rPr kumimoji="1" dirty="0"/>
              <a:t>电路</a:t>
            </a:r>
            <a:endParaRPr kumimoji="1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62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rgbClr val="FFFFFF"/>
                </a:solidFill>
              </a:rPr>
              <a:t>新授</a:t>
            </a:r>
            <a:r>
              <a:rPr lang="zh-CN" altLang="en-US" b="1" dirty="0"/>
              <a:t> </a:t>
            </a:r>
            <a:r>
              <a:rPr lang="zh-CN" altLang="en-US" sz="1800" b="1" dirty="0">
                <a:solidFill>
                  <a:srgbClr val="02184F"/>
                </a:solidFill>
              </a:rPr>
              <a:t>总结与合作探究</a:t>
            </a:r>
            <a:r>
              <a:rPr lang="zh-CN" altLang="en-US" b="1" dirty="0"/>
              <a:t>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7119" y="6553641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文本占位符 3"/>
          <p:cNvSpPr>
            <a:spLocks noGrp="1"/>
          </p:cNvSpPr>
          <p:nvPr/>
        </p:nvSpPr>
        <p:spPr>
          <a:xfrm>
            <a:off x="850730" y="695080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dirty="0"/>
              <a:t> </a:t>
            </a:r>
            <a:endParaRPr kumimoji="1"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810912" y="665738"/>
            <a:ext cx="590649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 b="1" dirty="0"/>
              <a:t>三、</a:t>
            </a:r>
            <a:r>
              <a:rPr lang="en-US" altLang="zh-CN" sz="3600" b="1" dirty="0"/>
              <a:t>T</a:t>
            </a:r>
            <a:r>
              <a:rPr lang="zh-CN" altLang="en-US" sz="3600" b="1" dirty="0"/>
              <a:t>触发器</a:t>
            </a:r>
            <a:endParaRPr lang="zh-CN" altLang="en-US" sz="36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741045" y="1311275"/>
            <a:ext cx="52692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 dirty="0">
                <a:solidFill>
                  <a:srgbClr val="FF0000"/>
                </a:solidFill>
              </a:rPr>
              <a:t>3</a:t>
            </a:r>
            <a:r>
              <a:rPr lang="zh-CN" altLang="en-US" sz="2800" b="1" dirty="0">
                <a:solidFill>
                  <a:srgbClr val="FF0000"/>
                </a:solidFill>
              </a:rPr>
              <a:t>、真值</a:t>
            </a:r>
            <a:r>
              <a:rPr lang="zh-CN" altLang="en-US" sz="2800" b="1" dirty="0">
                <a:solidFill>
                  <a:srgbClr val="FF0000"/>
                </a:solidFill>
              </a:rPr>
              <a:t>表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1445" y="807720"/>
            <a:ext cx="2633980" cy="5005070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810895" y="3834130"/>
            <a:ext cx="52692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 dirty="0">
                <a:solidFill>
                  <a:srgbClr val="FF0000"/>
                </a:solidFill>
              </a:rPr>
              <a:t>4</a:t>
            </a:r>
            <a:r>
              <a:rPr lang="zh-CN" altLang="en-US" sz="2800" b="1" dirty="0">
                <a:solidFill>
                  <a:srgbClr val="FF0000"/>
                </a:solidFill>
              </a:rPr>
              <a:t>、用途：</a:t>
            </a:r>
            <a:r>
              <a:rPr lang="zh-CN" altLang="en-US" sz="2800" b="1" dirty="0">
                <a:solidFill>
                  <a:srgbClr val="FF0000"/>
                </a:solidFill>
              </a:rPr>
              <a:t>计数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6990" y="1960880"/>
            <a:ext cx="6294120" cy="1592580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7653655" y="2608580"/>
            <a:ext cx="9772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rgbClr val="FF0000"/>
                </a:solidFill>
              </a:rPr>
              <a:t>(</a:t>
            </a:r>
            <a:r>
              <a:rPr lang="zh-CN" altLang="en-US" b="1">
                <a:solidFill>
                  <a:srgbClr val="FF0000"/>
                </a:solidFill>
              </a:rPr>
              <a:t>保持</a:t>
            </a:r>
            <a:r>
              <a:rPr lang="en-US" altLang="zh-CN" b="1">
                <a:solidFill>
                  <a:srgbClr val="FF0000"/>
                </a:solidFill>
              </a:rPr>
              <a:t>)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7654290" y="3112770"/>
            <a:ext cx="9772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rgbClr val="FF0000"/>
                </a:solidFill>
              </a:rPr>
              <a:t>(</a:t>
            </a:r>
            <a:r>
              <a:rPr lang="zh-CN" altLang="en-US" b="1">
                <a:solidFill>
                  <a:srgbClr val="FF0000"/>
                </a:solidFill>
              </a:rPr>
              <a:t>翻转</a:t>
            </a:r>
            <a:r>
              <a:rPr lang="en-US" altLang="zh-CN" b="1">
                <a:solidFill>
                  <a:srgbClr val="FF0000"/>
                </a:solidFill>
              </a:rPr>
              <a:t>)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884555" y="4474210"/>
            <a:ext cx="79933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/>
              <a:t>当</a:t>
            </a:r>
            <a:r>
              <a:rPr lang="en-US" altLang="zh-CN" sz="2400" b="1"/>
              <a:t>T=0</a:t>
            </a:r>
            <a:r>
              <a:rPr lang="zh-CN" altLang="en-US" sz="2400" b="1"/>
              <a:t>时，触发器无计数</a:t>
            </a:r>
            <a:r>
              <a:rPr lang="zh-CN" altLang="en-US" sz="2400" b="1"/>
              <a:t>功能。</a:t>
            </a:r>
            <a:endParaRPr lang="zh-CN" altLang="en-US" sz="2400" b="1"/>
          </a:p>
        </p:txBody>
      </p:sp>
      <p:sp>
        <p:nvSpPr>
          <p:cNvPr id="20" name="文本框 19"/>
          <p:cNvSpPr txBox="1"/>
          <p:nvPr/>
        </p:nvSpPr>
        <p:spPr>
          <a:xfrm>
            <a:off x="868045" y="4959985"/>
            <a:ext cx="79933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/>
              <a:t>当</a:t>
            </a:r>
            <a:r>
              <a:rPr lang="en-US" altLang="zh-CN" sz="2400" b="1"/>
              <a:t>T=1</a:t>
            </a:r>
            <a:r>
              <a:rPr lang="zh-CN" altLang="en-US" sz="2400" b="1"/>
              <a:t>时，触发器</a:t>
            </a:r>
            <a:r>
              <a:rPr lang="zh-CN" altLang="en-US" sz="2400" b="1"/>
              <a:t>具有计数</a:t>
            </a:r>
            <a:r>
              <a:rPr lang="zh-CN" altLang="en-US" sz="2400" b="1"/>
              <a:t>功能。</a:t>
            </a:r>
            <a:endParaRPr lang="zh-CN" altLang="en-US" sz="2400" b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4" grpId="1"/>
      <p:bldP spid="19" grpId="0"/>
      <p:bldP spid="19" grpId="1"/>
      <p:bldP spid="20" grpId="0"/>
      <p:bldP spid="20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/>
        </p:nvSpPr>
        <p:spPr>
          <a:xfrm>
            <a:off x="710880" y="2225952"/>
            <a:ext cx="10749598" cy="3882240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dirty="0"/>
              <a:t>数字</a:t>
            </a:r>
            <a:r>
              <a:rPr kumimoji="1" dirty="0"/>
              <a:t>电路</a:t>
            </a:r>
            <a:endParaRPr kumimoji="1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62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rgbClr val="FFFFFF"/>
                </a:solidFill>
              </a:rPr>
              <a:t>新授</a:t>
            </a:r>
            <a:r>
              <a:rPr lang="zh-CN" altLang="en-US" b="1" dirty="0"/>
              <a:t> </a:t>
            </a:r>
            <a:r>
              <a:rPr lang="zh-CN" altLang="en-US" sz="1800" b="1" dirty="0">
                <a:solidFill>
                  <a:srgbClr val="02184F"/>
                </a:solidFill>
              </a:rPr>
              <a:t>总结与合作探究</a:t>
            </a:r>
            <a:r>
              <a:rPr lang="zh-CN" altLang="en-US" b="1" dirty="0"/>
              <a:t>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7119" y="6553641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文本占位符 3"/>
          <p:cNvSpPr>
            <a:spLocks noGrp="1"/>
          </p:cNvSpPr>
          <p:nvPr/>
        </p:nvSpPr>
        <p:spPr>
          <a:xfrm>
            <a:off x="850730" y="695080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dirty="0"/>
              <a:t> </a:t>
            </a:r>
            <a:endParaRPr kumimoji="1"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810912" y="665738"/>
            <a:ext cx="590649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 b="1" dirty="0"/>
              <a:t>四、</a:t>
            </a:r>
            <a:r>
              <a:rPr lang="en-US" altLang="zh-CN" sz="3600" b="1" dirty="0"/>
              <a:t>D</a:t>
            </a:r>
            <a:r>
              <a:rPr lang="zh-CN" altLang="en-US" sz="3600" b="1" dirty="0"/>
              <a:t>触发器</a:t>
            </a:r>
            <a:endParaRPr lang="zh-CN" altLang="en-US" sz="36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741045" y="1311275"/>
            <a:ext cx="52692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 dirty="0">
                <a:solidFill>
                  <a:srgbClr val="FF0000"/>
                </a:solidFill>
              </a:rPr>
              <a:t>1</a:t>
            </a:r>
            <a:r>
              <a:rPr lang="zh-CN" altLang="en-US" sz="2800" b="1" dirty="0">
                <a:solidFill>
                  <a:srgbClr val="FF0000"/>
                </a:solidFill>
              </a:rPr>
              <a:t>、电路</a:t>
            </a:r>
            <a:r>
              <a:rPr lang="zh-CN" altLang="en-US" sz="2800" b="1" dirty="0">
                <a:solidFill>
                  <a:srgbClr val="FF0000"/>
                </a:solidFill>
              </a:rPr>
              <a:t>结构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810895" y="2901315"/>
            <a:ext cx="52692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 dirty="0">
                <a:solidFill>
                  <a:srgbClr val="FF0000"/>
                </a:solidFill>
              </a:rPr>
              <a:t>2</a:t>
            </a:r>
            <a:r>
              <a:rPr lang="zh-CN" altLang="en-US" sz="2800" b="1" dirty="0">
                <a:solidFill>
                  <a:srgbClr val="FF0000"/>
                </a:solidFill>
              </a:rPr>
              <a:t>、逻辑</a:t>
            </a:r>
            <a:r>
              <a:rPr lang="zh-CN" altLang="en-US" sz="2800" b="1" dirty="0">
                <a:solidFill>
                  <a:srgbClr val="FF0000"/>
                </a:solidFill>
              </a:rPr>
              <a:t>功能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884555" y="3613150"/>
            <a:ext cx="79933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indent="609600" eaLnBrk="1" latinLnBrk="0" hangingPunct="1">
              <a:extLst>
                <a:ext uri="{35155182-B16C-46BC-9424-99874614C6A1}">
                  <wpsdc:indentchars xmlns:wpsdc="http://www.wps.cn/officeDocument/2017/drawingmlCustomData" val="200" checksum="4158780845"/>
                </a:ext>
              </a:extLst>
            </a:pPr>
            <a:r>
              <a:rPr lang="en-US" altLang="zh-CN" sz="2400" b="1"/>
              <a:t>D</a:t>
            </a:r>
            <a:r>
              <a:rPr lang="zh-CN" altLang="en-US" sz="2400" b="1"/>
              <a:t>触发器是</a:t>
            </a:r>
            <a:r>
              <a:rPr lang="en-US" altLang="zh-CN" sz="2400" b="1"/>
              <a:t>JK</a:t>
            </a:r>
            <a:r>
              <a:rPr lang="zh-CN" altLang="en-US" sz="2400" b="1"/>
              <a:t>触发器在</a:t>
            </a:r>
            <a:r>
              <a:rPr lang="en-US" altLang="zh-CN" sz="2400" b="1"/>
              <a:t>J≠K</a:t>
            </a:r>
            <a:r>
              <a:rPr lang="zh-CN" altLang="en-US" sz="2400" b="1"/>
              <a:t>条件下的特殊</a:t>
            </a:r>
            <a:r>
              <a:rPr lang="zh-CN" altLang="en-US" sz="2400" b="1"/>
              <a:t>情况。</a:t>
            </a:r>
            <a:endParaRPr lang="zh-CN" altLang="en-US" sz="2400" b="1"/>
          </a:p>
        </p:txBody>
      </p:sp>
      <p:sp>
        <p:nvSpPr>
          <p:cNvPr id="20" name="文本框 19"/>
          <p:cNvSpPr txBox="1"/>
          <p:nvPr/>
        </p:nvSpPr>
        <p:spPr>
          <a:xfrm>
            <a:off x="868045" y="4170680"/>
            <a:ext cx="799338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indent="609600" eaLnBrk="1" latinLnBrk="0" hangingPunct="1">
              <a:extLst>
                <a:ext uri="{35155182-B16C-46BC-9424-99874614C6A1}">
                  <wpsdc:indentchars xmlns:wpsdc="http://www.wps.cn/officeDocument/2017/drawingmlCustomData" val="200" checksum="4158780845"/>
                </a:ext>
              </a:extLst>
            </a:pPr>
            <a:r>
              <a:rPr lang="zh-CN" altLang="en-US" sz="2400" b="1"/>
              <a:t>在时钟脉冲作用后，触发器状态与</a:t>
            </a:r>
            <a:r>
              <a:rPr lang="en-US" altLang="zh-CN" sz="2400" b="1"/>
              <a:t>D</a:t>
            </a:r>
            <a:r>
              <a:rPr lang="zh-CN" altLang="en-US" sz="2400" b="1"/>
              <a:t>端状态相同，即</a:t>
            </a:r>
            <a:r>
              <a:rPr lang="en-US" altLang="zh-CN" sz="2400" b="1"/>
              <a:t>Q</a:t>
            </a:r>
            <a:r>
              <a:rPr lang="en-US" altLang="zh-CN" sz="2400" b="1" baseline="-25000">
                <a:solidFill>
                  <a:schemeClr val="tx1"/>
                </a:solidFill>
                <a:uFillTx/>
              </a:rPr>
              <a:t>n+1 </a:t>
            </a:r>
            <a:r>
              <a:rPr lang="en-US" altLang="zh-CN" sz="2400" b="1"/>
              <a:t>= D</a:t>
            </a:r>
            <a:r>
              <a:rPr lang="zh-CN" altLang="en-US" sz="2400" b="1"/>
              <a:t>。</a:t>
            </a:r>
            <a:endParaRPr lang="zh-CN" altLang="en-US" sz="2400" b="1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4260" y="1174115"/>
            <a:ext cx="3067050" cy="1802130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883920" y="1914525"/>
            <a:ext cx="799338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indent="609600" eaLnBrk="1" latinLnBrk="0" hangingPunct="1">
              <a:extLst>
                <a:ext uri="{35155182-B16C-46BC-9424-99874614C6A1}">
                  <wpsdc:indentchars xmlns:wpsdc="http://www.wps.cn/officeDocument/2017/drawingmlCustomData" val="200" checksum="4158780845"/>
                </a:ext>
              </a:extLst>
            </a:pPr>
            <a:r>
              <a:rPr lang="zh-CN" altLang="en-US" sz="2400" b="1"/>
              <a:t>在</a:t>
            </a:r>
            <a:r>
              <a:rPr lang="en-US" altLang="zh-CN" sz="2400" b="1"/>
              <a:t>JK</a:t>
            </a:r>
            <a:r>
              <a:rPr lang="zh-CN" altLang="en-US" sz="2400" b="1"/>
              <a:t>触发器的</a:t>
            </a:r>
            <a:r>
              <a:rPr lang="en-US" altLang="zh-CN" sz="2400" b="1"/>
              <a:t>K</a:t>
            </a:r>
            <a:r>
              <a:rPr lang="zh-CN" altLang="en-US" sz="2400" b="1"/>
              <a:t>端，串联一个非门，再接到</a:t>
            </a:r>
            <a:r>
              <a:rPr lang="en-US" altLang="zh-CN" sz="2400" b="1"/>
              <a:t>J</a:t>
            </a:r>
            <a:r>
              <a:rPr lang="zh-CN" altLang="en-US" sz="2400" b="1"/>
              <a:t>端，</a:t>
            </a:r>
            <a:r>
              <a:rPr lang="zh-CN" altLang="en-US" sz="2400" b="1"/>
              <a:t>引出一个控制端</a:t>
            </a:r>
            <a:r>
              <a:rPr lang="en-US" altLang="zh-CN" sz="2400" b="1"/>
              <a:t>D</a:t>
            </a:r>
            <a:r>
              <a:rPr lang="zh-CN" altLang="en-US" sz="2400" b="1"/>
              <a:t>，就组成</a:t>
            </a:r>
            <a:r>
              <a:rPr lang="en-US" altLang="zh-CN" sz="2400" b="1"/>
              <a:t>D</a:t>
            </a:r>
            <a:r>
              <a:rPr lang="zh-CN" altLang="en-US" sz="2400" b="1"/>
              <a:t>触发器。</a:t>
            </a:r>
            <a:endParaRPr lang="zh-CN" altLang="en-US" sz="2400" b="1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6270" y="3400425"/>
            <a:ext cx="2293620" cy="1752600"/>
          </a:xfrm>
          <a:prstGeom prst="rect">
            <a:avLst/>
          </a:prstGeom>
        </p:spPr>
      </p:pic>
      <p:sp>
        <p:nvSpPr>
          <p:cNvPr id="21" name="文本框 20"/>
          <p:cNvSpPr txBox="1"/>
          <p:nvPr/>
        </p:nvSpPr>
        <p:spPr>
          <a:xfrm>
            <a:off x="9958705" y="5200650"/>
            <a:ext cx="16719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>
                <a:solidFill>
                  <a:srgbClr val="E949F8"/>
                </a:solidFill>
              </a:rPr>
              <a:t>逻辑符号</a:t>
            </a:r>
            <a:endParaRPr lang="zh-CN" altLang="en-US" sz="2800" b="1">
              <a:solidFill>
                <a:srgbClr val="E949F8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4" grpId="1"/>
      <p:bldP spid="19" grpId="0"/>
      <p:bldP spid="19" grpId="1"/>
      <p:bldP spid="20" grpId="0"/>
      <p:bldP spid="20" grpId="1"/>
      <p:bldP spid="21" grpId="0"/>
      <p:bldP spid="21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/>
        </p:nvSpPr>
        <p:spPr>
          <a:xfrm>
            <a:off x="710880" y="2225952"/>
            <a:ext cx="10749598" cy="3882240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dirty="0"/>
              <a:t>数字</a:t>
            </a:r>
            <a:r>
              <a:rPr kumimoji="1" dirty="0"/>
              <a:t>电路</a:t>
            </a:r>
            <a:endParaRPr kumimoji="1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62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rgbClr val="FFFFFF"/>
                </a:solidFill>
              </a:rPr>
              <a:t>新授</a:t>
            </a:r>
            <a:r>
              <a:rPr lang="zh-CN" altLang="en-US" b="1" dirty="0"/>
              <a:t> </a:t>
            </a:r>
            <a:r>
              <a:rPr lang="zh-CN" altLang="en-US" sz="1800" b="1" dirty="0">
                <a:solidFill>
                  <a:srgbClr val="02184F"/>
                </a:solidFill>
              </a:rPr>
              <a:t>总结与合作探究</a:t>
            </a:r>
            <a:r>
              <a:rPr lang="zh-CN" altLang="en-US" b="1" dirty="0"/>
              <a:t>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7119" y="6553641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文本占位符 3"/>
          <p:cNvSpPr>
            <a:spLocks noGrp="1"/>
          </p:cNvSpPr>
          <p:nvPr/>
        </p:nvSpPr>
        <p:spPr>
          <a:xfrm>
            <a:off x="850730" y="695080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dirty="0"/>
              <a:t> </a:t>
            </a:r>
            <a:endParaRPr kumimoji="1"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810912" y="665738"/>
            <a:ext cx="590649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 b="1" dirty="0"/>
              <a:t>四、</a:t>
            </a:r>
            <a:r>
              <a:rPr lang="en-US" altLang="zh-CN" sz="3600" b="1" dirty="0"/>
              <a:t>D</a:t>
            </a:r>
            <a:r>
              <a:rPr lang="zh-CN" altLang="en-US" sz="3600" b="1" dirty="0"/>
              <a:t>触发器</a:t>
            </a:r>
            <a:endParaRPr lang="zh-CN" altLang="en-US" sz="36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741045" y="1311275"/>
            <a:ext cx="52692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 dirty="0">
                <a:solidFill>
                  <a:srgbClr val="FF0000"/>
                </a:solidFill>
              </a:rPr>
              <a:t>3</a:t>
            </a:r>
            <a:r>
              <a:rPr lang="zh-CN" altLang="en-US" sz="2800" b="1" dirty="0">
                <a:solidFill>
                  <a:srgbClr val="FF0000"/>
                </a:solidFill>
              </a:rPr>
              <a:t>、真值</a:t>
            </a:r>
            <a:r>
              <a:rPr lang="zh-CN" altLang="en-US" sz="2800" b="1" dirty="0">
                <a:solidFill>
                  <a:srgbClr val="FF0000"/>
                </a:solidFill>
              </a:rPr>
              <a:t>表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4260" y="1174115"/>
            <a:ext cx="3067050" cy="180213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6270" y="3400425"/>
            <a:ext cx="2293620" cy="1752600"/>
          </a:xfrm>
          <a:prstGeom prst="rect">
            <a:avLst/>
          </a:prstGeom>
        </p:spPr>
      </p:pic>
      <p:sp>
        <p:nvSpPr>
          <p:cNvPr id="21" name="文本框 20"/>
          <p:cNvSpPr txBox="1"/>
          <p:nvPr/>
        </p:nvSpPr>
        <p:spPr>
          <a:xfrm>
            <a:off x="9958705" y="5200650"/>
            <a:ext cx="16719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>
                <a:solidFill>
                  <a:srgbClr val="E949F8"/>
                </a:solidFill>
              </a:rPr>
              <a:t>逻辑符号</a:t>
            </a:r>
            <a:endParaRPr lang="zh-CN" altLang="en-US" sz="2800" b="1">
              <a:solidFill>
                <a:srgbClr val="E949F8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4480" y="2032635"/>
            <a:ext cx="4349115" cy="19837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1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/>
        </p:nvSpPr>
        <p:spPr>
          <a:xfrm>
            <a:off x="710880" y="2225952"/>
            <a:ext cx="10749598" cy="3882240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dirty="0"/>
              <a:t>数字</a:t>
            </a:r>
            <a:r>
              <a:rPr kumimoji="1" dirty="0"/>
              <a:t>电路</a:t>
            </a:r>
            <a:endParaRPr kumimoji="1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62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rgbClr val="FFFFFF"/>
                </a:solidFill>
              </a:rPr>
              <a:t>新授</a:t>
            </a:r>
            <a:r>
              <a:rPr lang="zh-CN" altLang="en-US" b="1" dirty="0"/>
              <a:t> </a:t>
            </a:r>
            <a:r>
              <a:rPr lang="zh-CN" altLang="en-US" sz="1800" b="1" dirty="0">
                <a:solidFill>
                  <a:srgbClr val="02184F"/>
                </a:solidFill>
              </a:rPr>
              <a:t>总结与合作探究</a:t>
            </a:r>
            <a:r>
              <a:rPr lang="zh-CN" altLang="en-US" b="1" dirty="0"/>
              <a:t>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7119" y="6553641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文本占位符 3"/>
          <p:cNvSpPr>
            <a:spLocks noGrp="1"/>
          </p:cNvSpPr>
          <p:nvPr/>
        </p:nvSpPr>
        <p:spPr>
          <a:xfrm>
            <a:off x="850730" y="695080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dirty="0"/>
              <a:t> </a:t>
            </a:r>
            <a:endParaRPr kumimoji="1"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902970" y="753745"/>
            <a:ext cx="941514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rgbClr val="FF0000"/>
                </a:solidFill>
              </a:rPr>
              <a:t>例</a:t>
            </a:r>
            <a:r>
              <a:rPr lang="en-US" altLang="zh-CN" sz="2800">
                <a:solidFill>
                  <a:srgbClr val="FF0000"/>
                </a:solidFill>
              </a:rPr>
              <a:t>1</a:t>
            </a:r>
            <a:r>
              <a:rPr lang="zh-CN" altLang="en-US" sz="2800">
                <a:solidFill>
                  <a:srgbClr val="FF0000"/>
                </a:solidFill>
              </a:rPr>
              <a:t>：</a:t>
            </a:r>
            <a:r>
              <a:rPr lang="en-US" altLang="zh-CN" sz="2800" b="1">
                <a:solidFill>
                  <a:srgbClr val="FFC000"/>
                </a:solidFill>
              </a:rPr>
              <a:t>D</a:t>
            </a:r>
            <a:r>
              <a:rPr lang="zh-CN" altLang="en-US" sz="2800" b="1">
                <a:solidFill>
                  <a:srgbClr val="FFC000"/>
                </a:solidFill>
              </a:rPr>
              <a:t>触发器的波形图</a:t>
            </a:r>
            <a:endParaRPr lang="zh-CN" altLang="en-US" sz="2800" b="1">
              <a:solidFill>
                <a:srgbClr val="FFC000"/>
              </a:solidFill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755" y="1384300"/>
            <a:ext cx="2446020" cy="246126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5640" y="1168400"/>
            <a:ext cx="5846445" cy="2967990"/>
          </a:xfrm>
          <a:prstGeom prst="rect">
            <a:avLst/>
          </a:prstGeom>
        </p:spPr>
      </p:pic>
      <p:sp>
        <p:nvSpPr>
          <p:cNvPr id="17" name="圆角矩形 16"/>
          <p:cNvSpPr/>
          <p:nvPr/>
        </p:nvSpPr>
        <p:spPr>
          <a:xfrm>
            <a:off x="1677035" y="2464435"/>
            <a:ext cx="575945" cy="144018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8" name="直接箭头连接符 17"/>
          <p:cNvCxnSpPr/>
          <p:nvPr/>
        </p:nvCxnSpPr>
        <p:spPr>
          <a:xfrm flipH="1">
            <a:off x="1461135" y="3919220"/>
            <a:ext cx="314325" cy="84963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471805" y="4869815"/>
            <a:ext cx="221361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rgbClr val="FF0000"/>
                </a:solidFill>
              </a:rPr>
              <a:t>第一步：看</a:t>
            </a:r>
            <a:r>
              <a:rPr lang="en-US" altLang="zh-CN" sz="2000" b="1">
                <a:solidFill>
                  <a:srgbClr val="FF0000"/>
                </a:solidFill>
              </a:rPr>
              <a:t>CP</a:t>
            </a:r>
            <a:endParaRPr lang="en-US" altLang="zh-CN" sz="2000" b="1">
              <a:solidFill>
                <a:srgbClr val="FF0000"/>
              </a:solidFill>
            </a:endParaRPr>
          </a:p>
          <a:p>
            <a:r>
              <a:rPr lang="zh-CN" altLang="en-US" sz="2000" b="1">
                <a:solidFill>
                  <a:srgbClr val="FF0000"/>
                </a:solidFill>
              </a:rPr>
              <a:t>发现只有箭头，没有⭕，我们称上升沿。</a:t>
            </a:r>
            <a:endParaRPr lang="zh-CN" altLang="en-US" sz="2000" b="1">
              <a:solidFill>
                <a:srgbClr val="FF0000"/>
              </a:solidFill>
            </a:endParaRPr>
          </a:p>
        </p:txBody>
      </p:sp>
      <p:cxnSp>
        <p:nvCxnSpPr>
          <p:cNvPr id="26" name="直接连接符 25"/>
          <p:cNvCxnSpPr/>
          <p:nvPr/>
        </p:nvCxnSpPr>
        <p:spPr>
          <a:xfrm>
            <a:off x="5637530" y="1240155"/>
            <a:ext cx="0" cy="3897630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6573520" y="1230630"/>
            <a:ext cx="0" cy="3897630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7509510" y="1240155"/>
            <a:ext cx="0" cy="3897630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9309735" y="1275715"/>
            <a:ext cx="0" cy="3897630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8409940" y="1294765"/>
            <a:ext cx="0" cy="3897630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1" name="文本框 30"/>
          <p:cNvSpPr txBox="1"/>
          <p:nvPr/>
        </p:nvSpPr>
        <p:spPr>
          <a:xfrm>
            <a:off x="10066020" y="2439670"/>
            <a:ext cx="235458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rgbClr val="FF0000"/>
                </a:solidFill>
              </a:rPr>
              <a:t>没有记忆功能</a:t>
            </a:r>
            <a:endParaRPr lang="zh-CN" altLang="en-US" sz="2800">
              <a:solidFill>
                <a:srgbClr val="FF0000"/>
              </a:solidFill>
            </a:endParaRPr>
          </a:p>
        </p:txBody>
      </p:sp>
      <p:cxnSp>
        <p:nvCxnSpPr>
          <p:cNvPr id="32" name="直接连接符 31"/>
          <p:cNvCxnSpPr/>
          <p:nvPr/>
        </p:nvCxnSpPr>
        <p:spPr>
          <a:xfrm>
            <a:off x="5626735" y="3507740"/>
            <a:ext cx="950595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5637530" y="3498215"/>
            <a:ext cx="0" cy="51943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6573520" y="3492500"/>
            <a:ext cx="0" cy="51943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6573520" y="3976370"/>
            <a:ext cx="950595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>
            <a:off x="7509510" y="3456940"/>
            <a:ext cx="0" cy="51943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>
            <a:off x="7509510" y="3456940"/>
            <a:ext cx="920115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>
            <a:off x="8416925" y="3472815"/>
            <a:ext cx="0" cy="51943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>
          <a:xfrm>
            <a:off x="8400415" y="3976370"/>
            <a:ext cx="924560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>
            <a:off x="9237980" y="3976370"/>
            <a:ext cx="808990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9" grpId="0"/>
      <p:bldP spid="17" grpId="1" animBg="1"/>
      <p:bldP spid="19" grpId="1"/>
      <p:bldP spid="31" grpId="0"/>
      <p:bldP spid="31" grpI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/>
        </p:nvSpPr>
        <p:spPr>
          <a:xfrm>
            <a:off x="710880" y="2225952"/>
            <a:ext cx="10749598" cy="3882240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dirty="0"/>
              <a:t>数字</a:t>
            </a:r>
            <a:r>
              <a:rPr kumimoji="1" dirty="0"/>
              <a:t>电路</a:t>
            </a:r>
            <a:endParaRPr kumimoji="1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62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rgbClr val="FFFFFF"/>
                </a:solidFill>
              </a:rPr>
              <a:t>新授</a:t>
            </a:r>
            <a:r>
              <a:rPr lang="zh-CN" altLang="en-US" b="1" dirty="0"/>
              <a:t> </a:t>
            </a:r>
            <a:r>
              <a:rPr lang="zh-CN" altLang="en-US" sz="1800" b="1" dirty="0">
                <a:solidFill>
                  <a:srgbClr val="02184F"/>
                </a:solidFill>
              </a:rPr>
              <a:t>总结与合作探究</a:t>
            </a:r>
            <a:r>
              <a:rPr lang="zh-CN" altLang="en-US" b="1" dirty="0"/>
              <a:t>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7119" y="6553641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文本占位符 3"/>
          <p:cNvSpPr>
            <a:spLocks noGrp="1"/>
          </p:cNvSpPr>
          <p:nvPr/>
        </p:nvSpPr>
        <p:spPr>
          <a:xfrm>
            <a:off x="850730" y="695080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dirty="0"/>
              <a:t> </a:t>
            </a:r>
            <a:endParaRPr kumimoji="1"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190" y="88265"/>
            <a:ext cx="11073765" cy="460756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83030" y="4968240"/>
            <a:ext cx="100584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rgbClr val="FF0000"/>
                </a:solidFill>
              </a:rPr>
              <a:t>J = 1</a:t>
            </a:r>
            <a:endParaRPr lang="en-US" altLang="zh-CN" sz="2400">
              <a:solidFill>
                <a:srgbClr val="FF0000"/>
              </a:solidFill>
            </a:endParaRPr>
          </a:p>
          <a:p>
            <a:r>
              <a:rPr lang="en-US" altLang="zh-CN" sz="2400">
                <a:solidFill>
                  <a:srgbClr val="FF0000"/>
                </a:solidFill>
              </a:rPr>
              <a:t>K = K</a:t>
            </a:r>
            <a:endParaRPr lang="en-US" altLang="zh-CN" sz="2400">
              <a:solidFill>
                <a:srgbClr val="FF0000"/>
              </a:solidFill>
            </a:endParaRPr>
          </a:p>
        </p:txBody>
      </p:sp>
      <p:sp>
        <p:nvSpPr>
          <p:cNvPr id="6" name="左大括号 5"/>
          <p:cNvSpPr/>
          <p:nvPr/>
        </p:nvSpPr>
        <p:spPr>
          <a:xfrm>
            <a:off x="1157605" y="5046345"/>
            <a:ext cx="213995" cy="658495"/>
          </a:xfrm>
          <a:prstGeom prst="leftBrace">
            <a:avLst>
              <a:gd name="adj1" fmla="val 63204"/>
              <a:gd name="adj2" fmla="val 50000"/>
            </a:avLst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029335" y="5776595"/>
            <a:ext cx="15290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rgbClr val="FF0000"/>
                </a:solidFill>
              </a:rPr>
              <a:t>T = A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⨁</a:t>
            </a:r>
            <a:r>
              <a:rPr lang="en-US" altLang="zh-CN" sz="2400">
                <a:solidFill>
                  <a:srgbClr val="FF0000"/>
                </a:solidFill>
              </a:rPr>
              <a:t>Q</a:t>
            </a:r>
            <a:r>
              <a:rPr lang="en-US" altLang="zh-CN" sz="2400" baseline="-25000">
                <a:solidFill>
                  <a:srgbClr val="FF0000"/>
                </a:solidFill>
                <a:uFillTx/>
              </a:rPr>
              <a:t>1</a:t>
            </a:r>
            <a:endParaRPr lang="en-US" altLang="zh-CN" sz="2400">
              <a:solidFill>
                <a:srgbClr val="FF0000"/>
              </a:solidFill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1821180" y="3544570"/>
            <a:ext cx="504190" cy="360045"/>
          </a:xfrm>
          <a:prstGeom prst="roundRect">
            <a:avLst/>
          </a:prstGeom>
          <a:noFill/>
          <a:ln w="38100">
            <a:solidFill>
              <a:srgbClr val="1542FF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5" name="直接箭头连接符 14"/>
          <p:cNvCxnSpPr/>
          <p:nvPr/>
        </p:nvCxnSpPr>
        <p:spPr>
          <a:xfrm flipH="1" flipV="1">
            <a:off x="1101090" y="2680335"/>
            <a:ext cx="713105" cy="936625"/>
          </a:xfrm>
          <a:prstGeom prst="straightConnector1">
            <a:avLst/>
          </a:prstGeom>
          <a:ln w="38100">
            <a:solidFill>
              <a:srgbClr val="1542FF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346075" y="2394585"/>
            <a:ext cx="10255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1542FF"/>
                </a:solidFill>
              </a:rPr>
              <a:t>下降沿</a:t>
            </a:r>
            <a:endParaRPr lang="zh-CN" altLang="en-US" b="1">
              <a:solidFill>
                <a:srgbClr val="1542FF"/>
              </a:solidFill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4203700" y="3544570"/>
            <a:ext cx="504190" cy="360045"/>
          </a:xfrm>
          <a:prstGeom prst="roundRect">
            <a:avLst/>
          </a:prstGeom>
          <a:noFill/>
          <a:ln w="38100">
            <a:solidFill>
              <a:srgbClr val="1542FF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2728595" y="2179320"/>
            <a:ext cx="12522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1542FF"/>
                </a:solidFill>
              </a:rPr>
              <a:t>上升降沿</a:t>
            </a:r>
            <a:endParaRPr lang="zh-CN" altLang="en-US" b="1">
              <a:solidFill>
                <a:srgbClr val="1542FF"/>
              </a:solidFill>
            </a:endParaRPr>
          </a:p>
        </p:txBody>
      </p:sp>
      <p:cxnSp>
        <p:nvCxnSpPr>
          <p:cNvPr id="19" name="直接箭头连接符 18"/>
          <p:cNvCxnSpPr>
            <a:endCxn id="18" idx="2"/>
          </p:cNvCxnSpPr>
          <p:nvPr/>
        </p:nvCxnSpPr>
        <p:spPr>
          <a:xfrm flipH="1" flipV="1">
            <a:off x="3354705" y="2547620"/>
            <a:ext cx="848995" cy="1069340"/>
          </a:xfrm>
          <a:prstGeom prst="straightConnector1">
            <a:avLst/>
          </a:prstGeom>
          <a:ln w="38100">
            <a:solidFill>
              <a:srgbClr val="1542FF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8341360" y="2134235"/>
            <a:ext cx="0" cy="1852295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9886315" y="2134235"/>
            <a:ext cx="0" cy="1852295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9114155" y="2134235"/>
            <a:ext cx="0" cy="1852295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10658475" y="2176145"/>
            <a:ext cx="0" cy="1852295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11431270" y="2176145"/>
            <a:ext cx="0" cy="1852295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8733790" y="2134235"/>
            <a:ext cx="0" cy="2538095"/>
          </a:xfrm>
          <a:prstGeom prst="line">
            <a:avLst/>
          </a:prstGeom>
          <a:ln w="38100">
            <a:solidFill>
              <a:srgbClr val="00B050"/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9526270" y="2176145"/>
            <a:ext cx="0" cy="2538095"/>
          </a:xfrm>
          <a:prstGeom prst="line">
            <a:avLst/>
          </a:prstGeom>
          <a:ln w="38100">
            <a:solidFill>
              <a:srgbClr val="00B050"/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10272395" y="2157730"/>
            <a:ext cx="0" cy="2538095"/>
          </a:xfrm>
          <a:prstGeom prst="line">
            <a:avLst/>
          </a:prstGeom>
          <a:ln w="38100">
            <a:solidFill>
              <a:srgbClr val="00B050"/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11045190" y="2157730"/>
            <a:ext cx="0" cy="2538095"/>
          </a:xfrm>
          <a:prstGeom prst="line">
            <a:avLst/>
          </a:prstGeom>
          <a:ln w="38100">
            <a:solidFill>
              <a:srgbClr val="00B050"/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7955915" y="2179320"/>
            <a:ext cx="0" cy="2538095"/>
          </a:xfrm>
          <a:prstGeom prst="line">
            <a:avLst/>
          </a:prstGeom>
          <a:ln w="38100">
            <a:solidFill>
              <a:srgbClr val="00B050"/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7547610" y="3986530"/>
            <a:ext cx="784225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7567295" y="4624705"/>
            <a:ext cx="391795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8331835" y="3760470"/>
            <a:ext cx="78359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8331835" y="3761105"/>
            <a:ext cx="0" cy="21526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9126220" y="3760470"/>
            <a:ext cx="0" cy="21526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9094470" y="3966210"/>
            <a:ext cx="78359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>
            <a:off x="9889490" y="3760470"/>
            <a:ext cx="0" cy="21526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>
            <a:off x="9900920" y="3761105"/>
            <a:ext cx="78359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>
            <a:off x="10678160" y="3760470"/>
            <a:ext cx="78359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>
          <a:xfrm>
            <a:off x="11418570" y="3759835"/>
            <a:ext cx="401955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>
            <a:off x="7733665" y="3221990"/>
            <a:ext cx="0" cy="1068070"/>
          </a:xfrm>
          <a:prstGeom prst="line">
            <a:avLst/>
          </a:prstGeom>
          <a:ln w="38100">
            <a:solidFill>
              <a:srgbClr val="1542FF"/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>
            <a:off x="8341360" y="3256280"/>
            <a:ext cx="0" cy="1068070"/>
          </a:xfrm>
          <a:prstGeom prst="line">
            <a:avLst/>
          </a:prstGeom>
          <a:ln w="38100">
            <a:solidFill>
              <a:srgbClr val="1542FF"/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>
          <a:xfrm>
            <a:off x="9126220" y="3256280"/>
            <a:ext cx="0" cy="1068070"/>
          </a:xfrm>
          <a:prstGeom prst="line">
            <a:avLst/>
          </a:prstGeom>
          <a:ln w="38100">
            <a:solidFill>
              <a:srgbClr val="1542FF"/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/>
        </p:nvCxnSpPr>
        <p:spPr>
          <a:xfrm>
            <a:off x="9889490" y="3256280"/>
            <a:ext cx="0" cy="1068070"/>
          </a:xfrm>
          <a:prstGeom prst="line">
            <a:avLst/>
          </a:prstGeom>
          <a:ln w="38100">
            <a:solidFill>
              <a:srgbClr val="1542FF"/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4" name="直接连接符 43"/>
          <p:cNvCxnSpPr/>
          <p:nvPr/>
        </p:nvCxnSpPr>
        <p:spPr>
          <a:xfrm>
            <a:off x="10462260" y="3256280"/>
            <a:ext cx="0" cy="1068070"/>
          </a:xfrm>
          <a:prstGeom prst="line">
            <a:avLst/>
          </a:prstGeom>
          <a:ln w="38100">
            <a:solidFill>
              <a:srgbClr val="1542FF"/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5" name="直接连接符 44"/>
          <p:cNvCxnSpPr/>
          <p:nvPr/>
        </p:nvCxnSpPr>
        <p:spPr>
          <a:xfrm>
            <a:off x="11254105" y="3221990"/>
            <a:ext cx="0" cy="1068070"/>
          </a:xfrm>
          <a:prstGeom prst="line">
            <a:avLst/>
          </a:prstGeom>
          <a:ln w="38100">
            <a:solidFill>
              <a:srgbClr val="1542FF"/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>
          <a:xfrm>
            <a:off x="7547610" y="4260850"/>
            <a:ext cx="166370" cy="0"/>
          </a:xfrm>
          <a:prstGeom prst="line">
            <a:avLst/>
          </a:prstGeom>
          <a:ln w="38100">
            <a:solidFill>
              <a:srgbClr val="1542F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7" name="直接连接符 46"/>
          <p:cNvCxnSpPr/>
          <p:nvPr/>
        </p:nvCxnSpPr>
        <p:spPr>
          <a:xfrm>
            <a:off x="7733665" y="4120515"/>
            <a:ext cx="598170" cy="0"/>
          </a:xfrm>
          <a:prstGeom prst="line">
            <a:avLst/>
          </a:prstGeom>
          <a:ln w="38100">
            <a:solidFill>
              <a:srgbClr val="1542F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/>
        </p:nvCxnSpPr>
        <p:spPr>
          <a:xfrm>
            <a:off x="7724140" y="4113530"/>
            <a:ext cx="0" cy="137160"/>
          </a:xfrm>
          <a:prstGeom prst="line">
            <a:avLst/>
          </a:prstGeom>
          <a:ln w="38100">
            <a:solidFill>
              <a:srgbClr val="1542F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9" name="直接连接符 48"/>
          <p:cNvCxnSpPr/>
          <p:nvPr/>
        </p:nvCxnSpPr>
        <p:spPr>
          <a:xfrm>
            <a:off x="8341360" y="4120515"/>
            <a:ext cx="0" cy="142240"/>
          </a:xfrm>
          <a:prstGeom prst="line">
            <a:avLst/>
          </a:prstGeom>
          <a:ln w="38100">
            <a:solidFill>
              <a:srgbClr val="1542F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0" name="直接连接符 49"/>
          <p:cNvCxnSpPr/>
          <p:nvPr/>
        </p:nvCxnSpPr>
        <p:spPr>
          <a:xfrm>
            <a:off x="8341360" y="4264660"/>
            <a:ext cx="784225" cy="0"/>
          </a:xfrm>
          <a:prstGeom prst="line">
            <a:avLst/>
          </a:prstGeom>
          <a:ln w="38100">
            <a:solidFill>
              <a:srgbClr val="1542F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1" name="直接连接符 50"/>
          <p:cNvCxnSpPr/>
          <p:nvPr/>
        </p:nvCxnSpPr>
        <p:spPr>
          <a:xfrm>
            <a:off x="9093835" y="4264660"/>
            <a:ext cx="784225" cy="0"/>
          </a:xfrm>
          <a:prstGeom prst="line">
            <a:avLst/>
          </a:prstGeom>
          <a:ln w="38100">
            <a:solidFill>
              <a:srgbClr val="1542F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2" name="直接连接符 51"/>
          <p:cNvCxnSpPr/>
          <p:nvPr/>
        </p:nvCxnSpPr>
        <p:spPr>
          <a:xfrm>
            <a:off x="9900920" y="4113530"/>
            <a:ext cx="0" cy="137160"/>
          </a:xfrm>
          <a:prstGeom prst="line">
            <a:avLst/>
          </a:prstGeom>
          <a:ln w="38100">
            <a:solidFill>
              <a:srgbClr val="1542F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3" name="直接连接符 52"/>
          <p:cNvCxnSpPr/>
          <p:nvPr/>
        </p:nvCxnSpPr>
        <p:spPr>
          <a:xfrm>
            <a:off x="9893935" y="4120515"/>
            <a:ext cx="554355" cy="0"/>
          </a:xfrm>
          <a:prstGeom prst="line">
            <a:avLst/>
          </a:prstGeom>
          <a:ln w="38100">
            <a:solidFill>
              <a:srgbClr val="1542F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4" name="直接连接符 53"/>
          <p:cNvCxnSpPr/>
          <p:nvPr/>
        </p:nvCxnSpPr>
        <p:spPr>
          <a:xfrm>
            <a:off x="10462260" y="4127500"/>
            <a:ext cx="0" cy="137160"/>
          </a:xfrm>
          <a:prstGeom prst="line">
            <a:avLst/>
          </a:prstGeom>
          <a:ln w="38100">
            <a:solidFill>
              <a:srgbClr val="1542F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5" name="直接连接符 54"/>
          <p:cNvCxnSpPr/>
          <p:nvPr/>
        </p:nvCxnSpPr>
        <p:spPr>
          <a:xfrm>
            <a:off x="10448290" y="4264660"/>
            <a:ext cx="813435" cy="0"/>
          </a:xfrm>
          <a:prstGeom prst="line">
            <a:avLst/>
          </a:prstGeom>
          <a:ln w="38100">
            <a:solidFill>
              <a:srgbClr val="1542F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6" name="直接连接符 55"/>
          <p:cNvCxnSpPr/>
          <p:nvPr/>
        </p:nvCxnSpPr>
        <p:spPr>
          <a:xfrm>
            <a:off x="11261725" y="4113530"/>
            <a:ext cx="0" cy="156845"/>
          </a:xfrm>
          <a:prstGeom prst="line">
            <a:avLst/>
          </a:prstGeom>
          <a:ln w="38100">
            <a:solidFill>
              <a:srgbClr val="1542F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7" name="直接连接符 56"/>
          <p:cNvCxnSpPr/>
          <p:nvPr/>
        </p:nvCxnSpPr>
        <p:spPr>
          <a:xfrm>
            <a:off x="11254105" y="4113530"/>
            <a:ext cx="575945" cy="0"/>
          </a:xfrm>
          <a:prstGeom prst="line">
            <a:avLst/>
          </a:prstGeom>
          <a:ln w="38100">
            <a:solidFill>
              <a:srgbClr val="1542F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9" name="直接连接符 58"/>
          <p:cNvCxnSpPr/>
          <p:nvPr/>
        </p:nvCxnSpPr>
        <p:spPr>
          <a:xfrm>
            <a:off x="7959090" y="4442460"/>
            <a:ext cx="0" cy="18288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0" name="直接连接符 59"/>
          <p:cNvCxnSpPr/>
          <p:nvPr/>
        </p:nvCxnSpPr>
        <p:spPr>
          <a:xfrm>
            <a:off x="7955915" y="4442460"/>
            <a:ext cx="767715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1" name="直接连接符 60"/>
          <p:cNvCxnSpPr/>
          <p:nvPr/>
        </p:nvCxnSpPr>
        <p:spPr>
          <a:xfrm>
            <a:off x="8758555" y="4442460"/>
            <a:ext cx="767715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2" name="直接连接符 61"/>
          <p:cNvCxnSpPr/>
          <p:nvPr/>
        </p:nvCxnSpPr>
        <p:spPr>
          <a:xfrm>
            <a:off x="9504680" y="4442460"/>
            <a:ext cx="767715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3" name="直接连接符 62"/>
          <p:cNvCxnSpPr/>
          <p:nvPr/>
        </p:nvCxnSpPr>
        <p:spPr>
          <a:xfrm>
            <a:off x="10272395" y="4441825"/>
            <a:ext cx="0" cy="18288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4" name="直接连接符 63"/>
          <p:cNvCxnSpPr/>
          <p:nvPr/>
        </p:nvCxnSpPr>
        <p:spPr>
          <a:xfrm>
            <a:off x="10277475" y="4625340"/>
            <a:ext cx="767715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5" name="直接连接符 64"/>
          <p:cNvCxnSpPr/>
          <p:nvPr/>
        </p:nvCxnSpPr>
        <p:spPr>
          <a:xfrm>
            <a:off x="11038205" y="4624705"/>
            <a:ext cx="767715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6" grpId="0" animBg="1"/>
      <p:bldP spid="6" grpId="1" animBg="1"/>
      <p:bldP spid="7" grpId="0"/>
      <p:bldP spid="7" grpId="1"/>
      <p:bldP spid="14" grpId="0" animBg="1"/>
      <p:bldP spid="16" grpId="0"/>
      <p:bldP spid="14" grpId="1" animBg="1"/>
      <p:bldP spid="16" grpId="1"/>
      <p:bldP spid="17" grpId="0" bldLvl="0" animBg="1"/>
      <p:bldP spid="18" grpId="0"/>
      <p:bldP spid="17" grpId="1" animBg="1"/>
      <p:bldP spid="18" grpId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/>
        </p:nvSpPr>
        <p:spPr>
          <a:xfrm>
            <a:off x="710880" y="2225952"/>
            <a:ext cx="10749598" cy="3882240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dirty="0"/>
              <a:t>数字</a:t>
            </a:r>
            <a:r>
              <a:rPr kumimoji="1" dirty="0"/>
              <a:t>电路</a:t>
            </a:r>
            <a:endParaRPr kumimoji="1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62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b="1" dirty="0">
                <a:solidFill>
                  <a:srgbClr val="FFFFFF"/>
                </a:solidFill>
              </a:rPr>
              <a:t>新授</a:t>
            </a:r>
            <a:r>
              <a:rPr lang="zh-CN" altLang="en-US" b="1" dirty="0"/>
              <a:t> </a:t>
            </a:r>
            <a:r>
              <a:rPr lang="zh-CN" altLang="en-US" sz="1800" b="1" dirty="0">
                <a:solidFill>
                  <a:srgbClr val="002060"/>
                </a:solidFill>
              </a:rPr>
              <a:t>总结与合作探究</a:t>
            </a:r>
            <a:r>
              <a:rPr lang="zh-CN" altLang="en-US" b="1" dirty="0"/>
              <a:t>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7119" y="6553641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文本占位符 3"/>
          <p:cNvSpPr>
            <a:spLocks noGrp="1"/>
          </p:cNvSpPr>
          <p:nvPr/>
        </p:nvSpPr>
        <p:spPr>
          <a:xfrm>
            <a:off x="850730" y="695080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dirty="0"/>
              <a:t> </a:t>
            </a:r>
            <a:endParaRPr kumimoji="1"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810912" y="665738"/>
            <a:ext cx="590649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 b="1" dirty="0"/>
              <a:t>五、触发器特征</a:t>
            </a:r>
            <a:r>
              <a:rPr lang="zh-CN" altLang="en-US" sz="3600" b="1" dirty="0"/>
              <a:t>方程</a:t>
            </a:r>
            <a:endParaRPr lang="zh-CN" altLang="en-US" sz="3600" b="1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4875" y="1384300"/>
            <a:ext cx="6813550" cy="54673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1225" y="2032635"/>
            <a:ext cx="7877175" cy="86169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5675" y="3040380"/>
            <a:ext cx="5645785" cy="55499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2980" y="3824605"/>
            <a:ext cx="5608320" cy="5949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/>
        </p:nvSpPr>
        <p:spPr>
          <a:xfrm>
            <a:off x="710880" y="2225952"/>
            <a:ext cx="10749598" cy="3882240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dirty="0"/>
              <a:t>数字</a:t>
            </a:r>
            <a:r>
              <a:rPr kumimoji="1" dirty="0"/>
              <a:t>电路</a:t>
            </a:r>
            <a:endParaRPr kumimoji="1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62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b="1" dirty="0">
                <a:solidFill>
                  <a:srgbClr val="FFFFFF"/>
                </a:solidFill>
              </a:rPr>
              <a:t>新授</a:t>
            </a:r>
            <a:r>
              <a:rPr lang="zh-CN" altLang="en-US" b="1" dirty="0"/>
              <a:t> </a:t>
            </a:r>
            <a:r>
              <a:rPr lang="zh-CN" altLang="en-US" sz="1800" b="1" dirty="0">
                <a:solidFill>
                  <a:srgbClr val="002060"/>
                </a:solidFill>
              </a:rPr>
              <a:t>总结与合作探究</a:t>
            </a:r>
            <a:r>
              <a:rPr lang="zh-CN" altLang="en-US" b="1" dirty="0"/>
              <a:t>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7119" y="6553641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文本占位符 3"/>
          <p:cNvSpPr>
            <a:spLocks noGrp="1"/>
          </p:cNvSpPr>
          <p:nvPr/>
        </p:nvSpPr>
        <p:spPr>
          <a:xfrm>
            <a:off x="850730" y="695080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dirty="0"/>
              <a:t> </a:t>
            </a:r>
            <a:endParaRPr kumimoji="1"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290" y="1960245"/>
            <a:ext cx="4919345" cy="183007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3475" y="1456055"/>
            <a:ext cx="5148580" cy="3571875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824865" y="793115"/>
            <a:ext cx="1150937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/>
              <a:t>1.</a:t>
            </a:r>
            <a:r>
              <a:rPr lang="zh-CN" altLang="en-US" sz="2800" b="1"/>
              <a:t>在图所示电路中，各触发器的初态均为</a:t>
            </a:r>
            <a:r>
              <a:rPr lang="en-US" altLang="zh-CN" sz="2800" b="1"/>
              <a:t>0</a:t>
            </a:r>
            <a:r>
              <a:rPr lang="zh-CN" altLang="en-US" sz="2800" b="1"/>
              <a:t>，各输入波形如图所示。在图中画出两触发器输出</a:t>
            </a:r>
            <a:r>
              <a:rPr lang="en-US" altLang="zh-CN" sz="2800" b="1"/>
              <a:t>Q1</a:t>
            </a:r>
            <a:r>
              <a:rPr lang="zh-CN" altLang="en-US" sz="2800" b="1"/>
              <a:t>、</a:t>
            </a:r>
            <a:r>
              <a:rPr lang="en-US" altLang="zh-CN" sz="2800" b="1"/>
              <a:t>Q2</a:t>
            </a:r>
            <a:r>
              <a:rPr lang="zh-CN" altLang="en-US" sz="2800" b="1"/>
              <a:t>的波形。</a:t>
            </a:r>
            <a:endParaRPr lang="zh-CN" altLang="en-US" sz="2800" b="1"/>
          </a:p>
        </p:txBody>
      </p:sp>
      <p:cxnSp>
        <p:nvCxnSpPr>
          <p:cNvPr id="2" name="直接连接符 1"/>
          <p:cNvCxnSpPr/>
          <p:nvPr/>
        </p:nvCxnSpPr>
        <p:spPr>
          <a:xfrm>
            <a:off x="7155815" y="1714500"/>
            <a:ext cx="0" cy="2557780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7941945" y="1714500"/>
            <a:ext cx="0" cy="2557780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8784590" y="1714500"/>
            <a:ext cx="0" cy="2557780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9598025" y="1714500"/>
            <a:ext cx="0" cy="2557780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10413365" y="1714500"/>
            <a:ext cx="0" cy="2557780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7509510" y="1714500"/>
            <a:ext cx="0" cy="3322320"/>
          </a:xfrm>
          <a:prstGeom prst="line">
            <a:avLst/>
          </a:prstGeom>
          <a:ln w="38100">
            <a:solidFill>
              <a:srgbClr val="00B050"/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8301990" y="1744345"/>
            <a:ext cx="0" cy="3322320"/>
          </a:xfrm>
          <a:prstGeom prst="line">
            <a:avLst/>
          </a:prstGeom>
          <a:ln w="38100">
            <a:solidFill>
              <a:srgbClr val="00B050"/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9140190" y="1746250"/>
            <a:ext cx="0" cy="3322320"/>
          </a:xfrm>
          <a:prstGeom prst="line">
            <a:avLst/>
          </a:prstGeom>
          <a:ln w="38100">
            <a:solidFill>
              <a:srgbClr val="00B050"/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9958070" y="1672590"/>
            <a:ext cx="0" cy="3322320"/>
          </a:xfrm>
          <a:prstGeom prst="line">
            <a:avLst/>
          </a:prstGeom>
          <a:ln w="38100">
            <a:solidFill>
              <a:srgbClr val="00B050"/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10775950" y="1714500"/>
            <a:ext cx="0" cy="3322320"/>
          </a:xfrm>
          <a:prstGeom prst="line">
            <a:avLst/>
          </a:prstGeom>
          <a:ln w="38100">
            <a:solidFill>
              <a:srgbClr val="00B050"/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6763385" y="4193540"/>
            <a:ext cx="39243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6763385" y="4912995"/>
            <a:ext cx="735330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文本框 24"/>
              <p:cNvSpPr txBox="1"/>
              <p:nvPr/>
            </p:nvSpPr>
            <p:spPr>
              <a:xfrm>
                <a:off x="1324610" y="4193540"/>
                <a:ext cx="1494155" cy="12084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2400">
                    <a:solidFill>
                      <a:srgbClr val="FF0000"/>
                    </a:solidFill>
                  </a:rPr>
                  <a:t>T = A+B</a:t>
                </a:r>
                <a:endParaRPr lang="en-US" altLang="zh-CN" sz="2400">
                  <a:solidFill>
                    <a:srgbClr val="FF0000"/>
                  </a:solidFill>
                </a:endParaRPr>
              </a:p>
              <a:p>
                <a:r>
                  <a:rPr lang="en-US" altLang="zh-CN" sz="2400">
                    <a:solidFill>
                      <a:srgbClr val="FF0000"/>
                    </a:solidFill>
                  </a:rPr>
                  <a:t>J =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accPr>
                      <m:e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𝑄</m:t>
                        </m:r>
                      </m:e>
                    </m:acc>
                  </m:oMath>
                </a14:m>
                <a:endParaRPr lang="en-US" altLang="zh-CN" sz="2400" i="1">
                  <a:solidFill>
                    <a:srgbClr val="FF0000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r>
                  <a:rPr lang="en-US" altLang="zh-CN" sz="2400">
                    <a:solidFill>
                      <a:srgbClr val="FF0000"/>
                    </a:solidFill>
                  </a:rPr>
                  <a:t>K = 1</a:t>
                </a:r>
                <a:endParaRPr lang="en-US" altLang="zh-CN" sz="240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5" name="文本框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4610" y="4193540"/>
                <a:ext cx="1494155" cy="1208405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文本框 25"/>
          <p:cNvSpPr txBox="1"/>
          <p:nvPr/>
        </p:nvSpPr>
        <p:spPr>
          <a:xfrm>
            <a:off x="11438255" y="2392680"/>
            <a:ext cx="131699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rgbClr val="FF0000"/>
                </a:solidFill>
              </a:rPr>
              <a:t>A</a:t>
            </a:r>
            <a:r>
              <a:rPr lang="zh-CN" altLang="en-US" sz="2400">
                <a:solidFill>
                  <a:srgbClr val="FF0000"/>
                </a:solidFill>
              </a:rPr>
              <a:t>和</a:t>
            </a:r>
            <a:r>
              <a:rPr lang="en-US" altLang="zh-CN" sz="2400">
                <a:solidFill>
                  <a:srgbClr val="FF0000"/>
                </a:solidFill>
              </a:rPr>
              <a:t>B</a:t>
            </a:r>
            <a:r>
              <a:rPr lang="zh-CN" altLang="en-US" sz="2400">
                <a:solidFill>
                  <a:srgbClr val="FF0000"/>
                </a:solidFill>
              </a:rPr>
              <a:t>没有</a:t>
            </a:r>
            <a:r>
              <a:rPr lang="zh-CN" altLang="en-US" sz="2400">
                <a:solidFill>
                  <a:srgbClr val="FF0000"/>
                </a:solidFill>
              </a:rPr>
              <a:t>记忆功能</a:t>
            </a:r>
            <a:endParaRPr lang="zh-CN" altLang="en-US" sz="2400">
              <a:solidFill>
                <a:srgbClr val="FF0000"/>
              </a:solidFill>
            </a:endParaRPr>
          </a:p>
        </p:txBody>
      </p:sp>
      <p:sp>
        <p:nvSpPr>
          <p:cNvPr id="27" name="左大括号 26"/>
          <p:cNvSpPr/>
          <p:nvPr/>
        </p:nvSpPr>
        <p:spPr>
          <a:xfrm>
            <a:off x="1116965" y="4672965"/>
            <a:ext cx="203835" cy="599440"/>
          </a:xfrm>
          <a:prstGeom prst="leftBrac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>
              <a:ln w="38100">
                <a:solidFill>
                  <a:srgbClr val="FF0000"/>
                </a:solidFill>
              </a:ln>
            </a:endParaRPr>
          </a:p>
        </p:txBody>
      </p:sp>
      <p:cxnSp>
        <p:nvCxnSpPr>
          <p:cNvPr id="28" name="直接连接符 27"/>
          <p:cNvCxnSpPr/>
          <p:nvPr/>
        </p:nvCxnSpPr>
        <p:spPr>
          <a:xfrm>
            <a:off x="7139940" y="3903980"/>
            <a:ext cx="789305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7154545" y="3900805"/>
            <a:ext cx="0" cy="28511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0" name="文本框 29"/>
          <p:cNvSpPr txBox="1"/>
          <p:nvPr/>
        </p:nvSpPr>
        <p:spPr>
          <a:xfrm>
            <a:off x="7190105" y="2671445"/>
            <a:ext cx="2832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0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7180580" y="3039745"/>
            <a:ext cx="2832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1</a:t>
            </a:r>
            <a:endParaRPr lang="en-US" altLang="zh-CN">
              <a:solidFill>
                <a:srgbClr val="FF0000"/>
              </a:solidFill>
            </a:endParaRPr>
          </a:p>
        </p:txBody>
      </p:sp>
      <p:cxnSp>
        <p:nvCxnSpPr>
          <p:cNvPr id="32" name="直接连接符 31"/>
          <p:cNvCxnSpPr/>
          <p:nvPr/>
        </p:nvCxnSpPr>
        <p:spPr>
          <a:xfrm>
            <a:off x="7940675" y="3908425"/>
            <a:ext cx="0" cy="28511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7930515" y="4200525"/>
            <a:ext cx="862965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8782685" y="3910330"/>
            <a:ext cx="0" cy="28511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8805545" y="3910330"/>
            <a:ext cx="780415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>
            <a:off x="9585960" y="3900805"/>
            <a:ext cx="828675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>
            <a:off x="10414635" y="3915410"/>
            <a:ext cx="0" cy="28511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>
            <a:off x="10402570" y="4188460"/>
            <a:ext cx="899795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0" name="直接箭头连接符 39"/>
          <p:cNvCxnSpPr/>
          <p:nvPr/>
        </p:nvCxnSpPr>
        <p:spPr>
          <a:xfrm>
            <a:off x="7292975" y="3903980"/>
            <a:ext cx="360045" cy="575945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>
          <a:xfrm>
            <a:off x="7466965" y="4912360"/>
            <a:ext cx="836930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/>
        </p:nvCxnSpPr>
        <p:spPr>
          <a:xfrm>
            <a:off x="8305800" y="4627880"/>
            <a:ext cx="0" cy="285115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4" name="直接连接符 43"/>
          <p:cNvCxnSpPr/>
          <p:nvPr/>
        </p:nvCxnSpPr>
        <p:spPr>
          <a:xfrm>
            <a:off x="8301355" y="4620260"/>
            <a:ext cx="836930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5" name="直接连接符 44"/>
          <p:cNvCxnSpPr/>
          <p:nvPr/>
        </p:nvCxnSpPr>
        <p:spPr>
          <a:xfrm>
            <a:off x="9140190" y="4627880"/>
            <a:ext cx="0" cy="285115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>
          <a:xfrm>
            <a:off x="9140190" y="4912995"/>
            <a:ext cx="836930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7" name="直接连接符 46"/>
          <p:cNvCxnSpPr/>
          <p:nvPr/>
        </p:nvCxnSpPr>
        <p:spPr>
          <a:xfrm>
            <a:off x="9977120" y="4912360"/>
            <a:ext cx="836930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/>
        </p:nvCxnSpPr>
        <p:spPr>
          <a:xfrm>
            <a:off x="10775950" y="4620260"/>
            <a:ext cx="0" cy="285115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9" name="直接连接符 48"/>
          <p:cNvCxnSpPr/>
          <p:nvPr/>
        </p:nvCxnSpPr>
        <p:spPr>
          <a:xfrm>
            <a:off x="10749915" y="4620260"/>
            <a:ext cx="573405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5" grpId="1"/>
      <p:bldP spid="26" grpId="0"/>
      <p:bldP spid="26" grpId="1"/>
      <p:bldP spid="27" grpId="0" animBg="1"/>
      <p:bldP spid="27" grpId="1" animBg="1"/>
      <p:bldP spid="30" grpId="0"/>
      <p:bldP spid="31" grpId="0"/>
      <p:bldP spid="30" grpId="1"/>
      <p:bldP spid="31" grpId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/>
        </p:nvSpPr>
        <p:spPr>
          <a:xfrm>
            <a:off x="710880" y="2225952"/>
            <a:ext cx="10749598" cy="3882240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总结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</a:t>
            </a:r>
            <a:r>
              <a:rPr lang="zh-CN" altLang="en-US" sz="2000" b="1" dirty="0">
                <a:solidFill>
                  <a:schemeClr val="bg1"/>
                </a:solidFill>
              </a:rPr>
              <a:t>总结与合作探究</a:t>
            </a:r>
            <a:r>
              <a:rPr lang="zh-CN" altLang="en-US" b="1" dirty="0"/>
              <a:t>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4845199" y="6553641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文本占位符 3"/>
          <p:cNvSpPr>
            <a:spLocks noGrp="1"/>
          </p:cNvSpPr>
          <p:nvPr/>
        </p:nvSpPr>
        <p:spPr>
          <a:xfrm>
            <a:off x="850730" y="695080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dirty="0"/>
              <a:t> </a:t>
            </a:r>
            <a:endParaRPr kumimoji="1" lang="zh-CN" altLang="en-US" dirty="0"/>
          </a:p>
        </p:txBody>
      </p:sp>
      <p:sp>
        <p:nvSpPr>
          <p:cNvPr id="2" name="文本占位符 2"/>
          <p:cNvSpPr>
            <a:spLocks noGrp="1"/>
          </p:cNvSpPr>
          <p:nvPr/>
        </p:nvSpPr>
        <p:spPr>
          <a:xfrm>
            <a:off x="3705249" y="1345126"/>
            <a:ext cx="5040560" cy="398818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CN" sz="4000" dirty="0">
                <a:sym typeface="+mn-ea"/>
              </a:rPr>
              <a:t>JK</a:t>
            </a:r>
            <a:r>
              <a:rPr lang="zh-CN" altLang="en-US" sz="4000" dirty="0">
                <a:sym typeface="+mn-ea"/>
              </a:rPr>
              <a:t>触发器</a:t>
            </a:r>
            <a:endParaRPr lang="en-US" altLang="zh-CN" sz="40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4000" dirty="0">
                <a:sym typeface="+mn-ea"/>
              </a:rPr>
              <a:t>D</a:t>
            </a:r>
            <a:r>
              <a:rPr lang="zh-CN" altLang="en-US" sz="4000" dirty="0">
                <a:sym typeface="+mn-ea"/>
              </a:rPr>
              <a:t>触发器</a:t>
            </a:r>
            <a:endParaRPr lang="zh-CN" altLang="en-US" sz="4000" dirty="0">
              <a:sym typeface="+mn-ea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4000" dirty="0">
                <a:sym typeface="+mn-ea"/>
              </a:rPr>
              <a:t>T</a:t>
            </a:r>
            <a:r>
              <a:rPr lang="zh-CN" altLang="en-US" sz="4000" dirty="0">
                <a:sym typeface="+mn-ea"/>
              </a:rPr>
              <a:t>触发器</a:t>
            </a:r>
            <a:endParaRPr lang="en-US" altLang="zh-CN" sz="4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/>
        </p:nvSpPr>
        <p:spPr>
          <a:xfrm>
            <a:off x="710881" y="1646134"/>
            <a:ext cx="10749598" cy="4462058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作业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/>
        </p:nvSpPr>
        <p:spPr>
          <a:xfrm>
            <a:off x="884870" y="855626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solidFill>
                <a:srgbClr val="FF0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0" y="6826660"/>
            <a:ext cx="8373591" cy="4276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总结与合作探究  </a:t>
            </a:r>
            <a:r>
              <a:rPr lang="zh-CN" altLang="en-US" sz="2000" b="1" dirty="0">
                <a:solidFill>
                  <a:schemeClr val="bg1"/>
                </a:solidFill>
              </a:rPr>
              <a:t>作业</a:t>
            </a:r>
            <a:r>
              <a:rPr lang="zh-CN" altLang="en-US" b="1" dirty="0"/>
              <a:t>  限时检测</a:t>
            </a:r>
            <a:endParaRPr lang="zh-CN" altLang="en-US" b="1" dirty="0"/>
          </a:p>
        </p:txBody>
      </p:sp>
      <p:sp>
        <p:nvSpPr>
          <p:cNvPr id="9" name="箭头: 上 8"/>
          <p:cNvSpPr/>
          <p:nvPr/>
        </p:nvSpPr>
        <p:spPr>
          <a:xfrm>
            <a:off x="5925319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/>
        </p:nvSpPr>
        <p:spPr>
          <a:xfrm>
            <a:off x="710881" y="1646134"/>
            <a:ext cx="10749598" cy="4462058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限时检测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/>
        </p:nvSpPr>
        <p:spPr>
          <a:xfrm>
            <a:off x="884869" y="855626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solidFill>
                <a:srgbClr val="FF0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总结与合作探究  作业  </a:t>
            </a:r>
            <a:r>
              <a:rPr lang="zh-CN" altLang="en-US" sz="2000" b="1" dirty="0">
                <a:solidFill>
                  <a:srgbClr val="FFFFFF"/>
                </a:solidFill>
              </a:rPr>
              <a:t>限时检测</a:t>
            </a:r>
            <a:endParaRPr lang="zh-CN" altLang="en-US" sz="2000" b="1" dirty="0">
              <a:solidFill>
                <a:srgbClr val="FFFFFF"/>
              </a:solidFill>
            </a:endParaRPr>
          </a:p>
        </p:txBody>
      </p:sp>
      <p:sp>
        <p:nvSpPr>
          <p:cNvPr id="2" name="箭头: 上 1"/>
          <p:cNvSpPr/>
          <p:nvPr/>
        </p:nvSpPr>
        <p:spPr>
          <a:xfrm>
            <a:off x="6717407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tags/tag1.xml><?xml version="1.0" encoding="utf-8"?>
<p:tagLst xmlns:p="http://schemas.openxmlformats.org/presentationml/2006/main">
  <p:tag name="ISPRING_ULTRA_SCORM_COURSE_ID" val="9E7965BD-BA7C-4284-B303-3DF26FF20985"/>
  <p:tag name="ISPRING_SCORM_RATE_SLIDES" val="1"/>
  <p:tag name="ISPRINGONLINEFOLDERID" val="0"/>
  <p:tag name="ISPRINGONLINEFOLDERPATH" val="Content List"/>
  <p:tag name="ISPRINGCLOUDFOLDERID" val="0"/>
  <p:tag name="ISPRINGCLOUDFOLDERPATH" val="Repository"/>
  <p:tag name="ISPRING_PLAYERS_CUSTOMIZATION" val="UEsDBBQAAgAIAEOUV0cNwDEewAEAANoDAAAPAAAAbm9uZS9wbGF5ZXIueG1spZJPb9QwEMXPW6nfIfK9dpYKUa0cekDKiaJKC4jbyptME1PHDp4Ju/vtmfzZpFuQQOKQaPIy72fPs/X9sXHJT4hog8/EWqYiAV+E0voqE18+5zd34v799ZVunTlBTGyZCR88iKQELKJtiX2PhupMvBAkQ0XCL4+bI9pM1ETtRqnD4SAPtzLESr1J07X69vBxW9TQmBvrkYwvmLvs5VYkbbQhWjpl4l0qrq9WA/ICZ5F7fIXBdf3KKIvQqDYCgieIatz2bN3Q3838NMErOrWAgkdfDbPvTfH8EMrOAfbaSo9tWyDqCYO20rSx6zufYCwyMTbsGkA0FaB0vhJq9Ko/mPWTM1hPHLzA9ty22zuLNYsjfejeLerubBmyVxNHXYJ0M0wwnGLeOZeDoS5CKZIIPzrLVd5jv85HkK7FuJzn7h0+Wy/xULDGVW4KCvH0gR18JFOUco5ejtHLwdTbh+ITF49TnNsFMgezhKBratzbf86j7/6fOEp4Mp0jcV7B+hKOueW/BA2PQsAz9pqk1sl+tTOVd9ftmxdX40Iadzdl8R1FQiZWwNewNGTUos8w9Zqm1fg5JTTHotXv91JPRC5/AVBLAQIAABQAAgAIAEOUV0cNwDEewAEAANoDAAAPAAAAAAAAAAEAAAAAAAAAAABub25lL3BsYXllci54bWxQSwUGAAAAAAEAAQA9AAAA7QEAAAAA"/>
  <p:tag name="ISPRING_OUTPUT_FOLDER" val="C:\Users\Administrator\Desktop"/>
  <p:tag name="ISPRING_UUID" val="{C1A8F295-47DC-48FB-81BD-666766343352}"/>
  <p:tag name="ISPRING_RESOURCE_FOLDER" val="E:\素材\正版图-卖\PPT\0变色龙\0包图网\bt369\ppt\bt369\"/>
  <p:tag name="ISPRING_PRESENTATION_PATH" val="E:\素材\正版图-卖\PPT\0变色龙\0包图网\bt369\ppt\bt369.pptx"/>
  <p:tag name="ISPRING_PROJECT_FOLDER_UPDATED" val="1"/>
  <p:tag name="ISPRING_SCREEN_RECS_UPDATED" val="E:\素材\正版图-卖\PPT\0变色龙\0包图网\bt369\ppt\bt369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_PRESENTATION_TITLE" val="bt730"/>
</p:tagLst>
</file>

<file path=ppt/theme/theme1.xml><?xml version="1.0" encoding="utf-8"?>
<a:theme xmlns:a="http://schemas.openxmlformats.org/drawingml/2006/main" name="Office Theme">
  <a:themeElements>
    <a:clrScheme name="自定义 447">
      <a:dk1>
        <a:sysClr val="windowText" lastClr="000000"/>
      </a:dk1>
      <a:lt1>
        <a:sysClr val="window" lastClr="FFFFFF"/>
      </a:lt1>
      <a:dk2>
        <a:srgbClr val="006E67"/>
      </a:dk2>
      <a:lt2>
        <a:srgbClr val="E7E6E6"/>
      </a:lt2>
      <a:accent1>
        <a:srgbClr val="006E67"/>
      </a:accent1>
      <a:accent2>
        <a:srgbClr val="A5A5A5"/>
      </a:accent2>
      <a:accent3>
        <a:srgbClr val="006E67"/>
      </a:accent3>
      <a:accent4>
        <a:srgbClr val="A5A5A5"/>
      </a:accent4>
      <a:accent5>
        <a:srgbClr val="006E67"/>
      </a:accent5>
      <a:accent6>
        <a:srgbClr val="A5A5A5"/>
      </a:accent6>
      <a:hlink>
        <a:srgbClr val="006E67"/>
      </a:hlink>
      <a:folHlink>
        <a:srgbClr val="A5A5A5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1819</Words>
  <Application>WPS 演示</Application>
  <PresentationFormat>自定义</PresentationFormat>
  <Paragraphs>288</Paragraphs>
  <Slides>23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7" baseType="lpstr">
      <vt:lpstr>Arial</vt:lpstr>
      <vt:lpstr>宋体</vt:lpstr>
      <vt:lpstr>Wingdings</vt:lpstr>
      <vt:lpstr>Calibri</vt:lpstr>
      <vt:lpstr>印品黑体</vt:lpstr>
      <vt:lpstr>黑体</vt:lpstr>
      <vt:lpstr>微软雅黑</vt:lpstr>
      <vt:lpstr>字魂73号-江南手书</vt:lpstr>
      <vt:lpstr>Alibaba PuHuiTi R</vt:lpstr>
      <vt:lpstr>Alibaba PuHuiTi B</vt:lpstr>
      <vt:lpstr>阿里巴巴普惠体</vt:lpstr>
      <vt:lpstr>Cambria Math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bt730</dc:title>
  <dc:creator/>
  <cp:lastModifiedBy>葛以伟</cp:lastModifiedBy>
  <cp:revision>1252</cp:revision>
  <dcterms:created xsi:type="dcterms:W3CDTF">2017-01-08T15:59:00Z</dcterms:created>
  <dcterms:modified xsi:type="dcterms:W3CDTF">2025-05-23T02:55:24Z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2052-12.1.0.21171</vt:lpwstr>
  </property>
  <property fmtid="{D5CDD505-2E9C-101B-9397-08002B2CF9AE}" pid="3" name="ICV">
    <vt:lpwstr>FCA88555D3D44735BAA1F56722F3B997</vt:lpwstr>
  </property>
</Properties>
</file>