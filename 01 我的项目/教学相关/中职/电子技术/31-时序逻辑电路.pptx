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6"/>
  </p:handoutMasterIdLst>
  <p:sldIdLst>
    <p:sldId id="3705" r:id="rId3"/>
    <p:sldId id="3701" r:id="rId4"/>
    <p:sldId id="3646" r:id="rId5"/>
    <p:sldId id="3737" r:id="rId7"/>
    <p:sldId id="3740" r:id="rId8"/>
    <p:sldId id="3739" r:id="rId9"/>
    <p:sldId id="3741" r:id="rId10"/>
    <p:sldId id="3742" r:id="rId11"/>
    <p:sldId id="3743" r:id="rId12"/>
    <p:sldId id="3744" r:id="rId13"/>
    <p:sldId id="3745" r:id="rId14"/>
    <p:sldId id="3746" r:id="rId15"/>
    <p:sldId id="3754" r:id="rId16"/>
    <p:sldId id="3747" r:id="rId17"/>
    <p:sldId id="3748" r:id="rId18"/>
    <p:sldId id="3749" r:id="rId19"/>
    <p:sldId id="3750" r:id="rId20"/>
    <p:sldId id="3751" r:id="rId21"/>
    <p:sldId id="3753" r:id="rId22"/>
    <p:sldId id="3712" r:id="rId23"/>
    <p:sldId id="3700" r:id="rId24"/>
    <p:sldId id="3702" r:id="rId25"/>
  </p:sldIdLst>
  <p:sldSz cx="12858750" cy="7232650"/>
  <p:notesSz cx="6858000" cy="9144000"/>
  <p:custDataLst>
    <p:tags r:id="rId3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65" userDrawn="1">
          <p15:clr>
            <a:srgbClr val="A4A3A4"/>
          </p15:clr>
        </p15:guide>
        <p15:guide id="4" pos="536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FFC000"/>
    <a:srgbClr val="02184F"/>
    <a:srgbClr val="FFBF00"/>
    <a:srgbClr val="FFFFFF"/>
    <a:srgbClr val="066197"/>
    <a:srgbClr val="0C6AC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63" d="100"/>
          <a:sy n="63" d="100"/>
        </p:scale>
        <p:origin x="86" y="490"/>
      </p:cViewPr>
      <p:guideLst>
        <p:guide orient="horz" pos="190"/>
        <p:guide orient="horz" pos="4137"/>
        <p:guide pos="4065"/>
        <p:guide pos="536"/>
        <p:guide pos="7544"/>
        <p:guide pos="6822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时序逻辑电路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6629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r>
              <a:rPr lang="zh-CN" altLang="en-US" sz="3200" b="1" dirty="0"/>
              <a:t>、掌握</a:t>
            </a:r>
            <a:r>
              <a:rPr lang="en-US" altLang="zh-CN" sz="3200" b="1" dirty="0"/>
              <a:t>RS</a:t>
            </a:r>
            <a:r>
              <a:rPr lang="zh-CN" altLang="en-US" sz="3200" b="1" dirty="0"/>
              <a:t>触发器和同步</a:t>
            </a:r>
            <a:r>
              <a:rPr lang="en-US" altLang="zh-CN" sz="3200" b="1" dirty="0"/>
              <a:t>RS</a:t>
            </a:r>
            <a:r>
              <a:rPr lang="zh-CN" altLang="en-US" sz="3200" b="1" dirty="0"/>
              <a:t>触发器组成逻辑图和逻辑功能、真值表，并能由输入波形画出输出</a:t>
            </a:r>
            <a:r>
              <a:rPr lang="zh-CN" altLang="en-US" sz="3200" b="1" dirty="0"/>
              <a:t>波形。</a:t>
            </a:r>
            <a:endParaRPr lang="en-US" altLang="zh-CN" sz="3200" b="1" dirty="0"/>
          </a:p>
          <a:p>
            <a:r>
              <a:rPr lang="en-US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JK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触发器逻辑图、逻辑功能、真值表，并能由输入波形画出输出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波形。</a:t>
            </a:r>
            <a:endParaRPr lang="zh-CN" altLang="en-US" sz="32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95" y="1262279"/>
            <a:ext cx="8136904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一、考试要求</a:t>
            </a:r>
            <a:endParaRPr lang="zh-CN" altLang="en-US" sz="40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1542FF"/>
                </a:solidFill>
              </a:rPr>
              <a:t>二、考点分析</a:t>
            </a:r>
            <a:endParaRPr lang="zh-CN" altLang="en-US" sz="4000" dirty="0">
              <a:solidFill>
                <a:srgbClr val="1542F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三、课堂复习</a:t>
            </a:r>
            <a:endParaRPr lang="zh-CN" altLang="en-US" sz="40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1542FF"/>
                </a:solidFill>
              </a:rPr>
              <a:t>四、知识归纳</a:t>
            </a:r>
            <a:endParaRPr lang="zh-CN" altLang="en-US" sz="4000" dirty="0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410" y="676910"/>
            <a:ext cx="2840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一、考试要求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445" y="1330325"/>
            <a:ext cx="8229600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410" y="676910"/>
            <a:ext cx="2840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1542FF"/>
                </a:solidFill>
              </a:rPr>
              <a:t>二、考点分析</a:t>
            </a:r>
            <a:endParaRPr lang="zh-CN" altLang="en-US" sz="3200" b="1" dirty="0">
              <a:solidFill>
                <a:srgbClr val="1542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311910"/>
            <a:ext cx="9889490" cy="3871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108" y="1238555"/>
            <a:ext cx="1166529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</a:t>
            </a:r>
            <a:r>
              <a:rPr lang="en-US" altLang="zh-CN" sz="3200" dirty="0">
                <a:solidFill>
                  <a:srgbClr val="FF0000"/>
                </a:solidFill>
              </a:rPr>
              <a:t>(2010</a:t>
            </a:r>
            <a:r>
              <a:rPr lang="zh-CN" altLang="en-US" sz="3200" dirty="0">
                <a:solidFill>
                  <a:srgbClr val="FF0000"/>
                </a:solidFill>
              </a:rPr>
              <a:t>年高考题</a:t>
            </a:r>
            <a:r>
              <a:rPr lang="en-US" altLang="zh-CN" sz="3200" dirty="0">
                <a:solidFill>
                  <a:srgbClr val="FF0000"/>
                </a:solidFill>
              </a:rPr>
              <a:t>)</a:t>
            </a:r>
            <a:r>
              <a:rPr lang="zh-CN" altLang="en-US" sz="3200" dirty="0"/>
              <a:t>电路如图所示，符合</a:t>
            </a:r>
            <a:r>
              <a:rPr lang="en-US" altLang="zh-CN" sz="3200" dirty="0"/>
              <a:t>(a)</a:t>
            </a:r>
            <a:r>
              <a:rPr lang="zh-CN" altLang="en-US" sz="3200" dirty="0"/>
              <a:t>图所示电路逻辑功能的波形图是</a:t>
            </a:r>
            <a:r>
              <a:rPr lang="en-US" altLang="zh-CN" sz="3200" dirty="0"/>
              <a:t>(b)</a:t>
            </a:r>
            <a:r>
              <a:rPr lang="zh-CN" altLang="en-US" sz="3200" dirty="0"/>
              <a:t>图中的</a:t>
            </a:r>
            <a:r>
              <a:rPr lang="en-US" altLang="zh-CN" sz="3200" u="sng" dirty="0"/>
              <a:t>            </a:t>
            </a:r>
            <a:r>
              <a:rPr lang="zh-CN" altLang="en-US" sz="3200" dirty="0"/>
              <a:t>。</a:t>
            </a:r>
            <a:r>
              <a:rPr lang="en-US" altLang="zh-CN" sz="3200" dirty="0"/>
              <a:t>(</a:t>
            </a:r>
            <a:r>
              <a:rPr lang="zh-CN" altLang="en-US" sz="3200" dirty="0"/>
              <a:t>填</a:t>
            </a:r>
            <a:r>
              <a:rPr lang="en-US" altLang="zh-CN" sz="3200" dirty="0"/>
              <a:t>1</a:t>
            </a:r>
            <a:r>
              <a:rPr lang="zh-CN" altLang="en-US" sz="3200" dirty="0"/>
              <a:t>或</a:t>
            </a:r>
            <a:r>
              <a:rPr lang="en-US" altLang="zh-CN" sz="3200" dirty="0"/>
              <a:t>2)</a:t>
            </a:r>
            <a:endParaRPr lang="en-US" altLang="zh-CN" sz="3200" dirty="0"/>
          </a:p>
          <a:p>
            <a:endParaRPr lang="en-US" altLang="zh-CN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18385"/>
            <a:ext cx="8191500" cy="34264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0410" y="676910"/>
            <a:ext cx="4022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三、课堂</a:t>
            </a:r>
            <a:r>
              <a:rPr lang="zh-CN" altLang="en-US" sz="3200" b="1" dirty="0">
                <a:solidFill>
                  <a:srgbClr val="FF0000"/>
                </a:solidFill>
              </a:rPr>
              <a:t>复习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0067290" y="2555875"/>
                <a:ext cx="2698750" cy="83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>
                    <a:solidFill>
                      <a:srgbClr val="FF0000"/>
                    </a:solidFill>
                  </a:rPr>
                  <a:t>基本与非门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RS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触发器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Q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对着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sz="2400" i="1" baseline="-25000">
                            <a:solidFill>
                              <a:srgbClr val="FF000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sz="2400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sz="2400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 sz="2400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290" y="2555875"/>
                <a:ext cx="2698750" cy="838835"/>
              </a:xfrm>
              <a:prstGeom prst="rect">
                <a:avLst/>
              </a:prstGeom>
              <a:blipFill rotWithShape="1">
                <a:blip r:embed="rId3"/>
                <a:stretch>
                  <a:fillRect b="-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714240" y="5548630"/>
                <a:ext cx="562610" cy="469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  <m:r>
                            <a:rPr lang="en-US" altLang="zh-CN" sz="2400" i="1" baseline="-25000">
                              <a:solidFill>
                                <a:srgbClr val="FF0000"/>
                              </a:solidFill>
                              <a:uFillTx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altLang="zh-CN" sz="2400" i="1" baseline="-25000">
                  <a:solidFill>
                    <a:srgbClr val="FF0000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240" y="5548630"/>
                <a:ext cx="562610" cy="469265"/>
              </a:xfrm>
              <a:prstGeom prst="rect">
                <a:avLst/>
              </a:prstGeom>
              <a:blipFill rotWithShape="1">
                <a:blip r:embed="rId4"/>
                <a:stretch>
                  <a:fillRect b="-2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820545" y="5548630"/>
                <a:ext cx="562610" cy="464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lang="en-US" altLang="zh-CN" sz="2400" i="1" baseline="-25000">
                              <a:solidFill>
                                <a:srgbClr val="FF0000"/>
                              </a:solidFill>
                              <a:uFillTx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altLang="zh-CN" sz="2400" i="1" baseline="-25000">
                  <a:solidFill>
                    <a:srgbClr val="FF0000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545" y="5548630"/>
                <a:ext cx="562610" cy="464820"/>
              </a:xfrm>
              <a:prstGeom prst="rect">
                <a:avLst/>
              </a:prstGeom>
              <a:blipFill rotWithShape="1">
                <a:blip r:embed="rId5"/>
                <a:stretch>
                  <a:fillRect b="-2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/>
          <p:cNvCxnSpPr/>
          <p:nvPr/>
        </p:nvCxnSpPr>
        <p:spPr>
          <a:xfrm>
            <a:off x="6967220" y="2502535"/>
            <a:ext cx="0" cy="35363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292975" y="2502535"/>
            <a:ext cx="0" cy="35363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517255" y="2555875"/>
            <a:ext cx="0" cy="35363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839835" y="2541905"/>
            <a:ext cx="0" cy="35363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581265" y="2536190"/>
            <a:ext cx="0" cy="35363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905115" y="2536190"/>
            <a:ext cx="0" cy="35363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453245" y="2536190"/>
            <a:ext cx="0" cy="35363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506085" y="3112135"/>
                <a:ext cx="562610" cy="464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lang="en-US" altLang="zh-CN" sz="2400" i="1" baseline="-25000">
                              <a:solidFill>
                                <a:srgbClr val="FF0000"/>
                              </a:solidFill>
                              <a:uFillTx/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altLang="zh-CN" sz="2400" i="1" baseline="-25000">
                  <a:solidFill>
                    <a:srgbClr val="FF0000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085" y="3112135"/>
                <a:ext cx="562610" cy="464820"/>
              </a:xfrm>
              <a:prstGeom prst="rect">
                <a:avLst/>
              </a:prstGeom>
              <a:blipFill rotWithShape="1">
                <a:blip r:embed="rId5"/>
                <a:stretch>
                  <a:fillRect b="-2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4413250" y="1790065"/>
            <a:ext cx="562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i="1">
                <a:solidFill>
                  <a:srgbClr val="FF0000"/>
                </a:solidFill>
                <a:uFillTx/>
                <a:latin typeface="Cambria Math" panose="02040503050406030204" charset="0"/>
                <a:cs typeface="Cambria Math" panose="02040503050406030204" charset="0"/>
              </a:rPr>
              <a:t>2</a:t>
            </a:r>
            <a:endParaRPr lang="en-US" altLang="zh-CN" sz="2400" i="1">
              <a:solidFill>
                <a:srgbClr val="FF0000"/>
              </a:solidFill>
              <a:uFillTx/>
              <a:latin typeface="Cambria Math" panose="02040503050406030204" charset="0"/>
              <a:cs typeface="Cambria Math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2" grpId="0"/>
      <p:bldP spid="11" grpId="0"/>
      <p:bldP spid="12" grpId="1"/>
      <p:bldP spid="11" grpId="1"/>
      <p:bldP spid="20" grpId="0"/>
      <p:bldP spid="20" grpId="1"/>
      <p:bldP spid="21" grpId="0"/>
      <p:bldP spid="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108" y="1238555"/>
            <a:ext cx="1166529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2</a:t>
            </a:r>
            <a:r>
              <a:rPr lang="zh-CN" altLang="en-US" sz="3200" dirty="0"/>
              <a:t>如图所示触发器电路，若</a:t>
            </a:r>
            <a:r>
              <a:rPr lang="en-US" altLang="zh-CN" sz="3200" dirty="0"/>
              <a:t>AB=</a:t>
            </a:r>
            <a:r>
              <a:rPr lang="en-US" altLang="zh-CN" sz="3200" dirty="0">
                <a:solidFill>
                  <a:srgbClr val="FF0000"/>
                </a:solidFill>
              </a:rPr>
              <a:t>10</a:t>
            </a:r>
            <a:r>
              <a:rPr lang="zh-CN" altLang="en-US" sz="3200" dirty="0"/>
              <a:t>，则当有效</a:t>
            </a:r>
            <a:r>
              <a:rPr lang="en-US" altLang="zh-CN" sz="3200" dirty="0"/>
              <a:t>CP</a:t>
            </a:r>
            <a:r>
              <a:rPr lang="zh-CN" altLang="en-US" sz="3200" dirty="0"/>
              <a:t>到来时</a:t>
            </a:r>
            <a:r>
              <a:rPr lang="en-US" altLang="zh-CN" sz="3200" dirty="0"/>
              <a:t>Q=</a:t>
            </a:r>
            <a:r>
              <a:rPr lang="en-US" altLang="zh-CN" sz="3200" u="sng" dirty="0"/>
              <a:t>            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endParaRPr lang="en-US" altLang="zh-CN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740410" y="676910"/>
            <a:ext cx="4022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三、课堂</a:t>
            </a:r>
            <a:r>
              <a:rPr lang="zh-CN" altLang="en-US" sz="3200" b="1" dirty="0">
                <a:solidFill>
                  <a:srgbClr val="FF0000"/>
                </a:solidFill>
              </a:rPr>
              <a:t>复习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15" y="2075180"/>
            <a:ext cx="4526280" cy="33528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1470005" y="1240155"/>
            <a:ext cx="365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</a:rPr>
              <a:t>0</a:t>
            </a:r>
            <a:endParaRPr lang="en-US" altLang="zh-CN" sz="320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373110" y="2392045"/>
            <a:ext cx="3796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钟控同步</a:t>
            </a:r>
            <a:r>
              <a:rPr lang="en-US" altLang="zh-CN" sz="2400">
                <a:solidFill>
                  <a:srgbClr val="FF0000"/>
                </a:solidFill>
              </a:rPr>
              <a:t>RS</a:t>
            </a:r>
            <a:r>
              <a:rPr lang="zh-CN" altLang="en-US" sz="2400">
                <a:solidFill>
                  <a:srgbClr val="FF0000"/>
                </a:solidFill>
              </a:rPr>
              <a:t>触发器</a:t>
            </a:r>
            <a:r>
              <a:rPr lang="en-US" altLang="zh-CN" sz="2400">
                <a:solidFill>
                  <a:srgbClr val="FF0000"/>
                </a:solidFill>
              </a:rPr>
              <a:t>Q</a:t>
            </a:r>
            <a:r>
              <a:rPr lang="zh-CN" altLang="en-US" sz="2400">
                <a:solidFill>
                  <a:srgbClr val="FF0000"/>
                </a:solidFill>
              </a:rPr>
              <a:t>对着</a:t>
            </a:r>
            <a:r>
              <a:rPr lang="en-US" altLang="zh-CN" sz="2400">
                <a:solidFill>
                  <a:srgbClr val="FF0000"/>
                </a:solidFill>
              </a:rPr>
              <a:t>S</a:t>
            </a:r>
            <a:r>
              <a:rPr lang="en-US" altLang="zh-CN" sz="240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</a:rPr>
              <a:t>。</a:t>
            </a:r>
            <a:endParaRPr lang="zh-CN" altLang="en-US" sz="2400">
              <a:solidFill>
                <a:srgbClr val="FF0000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973070" y="4768215"/>
            <a:ext cx="365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</a:rPr>
              <a:t>S</a:t>
            </a:r>
            <a:endParaRPr lang="en-US" altLang="zh-CN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108" y="1238555"/>
            <a:ext cx="1166529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(</a:t>
            </a:r>
            <a:r>
              <a:rPr lang="en-US" altLang="zh-CN" sz="3200" dirty="0">
                <a:solidFill>
                  <a:srgbClr val="1542FF"/>
                </a:solidFill>
              </a:rPr>
              <a:t>2016</a:t>
            </a:r>
            <a:r>
              <a:rPr lang="zh-CN" altLang="en-US" sz="3200" dirty="0">
                <a:solidFill>
                  <a:srgbClr val="1542FF"/>
                </a:solidFill>
              </a:rPr>
              <a:t>年高考题</a:t>
            </a:r>
            <a:r>
              <a:rPr lang="en-US" altLang="zh-CN" sz="3200" dirty="0"/>
              <a:t>)</a:t>
            </a:r>
            <a:r>
              <a:rPr lang="zh-CN" altLang="en-US" sz="3200" dirty="0"/>
              <a:t>电路如题，设触发器初态为</a:t>
            </a:r>
            <a:r>
              <a:rPr lang="en-US" altLang="zh-CN" sz="3200" dirty="0"/>
              <a:t>0</a:t>
            </a:r>
            <a:r>
              <a:rPr lang="zh-CN" altLang="en-US" sz="3200" dirty="0"/>
              <a:t>，若</a:t>
            </a:r>
            <a:r>
              <a:rPr lang="en-US" altLang="zh-CN" sz="3200" dirty="0"/>
              <a:t>A=1</a:t>
            </a:r>
            <a:r>
              <a:rPr lang="zh-CN" altLang="en-US" sz="3200" dirty="0"/>
              <a:t>，</a:t>
            </a:r>
            <a:r>
              <a:rPr lang="en-US" altLang="zh-CN" sz="3200" dirty="0"/>
              <a:t>B=0</a:t>
            </a:r>
            <a:r>
              <a:rPr lang="zh-CN" altLang="en-US" sz="3200" dirty="0"/>
              <a:t>，则当</a:t>
            </a:r>
            <a:r>
              <a:rPr lang="en-US" altLang="zh-CN" sz="3200" dirty="0"/>
              <a:t>CP = 0</a:t>
            </a:r>
            <a:r>
              <a:rPr lang="zh-CN" altLang="en-US" sz="3200" dirty="0"/>
              <a:t>时，</a:t>
            </a:r>
            <a:r>
              <a:rPr lang="en-US" altLang="zh-CN" sz="3200" dirty="0"/>
              <a:t>Q=</a:t>
            </a:r>
            <a:r>
              <a:rPr lang="en-US" altLang="zh-CN" sz="3200" u="sng" dirty="0"/>
              <a:t>            </a:t>
            </a:r>
            <a:r>
              <a:rPr lang="zh-CN" altLang="en-US" sz="3200" dirty="0"/>
              <a:t>，当</a:t>
            </a:r>
            <a:r>
              <a:rPr lang="en-US" altLang="zh-CN" sz="3200" dirty="0"/>
              <a:t>CP = 1</a:t>
            </a:r>
            <a:r>
              <a:rPr lang="zh-CN" altLang="en-US" sz="3200" dirty="0"/>
              <a:t>时，</a:t>
            </a:r>
            <a:r>
              <a:rPr lang="en-US" altLang="zh-CN" sz="3200" dirty="0"/>
              <a:t>Q =</a:t>
            </a:r>
            <a:r>
              <a:rPr lang="en-US" altLang="zh-CN" sz="3200" u="sng" dirty="0"/>
              <a:t>             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endParaRPr lang="en-US" altLang="zh-CN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740410" y="676910"/>
            <a:ext cx="4022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三、课堂</a:t>
            </a:r>
            <a:r>
              <a:rPr lang="zh-CN" altLang="en-US" sz="3200" b="1" dirty="0">
                <a:solidFill>
                  <a:srgbClr val="FF0000"/>
                </a:solidFill>
              </a:rPr>
              <a:t>复习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485005" y="5920105"/>
            <a:ext cx="365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</a:rPr>
              <a:t>0</a:t>
            </a:r>
            <a:endParaRPr lang="en-US" altLang="zh-CN" sz="320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815" y="2607945"/>
            <a:ext cx="3749040" cy="34137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61175" y="5920105"/>
            <a:ext cx="365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</a:rPr>
              <a:t>1</a:t>
            </a:r>
            <a:endParaRPr lang="en-US" altLang="zh-CN" sz="32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09060" y="1731010"/>
            <a:ext cx="365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</a:rPr>
              <a:t>0</a:t>
            </a:r>
            <a:endParaRPr lang="en-US" altLang="zh-CN" sz="32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29600" y="1731010"/>
            <a:ext cx="365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FF0000"/>
                </a:solidFill>
              </a:rPr>
              <a:t>1</a:t>
            </a:r>
            <a:endParaRPr lang="en-US" altLang="zh-CN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108" y="1023290"/>
            <a:ext cx="116652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(</a:t>
            </a:r>
            <a:r>
              <a:rPr lang="en-US" altLang="zh-CN" sz="2800" dirty="0">
                <a:solidFill>
                  <a:srgbClr val="1542FF"/>
                </a:solidFill>
              </a:rPr>
              <a:t>2011</a:t>
            </a:r>
            <a:r>
              <a:rPr lang="zh-CN" altLang="en-US" sz="2800" dirty="0">
                <a:solidFill>
                  <a:srgbClr val="1542FF"/>
                </a:solidFill>
              </a:rPr>
              <a:t>年高考题</a:t>
            </a:r>
            <a:r>
              <a:rPr lang="en-US" altLang="zh-CN" sz="2800" dirty="0"/>
              <a:t>)</a:t>
            </a:r>
            <a:r>
              <a:rPr lang="zh-CN" altLang="en-US" sz="2800" dirty="0"/>
              <a:t>触发器电路如图所示，设各触发器的初态为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en-US" altLang="zh-CN" sz="2800" dirty="0">
                <a:sym typeface="+mn-ea"/>
              </a:rPr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  <a:sym typeface="+mn-ea"/>
              </a:rPr>
              <a:t>3</a:t>
            </a:r>
            <a:r>
              <a:rPr lang="en-US" altLang="zh-CN" sz="2800" dirty="0"/>
              <a:t>=000</a:t>
            </a:r>
            <a:r>
              <a:rPr lang="zh-CN" altLang="en-US" sz="2800" dirty="0"/>
              <a:t>，试画出</a:t>
            </a:r>
            <a:r>
              <a:rPr lang="en-US" altLang="zh-CN" sz="2800" dirty="0"/>
              <a:t>8</a:t>
            </a:r>
            <a:r>
              <a:rPr lang="zh-CN" altLang="en-US" sz="2800" dirty="0"/>
              <a:t>个</a:t>
            </a:r>
            <a:r>
              <a:rPr lang="en-US" altLang="zh-CN" sz="2800" dirty="0"/>
              <a:t>CP</a:t>
            </a:r>
            <a:r>
              <a:rPr lang="zh-CN" altLang="en-US" sz="2800" dirty="0"/>
              <a:t>作用下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2800" dirty="0"/>
              <a:t>和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2800" dirty="0"/>
              <a:t>的波形。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740410" y="533400"/>
            <a:ext cx="4022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三、课堂</a:t>
            </a:r>
            <a:r>
              <a:rPr lang="zh-CN" altLang="en-US" sz="3200" b="1" dirty="0">
                <a:solidFill>
                  <a:srgbClr val="FF0000"/>
                </a:solidFill>
              </a:rPr>
              <a:t>复习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780" y="1960245"/>
            <a:ext cx="5694680" cy="1787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80" y="3719830"/>
            <a:ext cx="7217410" cy="3141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1168070"/>
            <a:ext cx="11665296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分析时序逻辑电路的一般</a:t>
            </a:r>
            <a:r>
              <a:rPr lang="zh-CN" altLang="en-US" sz="2800" dirty="0"/>
              <a:t>方法：</a:t>
            </a:r>
            <a:endParaRPr lang="zh-CN" altLang="en-US" sz="2800" dirty="0"/>
          </a:p>
          <a:p>
            <a:r>
              <a:rPr lang="en-US" altLang="zh-CN" sz="2800" dirty="0"/>
              <a:t>1</a:t>
            </a:r>
            <a:r>
              <a:rPr lang="zh-CN" altLang="en-US" sz="2800" dirty="0"/>
              <a:t>、列</a:t>
            </a:r>
            <a:r>
              <a:rPr lang="zh-CN" altLang="en-US" sz="2800" b="1" dirty="0">
                <a:solidFill>
                  <a:srgbClr val="1542FF"/>
                </a:solidFill>
              </a:rPr>
              <a:t>驱动</a:t>
            </a:r>
            <a:r>
              <a:rPr lang="zh-CN" altLang="en-US" sz="2800" dirty="0"/>
              <a:t>方程，即看触发器的输入信号从哪</a:t>
            </a:r>
            <a:r>
              <a:rPr lang="zh-CN" altLang="en-US" sz="2800" dirty="0"/>
              <a:t>来。</a:t>
            </a:r>
            <a:endParaRPr lang="zh-CN" altLang="en-US" sz="2800" dirty="0"/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、根据驱动方程分析电路的逻辑</a:t>
            </a:r>
            <a:r>
              <a:rPr lang="zh-CN" altLang="en-US" sz="2800" dirty="0"/>
              <a:t>功能。</a:t>
            </a:r>
            <a:endParaRPr lang="zh-CN" altLang="en-US" sz="2800" dirty="0"/>
          </a:p>
          <a:p>
            <a:r>
              <a:rPr lang="en-US" altLang="zh-CN" sz="2800" dirty="0"/>
              <a:t>3</a:t>
            </a:r>
            <a:r>
              <a:rPr lang="zh-CN" altLang="en-US" sz="2800" dirty="0"/>
              <a:t>、观察</a:t>
            </a:r>
            <a:r>
              <a:rPr lang="en-US" altLang="zh-CN" sz="2800" b="1" dirty="0">
                <a:solidFill>
                  <a:srgbClr val="1542FF"/>
                </a:solidFill>
              </a:rPr>
              <a:t>CP</a:t>
            </a:r>
            <a:r>
              <a:rPr lang="zh-CN" altLang="en-US" sz="2800" dirty="0"/>
              <a:t>时钟信号，信号从哪里来，同步还是异步，上升沿还是下降</a:t>
            </a:r>
            <a:r>
              <a:rPr lang="zh-CN" altLang="en-US" sz="2800" dirty="0"/>
              <a:t>沿。</a:t>
            </a:r>
            <a:endParaRPr lang="zh-CN" altLang="en-US" sz="2800" dirty="0"/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、看清各触发器的</a:t>
            </a:r>
            <a:r>
              <a:rPr lang="zh-CN" altLang="en-US" sz="2800" b="1" dirty="0">
                <a:solidFill>
                  <a:srgbClr val="1542FF"/>
                </a:solidFill>
              </a:rPr>
              <a:t>初态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740410" y="533400"/>
            <a:ext cx="4022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四、方法</a:t>
            </a:r>
            <a:r>
              <a:rPr lang="zh-CN" altLang="en-US" sz="3200" b="1" dirty="0">
                <a:solidFill>
                  <a:srgbClr val="FF0000"/>
                </a:solidFill>
              </a:rPr>
              <a:t>归纳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79832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1096315"/>
            <a:ext cx="116652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触发器电路如图所示，设各触发器的初态为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2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3</a:t>
            </a:r>
            <a:r>
              <a:rPr lang="en-US" altLang="zh-CN" sz="2800" dirty="0"/>
              <a:t> = 001</a:t>
            </a:r>
            <a:r>
              <a:rPr lang="zh-CN" altLang="en-US" sz="2800" dirty="0"/>
              <a:t>，试画出</a:t>
            </a:r>
            <a:r>
              <a:rPr lang="en-US" altLang="zh-CN" sz="2800" dirty="0"/>
              <a:t>6</a:t>
            </a:r>
            <a:r>
              <a:rPr lang="zh-CN" altLang="en-US" sz="2800" dirty="0"/>
              <a:t>个</a:t>
            </a:r>
            <a:r>
              <a:rPr lang="en-US" altLang="zh-CN" sz="2800" dirty="0"/>
              <a:t>CP</a:t>
            </a:r>
            <a:r>
              <a:rPr lang="zh-CN" altLang="en-US" sz="2800" dirty="0"/>
              <a:t>作用下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2800" dirty="0"/>
              <a:t>和</a:t>
            </a:r>
            <a:r>
              <a:rPr lang="en-US" altLang="zh-CN" sz="2800" dirty="0"/>
              <a:t>Q</a:t>
            </a:r>
            <a:r>
              <a:rPr lang="en-US" altLang="zh-CN" sz="2800" baseline="-25000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2800" dirty="0"/>
              <a:t>的波形。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740410" y="533400"/>
            <a:ext cx="4022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提高</a:t>
            </a:r>
            <a:r>
              <a:rPr lang="zh-CN" altLang="en-US" sz="3200" b="1" dirty="0">
                <a:solidFill>
                  <a:srgbClr val="FF0000"/>
                </a:solidFill>
              </a:rPr>
              <a:t>扩展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671955"/>
            <a:ext cx="5819140" cy="18973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40" y="3616325"/>
            <a:ext cx="5461635" cy="32169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80365" y="3491230"/>
            <a:ext cx="1015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解：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16355" y="2176145"/>
            <a:ext cx="27857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1542FF"/>
                </a:solidFill>
              </a:rPr>
              <a:t>如果是同一个</a:t>
            </a:r>
            <a:r>
              <a:rPr lang="en-US" altLang="zh-CN" sz="2800" b="1">
                <a:solidFill>
                  <a:srgbClr val="1542FF"/>
                </a:solidFill>
              </a:rPr>
              <a:t>CP</a:t>
            </a:r>
            <a:r>
              <a:rPr lang="zh-CN" altLang="en-US" sz="2800" b="1">
                <a:solidFill>
                  <a:srgbClr val="1542FF"/>
                </a:solidFill>
              </a:rPr>
              <a:t>，就是同步</a:t>
            </a:r>
            <a:endParaRPr lang="zh-CN" altLang="en-US" sz="2800" b="1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19990"/>
            <a:ext cx="1166529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</a:rPr>
              <a:t>年高考题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indent="457200"/>
            <a:r>
              <a:rPr lang="en-US" altLang="zh-CN" sz="2400" dirty="0"/>
              <a:t>(1)</a:t>
            </a:r>
            <a:r>
              <a:rPr lang="zh-CN" altLang="en-US" sz="2400" dirty="0"/>
              <a:t>在题</a:t>
            </a:r>
            <a:r>
              <a:rPr lang="en-US" altLang="zh-CN" sz="2400" dirty="0"/>
              <a:t>(b)</a:t>
            </a:r>
            <a:r>
              <a:rPr lang="zh-CN" altLang="en-US" sz="2400" dirty="0"/>
              <a:t>图中画出</a:t>
            </a:r>
            <a:r>
              <a:rPr lang="en-US" altLang="zh-CN" sz="2400" dirty="0"/>
              <a:t>16</a:t>
            </a:r>
            <a:r>
              <a:rPr lang="zh-CN" altLang="en-US" sz="2400" dirty="0"/>
              <a:t>个</a:t>
            </a:r>
            <a:r>
              <a:rPr lang="en-US" altLang="zh-CN" sz="2400" dirty="0"/>
              <a:t>CP</a:t>
            </a:r>
            <a:r>
              <a:rPr lang="zh-CN" altLang="en-US" sz="2400" dirty="0"/>
              <a:t>作用下</a:t>
            </a:r>
            <a:r>
              <a:rPr lang="en-US" altLang="zh-CN" sz="2400" dirty="0">
                <a:sym typeface="+mn-ea"/>
              </a:rPr>
              <a:t>Q</a:t>
            </a:r>
            <a:r>
              <a:rPr lang="en-US" altLang="zh-CN" sz="2400" baseline="-25000" dirty="0">
                <a:uFillTx/>
                <a:sym typeface="+mn-ea"/>
              </a:rPr>
              <a:t>0  </a:t>
            </a:r>
            <a:r>
              <a:rPr lang="zh-CN" altLang="en-US" sz="2400" baseline="-25000" dirty="0">
                <a:uFillTx/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Q</a:t>
            </a:r>
            <a:r>
              <a:rPr lang="en-US" altLang="zh-CN" sz="2400" baseline="-25000" dirty="0">
                <a:uFillTx/>
                <a:sym typeface="+mn-ea"/>
              </a:rPr>
              <a:t>1</a:t>
            </a:r>
            <a:r>
              <a:rPr lang="zh-CN" altLang="en-US" sz="2400" baseline="-25000" dirty="0">
                <a:uFillTx/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Q</a:t>
            </a:r>
            <a:r>
              <a:rPr lang="en-US" altLang="zh-CN" sz="2400" baseline="-25000" dirty="0">
                <a:uFillTx/>
                <a:sym typeface="+mn-ea"/>
              </a:rPr>
              <a:t>2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和</a:t>
            </a:r>
            <a:r>
              <a:rPr lang="en-US" altLang="zh-CN" sz="2400" dirty="0">
                <a:sym typeface="+mn-ea"/>
              </a:rPr>
              <a:t>Q3</a:t>
            </a:r>
            <a:r>
              <a:rPr lang="zh-CN" altLang="en-US" sz="2400" dirty="0">
                <a:sym typeface="+mn-ea"/>
              </a:rPr>
              <a:t>的波形。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每个波形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分</a:t>
            </a:r>
            <a:r>
              <a:rPr lang="en-US" altLang="zh-CN" sz="2400" dirty="0">
                <a:sym typeface="+mn-ea"/>
              </a:rPr>
              <a:t>)</a:t>
            </a:r>
            <a:endParaRPr lang="en-US" altLang="zh-CN" sz="2400" dirty="0">
              <a:sym typeface="+mn-ea"/>
            </a:endParaRPr>
          </a:p>
          <a:p>
            <a:pPr indent="457200"/>
            <a:r>
              <a:rPr lang="en-US" altLang="zh-CN" sz="2400" dirty="0">
                <a:sym typeface="+mn-ea"/>
              </a:rPr>
              <a:t>(2)</a:t>
            </a:r>
            <a:r>
              <a:rPr lang="zh-CN" altLang="en-US" sz="2400" dirty="0">
                <a:sym typeface="+mn-ea"/>
              </a:rPr>
              <a:t>说明每来几个</a:t>
            </a:r>
            <a:r>
              <a:rPr lang="en-US" altLang="zh-CN" sz="2400" dirty="0">
                <a:sym typeface="+mn-ea"/>
              </a:rPr>
              <a:t>CP</a:t>
            </a:r>
            <a:r>
              <a:rPr lang="zh-CN" altLang="en-US" sz="2400" dirty="0">
                <a:sym typeface="+mn-ea"/>
              </a:rPr>
              <a:t>脉冲可以使输出</a:t>
            </a:r>
            <a:r>
              <a:rPr lang="en-US" altLang="zh-CN" sz="2400" dirty="0">
                <a:sym typeface="+mn-ea"/>
              </a:rPr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  <a:sym typeface="+mn-ea"/>
              </a:rPr>
              <a:t>3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  <a:sym typeface="+mn-ea"/>
              </a:rPr>
              <a:t>0</a:t>
            </a:r>
            <a:r>
              <a:rPr lang="zh-CN" altLang="en-US" sz="2400" dirty="0">
                <a:sym typeface="+mn-ea"/>
              </a:rPr>
              <a:t>循环一次。</a:t>
            </a:r>
            <a:r>
              <a:rPr lang="en-US" altLang="zh-CN" sz="2400" dirty="0">
                <a:sym typeface="+mn-ea"/>
              </a:rPr>
              <a:t>(4</a:t>
            </a:r>
            <a:r>
              <a:rPr lang="zh-CN" altLang="en-US" sz="2400" dirty="0">
                <a:sym typeface="+mn-ea"/>
              </a:rPr>
              <a:t>分</a:t>
            </a:r>
            <a:r>
              <a:rPr lang="en-US" altLang="zh-CN" sz="2400" dirty="0">
                <a:sym typeface="+mn-ea"/>
              </a:rPr>
              <a:t>)</a:t>
            </a:r>
            <a:endParaRPr lang="en-US" altLang="zh-CN" sz="2400" dirty="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218565"/>
            <a:ext cx="6510655" cy="3832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2560" y="1584960"/>
            <a:ext cx="28124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1542FF"/>
                </a:solidFill>
              </a:rPr>
              <a:t>同步</a:t>
            </a:r>
            <a:endParaRPr lang="zh-CN" altLang="en-US" sz="2400">
              <a:solidFill>
                <a:srgbClr val="1542FF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 = 1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 = 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r>
              <a:rPr lang="en-US" altLang="zh-CN" sz="2400">
                <a:solidFill>
                  <a:srgbClr val="FF0000"/>
                </a:solidFill>
              </a:rPr>
              <a:t> = 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·Q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3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3</a:t>
            </a:r>
            <a:r>
              <a:rPr lang="en-US" altLang="zh-CN" sz="2400">
                <a:solidFill>
                  <a:srgbClr val="FF0000"/>
                </a:solidFill>
              </a:rPr>
              <a:t> = 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·Q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·Q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endParaRPr lang="en-US" altLang="zh-CN" sz="2400" baseline="-25000">
              <a:solidFill>
                <a:srgbClr val="FF0000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880" y="87630"/>
            <a:ext cx="6922135" cy="407416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3342005" y="3491230"/>
            <a:ext cx="0" cy="301053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697605" y="3491230"/>
            <a:ext cx="0" cy="298386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85005" y="3472180"/>
            <a:ext cx="0" cy="299402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091305" y="3472180"/>
            <a:ext cx="0" cy="299402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45050" y="3491230"/>
            <a:ext cx="0" cy="290385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205095" y="3472180"/>
            <a:ext cx="0" cy="297624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598795" y="3491230"/>
            <a:ext cx="0" cy="299275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318885" y="3491230"/>
            <a:ext cx="0" cy="301942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712585" y="3543935"/>
            <a:ext cx="0" cy="294894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068185" y="3491230"/>
            <a:ext cx="0" cy="30460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437120" y="3491230"/>
            <a:ext cx="0" cy="304609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826375" y="3491230"/>
            <a:ext cx="0" cy="305498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211185" y="3491230"/>
            <a:ext cx="0" cy="299275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80120" y="3491230"/>
            <a:ext cx="0" cy="303720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954395" y="3472180"/>
            <a:ext cx="0" cy="300291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8985250" y="3491230"/>
            <a:ext cx="0" cy="303720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08610" y="807720"/>
            <a:ext cx="28124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1542FF"/>
                </a:solidFill>
              </a:rPr>
              <a:t>同步</a:t>
            </a:r>
            <a:endParaRPr lang="zh-CN" altLang="en-US" sz="2400">
              <a:solidFill>
                <a:srgbClr val="1542FF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 = 1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 = 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r>
              <a:rPr lang="en-US" altLang="zh-CN" sz="2400">
                <a:solidFill>
                  <a:srgbClr val="FF0000"/>
                </a:solidFill>
              </a:rPr>
              <a:t> = 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·Q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en-US" altLang="zh-CN" sz="2400">
                <a:solidFill>
                  <a:srgbClr val="FF0000"/>
                </a:solidFill>
              </a:rPr>
              <a:t>J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3</a:t>
            </a:r>
            <a:r>
              <a:rPr lang="en-US" altLang="zh-CN" sz="2400">
                <a:solidFill>
                  <a:srgbClr val="FF0000"/>
                </a:solidFill>
              </a:rPr>
              <a:t> = K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3</a:t>
            </a:r>
            <a:r>
              <a:rPr lang="en-US" altLang="zh-CN" sz="2400">
                <a:solidFill>
                  <a:srgbClr val="FF0000"/>
                </a:solidFill>
              </a:rPr>
              <a:t> = 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r>
              <a:rPr lang="en-US" altLang="zh-CN" sz="2400">
                <a:solidFill>
                  <a:srgbClr val="FF0000"/>
                </a:solidFill>
              </a:rPr>
              <a:t>·Q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r>
              <a:rPr lang="en-US" altLang="zh-CN" sz="2400">
                <a:solidFill>
                  <a:srgbClr val="FF0000"/>
                </a:solidFill>
              </a:rPr>
              <a:t>·Q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2</a:t>
            </a:r>
            <a:endParaRPr lang="en-US" altLang="zh-CN" sz="2400" baseline="-25000">
              <a:solidFill>
                <a:srgbClr val="FF0000"/>
              </a:solidFill>
              <a:uFillTx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320" y="2929890"/>
            <a:ext cx="2402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1542FF"/>
                </a:solidFill>
              </a:rPr>
              <a:t>没有告诉我们初始状态，怎么办？</a:t>
            </a:r>
            <a:endParaRPr lang="zh-CN" altLang="en-US" sz="2400" b="1">
              <a:solidFill>
                <a:srgbClr val="1542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20320" y="3832860"/>
                <a:ext cx="2402840" cy="1946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>
                    <a:solidFill>
                      <a:srgbClr val="7030A0"/>
                    </a:solidFill>
                  </a:rPr>
                  <a:t>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zh-CN" sz="2400" b="1" i="1" baseline="-25000">
                            <a:solidFill>
                              <a:srgbClr val="7030A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zh-CN" altLang="en-US" sz="2400" b="1">
                    <a:solidFill>
                      <a:srgbClr val="7030A0"/>
                    </a:solidFill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zh-CN" sz="2400" b="1" i="1" baseline="-25000">
                            <a:solidFill>
                              <a:srgbClr val="7030A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zh-CN" altLang="en-US" sz="2400" b="1">
                    <a:solidFill>
                      <a:srgbClr val="7030A0"/>
                    </a:solidFill>
                  </a:rPr>
                  <a:t>从</a:t>
                </a:r>
                <a:r>
                  <a:rPr lang="en-US" altLang="zh-CN" sz="2400" b="1">
                    <a:solidFill>
                      <a:srgbClr val="7030A0"/>
                    </a:solidFill>
                  </a:rPr>
                  <a:t>0</a:t>
                </a:r>
                <a:r>
                  <a:rPr lang="zh-CN" altLang="en-US" sz="2400" b="1">
                    <a:solidFill>
                      <a:srgbClr val="7030A0"/>
                    </a:solidFill>
                  </a:rPr>
                  <a:t>到</a:t>
                </a:r>
                <a:r>
                  <a:rPr lang="en-US" altLang="zh-CN" sz="2400" b="1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400" b="1">
                    <a:solidFill>
                      <a:srgbClr val="7030A0"/>
                    </a:solidFill>
                  </a:rPr>
                  <a:t>，之前讲过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  <m:r>
                          <a:rPr lang="en-US" altLang="zh-CN" sz="2400" b="1" i="1" baseline="-25000">
                            <a:solidFill>
                              <a:srgbClr val="7030A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zh-CN" altLang="en-US" sz="2400" b="1">
                    <a:solidFill>
                      <a:srgbClr val="7030A0"/>
                    </a:solidFill>
                  </a:rPr>
                  <a:t>在高电平时才能正常工作，所以初始状态为</a:t>
                </a:r>
                <a:r>
                  <a:rPr lang="en-US" altLang="zh-CN" sz="2400" b="1">
                    <a:solidFill>
                      <a:srgbClr val="7030A0"/>
                    </a:solidFill>
                  </a:rPr>
                  <a:t>0</a:t>
                </a:r>
                <a:r>
                  <a:rPr lang="zh-CN" altLang="en-US" sz="2400" b="1">
                    <a:solidFill>
                      <a:srgbClr val="7030A0"/>
                    </a:solidFill>
                  </a:rPr>
                  <a:t>。</a:t>
                </a:r>
                <a:endParaRPr lang="zh-CN" altLang="en-US" sz="2400" b="1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" y="3832860"/>
                <a:ext cx="2402840" cy="1946910"/>
              </a:xfrm>
              <a:prstGeom prst="rect">
                <a:avLst/>
              </a:prstGeom>
              <a:blipFill rotWithShape="1">
                <a:blip r:embed="rId3"/>
                <a:stretch>
                  <a:fillRect r="-7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2" grpId="0"/>
      <p:bldP spid="3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65" y="303530"/>
            <a:ext cx="9151620" cy="6461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594030"/>
            <a:ext cx="1166529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09</a:t>
            </a:r>
            <a:r>
              <a:rPr lang="zh-CN" altLang="en-US" sz="2400" dirty="0">
                <a:solidFill>
                  <a:srgbClr val="FF0000"/>
                </a:solidFill>
              </a:rPr>
              <a:t>年高考题</a:t>
            </a:r>
            <a:r>
              <a:rPr lang="en-US" altLang="zh-CN" sz="2400" dirty="0"/>
              <a:t>)</a:t>
            </a:r>
            <a:r>
              <a:rPr lang="zh-CN" altLang="en-US" sz="2400" dirty="0"/>
              <a:t>触发器电路如图所示，当</a:t>
            </a:r>
            <a:r>
              <a:rPr lang="en-US" altLang="zh-CN" sz="2400" dirty="0"/>
              <a:t>A = 1</a:t>
            </a:r>
            <a:r>
              <a:rPr lang="zh-CN" altLang="en-US" sz="2400" dirty="0"/>
              <a:t>时，根据</a:t>
            </a:r>
            <a:r>
              <a:rPr lang="en-US" altLang="zh-CN" sz="2400" dirty="0"/>
              <a:t>CP</a:t>
            </a:r>
            <a:r>
              <a:rPr lang="zh-CN" altLang="en-US" sz="2400" dirty="0"/>
              <a:t>和</a:t>
            </a:r>
            <a:r>
              <a:rPr lang="en-US" altLang="zh-CN" sz="2400" dirty="0"/>
              <a:t>RD</a:t>
            </a:r>
            <a:r>
              <a:rPr lang="zh-CN" altLang="en-US" sz="2400" dirty="0"/>
              <a:t>的波形图画出</a:t>
            </a:r>
            <a:r>
              <a:rPr lang="en-US" altLang="zh-CN" sz="2400" dirty="0"/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2400" dirty="0"/>
              <a:t>、</a:t>
            </a:r>
            <a:r>
              <a:rPr lang="en-US" altLang="zh-CN" sz="2400" dirty="0"/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2400" dirty="0"/>
              <a:t>的波形。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90" y="1311910"/>
            <a:ext cx="8694420" cy="2804160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7473315" y="2392045"/>
            <a:ext cx="0" cy="301053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085455" y="2392045"/>
            <a:ext cx="0" cy="301053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661400" y="2392045"/>
            <a:ext cx="0" cy="301053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237345" y="2392045"/>
            <a:ext cx="0" cy="301053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9849485" y="2392045"/>
            <a:ext cx="0" cy="301053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879590" y="2396490"/>
            <a:ext cx="0" cy="3010535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925185" y="3832225"/>
            <a:ext cx="6375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0</a:t>
            </a:r>
            <a:endParaRPr lang="en-US" altLang="zh-CN" sz="2400" baseline="-25000">
              <a:solidFill>
                <a:srgbClr val="FF0000"/>
              </a:solidFill>
              <a:uFillTx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925185" y="4552950"/>
            <a:ext cx="6375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Q</a:t>
            </a:r>
            <a:r>
              <a:rPr lang="en-US" altLang="zh-CN" sz="2400" baseline="-25000">
                <a:solidFill>
                  <a:srgbClr val="FF0000"/>
                </a:solidFill>
                <a:uFillTx/>
              </a:rPr>
              <a:t>1</a:t>
            </a:r>
            <a:endParaRPr lang="en-US" altLang="zh-CN" sz="2400" baseline="-25000">
              <a:solidFill>
                <a:srgbClr val="FF0000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594030"/>
            <a:ext cx="1166529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分析如图所示逻辑电路。设触发器的初态为</a:t>
            </a:r>
            <a:r>
              <a:rPr lang="en-US" altLang="zh-CN" sz="2400" dirty="0"/>
              <a:t>0</a:t>
            </a:r>
            <a:r>
              <a:rPr lang="zh-CN" altLang="en-US" sz="2400" dirty="0"/>
              <a:t>，试根据输入波形，画出</a:t>
            </a:r>
            <a:r>
              <a:rPr lang="en-US" altLang="zh-CN" sz="2400" dirty="0"/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Y</a:t>
            </a:r>
            <a:r>
              <a:rPr lang="zh-CN" altLang="en-US" sz="2400" dirty="0"/>
              <a:t>对应的输出</a:t>
            </a:r>
            <a:r>
              <a:rPr lang="zh-CN" altLang="en-US" sz="2400" dirty="0"/>
              <a:t>波形。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065" y="951865"/>
            <a:ext cx="7023735" cy="26022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0" y="2463800"/>
            <a:ext cx="3956685" cy="1125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015" y="3616325"/>
            <a:ext cx="4286250" cy="32150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820545" y="3688080"/>
            <a:ext cx="730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解：</a:t>
            </a:r>
            <a:endParaRPr lang="zh-CN" altLang="en-US" sz="2800">
              <a:solidFill>
                <a:srgbClr val="FF0000"/>
              </a:solidFill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 flipV="1">
            <a:off x="1532890" y="2679700"/>
            <a:ext cx="1301750" cy="7493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09220" y="2021205"/>
                <a:ext cx="2443480" cy="71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000">
                    <a:solidFill>
                      <a:srgbClr val="FF0000"/>
                    </a:solidFill>
                  </a:rPr>
                  <a:t>就是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  <m:r>
                          <a:rPr lang="en-US" altLang="zh-CN" sz="2000" i="1" baseline="-25000">
                            <a:solidFill>
                              <a:srgbClr val="FF000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000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当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A=0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时具有强制置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0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功能</a:t>
                </a:r>
                <a:endParaRPr lang="zh-CN" alt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" y="2021205"/>
                <a:ext cx="2443480" cy="7105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8472805" y="4016375"/>
                <a:ext cx="3068955" cy="650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J2 = Q2    </a:t>
                </a:r>
                <a:endParaRPr lang="en-US" altLang="zh-CN">
                  <a:solidFill>
                    <a:srgbClr val="FF0000"/>
                  </a:solidFill>
                </a:endParaRPr>
              </a:p>
              <a:p>
                <a:r>
                  <a:rPr lang="en-US" altLang="zh-CN">
                    <a:solidFill>
                      <a:srgbClr val="FF0000"/>
                    </a:solidFill>
                  </a:rPr>
                  <a:t>K2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Q</m:t>
                        </m:r>
                        <m:r>
                          <a:rPr lang="en-US" altLang="zh-CN" i="1" baseline="-25000">
                            <a:solidFill>
                              <a:srgbClr val="FF000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</m:acc>
                    <m:r>
                      <a:rPr lang="en-US" altLang="zh-CN" i="1" baseline="-25000">
                        <a:solidFill>
                          <a:srgbClr val="FF0000"/>
                        </a:solidFill>
                        <a:uFillTx/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 baseline="-25000">
                        <a:solidFill>
                          <a:schemeClr val="tx1"/>
                        </a:solidFill>
                        <a:uFillTx/>
                        <a:latin typeface="Cambria Math" panose="02040503050406030204" charset="0"/>
                        <a:cs typeface="Cambria Math" panose="02040503050406030204" charset="0"/>
                      </a:rPr>
                      <m:t>   </m:t>
                    </m:r>
                  </m:oMath>
                </a14:m>
                <a:endParaRPr lang="en-US" altLang="zh-CN" i="1" baseline="-25000">
                  <a:solidFill>
                    <a:schemeClr val="tx1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805" y="4016375"/>
                <a:ext cx="3068955" cy="6508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右大括号 14"/>
          <p:cNvSpPr/>
          <p:nvPr/>
        </p:nvSpPr>
        <p:spPr>
          <a:xfrm>
            <a:off x="9381490" y="4119880"/>
            <a:ext cx="215900" cy="432435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728835" y="4114800"/>
            <a:ext cx="1741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就是</a:t>
            </a:r>
            <a:r>
              <a:rPr lang="en-US" altLang="zh-CN">
                <a:solidFill>
                  <a:srgbClr val="FF0000"/>
                </a:solidFill>
              </a:rPr>
              <a:t>D</a:t>
            </a:r>
            <a:r>
              <a:rPr lang="zh-CN" altLang="en-US">
                <a:solidFill>
                  <a:srgbClr val="FF0000"/>
                </a:solidFill>
              </a:rPr>
              <a:t>触发器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D2 =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Q2 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17255" y="4839970"/>
            <a:ext cx="124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T1 = Q2</a:t>
            </a:r>
            <a:endParaRPr lang="en-US" altLang="zh-CN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8517255" y="5353050"/>
                <a:ext cx="1710055" cy="374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FF0000"/>
                    </a:solidFill>
                  </a:rPr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  <m:r>
                          <a:rPr lang="en-US" altLang="zh-CN" i="1" baseline="-25000">
                            <a:solidFill>
                              <a:srgbClr val="FF000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Q</m:t>
                        </m:r>
                        <m:r>
                          <a:rPr lang="en-US" altLang="zh-CN" i="1" baseline="-25000">
                            <a:solidFill>
                              <a:srgbClr val="FF0000"/>
                            </a:solidFill>
                            <a:uFillTx/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</m:acc>
                  </m:oMath>
                </a14:m>
                <a:endParaRPr lang="en-US" altLang="zh-CN" i="1" baseline="-25000">
                  <a:solidFill>
                    <a:srgbClr val="FF0000"/>
                  </a:solidFill>
                  <a:uFillTx/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255" y="5353050"/>
                <a:ext cx="1710055" cy="3740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/>
          <p:cNvCxnSpPr/>
          <p:nvPr/>
        </p:nvCxnSpPr>
        <p:spPr>
          <a:xfrm>
            <a:off x="2108835" y="5704205"/>
            <a:ext cx="1440180" cy="28829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388745" y="5479415"/>
            <a:ext cx="7880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错了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22" grpId="0"/>
      <p:bldP spid="2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594030"/>
            <a:ext cx="11665296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、填空题</a:t>
            </a:r>
            <a:endParaRPr lang="zh-CN" altLang="en-US" sz="2800" dirty="0"/>
          </a:p>
          <a:p>
            <a:r>
              <a:rPr lang="en-US" altLang="zh-CN" sz="2800" dirty="0"/>
              <a:t>(1) </a:t>
            </a:r>
            <a:r>
              <a:rPr lang="zh-CN" altLang="en-US" sz="2800" dirty="0"/>
              <a:t>主从</a:t>
            </a:r>
            <a:r>
              <a:rPr lang="en-US" altLang="zh-CN" sz="2800" dirty="0"/>
              <a:t>JK</a:t>
            </a:r>
            <a:r>
              <a:rPr lang="zh-CN" altLang="en-US" sz="2800" dirty="0"/>
              <a:t>触发器的初始状态</a:t>
            </a:r>
            <a:r>
              <a:rPr lang="en-US" altLang="zh-CN" sz="2800" dirty="0"/>
              <a:t>Qn = 0</a:t>
            </a:r>
            <a:r>
              <a:rPr lang="zh-CN" altLang="en-US" sz="2800" dirty="0"/>
              <a:t>，当</a:t>
            </a:r>
            <a:r>
              <a:rPr lang="en-US" altLang="zh-CN" sz="2800" dirty="0"/>
              <a:t>Jk = 11</a:t>
            </a:r>
            <a:r>
              <a:rPr lang="zh-CN" altLang="en-US" sz="2800" dirty="0"/>
              <a:t>时，经过</a:t>
            </a:r>
            <a:r>
              <a:rPr lang="en-US" altLang="zh-CN" sz="2800" dirty="0"/>
              <a:t>1001</a:t>
            </a:r>
            <a:r>
              <a:rPr lang="zh-CN" altLang="en-US" sz="2800" dirty="0"/>
              <a:t>个脉冲后</a:t>
            </a:r>
            <a:r>
              <a:rPr lang="en-US" altLang="zh-CN" sz="2800" dirty="0"/>
              <a:t>Qn+1 =</a:t>
            </a:r>
            <a:r>
              <a:rPr lang="en-US" altLang="zh-CN" sz="2800" u="sng" dirty="0"/>
              <a:t>                 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r>
              <a:rPr lang="en-US" altLang="zh-CN" sz="2800" dirty="0"/>
              <a:t>(2) </a:t>
            </a:r>
            <a:r>
              <a:rPr lang="zh-CN" altLang="en-US" sz="2800" dirty="0"/>
              <a:t>在图</a:t>
            </a:r>
            <a:r>
              <a:rPr lang="en-US" altLang="zh-CN" sz="2800" dirty="0"/>
              <a:t> 5-9-10</a:t>
            </a:r>
            <a:r>
              <a:rPr lang="zh-CN" altLang="en-US" sz="2800" dirty="0"/>
              <a:t>所示电路中，设触发器初态为</a:t>
            </a:r>
            <a:r>
              <a:rPr lang="en-US" altLang="zh-CN" sz="2800" dirty="0"/>
              <a:t>1</a:t>
            </a:r>
            <a:r>
              <a:rPr lang="zh-CN" altLang="en-US" sz="2800" dirty="0"/>
              <a:t>，若</a:t>
            </a:r>
            <a:r>
              <a:rPr lang="en-US" altLang="zh-CN" sz="2800" dirty="0"/>
              <a:t>CP</a:t>
            </a:r>
            <a:r>
              <a:rPr lang="zh-CN" altLang="en-US" sz="2800" dirty="0"/>
              <a:t>有效且</a:t>
            </a:r>
            <a:r>
              <a:rPr lang="en-US" altLang="zh-CN" sz="2800" dirty="0"/>
              <a:t>AB</a:t>
            </a:r>
            <a:r>
              <a:rPr lang="zh-CN" altLang="en-US" sz="2800" dirty="0"/>
              <a:t>为</a:t>
            </a:r>
            <a:r>
              <a:rPr lang="en-US" altLang="zh-CN" sz="2800" dirty="0"/>
              <a:t>01</a:t>
            </a:r>
            <a:r>
              <a:rPr lang="zh-CN" altLang="en-US" sz="2800" dirty="0"/>
              <a:t>时，那么</a:t>
            </a:r>
            <a:r>
              <a:rPr lang="en-US" altLang="zh-CN" sz="2800" dirty="0"/>
              <a:t>Q</a:t>
            </a:r>
            <a:r>
              <a:rPr lang="zh-CN" altLang="en-US" sz="2800" dirty="0"/>
              <a:t>将是</a:t>
            </a:r>
            <a:r>
              <a:rPr lang="en-US" altLang="zh-CN" sz="2800" u="sng" dirty="0"/>
              <a:t>               </a:t>
            </a:r>
            <a:r>
              <a:rPr lang="zh-CN" altLang="en-US" sz="2800" dirty="0"/>
              <a:t>。</a:t>
            </a:r>
            <a:r>
              <a:rPr lang="en-US" altLang="zh-CN" sz="2800" dirty="0"/>
              <a:t>(</a:t>
            </a:r>
            <a:r>
              <a:rPr lang="zh-CN" altLang="en-US" sz="2800" dirty="0"/>
              <a:t>填</a:t>
            </a:r>
            <a:r>
              <a:rPr lang="en-US" altLang="zh-CN" sz="2800" dirty="0"/>
              <a:t>0</a:t>
            </a:r>
            <a:r>
              <a:rPr lang="zh-CN" altLang="en-US" sz="2800" dirty="0"/>
              <a:t>或</a:t>
            </a:r>
            <a:r>
              <a:rPr lang="en-US" altLang="zh-CN" sz="2800" dirty="0"/>
              <a:t>1)</a:t>
            </a:r>
            <a:endParaRPr lang="en-US" altLang="zh-CN" sz="2800" dirty="0"/>
          </a:p>
          <a:p>
            <a:r>
              <a:rPr lang="en-US" altLang="zh-CN" sz="2800" dirty="0"/>
              <a:t>(3) </a:t>
            </a:r>
            <a:r>
              <a:rPr lang="zh-CN" altLang="en-US" sz="2800" dirty="0"/>
              <a:t>为实现</a:t>
            </a:r>
            <a:r>
              <a:rPr lang="en-US" altLang="zh-CN" sz="2800" dirty="0"/>
              <a:t>JK</a:t>
            </a:r>
            <a:r>
              <a:rPr lang="zh-CN" altLang="en-US" sz="2800" dirty="0"/>
              <a:t>触发器转换为</a:t>
            </a:r>
            <a:r>
              <a:rPr lang="en-US" altLang="zh-CN" sz="2800" dirty="0"/>
              <a:t>D</a:t>
            </a:r>
            <a:r>
              <a:rPr lang="zh-CN" altLang="en-US" sz="2800" dirty="0"/>
              <a:t>触发器，如图</a:t>
            </a:r>
            <a:r>
              <a:rPr lang="en-US" altLang="zh-CN" sz="2800" dirty="0"/>
              <a:t>5-9-11</a:t>
            </a:r>
            <a:r>
              <a:rPr lang="zh-CN" altLang="en-US" sz="2800" dirty="0"/>
              <a:t>虚线框中应是</a:t>
            </a:r>
            <a:r>
              <a:rPr lang="en-US" altLang="zh-CN" sz="2800" u="sng" dirty="0"/>
              <a:t>               </a:t>
            </a:r>
            <a:r>
              <a:rPr lang="zh-CN" altLang="en-US" sz="2800" dirty="0"/>
              <a:t>逻辑门电路。</a:t>
            </a: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399790"/>
            <a:ext cx="8360410" cy="23056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60500" y="1456055"/>
            <a:ext cx="383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1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40635" y="2319655"/>
            <a:ext cx="383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17480" y="2679700"/>
            <a:ext cx="1189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非</a:t>
            </a:r>
            <a:r>
              <a:rPr lang="zh-CN" altLang="en-US" sz="2800">
                <a:solidFill>
                  <a:srgbClr val="FF0000"/>
                </a:solidFill>
              </a:rPr>
              <a:t>门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  <p:bldP spid="11" grpId="0"/>
      <p:bldP spid="1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594030"/>
            <a:ext cx="11665296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  <a:r>
              <a:rPr lang="zh-CN" altLang="en-US" sz="2800" dirty="0"/>
              <a:t>、选择题</a:t>
            </a:r>
            <a:endParaRPr lang="zh-CN" altLang="en-US" sz="2800" dirty="0"/>
          </a:p>
          <a:p>
            <a:pPr indent="457200"/>
            <a:r>
              <a:rPr lang="en-US" altLang="zh-CN" sz="2400" dirty="0"/>
              <a:t>(1) </a:t>
            </a:r>
            <a:r>
              <a:rPr lang="zh-CN" altLang="en-US" sz="2400" dirty="0"/>
              <a:t>电路如图所示，该电路</a:t>
            </a:r>
            <a:r>
              <a:rPr lang="en-US" altLang="zh-CN" sz="2400" dirty="0"/>
              <a:t>CP</a:t>
            </a:r>
            <a:r>
              <a:rPr lang="zh-CN" altLang="en-US" sz="2400" dirty="0"/>
              <a:t>脉冲的频率为</a:t>
            </a:r>
            <a:r>
              <a:rPr lang="en-US" altLang="zh-CN" sz="2400" dirty="0"/>
              <a:t>f</a:t>
            </a:r>
            <a:r>
              <a:rPr lang="zh-CN" altLang="en-US" sz="2400" dirty="0"/>
              <a:t>，则输出</a:t>
            </a:r>
            <a:r>
              <a:rPr lang="en-US" altLang="zh-CN" sz="2400" dirty="0"/>
              <a:t>Q2</a:t>
            </a:r>
            <a:r>
              <a:rPr lang="zh-CN" altLang="en-US" sz="2400" dirty="0"/>
              <a:t>的频率是</a:t>
            </a:r>
            <a:r>
              <a:rPr lang="en-US" altLang="zh-CN" sz="2400" dirty="0"/>
              <a:t>f</a:t>
            </a:r>
            <a:r>
              <a:rPr lang="zh-CN" altLang="en-US" sz="2400" dirty="0"/>
              <a:t>的</a:t>
            </a:r>
            <a:r>
              <a:rPr lang="en-US" altLang="zh-CN" sz="2400" u="sng" dirty="0"/>
              <a:t>     </a:t>
            </a:r>
            <a:r>
              <a:rPr lang="zh-CN" altLang="en-US" sz="2400" dirty="0"/>
              <a:t>倍。</a:t>
            </a:r>
            <a:r>
              <a:rPr lang="en-US" altLang="zh-CN" sz="2400" dirty="0"/>
              <a:t>(       )</a:t>
            </a:r>
            <a:endParaRPr lang="en-US" altLang="zh-CN" sz="2400" dirty="0"/>
          </a:p>
          <a:p>
            <a:pPr marL="457200" lvl="1" indent="457200"/>
            <a:r>
              <a:rPr lang="en-US" altLang="zh-CN" sz="2400" dirty="0"/>
              <a:t>A.1     B.1/2      C.1/4      D.1/8</a:t>
            </a:r>
            <a:endParaRPr lang="en-US" altLang="zh-CN" sz="2400" dirty="0"/>
          </a:p>
          <a:p>
            <a:pPr indent="457200"/>
            <a:endParaRPr lang="en-US" altLang="zh-CN" sz="2400" dirty="0"/>
          </a:p>
          <a:p>
            <a:pPr indent="457200"/>
            <a:endParaRPr lang="en-US" altLang="zh-CN" sz="2400" dirty="0"/>
          </a:p>
          <a:p>
            <a:pPr indent="0"/>
            <a:endParaRPr lang="en-US" altLang="zh-CN" sz="2400" dirty="0"/>
          </a:p>
          <a:p>
            <a:pPr indent="0"/>
            <a:endParaRPr lang="en-US" altLang="zh-CN" sz="2400" dirty="0"/>
          </a:p>
          <a:p>
            <a:pPr indent="457200"/>
            <a:r>
              <a:rPr lang="en-US" altLang="zh-CN" sz="2400" dirty="0"/>
              <a:t>(2) </a:t>
            </a:r>
            <a:r>
              <a:rPr lang="zh-CN" altLang="en-US" sz="2400" dirty="0"/>
              <a:t>主从</a:t>
            </a:r>
            <a:r>
              <a:rPr lang="en-US" altLang="zh-CN" sz="2400" dirty="0"/>
              <a:t>JK</a:t>
            </a:r>
            <a:r>
              <a:rPr lang="zh-CN" altLang="en-US" sz="2400" dirty="0"/>
              <a:t>触发器，在触发脉冲作用下，若</a:t>
            </a:r>
            <a:r>
              <a:rPr lang="en-US" altLang="zh-CN" sz="2400" dirty="0"/>
              <a:t>JK</a:t>
            </a:r>
            <a:r>
              <a:rPr lang="zh-CN" altLang="en-US" sz="2400" dirty="0"/>
              <a:t>同时接地，触发器实现</a:t>
            </a:r>
            <a:r>
              <a:rPr lang="en-US" altLang="zh-CN" sz="2400" u="sng" dirty="0"/>
              <a:t>       </a:t>
            </a:r>
            <a:r>
              <a:rPr lang="zh-CN" altLang="en-US" sz="2400" dirty="0"/>
              <a:t>功能。</a:t>
            </a:r>
            <a:r>
              <a:rPr lang="en-US" altLang="zh-CN" sz="2400" dirty="0"/>
              <a:t>(     )</a:t>
            </a:r>
            <a:endParaRPr lang="en-US" altLang="zh-CN" sz="2400" dirty="0"/>
          </a:p>
          <a:p>
            <a:pPr marL="457200" lvl="1" indent="457200"/>
            <a:r>
              <a:rPr lang="en-US" altLang="zh-CN" sz="2400" dirty="0"/>
              <a:t>A.</a:t>
            </a:r>
            <a:r>
              <a:rPr lang="zh-CN" altLang="en-US" sz="2400" dirty="0"/>
              <a:t>保持</a:t>
            </a:r>
            <a:r>
              <a:rPr lang="en-US" altLang="zh-CN" sz="2400" dirty="0"/>
              <a:t>    B.</a:t>
            </a:r>
            <a:r>
              <a:rPr lang="zh-CN" altLang="en-US" sz="2400" dirty="0"/>
              <a:t>置</a:t>
            </a:r>
            <a:r>
              <a:rPr lang="en-US" altLang="zh-CN" sz="2400" dirty="0"/>
              <a:t>1    C.</a:t>
            </a:r>
            <a:r>
              <a:rPr lang="zh-CN" altLang="en-US" sz="2400" dirty="0"/>
              <a:t>置</a:t>
            </a:r>
            <a:r>
              <a:rPr lang="en-US" altLang="zh-CN" sz="2400" dirty="0"/>
              <a:t>0     D.</a:t>
            </a:r>
            <a:r>
              <a:rPr lang="zh-CN" altLang="en-US" sz="2400" dirty="0"/>
              <a:t>翻转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895" y="1527810"/>
            <a:ext cx="4206240" cy="16916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8838" y="4111295"/>
            <a:ext cx="11665296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dirty="0"/>
              <a:t>3</a:t>
            </a:r>
            <a:r>
              <a:rPr lang="zh-CN" altLang="en-US" sz="2800" dirty="0"/>
              <a:t>、判断题</a:t>
            </a:r>
            <a:endParaRPr lang="zh-CN" altLang="en-US" sz="2800" dirty="0"/>
          </a:p>
          <a:p>
            <a:pPr indent="457200"/>
            <a:r>
              <a:rPr lang="en-US" altLang="zh-CN" sz="2400" dirty="0"/>
              <a:t>(1) RS</a:t>
            </a:r>
            <a:r>
              <a:rPr lang="zh-CN" altLang="en-US" sz="2400" dirty="0"/>
              <a:t>触发器只能由与非门构成。</a:t>
            </a:r>
            <a:r>
              <a:rPr lang="en-US" altLang="zh-CN" sz="2400" dirty="0"/>
              <a:t>(      )</a:t>
            </a:r>
            <a:endParaRPr lang="en-US" altLang="zh-CN" sz="2400" dirty="0"/>
          </a:p>
          <a:p>
            <a:pPr indent="457200"/>
            <a:r>
              <a:rPr lang="en-US" altLang="zh-CN" sz="2400" dirty="0"/>
              <a:t>(2) D</a:t>
            </a:r>
            <a:r>
              <a:rPr lang="zh-CN" altLang="en-US" sz="2400" dirty="0"/>
              <a:t>触发器将</a:t>
            </a:r>
            <a:r>
              <a:rPr lang="en-US" altLang="zh-CN" sz="2400" dirty="0"/>
              <a:t>Q</a:t>
            </a:r>
            <a:r>
              <a:rPr lang="zh-CN" altLang="en-US" sz="2400" dirty="0"/>
              <a:t>端与</a:t>
            </a:r>
            <a:r>
              <a:rPr lang="en-US" altLang="zh-CN" sz="2400" dirty="0"/>
              <a:t>D</a:t>
            </a:r>
            <a:r>
              <a:rPr lang="zh-CN" altLang="en-US" sz="2400" dirty="0"/>
              <a:t>端相连可以实现</a:t>
            </a:r>
            <a:r>
              <a:rPr lang="zh-CN" altLang="en-US" sz="2400" dirty="0"/>
              <a:t>计数功能。</a:t>
            </a:r>
            <a:r>
              <a:rPr lang="en-US" altLang="zh-CN" sz="2400" dirty="0"/>
              <a:t>(       )</a:t>
            </a:r>
            <a:endParaRPr lang="en-US" altLang="zh-CN" sz="2400" dirty="0"/>
          </a:p>
          <a:p>
            <a:pPr indent="457200"/>
            <a:r>
              <a:rPr lang="en-US" altLang="zh-CN" sz="2400" dirty="0"/>
              <a:t>(3) </a:t>
            </a:r>
            <a:r>
              <a:rPr lang="zh-CN" altLang="en-US" sz="2400" dirty="0"/>
              <a:t>将</a:t>
            </a:r>
            <a:r>
              <a:rPr lang="en-US" altLang="zh-CN" sz="2400" dirty="0"/>
              <a:t>JK</a:t>
            </a:r>
            <a:r>
              <a:rPr lang="zh-CN" altLang="en-US" sz="2400" dirty="0"/>
              <a:t>触发器两个输入端连接起来即可构成</a:t>
            </a:r>
            <a:r>
              <a:rPr lang="en-US" altLang="zh-CN" sz="2400" dirty="0"/>
              <a:t>D</a:t>
            </a:r>
            <a:r>
              <a:rPr lang="zh-CN" altLang="en-US" sz="2400" dirty="0"/>
              <a:t>触发器。</a:t>
            </a:r>
            <a:r>
              <a:rPr lang="en-US" altLang="zh-CN" sz="2400" dirty="0"/>
              <a:t>  (       )</a:t>
            </a:r>
            <a:endParaRPr lang="en-US" altLang="zh-CN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325225" y="1005840"/>
            <a:ext cx="680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C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613515" y="3184525"/>
            <a:ext cx="3917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A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09285" y="4479925"/>
            <a:ext cx="555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×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41310" y="4839970"/>
            <a:ext cx="3917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×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805545" y="5272405"/>
            <a:ext cx="3917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  <a:sym typeface="+mn-ea"/>
              </a:rPr>
              <a:t>×</a:t>
            </a:r>
            <a:endParaRPr lang="en-US" altLang="zh-CN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7" grpId="0"/>
      <p:bldP spid="7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473" y="594030"/>
            <a:ext cx="11665296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</a:t>
            </a:r>
            <a:r>
              <a:rPr lang="zh-CN" altLang="en-US" sz="2800" dirty="0"/>
              <a:t>、分析设计题</a:t>
            </a:r>
            <a:endParaRPr lang="zh-CN" altLang="en-US" sz="2800" dirty="0"/>
          </a:p>
          <a:p>
            <a:pPr indent="457200"/>
            <a:r>
              <a:rPr lang="zh-CN" altLang="en-US" sz="2400" dirty="0"/>
              <a:t>触发器电路及波形图，初态均为</a:t>
            </a:r>
            <a:r>
              <a:rPr lang="en-US" altLang="zh-CN" sz="2400" dirty="0"/>
              <a:t>0</a:t>
            </a:r>
            <a:r>
              <a:rPr lang="zh-CN" altLang="en-US" sz="2400" dirty="0"/>
              <a:t>，如下图所示，当</a:t>
            </a:r>
            <a:r>
              <a:rPr lang="en-US" altLang="zh-CN" sz="2400" dirty="0"/>
              <a:t>A = 0</a:t>
            </a:r>
            <a:r>
              <a:rPr lang="zh-CN" altLang="en-US" sz="2400" dirty="0"/>
              <a:t>时，画出</a:t>
            </a:r>
            <a:r>
              <a:rPr lang="en-US" altLang="zh-CN" sz="2400" dirty="0"/>
              <a:t>5</a:t>
            </a:r>
            <a:r>
              <a:rPr lang="zh-CN" altLang="en-US" sz="2400" dirty="0"/>
              <a:t>个脉冲下</a:t>
            </a:r>
            <a:r>
              <a:rPr lang="en-US" altLang="zh-CN" sz="2400" dirty="0"/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2400" dirty="0"/>
              <a:t>、</a:t>
            </a:r>
            <a:r>
              <a:rPr lang="en-US" altLang="zh-CN" sz="2400" dirty="0"/>
              <a:t>Q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2400" dirty="0"/>
              <a:t>的</a:t>
            </a:r>
            <a:r>
              <a:rPr lang="zh-CN" altLang="en-US" sz="2400" dirty="0"/>
              <a:t>波形。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490" y="1456055"/>
            <a:ext cx="4922520" cy="2484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9453711" y="855626"/>
            <a:ext cx="4752528" cy="9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705249" y="1345126"/>
            <a:ext cx="5040560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一、</a:t>
            </a:r>
            <a:r>
              <a:rPr lang="zh-CN" altLang="en-US" sz="4000" dirty="0">
                <a:sym typeface="+mn-ea"/>
              </a:rPr>
              <a:t>考试要求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二、</a:t>
            </a:r>
            <a:r>
              <a:rPr lang="zh-CN" altLang="en-US" sz="4000" dirty="0">
                <a:sym typeface="+mn-ea"/>
              </a:rPr>
              <a:t>考点分析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三、</a:t>
            </a:r>
            <a:r>
              <a:rPr lang="zh-CN" altLang="en-US" sz="4000" dirty="0">
                <a:sym typeface="+mn-ea"/>
              </a:rPr>
              <a:t>课堂复习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四、</a:t>
            </a:r>
            <a:r>
              <a:rPr lang="zh-CN" altLang="en-US" sz="4000" dirty="0">
                <a:sym typeface="+mn-ea"/>
              </a:rPr>
              <a:t>知识归纳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2548</Words>
  <Application>WPS 演示</Application>
  <PresentationFormat>自定义</PresentationFormat>
  <Paragraphs>251</Paragraphs>
  <Slides>22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Times New Roman</vt:lpstr>
      <vt:lpstr>Cambria Math</vt:lpstr>
      <vt:lpstr>Arial Unicode MS</vt:lpstr>
      <vt:lpstr>MS Mincho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葛以伟</cp:lastModifiedBy>
  <cp:revision>880</cp:revision>
  <dcterms:created xsi:type="dcterms:W3CDTF">2017-01-08T15:59:00Z</dcterms:created>
  <dcterms:modified xsi:type="dcterms:W3CDTF">2025-05-30T03:23:17Z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FCA88555D3D44735BAA1F56722F3B997</vt:lpwstr>
  </property>
</Properties>
</file>